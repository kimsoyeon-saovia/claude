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86" r:id="rId2"/>
    <p:sldId id="296" r:id="rId3"/>
    <p:sldId id="297" r:id="rId4"/>
    <p:sldId id="287" r:id="rId5"/>
    <p:sldId id="291" r:id="rId6"/>
    <p:sldId id="288" r:id="rId7"/>
    <p:sldId id="298" r:id="rId8"/>
    <p:sldId id="292" r:id="rId9"/>
    <p:sldId id="299" r:id="rId10"/>
    <p:sldId id="289" r:id="rId11"/>
    <p:sldId id="300" r:id="rId12"/>
    <p:sldId id="293" r:id="rId13"/>
    <p:sldId id="290" r:id="rId14"/>
    <p:sldId id="301" r:id="rId15"/>
    <p:sldId id="294" r:id="rId16"/>
    <p:sldId id="295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466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 순서: 무엇을 누르면 → 무엇이 뜨는지 → 어떻게 만들었는지 → AI에게 어떻게 요청했는지. · &lt;dialog&gt;와 showModal(): 브라우저에 있는 기본 팝업 기능입니다. 버튼을 누르면 창을 열고, 확인이나 ×를 누르면 닫습니다. · IntersectionObserver: 요소가 화면에 들어왔는지 알려 주는 기능입니다. 문장이 보이는 순간 애니메이션을 시작합니다. · @keyframes: CSS로 움직임의 시작과 끝을 정하는 방법입니다. 추가로 말할 것: 첫 화면 배경 이미지가 서서히 나타나고 제목이 올라오는 효과도 있습니다. 통합 후에는 제작문의 버튼이 팝업 대신 CONTACT 페이지로 이동하도록 공통 파일(site-header.js)에서 바꿨습니다. 개인 페이지일 때와 합친 뒤의 차이로 설명하면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542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 순서: 무엇을 누르면 → 무엇이 뜨는지 → 어떻게 만들었는지 → AI에게 어떻게 요청했는지. · &lt;dialog&gt;와 showModal(): 브라우저에 있는 기본 팝업 기능입니다. 버튼을 누르면 창을 열고, 확인이나 ×를 누르면 닫습니다. · IntersectionObserver: 요소가 화면에 들어왔는지 알려 주는 기능입니다. 문장이 보이는 순간 애니메이션을 시작합니다. · @keyframes: CSS로 움직임의 시작과 끝을 정하는 방법입니다. 추가로 말할 것: 첫 화면 배경 이미지가 서서히 나타나고 제목이 올라오는 효과도 있습니다. 통합 후에는 제작문의 버튼이 팝업 대신 CONTACT 페이지로 이동하도록 공통 파일(site-header.js)에서 바꿨습니다. 개인 페이지일 때와 합친 뒤의 차이로 설명하면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72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 순서: 무엇을 누르면 → 무엇이 뜨는지 → 어떻게 만들었는지 → AI에게 어떻게 요청했는지. · &lt;dialog&gt;와 showModal(): 브라우저에 있는 기본 팝업 기능입니다. 버튼을 누르면 창을 열고, 확인이나 ×를 누르면 닫습니다. · IntersectionObserver: 요소가 화면에 들어왔는지 알려 주는 기능입니다. 문장이 보이는 순간 애니메이션을 시작합니다. · @keyframes: CSS로 움직임의 시작과 끝을 정하는 방법입니다. 추가로 말할 것: 첫 화면 배경 이미지가 서서히 나타나고 제목이 올라오는 효과도 있습니다. 통합 후에는 제작문의 버튼이 팝업 대신 CONTACT 페이지로 이동하도록 공통 파일(site-header.js)에서 바꿨습니다. 개인 페이지일 때와 합친 뒤의 차이로 설명하면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66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 순서: 무엇을 누르면 → 무엇이 뜨는지 → 어떻게 만들었는지 → AI에게 어떻게 요청했는지. · &lt;dialog&gt;와 showModal(): 브라우저에 있는 기본 팝업 기능입니다. 버튼을 누르면 창을 열고, 확인이나 ×를 누르면 닫습니다. · IntersectionObserver: 요소가 화면에 들어왔는지 알려 주는 기능입니다. 문장이 보이는 순간 애니메이션을 시작합니다. · @keyframes: CSS로 움직임의 시작과 끝을 정하는 방법입니다. 추가로 말할 것: 첫 화면 배경 이미지가 서서히 나타나고 제목이 올라오는 효과도 있습니다. 통합 후에는 제작문의 버튼이 팝업 대신 CONTACT 페이지로 이동하도록 공통 파일(site-header.js)에서 바꿨습니다. 개인 페이지일 때와 합친 뒤의 차이로 설명하면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585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 순서: 무엇을 누르면 → 무엇이 뜨는지 → 어떻게 만들었는지 → AI에게 어떻게 요청했는지. · &lt;dialog&gt;와 showModal(): 브라우저에 있는 기본 팝업 기능입니다. 버튼을 누르면 창을 열고, 확인이나 ×를 누르면 닫습니다. · IntersectionObserver: 요소가 화면에 들어왔는지 알려 주는 기능입니다. 문장이 보이는 순간 애니메이션을 시작합니다. · @keyframes: CSS로 움직임의 시작과 끝을 정하는 방법입니다. 추가로 말할 것: 첫 화면 배경 이미지가 서서히 나타나고 제목이 올라오는 효과도 있습니다. 통합 후에는 제작문의 버튼이 팝업 대신 CONTACT 페이지로 이동하도록 공통 파일(site-header.js)에서 바꿨습니다. 개인 페이지일 때와 합친 뒤의 차이로 설명하면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872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 순서: 무엇을 누르면 → 무엇이 뜨는지 → 어떻게 만들었는지 → AI에게 어떻게 요청했는지. · &lt;dialog&gt;와 showModal(): 브라우저에 있는 기본 팝업 기능입니다. 버튼을 누르면 창을 열고, 확인이나 ×를 누르면 닫습니다. · IntersectionObserver: 요소가 화면에 들어왔는지 알려 주는 기능입니다. 문장이 보이는 순간 애니메이션을 시작합니다. · @keyframes: CSS로 움직임의 시작과 끝을 정하는 방법입니다. 추가로 말할 것: 첫 화면 배경 이미지가 서서히 나타나고 제목이 올라오는 효과도 있습니다. 통합 후에는 제작문의 버튼이 팝업 대신 CONTACT 페이지로 이동하도록 공통 파일(site-header.js)에서 바꿨습니다. 개인 페이지일 때와 합친 뒤의 차이로 설명하면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13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 순서: 무엇을 누르면 → 무엇이 뜨는지 → 어떻게 만들었는지 → AI에게 어떻게 요청했는지. · &lt;dialog&gt;와 showModal(): 브라우저에 있는 기본 팝업 기능입니다. 버튼을 누르면 창을 열고, 확인이나 ×를 누르면 닫습니다. · IntersectionObserver: 요소가 화면에 들어왔는지 알려 주는 기능입니다. 문장이 보이는 순간 애니메이션을 시작합니다. · @keyframes: CSS로 움직임의 시작과 끝을 정하는 방법입니다. 추가로 말할 것: 첫 화면 배경 이미지가 서서히 나타나고 제목이 올라오는 효과도 있습니다. 통합 후에는 제작문의 버튼이 팝업 대신 CONTACT 페이지로 이동하도록 공통 파일(site-header.js)에서 바꿨습니다. 개인 페이지일 때와 합친 뒤의 차이로 설명하면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950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 순서: 무엇을 누르면 → 무엇이 뜨는지 → 어떻게 만들었는지 → AI에게 어떻게 요청했는지. · &lt;dialog&gt;와 showModal(): 브라우저에 있는 기본 팝업 기능입니다. 버튼을 누르면 창을 열고, 확인이나 ×를 누르면 닫습니다. · IntersectionObserver: 요소가 화면에 들어왔는지 알려 주는 기능입니다. 문장이 보이는 순간 애니메이션을 시작합니다. · @keyframes: CSS로 움직임의 시작과 끝을 정하는 방법입니다. 추가로 말할 것: 첫 화면 배경 이미지가 서서히 나타나고 제목이 올라오는 효과도 있습니다. 통합 후에는 제작문의 버튼이 팝업 대신 CONTACT 페이지로 이동하도록 공통 파일(site-header.js)에서 바꿨습니다. 개인 페이지일 때와 합친 뒤의 차이로 설명하면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32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 순서: 무엇을 누르면 → 무엇이 뜨는지 → 어떻게 만들었는지 → AI에게 어떻게 요청했는지. · &lt;dialog&gt;와 showModal(): 브라우저에 있는 기본 팝업 기능입니다. 버튼을 누르면 창을 열고, 확인이나 ×를 누르면 닫습니다. · IntersectionObserver: 요소가 화면에 들어왔는지 알려 주는 기능입니다. 문장이 보이는 순간 애니메이션을 시작합니다. · @keyframes: CSS로 움직임의 시작과 끝을 정하는 방법입니다. 추가로 말할 것: 첫 화면 배경 이미지가 서서히 나타나고 제목이 올라오는 효과도 있습니다. 통합 후에는 제작문의 버튼이 팝업 대신 CONTACT 페이지로 이동하도록 공통 파일(site-header.js)에서 바꿨습니다. 개인 페이지일 때와 합친 뒤의 차이로 설명하면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953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 순서: 무엇을 누르면 → 무엇이 뜨는지 → 어떻게 만들었는지 → AI에게 어떻게 요청했는지. · &lt;dialog&gt;와 showModal(): 브라우저에 있는 기본 팝업 기능입니다. 버튼을 누르면 창을 열고, 확인이나 ×를 누르면 닫습니다. · IntersectionObserver: 요소가 화면에 들어왔는지 알려 주는 기능입니다. 문장이 보이는 순간 애니메이션을 시작합니다. · @keyframes: CSS로 움직임의 시작과 끝을 정하는 방법입니다. 추가로 말할 것: 첫 화면 배경 이미지가 서서히 나타나고 제목이 올라오는 효과도 있습니다. 통합 후에는 제작문의 버튼이 팝업 대신 CONTACT 페이지로 이동하도록 공통 파일(site-header.js)에서 바꿨습니다. 개인 페이지일 때와 합친 뒤의 차이로 설명하면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074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 순서: 무엇을 누르면 → 무엇이 뜨는지 → 어떻게 만들었는지 → AI에게 어떻게 요청했는지. · &lt;dialog&gt;와 showModal(): 브라우저에 있는 기본 팝업 기능입니다. 버튼을 누르면 창을 열고, 확인이나 ×를 누르면 닫습니다. · IntersectionObserver: 요소가 화면에 들어왔는지 알려 주는 기능입니다. 문장이 보이는 순간 애니메이션을 시작합니다. · @keyframes: CSS로 움직임의 시작과 끝을 정하는 방법입니다. 추가로 말할 것: 첫 화면 배경 이미지가 서서히 나타나고 제목이 올라오는 효과도 있습니다. 통합 후에는 제작문의 버튼이 팝업 대신 CONTACT 페이지로 이동하도록 공통 파일(site-header.js)에서 바꿨습니다. 개인 페이지일 때와 합친 뒤의 차이로 설명하면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640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 순서: 무엇을 누르면 → 무엇이 뜨는지 → 어떻게 만들었는지 → AI에게 어떻게 요청했는지. · &lt;dialog&gt;와 showModal(): 브라우저에 있는 기본 팝업 기능입니다. 버튼을 누르면 창을 열고, 확인이나 ×를 누르면 닫습니다. · IntersectionObserver: 요소가 화면에 들어왔는지 알려 주는 기능입니다. 문장이 보이는 순간 애니메이션을 시작합니다. · @keyframes: CSS로 움직임의 시작과 끝을 정하는 방법입니다. 추가로 말할 것: 첫 화면 배경 이미지가 서서히 나타나고 제목이 올라오는 효과도 있습니다. 통합 후에는 제작문의 버튼이 팝업 대신 CONTACT 페이지로 이동하도록 공통 파일(site-header.js)에서 바꿨습니다. 개인 페이지일 때와 합친 뒤의 차이로 설명하면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4819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 순서: 무엇을 누르면 → 무엇이 뜨는지 → 어떻게 만들었는지 → AI에게 어떻게 요청했는지. · &lt;dialog&gt;와 showModal(): 브라우저에 있는 기본 팝업 기능입니다. 버튼을 누르면 창을 열고, 확인이나 ×를 누르면 닫습니다. · IntersectionObserver: 요소가 화면에 들어왔는지 알려 주는 기능입니다. 문장이 보이는 순간 애니메이션을 시작합니다. · @keyframes: CSS로 움직임의 시작과 끝을 정하는 방법입니다. 추가로 말할 것: 첫 화면 배경 이미지가 서서히 나타나고 제목이 올라오는 효과도 있습니다. 통합 후에는 제작문의 버튼이 팝업 대신 CONTACT 페이지로 이동하도록 공통 파일(site-header.js)에서 바꿨습니다. 개인 페이지일 때와 합친 뒤의 차이로 설명하면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204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 순서: 무엇을 누르면 → 무엇이 뜨는지 → 어떻게 만들었는지 → AI에게 어떻게 요청했는지. · &lt;dialog&gt;와 showModal(): 브라우저에 있는 기본 팝업 기능입니다. 버튼을 누르면 창을 열고, 확인이나 ×를 누르면 닫습니다. · IntersectionObserver: 요소가 화면에 들어왔는지 알려 주는 기능입니다. 문장이 보이는 순간 애니메이션을 시작합니다. · @keyframes: CSS로 움직임의 시작과 끝을 정하는 방법입니다. 추가로 말할 것: 첫 화면 배경 이미지가 서서히 나타나고 제목이 올라오는 효과도 있습니다. 통합 후에는 제작문의 버튼이 팝업 대신 CONTACT 페이지로 이동하도록 공통 파일(site-header.js)에서 바꿨습니다. 개인 페이지일 때와 합친 뒤의 차이로 설명하면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832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 순서: 무엇을 누르면 → 무엇이 뜨는지 → 어떻게 만들었는지 → AI에게 어떻게 요청했는지. · &lt;dialog&gt;와 showModal(): 브라우저에 있는 기본 팝업 기능입니다. 버튼을 누르면 창을 열고, 확인이나 ×를 누르면 닫습니다. · IntersectionObserver: 요소가 화면에 들어왔는지 알려 주는 기능입니다. 문장이 보이는 순간 애니메이션을 시작합니다. · @keyframes: CSS로 움직임의 시작과 끝을 정하는 방법입니다. 추가로 말할 것: 첫 화면 배경 이미지가 서서히 나타나고 제목이 올라오는 효과도 있습니다. 통합 후에는 제작문의 버튼이 팝업 대신 CONTACT 페이지로 이동하도록 공통 파일(site-header.js)에서 바꿨습니다. 개인 페이지일 때와 합친 뒤의 차이로 설명하면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5079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 순서: 무엇을 누르면 → 무엇이 뜨는지 → 어떻게 만들었는지 → AI에게 어떻게 요청했는지. · &lt;dialog&gt;와 showModal(): 브라우저에 있는 기본 팝업 기능입니다. 버튼을 누르면 창을 열고, 확인이나 ×를 누르면 닫습니다. · IntersectionObserver: 요소가 화면에 들어왔는지 알려 주는 기능입니다. 문장이 보이는 순간 애니메이션을 시작합니다. · @keyframes: CSS로 움직임의 시작과 끝을 정하는 방법입니다. 추가로 말할 것: 첫 화면 배경 이미지가 서서히 나타나고 제목이 올라오는 효과도 있습니다. 통합 후에는 제작문의 버튼이 팝업 대신 CONTACT 페이지로 이동하도록 공통 파일(site-header.js)에서 바꿨습니다. 개인 페이지일 때와 합친 뒤의 차이로 설명하면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76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5664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20180"/>
            <a:ext cx="10566400" cy="4125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5664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20180"/>
            <a:ext cx="10566400" cy="4125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altLang="ko-KR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 · </a:t>
            </a:r>
            <a:r>
              <a:rPr lang="ko-KR" altLang="en-US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그림으로 보여 주기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말로 안 될 땐</a:t>
            </a:r>
            <a:r>
              <a:rPr lang="en-US" altLang="ko-KR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그림으로 보여 줬습니다</a:t>
            </a:r>
            <a:endParaRPr lang="en-US" sz="3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E7FEEB6-72C9-425C-B9F3-5908A4420251}"/>
              </a:ext>
            </a:extLst>
          </p:cNvPr>
          <p:cNvSpPr/>
          <p:nvPr/>
        </p:nvSpPr>
        <p:spPr>
          <a:xfrm>
            <a:off x="812800" y="1905000"/>
            <a:ext cx="2413000" cy="406400"/>
          </a:xfrm>
          <a:prstGeom prst="roundRect">
            <a:avLst>
              <a:gd name="adj" fmla="val 50000"/>
            </a:avLst>
          </a:prstGeom>
          <a:solidFill>
            <a:srgbClr val="ECE9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n-US" altLang="ko-KR" sz="12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① AI </a:t>
            </a:r>
            <a:r>
              <a:rPr lang="ko-KR" altLang="en-US" sz="12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확인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A7AAC8-62F9-4111-ADCA-5FE5F4317AE7}"/>
              </a:ext>
            </a:extLst>
          </p:cNvPr>
          <p:cNvSpPr txBox="1"/>
          <p:nvPr/>
        </p:nvSpPr>
        <p:spPr>
          <a:xfrm>
            <a:off x="3251200" y="1968500"/>
            <a:ext cx="2413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3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FC30CBF-572D-4FA2-A098-DE36A8926BE8}"/>
              </a:ext>
            </a:extLst>
          </p:cNvPr>
          <p:cNvSpPr/>
          <p:nvPr/>
        </p:nvSpPr>
        <p:spPr>
          <a:xfrm>
            <a:off x="3492500" y="1905000"/>
            <a:ext cx="2413000" cy="406400"/>
          </a:xfrm>
          <a:prstGeom prst="roundRect">
            <a:avLst>
              <a:gd name="adj" fmla="val 50000"/>
            </a:avLst>
          </a:prstGeom>
          <a:solidFill>
            <a:srgbClr val="ECE9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2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② 안 맞는 곳 찾기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42499E-BAA2-4A94-BE58-E95C08B89D38}"/>
              </a:ext>
            </a:extLst>
          </p:cNvPr>
          <p:cNvSpPr txBox="1"/>
          <p:nvPr/>
        </p:nvSpPr>
        <p:spPr>
          <a:xfrm>
            <a:off x="5930900" y="1968500"/>
            <a:ext cx="2413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3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FDDE8DFA-FB00-400D-899A-A1614F1CB88B}"/>
              </a:ext>
            </a:extLst>
          </p:cNvPr>
          <p:cNvSpPr/>
          <p:nvPr/>
        </p:nvSpPr>
        <p:spPr>
          <a:xfrm>
            <a:off x="6172200" y="1905000"/>
            <a:ext cx="2413000" cy="4064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③ 그림 </a:t>
            </a:r>
            <a:r>
              <a:rPr lang="en-US" altLang="ko-KR" sz="1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치수로 보여 주기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5DD113-BCEB-44D1-8023-41629F03D6F7}"/>
              </a:ext>
            </a:extLst>
          </p:cNvPr>
          <p:cNvSpPr txBox="1"/>
          <p:nvPr/>
        </p:nvSpPr>
        <p:spPr>
          <a:xfrm>
            <a:off x="8610600" y="1968500"/>
            <a:ext cx="2413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3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572947D4-BD8A-4741-A729-7A1A0F80AA0C}"/>
              </a:ext>
            </a:extLst>
          </p:cNvPr>
          <p:cNvSpPr/>
          <p:nvPr/>
        </p:nvSpPr>
        <p:spPr>
          <a:xfrm>
            <a:off x="8851900" y="1905000"/>
            <a:ext cx="2413000" cy="406400"/>
          </a:xfrm>
          <a:prstGeom prst="roundRect">
            <a:avLst>
              <a:gd name="adj" fmla="val 50000"/>
            </a:avLst>
          </a:prstGeom>
          <a:solidFill>
            <a:srgbClr val="ECE9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2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④ 다시 요청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9B31D18A-184E-4084-9DFA-B7A1278C5470}"/>
              </a:ext>
            </a:extLst>
          </p:cNvPr>
          <p:cNvSpPr/>
          <p:nvPr/>
        </p:nvSpPr>
        <p:spPr>
          <a:xfrm>
            <a:off x="812800" y="2514600"/>
            <a:ext cx="2540000" cy="28194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7BF8349-1D27-4EF0-AD9E-F3AB6E21B5D1}"/>
              </a:ext>
            </a:extLst>
          </p:cNvPr>
          <p:cNvSpPr/>
          <p:nvPr/>
        </p:nvSpPr>
        <p:spPr>
          <a:xfrm>
            <a:off x="990600" y="2692400"/>
            <a:ext cx="787400" cy="2794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일러스트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AF56A9-6603-4341-9B83-DC57869B46A4}"/>
              </a:ext>
            </a:extLst>
          </p:cNvPr>
          <p:cNvSpPr txBox="1"/>
          <p:nvPr/>
        </p:nvSpPr>
        <p:spPr>
          <a:xfrm>
            <a:off x="990600" y="30988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5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Illustrator </a:t>
            </a:r>
            <a:r>
              <a:rPr lang="ko-KR" altLang="en-US" sz="15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시안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04BEC1-5D09-482C-A7D8-BF7D9F8B01A9}"/>
              </a:ext>
            </a:extLst>
          </p:cNvPr>
          <p:cNvSpPr txBox="1"/>
          <p:nvPr/>
        </p:nvSpPr>
        <p:spPr>
          <a:xfrm>
            <a:off x="990600" y="34798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페이지를 그림으로 먼저 그려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GPT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 보여 주고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배치 그대로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'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요청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1EB7476-8EB7-40C7-99CE-46350E46AB3B}"/>
              </a:ext>
            </a:extLst>
          </p:cNvPr>
          <p:cNvSpPr/>
          <p:nvPr/>
        </p:nvSpPr>
        <p:spPr>
          <a:xfrm>
            <a:off x="990600" y="4800600"/>
            <a:ext cx="2184400" cy="330200"/>
          </a:xfrm>
          <a:prstGeom prst="roundRect">
            <a:avLst>
              <a:gd name="adj" fmla="val 6000"/>
            </a:avLst>
          </a:prstGeom>
          <a:solidFill>
            <a:srgbClr val="ECE9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0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전원 </a:t>
            </a:r>
            <a:r>
              <a:rPr lang="en-US" altLang="ko-KR" sz="10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페이지 이미지화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8FE0E75-80F8-4485-9A02-CB6EAD337D82}"/>
              </a:ext>
            </a:extLst>
          </p:cNvPr>
          <p:cNvSpPr/>
          <p:nvPr/>
        </p:nvSpPr>
        <p:spPr>
          <a:xfrm>
            <a:off x="3492500" y="2514600"/>
            <a:ext cx="2540000" cy="28194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B6ACA1DD-2A18-47D9-9CA0-DC2D99DA40A2}"/>
              </a:ext>
            </a:extLst>
          </p:cNvPr>
          <p:cNvSpPr/>
          <p:nvPr/>
        </p:nvSpPr>
        <p:spPr>
          <a:xfrm>
            <a:off x="3670300" y="2692400"/>
            <a:ext cx="508000" cy="279400"/>
          </a:xfrm>
          <a:prstGeom prst="roundRect">
            <a:avLst>
              <a:gd name="adj" fmla="val 50000"/>
            </a:avLst>
          </a:prstGeom>
          <a:solidFill>
            <a:srgbClr val="E869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캡처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E08420-767F-4B3B-AC70-57F189F41A0E}"/>
              </a:ext>
            </a:extLst>
          </p:cNvPr>
          <p:cNvSpPr txBox="1"/>
          <p:nvPr/>
        </p:nvSpPr>
        <p:spPr>
          <a:xfrm>
            <a:off x="3670300" y="30988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알캡처로 </a:t>
            </a:r>
            <a:r>
              <a:rPr lang="en-US" altLang="ko-KR" sz="15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px </a:t>
            </a:r>
            <a:r>
              <a:rPr lang="ko-KR" altLang="en-US" sz="15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C2D7C7-217E-417B-885D-DB08726CD610}"/>
              </a:ext>
            </a:extLst>
          </p:cNvPr>
          <p:cNvSpPr txBox="1"/>
          <p:nvPr/>
        </p:nvSpPr>
        <p:spPr>
          <a:xfrm>
            <a:off x="3670300" y="34798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화면을 캡처해 영역을 잡고 몇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px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인지 재서 숫자로 요청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EC113A8-AEC1-4764-A344-B5ED967A37F7}"/>
              </a:ext>
            </a:extLst>
          </p:cNvPr>
          <p:cNvSpPr/>
          <p:nvPr/>
        </p:nvSpPr>
        <p:spPr>
          <a:xfrm>
            <a:off x="3670300" y="4800600"/>
            <a:ext cx="2184400" cy="330200"/>
          </a:xfrm>
          <a:prstGeom prst="roundRect">
            <a:avLst>
              <a:gd name="adj" fmla="val 6000"/>
            </a:avLst>
          </a:prstGeom>
          <a:solidFill>
            <a:srgbClr val="ECE9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0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김소연 </a:t>
            </a:r>
            <a:r>
              <a:rPr lang="en-US" altLang="ko-KR" sz="10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CONTACT</a:t>
            </a:r>
            <a:endParaRPr lang="ko-KR" altLang="en-US" sz="1000">
              <a:solidFill>
                <a:srgbClr val="1B243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3D20CA4-9E2D-48A3-8051-775A3C21A371}"/>
              </a:ext>
            </a:extLst>
          </p:cNvPr>
          <p:cNvSpPr/>
          <p:nvPr/>
        </p:nvSpPr>
        <p:spPr>
          <a:xfrm>
            <a:off x="6172200" y="2514600"/>
            <a:ext cx="2540000" cy="28194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628BD91F-2557-48F8-B6EC-13B098C9E5FE}"/>
              </a:ext>
            </a:extLst>
          </p:cNvPr>
          <p:cNvSpPr/>
          <p:nvPr/>
        </p:nvSpPr>
        <p:spPr>
          <a:xfrm>
            <a:off x="6350000" y="2692400"/>
            <a:ext cx="647700" cy="279400"/>
          </a:xfrm>
          <a:prstGeom prst="roundRect">
            <a:avLst>
              <a:gd name="adj" fmla="val 50000"/>
            </a:avLst>
          </a:prstGeom>
          <a:solidFill>
            <a:srgbClr val="DCD6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1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손그림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933D5DD-E99B-4C29-8BB0-22F3322C912C}"/>
              </a:ext>
            </a:extLst>
          </p:cNvPr>
          <p:cNvSpPr txBox="1"/>
          <p:nvPr/>
        </p:nvSpPr>
        <p:spPr>
          <a:xfrm>
            <a:off x="6350000" y="30988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펜 태블릿 스케치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76F94E-C0AD-4BBD-AB43-0C4D7DE1BCBC}"/>
              </a:ext>
            </a:extLst>
          </p:cNvPr>
          <p:cNvSpPr txBox="1"/>
          <p:nvPr/>
        </p:nvSpPr>
        <p:spPr>
          <a:xfrm>
            <a:off x="6350000" y="34798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배치와 움직임을 손으로 그려 이미지로 전달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1162B996-D297-46C8-8AA9-DFEAEBC873D5}"/>
              </a:ext>
            </a:extLst>
          </p:cNvPr>
          <p:cNvSpPr/>
          <p:nvPr/>
        </p:nvSpPr>
        <p:spPr>
          <a:xfrm>
            <a:off x="6350000" y="4800600"/>
            <a:ext cx="2184400" cy="330200"/>
          </a:xfrm>
          <a:prstGeom prst="roundRect">
            <a:avLst>
              <a:gd name="adj" fmla="val 6000"/>
            </a:avLst>
          </a:prstGeom>
          <a:solidFill>
            <a:srgbClr val="ECE9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0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레이아웃 </a:t>
            </a:r>
            <a:r>
              <a:rPr lang="en-US" altLang="ko-KR" sz="10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움직임 스케치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68EF5496-F30E-47A8-87FE-7609248C8353}"/>
              </a:ext>
            </a:extLst>
          </p:cNvPr>
          <p:cNvSpPr/>
          <p:nvPr/>
        </p:nvSpPr>
        <p:spPr>
          <a:xfrm>
            <a:off x="8851900" y="2514600"/>
            <a:ext cx="2540000" cy="28194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AD40B133-AF3C-4427-B32C-67D8B59DFE8E}"/>
              </a:ext>
            </a:extLst>
          </p:cNvPr>
          <p:cNvSpPr/>
          <p:nvPr/>
        </p:nvSpPr>
        <p:spPr>
          <a:xfrm>
            <a:off x="9029700" y="2692400"/>
            <a:ext cx="508000" cy="279400"/>
          </a:xfrm>
          <a:prstGeom prst="roundRect">
            <a:avLst>
              <a:gd name="adj" fmla="val 50000"/>
            </a:avLst>
          </a:prstGeom>
          <a:solidFill>
            <a:srgbClr val="ECE9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1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표시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ED9CDE-0725-4A8A-B006-31C0C4D3C09A}"/>
              </a:ext>
            </a:extLst>
          </p:cNvPr>
          <p:cNvSpPr txBox="1"/>
          <p:nvPr/>
        </p:nvSpPr>
        <p:spPr>
          <a:xfrm>
            <a:off x="9029700" y="30988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그림판 수정 표시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5A8A5CE-BD43-4ECC-AE6D-EBF3A0FC63B2}"/>
              </a:ext>
            </a:extLst>
          </p:cNvPr>
          <p:cNvSpPr txBox="1"/>
          <p:nvPr/>
        </p:nvSpPr>
        <p:spPr>
          <a:xfrm>
            <a:off x="9029700" y="34798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캡처 위에 빨간 박스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화살표로 고칠 곳을 표시해 전달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DD7B9FA6-73AD-48D5-A015-8C44236EFD75}"/>
              </a:ext>
            </a:extLst>
          </p:cNvPr>
          <p:cNvSpPr/>
          <p:nvPr/>
        </p:nvSpPr>
        <p:spPr>
          <a:xfrm>
            <a:off x="9029700" y="4800600"/>
            <a:ext cx="2184400" cy="330200"/>
          </a:xfrm>
          <a:prstGeom prst="roundRect">
            <a:avLst>
              <a:gd name="adj" fmla="val 6000"/>
            </a:avLst>
          </a:prstGeom>
          <a:solidFill>
            <a:srgbClr val="ECE9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0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수정 요청할 때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61092BA3-DC07-4455-A52B-3D934822437D}"/>
              </a:ext>
            </a:extLst>
          </p:cNvPr>
          <p:cNvSpPr/>
          <p:nvPr/>
        </p:nvSpPr>
        <p:spPr>
          <a:xfrm>
            <a:off x="812800" y="5537200"/>
            <a:ext cx="10566400" cy="558800"/>
          </a:xfrm>
          <a:prstGeom prst="roundRect">
            <a:avLst>
              <a:gd name="adj" fmla="val 6000"/>
            </a:avLst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4D6913-4ABD-496F-80E1-9FC4CA2B2530}"/>
              </a:ext>
            </a:extLst>
          </p:cNvPr>
          <p:cNvSpPr txBox="1"/>
          <p:nvPr/>
        </p:nvSpPr>
        <p:spPr>
          <a:xfrm>
            <a:off x="1066800" y="57023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효과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말로만 설명할 때보다 수정 횟수가 줄고</a:t>
            </a:r>
            <a:r>
              <a:rPr lang="en-US" altLang="ko-KR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원하는 배치에 한 번에 가까워졌습니다</a:t>
            </a:r>
          </a:p>
        </p:txBody>
      </p:sp>
    </p:spTree>
    <p:extLst>
      <p:ext uri="{BB962C8B-B14F-4D97-AF65-F5344CB8AC3E}">
        <p14:creationId xmlns:p14="http://schemas.microsoft.com/office/powerpoint/2010/main" val="3421864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9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altLang="ko-KR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 · </a:t>
            </a:r>
            <a:r>
              <a:rPr lang="ko-KR" altLang="en-US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그림으로 보여 주기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말로만 할 때 </a:t>
            </a:r>
            <a:r>
              <a:rPr lang="en-US" altLang="ko-KR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 </a:t>
            </a: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그림 </a:t>
            </a:r>
            <a:r>
              <a:rPr lang="en-US" altLang="ko-KR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숫자로 보여 줄 때</a:t>
            </a:r>
            <a:endParaRPr lang="en-US" sz="3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63E636F-E745-44E3-AFD4-0535A0861773}"/>
              </a:ext>
            </a:extLst>
          </p:cNvPr>
          <p:cNvSpPr/>
          <p:nvPr/>
        </p:nvSpPr>
        <p:spPr>
          <a:xfrm>
            <a:off x="812800" y="1905000"/>
            <a:ext cx="5080000" cy="3429000"/>
          </a:xfrm>
          <a:prstGeom prst="roundRect">
            <a:avLst>
              <a:gd name="adj" fmla="val 6000"/>
            </a:avLst>
          </a:prstGeom>
          <a:solidFill>
            <a:srgbClr val="ECE9E1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0E09612-4B2A-4BF0-A63B-3CB9F23941D4}"/>
              </a:ext>
            </a:extLst>
          </p:cNvPr>
          <p:cNvSpPr/>
          <p:nvPr/>
        </p:nvSpPr>
        <p:spPr>
          <a:xfrm>
            <a:off x="1016000" y="2108200"/>
            <a:ext cx="1066800" cy="279400"/>
          </a:xfrm>
          <a:prstGeom prst="roundRect">
            <a:avLst>
              <a:gd name="adj" fmla="val 50000"/>
            </a:avLst>
          </a:prstGeom>
          <a:solidFill>
            <a:srgbClr val="DCD6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1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글로만 요청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AC2546-2980-4441-A831-07C84337BDBF}"/>
              </a:ext>
            </a:extLst>
          </p:cNvPr>
          <p:cNvSpPr txBox="1"/>
          <p:nvPr/>
        </p:nvSpPr>
        <p:spPr>
          <a:xfrm>
            <a:off x="1016000" y="25146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말로만 설명했을 때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1DB8716B-AA57-45A4-9739-C514F3F1D145}"/>
              </a:ext>
            </a:extLst>
          </p:cNvPr>
          <p:cNvSpPr/>
          <p:nvPr/>
        </p:nvSpPr>
        <p:spPr>
          <a:xfrm>
            <a:off x="1016000" y="2946400"/>
            <a:ext cx="4673600" cy="838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0" rIns="152400" bIns="0" rtlCol="0" anchor="ctr"/>
          <a:lstStyle/>
          <a:p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“메인 문구 좀 크게 하고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버튼은 아래쪽에 예쁘게 놔 줘”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D23B51-80B8-4189-A81D-BF7A9D1ECC26}"/>
              </a:ext>
            </a:extLst>
          </p:cNvPr>
          <p:cNvSpPr txBox="1"/>
          <p:nvPr/>
        </p:nvSpPr>
        <p:spPr>
          <a:xfrm>
            <a:off x="1016000" y="39878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✕  크기 </a:t>
            </a:r>
            <a:r>
              <a:rPr lang="en-US" altLang="ko-KR" sz="13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3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위치가 요청할 때마다 달라짐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E57436-A4EC-4C70-990C-C203864D3280}"/>
              </a:ext>
            </a:extLst>
          </p:cNvPr>
          <p:cNvSpPr txBox="1"/>
          <p:nvPr/>
        </p:nvSpPr>
        <p:spPr>
          <a:xfrm>
            <a:off x="1016000" y="43688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✕  고치지 않은 곳까지 바뀜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0D8DAB-4499-482B-B39D-26E38F889445}"/>
              </a:ext>
            </a:extLst>
          </p:cNvPr>
          <p:cNvSpPr txBox="1"/>
          <p:nvPr/>
        </p:nvSpPr>
        <p:spPr>
          <a:xfrm>
            <a:off x="1016000" y="47498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✕  같은 요청을 여러 번 반복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ADC8EBB-6FE9-4522-B3A9-ECC2183C5937}"/>
              </a:ext>
            </a:extLst>
          </p:cNvPr>
          <p:cNvSpPr/>
          <p:nvPr/>
        </p:nvSpPr>
        <p:spPr>
          <a:xfrm>
            <a:off x="6299200" y="1905000"/>
            <a:ext cx="5080000" cy="3429000"/>
          </a:xfrm>
          <a:prstGeom prst="roundRect">
            <a:avLst>
              <a:gd name="adj" fmla="val 6000"/>
            </a:avLst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9809232-BE2E-45EB-B090-5F1DE72681F7}"/>
              </a:ext>
            </a:extLst>
          </p:cNvPr>
          <p:cNvSpPr/>
          <p:nvPr/>
        </p:nvSpPr>
        <p:spPr>
          <a:xfrm>
            <a:off x="6502400" y="2108200"/>
            <a:ext cx="1765300" cy="279400"/>
          </a:xfrm>
          <a:prstGeom prst="roundRect">
            <a:avLst>
              <a:gd name="adj" fmla="val 50000"/>
            </a:avLst>
          </a:prstGeom>
          <a:solidFill>
            <a:srgbClr val="E869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그림 </a:t>
            </a:r>
            <a:r>
              <a:rPr lang="en-US" altLang="ko-KR" sz="11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sz="11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숫자로 요청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85D8CD-D2F6-4AE7-9598-7870FD9F3A16}"/>
              </a:ext>
            </a:extLst>
          </p:cNvPr>
          <p:cNvSpPr txBox="1"/>
          <p:nvPr/>
        </p:nvSpPr>
        <p:spPr>
          <a:xfrm>
            <a:off x="6502400" y="25146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시안 </a:t>
            </a:r>
            <a:r>
              <a:rPr lang="en-US" altLang="ko-KR" sz="16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6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캡처를 함께 보여 줬을 때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C31FD3D-AD08-4CA5-9033-8047305ABAE2}"/>
              </a:ext>
            </a:extLst>
          </p:cNvPr>
          <p:cNvSpPr/>
          <p:nvPr/>
        </p:nvSpPr>
        <p:spPr>
          <a:xfrm>
            <a:off x="6502400" y="2946400"/>
            <a:ext cx="4673600" cy="838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0" rIns="152400" bIns="0" rtlCol="0" anchor="ctr"/>
          <a:lstStyle/>
          <a:p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“첨부한 시안처럼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제목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124pt Heavy,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버튼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394 × 80 #E0FF4F,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버튼 사이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58px”</a:t>
            </a:r>
            <a:endParaRPr lang="ko-KR" altLang="en-US" sz="1200">
              <a:solidFill>
                <a:srgbClr val="4A50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BE3928-FF9F-4105-AB46-E67339CB03BA}"/>
              </a:ext>
            </a:extLst>
          </p:cNvPr>
          <p:cNvSpPr txBox="1"/>
          <p:nvPr/>
        </p:nvSpPr>
        <p:spPr>
          <a:xfrm>
            <a:off x="6502400" y="39878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✓  한두 번 만에 원하는 배치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4C01A3-A16B-4EBD-826E-29F724DC9D4E}"/>
              </a:ext>
            </a:extLst>
          </p:cNvPr>
          <p:cNvSpPr txBox="1"/>
          <p:nvPr/>
        </p:nvSpPr>
        <p:spPr>
          <a:xfrm>
            <a:off x="6502400" y="43688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✓  요청한 곳만 정확히 수정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89985E-D94A-4FEC-BBC2-1715667DA4FF}"/>
              </a:ext>
            </a:extLst>
          </p:cNvPr>
          <p:cNvSpPr txBox="1"/>
          <p:nvPr/>
        </p:nvSpPr>
        <p:spPr>
          <a:xfrm>
            <a:off x="6502400" y="4749800"/>
            <a:ext cx="467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✓  팀원 </a:t>
            </a:r>
            <a:r>
              <a:rPr lang="en-US" altLang="ko-KR" sz="13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3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명의 화면 스타일 통일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0395FB-A0D4-4459-B1B6-ACE49879ADD8}"/>
              </a:ext>
            </a:extLst>
          </p:cNvPr>
          <p:cNvSpPr txBox="1"/>
          <p:nvPr/>
        </p:nvSpPr>
        <p:spPr>
          <a:xfrm>
            <a:off x="5918200" y="3429000"/>
            <a:ext cx="330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20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77D8B10D-9C77-42D8-BB8C-1D2240EF469A}"/>
              </a:ext>
            </a:extLst>
          </p:cNvPr>
          <p:cNvSpPr/>
          <p:nvPr/>
        </p:nvSpPr>
        <p:spPr>
          <a:xfrm>
            <a:off x="812800" y="5537200"/>
            <a:ext cx="10566400" cy="558800"/>
          </a:xfrm>
          <a:prstGeom prst="roundRect">
            <a:avLst>
              <a:gd name="adj" fmla="val 6000"/>
            </a:avLst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20B0A1D-D60B-4583-A093-16D3B21ED32A}"/>
              </a:ext>
            </a:extLst>
          </p:cNvPr>
          <p:cNvSpPr txBox="1"/>
          <p:nvPr/>
        </p:nvSpPr>
        <p:spPr>
          <a:xfrm>
            <a:off x="1066800" y="57023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깨달은 점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</a:t>
            </a:r>
            <a:r>
              <a:rPr lang="en-US" altLang="ko-KR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는 말보다 그림과 숫자를 더 정확하게 알아들었습니다</a:t>
            </a:r>
          </a:p>
        </p:txBody>
      </p:sp>
    </p:spTree>
    <p:extLst>
      <p:ext uri="{BB962C8B-B14F-4D97-AF65-F5344CB8AC3E}">
        <p14:creationId xmlns:p14="http://schemas.microsoft.com/office/powerpoint/2010/main" val="3144614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9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altLang="ko-KR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 · </a:t>
            </a:r>
            <a:r>
              <a:rPr lang="ko-KR" altLang="en-US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그림으로 보여 주기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도구별로 이렇게 나눠 썼습니다</a:t>
            </a:r>
            <a:endParaRPr lang="en-US" sz="3200" dirty="0"/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888A1C7D-B86F-4173-926F-EDC2E4251A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096866"/>
              </p:ext>
            </p:extLst>
          </p:nvPr>
        </p:nvGraphicFramePr>
        <p:xfrm>
          <a:off x="812800" y="1905000"/>
          <a:ext cx="10566400" cy="29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7690878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730404522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1739896305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188318548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도구</a:t>
                      </a:r>
                    </a:p>
                  </a:txBody>
                  <a:tcPr marL="127000" marR="101600" anchor="ctr"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언제 썼나</a:t>
                      </a:r>
                    </a:p>
                  </a:txBody>
                  <a:tcPr marL="127000" marR="101600" anchor="ctr"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좋았던 점</a:t>
                      </a:r>
                    </a:p>
                  </a:txBody>
                  <a:tcPr marL="127000" marR="101600" anchor="ctr"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아쉬웠던 점</a:t>
                      </a:r>
                    </a:p>
                  </a:txBody>
                  <a:tcPr marL="127000" marR="101600" anchor="ctr">
                    <a:solidFill>
                      <a:srgbClr val="162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23152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Illustrator</a:t>
                      </a:r>
                      <a:endParaRPr lang="ko-KR" altLang="en-US" sz="1200" b="1">
                        <a:solidFill>
                          <a:srgbClr val="1B2433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페이지 첫 시안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배치 </a:t>
                      </a:r>
                      <a:r>
                        <a:rPr lang="en-US" altLang="ko-KR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</a:t>
                      </a:r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색 </a:t>
                      </a:r>
                      <a:r>
                        <a:rPr lang="en-US" altLang="ko-KR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</a:t>
                      </a:r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문구를 한 장에 전달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그리는 데 시간이 걸림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92636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알캡처</a:t>
                      </a: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크기 </a:t>
                      </a:r>
                      <a:r>
                        <a:rPr lang="en-US" altLang="ko-KR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</a:t>
                      </a:r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간격 맞출 때</a:t>
                      </a: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px </a:t>
                      </a:r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숫자로 정확하게 요청</a:t>
                      </a: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 배율에 따라 값이 달라짐</a:t>
                      </a: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999779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펜 태블릿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새 배치 </a:t>
                      </a:r>
                      <a:r>
                        <a:rPr lang="en-US" altLang="ko-KR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</a:t>
                      </a:r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움직임 아이디어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손으로 빠르게 그려서 전달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대충 그리면 </a:t>
                      </a:r>
                      <a:r>
                        <a:rPr lang="en-US" altLang="ko-KR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AI</a:t>
                      </a:r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 다르게 해석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809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그림판</a:t>
                      </a: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부분 수정 요청</a:t>
                      </a: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고칠 곳만 콕 집어 표시</a:t>
                      </a: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큰 구조 변경에는 부족</a:t>
                      </a: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179530"/>
                  </a:ext>
                </a:extLst>
              </a:tr>
            </a:tbl>
          </a:graphicData>
        </a:graphic>
      </p:graphicFrame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0BBED46-E804-4B73-840F-8ABC031E6A10}"/>
              </a:ext>
            </a:extLst>
          </p:cNvPr>
          <p:cNvSpPr/>
          <p:nvPr/>
        </p:nvSpPr>
        <p:spPr>
          <a:xfrm>
            <a:off x="812800" y="5080000"/>
            <a:ext cx="10566400" cy="558800"/>
          </a:xfrm>
          <a:prstGeom prst="roundRect">
            <a:avLst>
              <a:gd name="adj" fmla="val 6000"/>
            </a:avLst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8EB204-797D-4B4A-8561-4C3D40B922A7}"/>
              </a:ext>
            </a:extLst>
          </p:cNvPr>
          <p:cNvSpPr txBox="1"/>
          <p:nvPr/>
        </p:nvSpPr>
        <p:spPr>
          <a:xfrm>
            <a:off x="1066800" y="52451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순서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</a:t>
            </a:r>
            <a:r>
              <a:rPr lang="en-US" altLang="ko-KR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Illustrator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큰 그림 → 알캡처로 숫자 → 그림판 </a:t>
            </a:r>
            <a:r>
              <a:rPr lang="en-US" altLang="ko-KR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펜 태블릿으로 수정 요청</a:t>
            </a:r>
          </a:p>
        </p:txBody>
      </p:sp>
    </p:spTree>
    <p:extLst>
      <p:ext uri="{BB962C8B-B14F-4D97-AF65-F5344CB8AC3E}">
        <p14:creationId xmlns:p14="http://schemas.microsoft.com/office/powerpoint/2010/main" val="4015368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altLang="ko-KR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 · </a:t>
            </a:r>
            <a:r>
              <a:rPr lang="ko-KR" altLang="en-US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그림으로 보여 주기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일러스트 시안을 보여 주고</a:t>
            </a:r>
            <a:r>
              <a:rPr lang="en-US" altLang="ko-KR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이렇게 완성했습니다</a:t>
            </a:r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6FD591-A2BB-48B5-9D3D-8747D7C2DD21}"/>
              </a:ext>
            </a:extLst>
          </p:cNvPr>
          <p:cNvSpPr txBox="1"/>
          <p:nvPr/>
        </p:nvSpPr>
        <p:spPr>
          <a:xfrm>
            <a:off x="812800" y="1879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2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ABOUT US · </a:t>
            </a:r>
            <a:r>
              <a:rPr lang="ko-KR" altLang="en-US" sz="12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염혜리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812C8035-DBF8-4424-B585-542932B49FD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2159000"/>
            <a:ext cx="2336800" cy="1460500"/>
          </a:xfrm>
          <a:prstGeom prst="rect">
            <a:avLst/>
          </a:prstGeom>
          <a:ln w="9525">
            <a:solidFill>
              <a:srgbClr val="DCD6C8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0564201-D5B4-4CD6-B6CE-F186B702174C}"/>
              </a:ext>
            </a:extLst>
          </p:cNvPr>
          <p:cNvSpPr txBox="1"/>
          <p:nvPr/>
        </p:nvSpPr>
        <p:spPr>
          <a:xfrm>
            <a:off x="3175000" y="27178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6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AB14C6-668D-4BF5-87E1-099628E15F0E}"/>
              </a:ext>
            </a:extLst>
          </p:cNvPr>
          <p:cNvSpPr txBox="1"/>
          <p:nvPr/>
        </p:nvSpPr>
        <p:spPr>
          <a:xfrm>
            <a:off x="812800" y="3670300"/>
            <a:ext cx="233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시안 </a:t>
            </a:r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일러스트</a:t>
            </a:r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000">
              <a:solidFill>
                <a:srgbClr val="8A8F9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884923-8C03-4618-B9F0-48AEBE3E3622}"/>
              </a:ext>
            </a:extLst>
          </p:cNvPr>
          <p:cNvSpPr txBox="1"/>
          <p:nvPr/>
        </p:nvSpPr>
        <p:spPr>
          <a:xfrm>
            <a:off x="3556000" y="3670300"/>
            <a:ext cx="233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완성 </a:t>
            </a:r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홈페이지</a:t>
            </a:r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000">
              <a:solidFill>
                <a:srgbClr val="8A8F9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8EC325-D5BA-4219-9936-886DC0800501}"/>
              </a:ext>
            </a:extLst>
          </p:cNvPr>
          <p:cNvSpPr txBox="1"/>
          <p:nvPr/>
        </p:nvSpPr>
        <p:spPr>
          <a:xfrm>
            <a:off x="6299200" y="1879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2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VIDEO · </a:t>
            </a:r>
            <a:r>
              <a:rPr lang="ko-KR" altLang="en-US" sz="12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이애리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2489D425-EFF9-4267-8B5B-2B58A9A1124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299200" y="2159000"/>
            <a:ext cx="2336800" cy="1460500"/>
          </a:xfrm>
          <a:prstGeom prst="rect">
            <a:avLst/>
          </a:prstGeom>
          <a:ln w="9525">
            <a:solidFill>
              <a:srgbClr val="DCD6C8"/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7801355-BFA3-4DC5-8784-543C785928E5}"/>
              </a:ext>
            </a:extLst>
          </p:cNvPr>
          <p:cNvSpPr txBox="1"/>
          <p:nvPr/>
        </p:nvSpPr>
        <p:spPr>
          <a:xfrm>
            <a:off x="8661400" y="27178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6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E6353155-0674-4A56-9CB6-E8FBFFF1DE01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9042400" y="2159000"/>
            <a:ext cx="2336800" cy="1460500"/>
          </a:xfrm>
          <a:prstGeom prst="rect">
            <a:avLst/>
          </a:prstGeom>
          <a:ln w="9525">
            <a:solidFill>
              <a:srgbClr val="DCD6C8"/>
            </a:solidFill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CBD21C0-BAB4-4D48-81CD-F7682F541F14}"/>
              </a:ext>
            </a:extLst>
          </p:cNvPr>
          <p:cNvSpPr txBox="1"/>
          <p:nvPr/>
        </p:nvSpPr>
        <p:spPr>
          <a:xfrm>
            <a:off x="6299200" y="3670300"/>
            <a:ext cx="233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시안 </a:t>
            </a:r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일러스트</a:t>
            </a:r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000">
              <a:solidFill>
                <a:srgbClr val="8A8F9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5A4FC8-2006-42B3-9E88-AFDABB5545E4}"/>
              </a:ext>
            </a:extLst>
          </p:cNvPr>
          <p:cNvSpPr txBox="1"/>
          <p:nvPr/>
        </p:nvSpPr>
        <p:spPr>
          <a:xfrm>
            <a:off x="9042400" y="3670300"/>
            <a:ext cx="233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완성 </a:t>
            </a:r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홈페이지</a:t>
            </a:r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000">
              <a:solidFill>
                <a:srgbClr val="8A8F9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633677-6424-45F6-8802-C08D4E4EDC26}"/>
              </a:ext>
            </a:extLst>
          </p:cNvPr>
          <p:cNvSpPr txBox="1"/>
          <p:nvPr/>
        </p:nvSpPr>
        <p:spPr>
          <a:xfrm>
            <a:off x="812800" y="4013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2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PORTFOLIO · </a:t>
            </a:r>
            <a:r>
              <a:rPr lang="ko-KR" altLang="en-US" sz="12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유호원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D7F1DCBF-9375-4F82-9CE6-59A51E64BADC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0" y="4292600"/>
            <a:ext cx="2336800" cy="1460500"/>
          </a:xfrm>
          <a:prstGeom prst="rect">
            <a:avLst/>
          </a:prstGeom>
          <a:ln w="9525">
            <a:solidFill>
              <a:srgbClr val="DCD6C8"/>
            </a:solidFill>
          </a:ln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694F69BB-5A3B-40FB-9782-E0FA007056FA}"/>
              </a:ext>
            </a:extLst>
          </p:cNvPr>
          <p:cNvSpPr txBox="1"/>
          <p:nvPr/>
        </p:nvSpPr>
        <p:spPr>
          <a:xfrm>
            <a:off x="3175000" y="48514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6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0B5F952A-867E-42BC-93F2-65A12CDB662B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3556000" y="4292600"/>
            <a:ext cx="2336800" cy="1460500"/>
          </a:xfrm>
          <a:prstGeom prst="rect">
            <a:avLst/>
          </a:prstGeom>
          <a:ln w="9525">
            <a:solidFill>
              <a:srgbClr val="DCD6C8"/>
            </a:solidFill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42015245-15E4-4011-966E-A25F74FA685E}"/>
              </a:ext>
            </a:extLst>
          </p:cNvPr>
          <p:cNvSpPr txBox="1"/>
          <p:nvPr/>
        </p:nvSpPr>
        <p:spPr>
          <a:xfrm>
            <a:off x="812800" y="5803900"/>
            <a:ext cx="233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시안 </a:t>
            </a:r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일러스트</a:t>
            </a:r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000">
              <a:solidFill>
                <a:srgbClr val="8A8F9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489A66-7991-4FEE-A866-661A4079ABE9}"/>
              </a:ext>
            </a:extLst>
          </p:cNvPr>
          <p:cNvSpPr txBox="1"/>
          <p:nvPr/>
        </p:nvSpPr>
        <p:spPr>
          <a:xfrm>
            <a:off x="3556000" y="5803900"/>
            <a:ext cx="233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완성 </a:t>
            </a:r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홈페이지</a:t>
            </a:r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000">
              <a:solidFill>
                <a:srgbClr val="8A8F9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7ADD944-51D9-478A-9FB2-6D69A2046AE6}"/>
              </a:ext>
            </a:extLst>
          </p:cNvPr>
          <p:cNvSpPr txBox="1"/>
          <p:nvPr/>
        </p:nvSpPr>
        <p:spPr>
          <a:xfrm>
            <a:off x="6299200" y="4013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2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CONTACT · </a:t>
            </a:r>
            <a:r>
              <a:rPr lang="ko-KR" altLang="en-US" sz="12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김소연</a:t>
            </a: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08CC3A35-2DD4-4B08-984C-F0DB7C786758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6299200" y="4292600"/>
            <a:ext cx="2336800" cy="1460500"/>
          </a:xfrm>
          <a:prstGeom prst="rect">
            <a:avLst/>
          </a:prstGeom>
          <a:ln w="9525">
            <a:solidFill>
              <a:srgbClr val="DCD6C8"/>
            </a:solidFill>
          </a:ln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DAB47861-6C70-441B-A4EC-D88BD0A759F1}"/>
              </a:ext>
            </a:extLst>
          </p:cNvPr>
          <p:cNvSpPr txBox="1"/>
          <p:nvPr/>
        </p:nvSpPr>
        <p:spPr>
          <a:xfrm>
            <a:off x="8661400" y="48514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6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0470C7DF-3552-4A15-B7CD-DEBFEDCEAD96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9042400" y="4292600"/>
            <a:ext cx="2336800" cy="1460500"/>
          </a:xfrm>
          <a:prstGeom prst="rect">
            <a:avLst/>
          </a:prstGeom>
          <a:ln w="9525">
            <a:solidFill>
              <a:srgbClr val="DCD6C8"/>
            </a:solidFill>
          </a:ln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B7D2A827-D953-498F-AA7E-177BF1566B18}"/>
              </a:ext>
            </a:extLst>
          </p:cNvPr>
          <p:cNvSpPr txBox="1"/>
          <p:nvPr/>
        </p:nvSpPr>
        <p:spPr>
          <a:xfrm>
            <a:off x="6299200" y="5803900"/>
            <a:ext cx="233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시안 </a:t>
            </a:r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일러스트</a:t>
            </a:r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000">
              <a:solidFill>
                <a:srgbClr val="8A8F9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4E87C7-CE41-41F9-AB89-C8B71C84BF3F}"/>
              </a:ext>
            </a:extLst>
          </p:cNvPr>
          <p:cNvSpPr txBox="1"/>
          <p:nvPr/>
        </p:nvSpPr>
        <p:spPr>
          <a:xfrm>
            <a:off x="9042400" y="5803900"/>
            <a:ext cx="233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완성 </a:t>
            </a:r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홈페이지</a:t>
            </a:r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000">
              <a:solidFill>
                <a:srgbClr val="8A8F9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5B1D749-6617-416A-AEE2-6A345296BD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6638" y="2159000"/>
            <a:ext cx="2391561" cy="147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949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altLang="ko-KR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 · </a:t>
            </a:r>
            <a:r>
              <a:rPr lang="ko-KR" altLang="en-US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그림으로 보여 주기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시안 하나로 배치 </a:t>
            </a:r>
            <a:r>
              <a:rPr lang="en-US" altLang="ko-KR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색 </a:t>
            </a:r>
            <a:r>
              <a:rPr lang="en-US" altLang="ko-KR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문구를 한 번에 전달</a:t>
            </a:r>
            <a:endParaRPr lang="en-US" sz="3200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B3BC6421-A244-405C-869A-4D9D7B9A1DA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905000"/>
            <a:ext cx="5969000" cy="3733800"/>
          </a:xfrm>
          <a:prstGeom prst="rect">
            <a:avLst/>
          </a:prstGeom>
          <a:ln w="9525">
            <a:solidFill>
              <a:srgbClr val="DCD6C8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46672E3-0003-40DF-BFC1-98E3C5DA0F15}"/>
              </a:ext>
            </a:extLst>
          </p:cNvPr>
          <p:cNvSpPr txBox="1"/>
          <p:nvPr/>
        </p:nvSpPr>
        <p:spPr>
          <a:xfrm>
            <a:off x="812800" y="57150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ABOUT US </a:t>
            </a:r>
            <a:r>
              <a:rPr lang="ko-KR" altLang="en-US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일러스트 시안 </a:t>
            </a:r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염혜리 </a:t>
            </a:r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(10.13 </a:t>
            </a:r>
            <a:r>
              <a:rPr lang="ko-KR" altLang="en-US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페이지 이미지화</a:t>
            </a:r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000">
              <a:solidFill>
                <a:srgbClr val="8A8F9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40BA044-C235-4FA0-8B30-C4F75876DD02}"/>
              </a:ext>
            </a:extLst>
          </p:cNvPr>
          <p:cNvSpPr/>
          <p:nvPr/>
        </p:nvSpPr>
        <p:spPr>
          <a:xfrm>
            <a:off x="7061200" y="1905000"/>
            <a:ext cx="4318000" cy="37338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F4B823A-2127-4836-BBF2-CDBBFDAA122F}"/>
              </a:ext>
            </a:extLst>
          </p:cNvPr>
          <p:cNvSpPr/>
          <p:nvPr/>
        </p:nvSpPr>
        <p:spPr>
          <a:xfrm>
            <a:off x="7264400" y="2108200"/>
            <a:ext cx="1485900" cy="2794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시안으로 정한 것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60CD17-5B6D-4177-85A9-676647A5B7ED}"/>
              </a:ext>
            </a:extLst>
          </p:cNvPr>
          <p:cNvSpPr txBox="1"/>
          <p:nvPr/>
        </p:nvSpPr>
        <p:spPr>
          <a:xfrm>
            <a:off x="7264400" y="25400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메뉴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검은 글자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 메뉴 연두색 배경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29E945-F3A5-41AD-AEDC-784DBFE17144}"/>
              </a:ext>
            </a:extLst>
          </p:cNvPr>
          <p:cNvSpPr txBox="1"/>
          <p:nvPr/>
        </p:nvSpPr>
        <p:spPr>
          <a:xfrm>
            <a:off x="7264400" y="29718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메인 문구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왼쪽 큰 제목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줄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부제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4E9B10-F8CC-4A9A-873E-927E6529F556}"/>
              </a:ext>
            </a:extLst>
          </p:cNvPr>
          <p:cNvSpPr txBox="1"/>
          <p:nvPr/>
        </p:nvSpPr>
        <p:spPr>
          <a:xfrm>
            <a:off x="7264400" y="34036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버튼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연두색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#E0FF4F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박스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화살표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36F211-9070-4936-855C-1D0E18536967}"/>
              </a:ext>
            </a:extLst>
          </p:cNvPr>
          <p:cNvSpPr txBox="1"/>
          <p:nvPr/>
        </p:nvSpPr>
        <p:spPr>
          <a:xfrm>
            <a:off x="7264400" y="38354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파트너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로고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개를 한 줄로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F10ADC-B6EB-4125-AB4D-86E748323107}"/>
              </a:ext>
            </a:extLst>
          </p:cNvPr>
          <p:cNvSpPr txBox="1"/>
          <p:nvPr/>
        </p:nvSpPr>
        <p:spPr>
          <a:xfrm>
            <a:off x="7264400" y="42672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푸터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메뉴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상담 시간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주소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칸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90A2900-650C-4089-B951-CA0472FDA159}"/>
              </a:ext>
            </a:extLst>
          </p:cNvPr>
          <p:cNvSpPr/>
          <p:nvPr/>
        </p:nvSpPr>
        <p:spPr>
          <a:xfrm>
            <a:off x="7264400" y="4800600"/>
            <a:ext cx="3937000" cy="635000"/>
          </a:xfrm>
          <a:prstGeom prst="roundRect">
            <a:avLst>
              <a:gd name="adj" fmla="val 6000"/>
            </a:avLst>
          </a:prstGeom>
          <a:solidFill>
            <a:srgbClr val="ECE9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n-US" altLang="ko-KR" sz="11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GPT</a:t>
            </a:r>
            <a:r>
              <a:rPr lang="ko-KR" altLang="en-US" sz="11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 시안 이미지를 올리고</a:t>
            </a:r>
          </a:p>
          <a:p>
            <a:pPr algn="ctr"/>
            <a:r>
              <a:rPr lang="en-US" altLang="ko-KR" sz="11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1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시안과 똑같은 배치로 만들어줘</a:t>
            </a:r>
            <a:r>
              <a:rPr lang="en-US" altLang="ko-KR" sz="11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endParaRPr lang="ko-KR" altLang="en-US" sz="1100">
              <a:solidFill>
                <a:srgbClr val="1B243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9979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altLang="ko-KR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 · </a:t>
            </a:r>
            <a:r>
              <a:rPr lang="ko-KR" altLang="en-US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숫자로 요청하기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알캡처로 재고</a:t>
            </a:r>
            <a:r>
              <a:rPr lang="en-US" altLang="ko-KR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숫자로 요청했습니다</a:t>
            </a:r>
            <a:endParaRPr lang="en-US" sz="3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9FC7F02-F40E-4B24-8008-786AB346183C}"/>
              </a:ext>
            </a:extLst>
          </p:cNvPr>
          <p:cNvSpPr/>
          <p:nvPr/>
        </p:nvSpPr>
        <p:spPr>
          <a:xfrm>
            <a:off x="812800" y="1905000"/>
            <a:ext cx="5969000" cy="403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393F3E6-20BA-4B22-9016-3214BA5C94B1}"/>
              </a:ext>
            </a:extLst>
          </p:cNvPr>
          <p:cNvSpPr/>
          <p:nvPr/>
        </p:nvSpPr>
        <p:spPr>
          <a:xfrm>
            <a:off x="812800" y="1905000"/>
            <a:ext cx="5969000" cy="431800"/>
          </a:xfrm>
          <a:prstGeom prst="rect">
            <a:avLst/>
          </a:prstGeom>
          <a:solidFill>
            <a:srgbClr val="ECE9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591B62-6F5C-495F-81E8-A0750438E8FB}"/>
              </a:ext>
            </a:extLst>
          </p:cNvPr>
          <p:cNvSpPr txBox="1"/>
          <p:nvPr/>
        </p:nvSpPr>
        <p:spPr>
          <a:xfrm>
            <a:off x="965200" y="20320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STUDIO </a:t>
            </a:r>
            <a:r>
              <a:rPr lang="ko-KR" altLang="en-US" sz="11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111A3B-3809-45C6-A38F-27C9D6D09670}"/>
              </a:ext>
            </a:extLst>
          </p:cNvPr>
          <p:cNvSpPr txBox="1"/>
          <p:nvPr/>
        </p:nvSpPr>
        <p:spPr>
          <a:xfrm>
            <a:off x="4826000" y="20320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ko-KR" altLang="en-US" sz="11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헤더 </a:t>
            </a:r>
            <a:r>
              <a:rPr lang="en-US" altLang="ko-KR" sz="11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81px</a:t>
            </a:r>
            <a:endParaRPr lang="ko-KR" altLang="en-US" sz="1100" b="1">
              <a:solidFill>
                <a:srgbClr val="E8692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44627E-6BA7-4538-970E-A4AFE015BA29}"/>
              </a:ext>
            </a:extLst>
          </p:cNvPr>
          <p:cNvSpPr txBox="1"/>
          <p:nvPr/>
        </p:nvSpPr>
        <p:spPr>
          <a:xfrm>
            <a:off x="812800" y="27686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30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상상을 넘어 장면이 되다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211AB3-F362-4166-A5A6-23A82B2C18E4}"/>
              </a:ext>
            </a:extLst>
          </p:cNvPr>
          <p:cNvSpPr txBox="1"/>
          <p:nvPr/>
        </p:nvSpPr>
        <p:spPr>
          <a:xfrm>
            <a:off x="812800" y="34290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0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H1 · 124pt · Heavy · </a:t>
            </a:r>
            <a:r>
              <a:rPr lang="ko-KR" altLang="en-US" sz="10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타자 효과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EFCE52-BA8E-447F-BCBB-6B839C7E0FE9}"/>
              </a:ext>
            </a:extLst>
          </p:cNvPr>
          <p:cNvSpPr txBox="1"/>
          <p:nvPr/>
        </p:nvSpPr>
        <p:spPr>
          <a:xfrm>
            <a:off x="812800" y="37592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4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기획부터 </a:t>
            </a:r>
            <a:r>
              <a:rPr lang="en-US" altLang="ko-KR" sz="14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4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영상 제작까지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2FE7DB-7027-4351-88D2-B79D2C2ED501}"/>
              </a:ext>
            </a:extLst>
          </p:cNvPr>
          <p:cNvSpPr txBox="1"/>
          <p:nvPr/>
        </p:nvSpPr>
        <p:spPr>
          <a:xfrm>
            <a:off x="812800" y="40640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0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H2 · 52pt · Medium · </a:t>
            </a:r>
            <a:r>
              <a:rPr lang="ko-KR" altLang="en-US" sz="10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왼쪽 → 가운데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164A1EA-C202-42E7-96DD-30AE8E23AC60}"/>
              </a:ext>
            </a:extLst>
          </p:cNvPr>
          <p:cNvSpPr/>
          <p:nvPr/>
        </p:nvSpPr>
        <p:spPr>
          <a:xfrm>
            <a:off x="1498600" y="4521200"/>
            <a:ext cx="2184400" cy="584200"/>
          </a:xfrm>
          <a:prstGeom prst="rect">
            <a:avLst/>
          </a:prstGeom>
          <a:solidFill>
            <a:srgbClr val="E0FF4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3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포트폴리오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151C3E8-2C4E-4BA9-A07F-58B20E9EF10A}"/>
              </a:ext>
            </a:extLst>
          </p:cNvPr>
          <p:cNvSpPr/>
          <p:nvPr/>
        </p:nvSpPr>
        <p:spPr>
          <a:xfrm>
            <a:off x="3911600" y="4521200"/>
            <a:ext cx="2184400" cy="584200"/>
          </a:xfrm>
          <a:prstGeom prst="rect">
            <a:avLst/>
          </a:prstGeom>
          <a:solidFill>
            <a:srgbClr val="E0FF4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3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제작문의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8B71C7-E7C6-4B75-9AA5-136CCB9DA87C}"/>
              </a:ext>
            </a:extLst>
          </p:cNvPr>
          <p:cNvSpPr txBox="1"/>
          <p:nvPr/>
        </p:nvSpPr>
        <p:spPr>
          <a:xfrm>
            <a:off x="812800" y="52070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0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버튼 </a:t>
            </a:r>
            <a:r>
              <a:rPr lang="en-US" altLang="ko-KR" sz="10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394 × 80 · #E0FF4F · </a:t>
            </a:r>
            <a:r>
              <a:rPr lang="ko-KR" altLang="en-US" sz="10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글자 </a:t>
            </a:r>
            <a:r>
              <a:rPr lang="en-US" altLang="ko-KR" sz="10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40px · </a:t>
            </a:r>
            <a:r>
              <a:rPr lang="ko-KR" altLang="en-US" sz="10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가운데 정렬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6C09F0E-D313-412F-9369-6D855BCFF1DF}"/>
              </a:ext>
            </a:extLst>
          </p:cNvPr>
          <p:cNvSpPr txBox="1"/>
          <p:nvPr/>
        </p:nvSpPr>
        <p:spPr>
          <a:xfrm>
            <a:off x="812800" y="55880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0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지도 옆 </a:t>
            </a:r>
            <a:r>
              <a:rPr lang="en-US" altLang="ko-KR" sz="10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58px </a:t>
            </a:r>
            <a:r>
              <a:rPr lang="ko-KR" altLang="en-US" sz="10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띄우기 </a:t>
            </a:r>
            <a:r>
              <a:rPr lang="en-US" altLang="ko-KR" sz="10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PROJECT INQUIRY </a:t>
            </a:r>
            <a:r>
              <a:rPr lang="ko-KR" altLang="en-US" sz="10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옆 </a:t>
            </a:r>
            <a:r>
              <a:rPr lang="en-US" altLang="ko-KR" sz="10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311px</a:t>
            </a:r>
            <a:endParaRPr lang="ko-KR" altLang="en-US" sz="1000" b="1">
              <a:solidFill>
                <a:srgbClr val="8A8F9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94449E6-D2CD-4B2F-BFB3-D07B70A4B959}"/>
              </a:ext>
            </a:extLst>
          </p:cNvPr>
          <p:cNvSpPr/>
          <p:nvPr/>
        </p:nvSpPr>
        <p:spPr>
          <a:xfrm>
            <a:off x="7061200" y="1905000"/>
            <a:ext cx="4318000" cy="40386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B9F7E92-96E7-4321-B4E7-7064B61595DC}"/>
              </a:ext>
            </a:extLst>
          </p:cNvPr>
          <p:cNvSpPr/>
          <p:nvPr/>
        </p:nvSpPr>
        <p:spPr>
          <a:xfrm>
            <a:off x="7264400" y="2108200"/>
            <a:ext cx="2463800" cy="2794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실제로 쓴 프롬프트 </a:t>
            </a:r>
            <a:r>
              <a:rPr lang="en-US" altLang="ko-KR" sz="11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염혜리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8AF5C5-897D-40D7-9360-02F09BE82BD4}"/>
              </a:ext>
            </a:extLst>
          </p:cNvPr>
          <p:cNvSpPr txBox="1"/>
          <p:nvPr/>
        </p:nvSpPr>
        <p:spPr>
          <a:xfrm>
            <a:off x="7264400" y="25400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“헤더영역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81PX</a:t>
            </a:r>
          </a:p>
          <a:p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상상을 넘어 장면이 되다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글자 사이즈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124PT,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두께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heavy)</a:t>
            </a:r>
          </a:p>
          <a:p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포트폴리오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제작문의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박스 가로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394,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세로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80,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박스색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e0ff4f)</a:t>
            </a:r>
          </a:p>
          <a:p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지도 옆에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58px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띄고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…”</a:t>
            </a:r>
            <a:endParaRPr lang="ko-KR" altLang="en-US" sz="1200">
              <a:solidFill>
                <a:srgbClr val="4A50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F6179A2-7807-4731-98CF-82D08EA9593E}"/>
              </a:ext>
            </a:extLst>
          </p:cNvPr>
          <p:cNvSpPr/>
          <p:nvPr/>
        </p:nvSpPr>
        <p:spPr>
          <a:xfrm>
            <a:off x="7264400" y="4724400"/>
            <a:ext cx="3937000" cy="1016000"/>
          </a:xfrm>
          <a:prstGeom prst="roundRect">
            <a:avLst>
              <a:gd name="adj" fmla="val 6000"/>
            </a:avLst>
          </a:prstGeom>
          <a:solidFill>
            <a:srgbClr val="ECE9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0" rIns="50800" bIns="0" rtlCol="0" anchor="ctr"/>
          <a:lstStyle/>
          <a:p>
            <a:r>
              <a:rPr lang="ko-KR" altLang="en-US" sz="11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알캡처로 영역 드래그 → 가로 </a:t>
            </a:r>
            <a:r>
              <a:rPr lang="en-US" altLang="ko-KR" sz="11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× </a:t>
            </a:r>
            <a:r>
              <a:rPr lang="ko-KR" altLang="en-US" sz="11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세로 </a:t>
            </a:r>
            <a:r>
              <a:rPr lang="en-US" altLang="ko-KR" sz="11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px </a:t>
            </a:r>
            <a:r>
              <a:rPr lang="ko-KR" altLang="en-US" sz="11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확인</a:t>
            </a:r>
          </a:p>
          <a:p>
            <a:r>
              <a:rPr lang="ko-KR" altLang="en-US" sz="11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 그 숫자를 프롬프트에 그대로 적기</a:t>
            </a:r>
          </a:p>
        </p:txBody>
      </p:sp>
    </p:spTree>
    <p:extLst>
      <p:ext uri="{BB962C8B-B14F-4D97-AF65-F5344CB8AC3E}">
        <p14:creationId xmlns:p14="http://schemas.microsoft.com/office/powerpoint/2010/main" val="4227713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9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altLang="ko-KR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 · </a:t>
            </a:r>
            <a:r>
              <a:rPr lang="ko-KR" altLang="en-US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숫자로 요청하기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 요청은 이 공식으로 썼습니다</a:t>
            </a:r>
            <a:endParaRPr lang="en-US" sz="3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54FE7FD-D18C-4F46-9F24-3E411A20A953}"/>
              </a:ext>
            </a:extLst>
          </p:cNvPr>
          <p:cNvSpPr/>
          <p:nvPr/>
        </p:nvSpPr>
        <p:spPr>
          <a:xfrm>
            <a:off x="812800" y="1905000"/>
            <a:ext cx="1879600" cy="685800"/>
          </a:xfrm>
          <a:prstGeom prst="roundRect">
            <a:avLst>
              <a:gd name="adj" fmla="val 6000"/>
            </a:avLst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어디를</a:t>
            </a:r>
          </a:p>
          <a:p>
            <a:pPr algn="ctr"/>
            <a:r>
              <a:rPr lang="ko-KR" altLang="en-US" sz="100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그림판 표시 </a:t>
            </a:r>
            <a:r>
              <a:rPr lang="en-US" altLang="ko-KR" sz="100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0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시안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15C731-CAC0-4E4D-8B0D-A5C07ABDC1EB}"/>
              </a:ext>
            </a:extLst>
          </p:cNvPr>
          <p:cNvSpPr txBox="1"/>
          <p:nvPr/>
        </p:nvSpPr>
        <p:spPr>
          <a:xfrm>
            <a:off x="2717800" y="2082800"/>
            <a:ext cx="279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6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endParaRPr lang="ko-KR" altLang="en-US" sz="1600" b="1">
              <a:solidFill>
                <a:srgbClr val="8A8F9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D6C158B-0C48-4FAD-8899-CCB22E280519}"/>
              </a:ext>
            </a:extLst>
          </p:cNvPr>
          <p:cNvSpPr/>
          <p:nvPr/>
        </p:nvSpPr>
        <p:spPr>
          <a:xfrm>
            <a:off x="2997200" y="1905000"/>
            <a:ext cx="1879600" cy="685800"/>
          </a:xfrm>
          <a:prstGeom prst="roundRect">
            <a:avLst>
              <a:gd name="adj" fmla="val 6000"/>
            </a:avLst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얼마나</a:t>
            </a:r>
          </a:p>
          <a:p>
            <a:pPr algn="ctr"/>
            <a:r>
              <a:rPr lang="en-US" altLang="ko-KR" sz="100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px · pt</a:t>
            </a:r>
            <a:endParaRPr lang="ko-KR" altLang="en-US" sz="100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18ABC0-672D-494B-967E-B083E1255F5F}"/>
              </a:ext>
            </a:extLst>
          </p:cNvPr>
          <p:cNvSpPr txBox="1"/>
          <p:nvPr/>
        </p:nvSpPr>
        <p:spPr>
          <a:xfrm>
            <a:off x="4902200" y="2082800"/>
            <a:ext cx="279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6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endParaRPr lang="ko-KR" altLang="en-US" sz="1600" b="1">
              <a:solidFill>
                <a:srgbClr val="8A8F9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0053FF3-D642-49AB-AA9D-9ED6E3E22498}"/>
              </a:ext>
            </a:extLst>
          </p:cNvPr>
          <p:cNvSpPr/>
          <p:nvPr/>
        </p:nvSpPr>
        <p:spPr>
          <a:xfrm>
            <a:off x="5181600" y="1905000"/>
            <a:ext cx="1879600" cy="685800"/>
          </a:xfrm>
          <a:prstGeom prst="roundRect">
            <a:avLst>
              <a:gd name="adj" fmla="val 6000"/>
            </a:avLst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무슨 색</a:t>
            </a:r>
          </a:p>
          <a:p>
            <a:pPr algn="ctr"/>
            <a:r>
              <a:rPr lang="en-US" altLang="ko-KR" sz="100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#E0FF4F </a:t>
            </a:r>
            <a:r>
              <a:rPr lang="ko-KR" altLang="en-US" sz="100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같은 코드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CDEF06-FB89-4F25-BAE7-101CB6F608A5}"/>
              </a:ext>
            </a:extLst>
          </p:cNvPr>
          <p:cNvSpPr txBox="1"/>
          <p:nvPr/>
        </p:nvSpPr>
        <p:spPr>
          <a:xfrm>
            <a:off x="7086600" y="2082800"/>
            <a:ext cx="279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6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endParaRPr lang="ko-KR" altLang="en-US" sz="1600" b="1">
              <a:solidFill>
                <a:srgbClr val="8A8F9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0361649-CD59-48FE-9A8A-6942A25A837B}"/>
              </a:ext>
            </a:extLst>
          </p:cNvPr>
          <p:cNvSpPr/>
          <p:nvPr/>
        </p:nvSpPr>
        <p:spPr>
          <a:xfrm>
            <a:off x="7366000" y="1905000"/>
            <a:ext cx="1879600" cy="685800"/>
          </a:xfrm>
          <a:prstGeom prst="roundRect">
            <a:avLst>
              <a:gd name="adj" fmla="val 6000"/>
            </a:avLst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어떻게</a:t>
            </a:r>
          </a:p>
          <a:p>
            <a:pPr algn="ctr"/>
            <a:r>
              <a:rPr lang="ko-KR" altLang="en-US" sz="100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 </a:t>
            </a:r>
            <a:r>
              <a:rPr lang="en-US" altLang="ko-KR" sz="100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0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순서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2D19AE-A627-4F6F-8E93-E33449754670}"/>
              </a:ext>
            </a:extLst>
          </p:cNvPr>
          <p:cNvSpPr txBox="1"/>
          <p:nvPr/>
        </p:nvSpPr>
        <p:spPr>
          <a:xfrm>
            <a:off x="9271000" y="2082800"/>
            <a:ext cx="279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6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endParaRPr lang="ko-KR" altLang="en-US" sz="1600" b="1">
              <a:solidFill>
                <a:srgbClr val="8A8F9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6F9AAC7C-B36A-45A1-A11B-9F2FFA90DE01}"/>
              </a:ext>
            </a:extLst>
          </p:cNvPr>
          <p:cNvSpPr/>
          <p:nvPr/>
        </p:nvSpPr>
        <p:spPr>
          <a:xfrm>
            <a:off x="9550400" y="1905000"/>
            <a:ext cx="1879600" cy="685800"/>
          </a:xfrm>
          <a:prstGeom prst="roundRect">
            <a:avLst>
              <a:gd name="adj" fmla="val 6000"/>
            </a:avLst>
          </a:prstGeom>
          <a:solidFill>
            <a:srgbClr val="E869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그대로 둘 것</a:t>
            </a:r>
          </a:p>
          <a:p>
            <a:pPr algn="ctr"/>
            <a:r>
              <a:rPr lang="ko-KR" altLang="en-US" sz="100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나머지는 유지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F7E604D-59EF-4650-8837-18515EB01375}"/>
              </a:ext>
            </a:extLst>
          </p:cNvPr>
          <p:cNvSpPr/>
          <p:nvPr/>
        </p:nvSpPr>
        <p:spPr>
          <a:xfrm>
            <a:off x="812800" y="2819400"/>
            <a:ext cx="5207000" cy="2489200"/>
          </a:xfrm>
          <a:prstGeom prst="roundRect">
            <a:avLst>
              <a:gd name="adj" fmla="val 6000"/>
            </a:avLst>
          </a:prstGeom>
          <a:solidFill>
            <a:srgbClr val="ECE9E1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EA66FE5-AE1E-4F62-97D9-74114A784A87}"/>
              </a:ext>
            </a:extLst>
          </p:cNvPr>
          <p:cNvSpPr/>
          <p:nvPr/>
        </p:nvSpPr>
        <p:spPr>
          <a:xfrm>
            <a:off x="1016000" y="3022600"/>
            <a:ext cx="1625600" cy="279400"/>
          </a:xfrm>
          <a:prstGeom prst="roundRect">
            <a:avLst>
              <a:gd name="adj" fmla="val 50000"/>
            </a:avLst>
          </a:prstGeom>
          <a:solidFill>
            <a:srgbClr val="DCD6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1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✕  이렇게 말하면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FCA377-0BBF-4616-BBF2-16D7D57E4E90}"/>
              </a:ext>
            </a:extLst>
          </p:cNvPr>
          <p:cNvSpPr txBox="1"/>
          <p:nvPr/>
        </p:nvSpPr>
        <p:spPr>
          <a:xfrm>
            <a:off x="1016000" y="3454400"/>
            <a:ext cx="4800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“견적 박스 좀 오른쪽으로 옮기고</a:t>
            </a:r>
            <a:r>
              <a:rPr lang="en-US" altLang="ko-KR" sz="13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버튼 눈에 띄게 해 줘”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973D99-3A2B-46E5-8D45-A8A61D466E49}"/>
              </a:ext>
            </a:extLst>
          </p:cNvPr>
          <p:cNvSpPr txBox="1"/>
          <p:nvPr/>
        </p:nvSpPr>
        <p:spPr>
          <a:xfrm>
            <a:off x="1016000" y="4876800"/>
            <a:ext cx="4800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 위치 </a:t>
            </a:r>
            <a:r>
              <a:rPr lang="en-US" altLang="ko-KR" sz="12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2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크기 </a:t>
            </a:r>
            <a:r>
              <a:rPr lang="en-US" altLang="ko-KR" sz="12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2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색을 </a:t>
            </a:r>
            <a:r>
              <a:rPr lang="en-US" altLang="ko-KR" sz="12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12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 마음대로 정함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A7275C1-2746-4244-A3A3-00ADB2EAC9CE}"/>
              </a:ext>
            </a:extLst>
          </p:cNvPr>
          <p:cNvSpPr/>
          <p:nvPr/>
        </p:nvSpPr>
        <p:spPr>
          <a:xfrm>
            <a:off x="6172200" y="2819400"/>
            <a:ext cx="5207000" cy="24892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563C1290-5A1A-4EDA-AC3B-25440467D510}"/>
              </a:ext>
            </a:extLst>
          </p:cNvPr>
          <p:cNvSpPr/>
          <p:nvPr/>
        </p:nvSpPr>
        <p:spPr>
          <a:xfrm>
            <a:off x="6375400" y="3022600"/>
            <a:ext cx="1765300" cy="279400"/>
          </a:xfrm>
          <a:prstGeom prst="roundRect">
            <a:avLst>
              <a:gd name="adj" fmla="val 50000"/>
            </a:avLst>
          </a:prstGeom>
          <a:solidFill>
            <a:srgbClr val="E869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✓  이렇게 말했더니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B4B155-6D34-4560-A348-65842E8993AC}"/>
              </a:ext>
            </a:extLst>
          </p:cNvPr>
          <p:cNvSpPr txBox="1"/>
          <p:nvPr/>
        </p:nvSpPr>
        <p:spPr>
          <a:xfrm>
            <a:off x="6375400" y="3454400"/>
            <a:ext cx="4800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“견적 박스를 지도 오른쪽에 </a:t>
            </a:r>
            <a:r>
              <a:rPr lang="en-US" altLang="ko-KR" sz="13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58px </a:t>
            </a:r>
            <a:r>
              <a:rPr lang="ko-KR" altLang="en-US" sz="13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띄워 배치해 줘</a:t>
            </a:r>
            <a:r>
              <a:rPr lang="en-US" altLang="ko-KR" sz="13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3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제목 </a:t>
            </a:r>
            <a:r>
              <a:rPr lang="en-US" altLang="ko-KR" sz="13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32pt Bold, </a:t>
            </a:r>
            <a:r>
              <a:rPr lang="ko-KR" altLang="en-US" sz="13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버튼 </a:t>
            </a:r>
            <a:r>
              <a:rPr lang="en-US" altLang="ko-KR" sz="13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#E0FF4F 394 × 80. </a:t>
            </a:r>
            <a:r>
              <a:rPr lang="ko-KR" altLang="en-US" sz="1300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첨부한 캡처의 빨간 박스만 고치고 나머지는 그대로 둬”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8BF6CF-8A14-4E8D-B5EF-3D9EE4DACF7E}"/>
              </a:ext>
            </a:extLst>
          </p:cNvPr>
          <p:cNvSpPr txBox="1"/>
          <p:nvPr/>
        </p:nvSpPr>
        <p:spPr>
          <a:xfrm>
            <a:off x="6375400" y="4876800"/>
            <a:ext cx="4800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 한 번에 원하는 화면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A4742428-C386-44AD-BCAF-975B5349A8D7}"/>
              </a:ext>
            </a:extLst>
          </p:cNvPr>
          <p:cNvSpPr/>
          <p:nvPr/>
        </p:nvSpPr>
        <p:spPr>
          <a:xfrm>
            <a:off x="812800" y="5537200"/>
            <a:ext cx="10566400" cy="558800"/>
          </a:xfrm>
          <a:prstGeom prst="roundRect">
            <a:avLst>
              <a:gd name="adj" fmla="val 6000"/>
            </a:avLst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F016BB-6526-449F-BCFD-49D3439E68A4}"/>
              </a:ext>
            </a:extLst>
          </p:cNvPr>
          <p:cNvSpPr txBox="1"/>
          <p:nvPr/>
        </p:nvSpPr>
        <p:spPr>
          <a:xfrm>
            <a:off x="1066800" y="57023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같은 요청을 반복하는 횟수가 줄고</a:t>
            </a:r>
            <a:r>
              <a:rPr lang="en-US" altLang="ko-KR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기존 디자인이 망가지지 않았습니다</a:t>
            </a:r>
          </a:p>
        </p:txBody>
      </p:sp>
    </p:spTree>
    <p:extLst>
      <p:ext uri="{BB962C8B-B14F-4D97-AF65-F5344CB8AC3E}">
        <p14:creationId xmlns:p14="http://schemas.microsoft.com/office/powerpoint/2010/main" val="3719941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altLang="ko-KR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 · </a:t>
            </a:r>
            <a:r>
              <a:rPr lang="ko-KR" altLang="en-US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그림으로 보여 주기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고칠 곳은 그림판 </a:t>
            </a:r>
            <a:r>
              <a:rPr lang="en-US" altLang="ko-KR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펜 태블릿으로 표시했습니다</a:t>
            </a:r>
            <a:endParaRPr lang="en-US" sz="3200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716BCDBB-C936-47EC-B8A9-5D53D0156E6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905000"/>
            <a:ext cx="5969000" cy="3733800"/>
          </a:xfrm>
          <a:prstGeom prst="rect">
            <a:avLst/>
          </a:prstGeom>
          <a:ln w="9525">
            <a:solidFill>
              <a:srgbClr val="DCD6C8"/>
            </a:solidFill>
          </a:ln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E2B01DC7-12F3-4D50-8C0E-83F78C9C512D}"/>
              </a:ext>
            </a:extLst>
          </p:cNvPr>
          <p:cNvSpPr/>
          <p:nvPr/>
        </p:nvSpPr>
        <p:spPr>
          <a:xfrm>
            <a:off x="1905000" y="4318000"/>
            <a:ext cx="3810000" cy="762000"/>
          </a:xfrm>
          <a:prstGeom prst="rect">
            <a:avLst/>
          </a:prstGeom>
          <a:noFill/>
          <a:ln w="31750" cap="flat" cmpd="sng" algn="ctr">
            <a:solidFill>
              <a:srgbClr val="E52B2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00EAF3F-FF17-44C1-832D-592CEAD963D5}"/>
              </a:ext>
            </a:extLst>
          </p:cNvPr>
          <p:cNvSpPr/>
          <p:nvPr/>
        </p:nvSpPr>
        <p:spPr>
          <a:xfrm>
            <a:off x="1828800" y="2946400"/>
            <a:ext cx="3962400" cy="635000"/>
          </a:xfrm>
          <a:prstGeom prst="rect">
            <a:avLst/>
          </a:prstGeom>
          <a:noFill/>
          <a:ln w="31750" cap="flat" cmpd="sng" algn="ctr">
            <a:solidFill>
              <a:srgbClr val="E52B2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57D280-7B78-4A15-8ACB-076F62E9829D}"/>
              </a:ext>
            </a:extLst>
          </p:cNvPr>
          <p:cNvSpPr txBox="1"/>
          <p:nvPr/>
        </p:nvSpPr>
        <p:spPr>
          <a:xfrm>
            <a:off x="3810000" y="51435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E5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← 버튼 두 개 간격 넓히기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3AD889-131E-4FD7-91D7-9AC77AD7B663}"/>
              </a:ext>
            </a:extLst>
          </p:cNvPr>
          <p:cNvSpPr txBox="1"/>
          <p:nvPr/>
        </p:nvSpPr>
        <p:spPr>
          <a:xfrm>
            <a:off x="4191000" y="2489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E5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↓ 제목 글자 더 크게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919936-2D64-4950-9CD0-64C59FE841AC}"/>
              </a:ext>
            </a:extLst>
          </p:cNvPr>
          <p:cNvSpPr txBox="1"/>
          <p:nvPr/>
        </p:nvSpPr>
        <p:spPr>
          <a:xfrm>
            <a:off x="812800" y="57150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그림판으로 표시한 수정 요청 예시 </a:t>
            </a:r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(CONTACT </a:t>
            </a:r>
            <a:r>
              <a:rPr lang="ko-KR" altLang="en-US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화면</a:t>
            </a:r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000">
              <a:solidFill>
                <a:srgbClr val="8A8F9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98BD27EA-1C85-41A2-9CBE-06683095387D}"/>
              </a:ext>
            </a:extLst>
          </p:cNvPr>
          <p:cNvSpPr/>
          <p:nvPr/>
        </p:nvSpPr>
        <p:spPr>
          <a:xfrm>
            <a:off x="7061200" y="1905000"/>
            <a:ext cx="4318000" cy="37338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448A95C-7260-4A42-999E-06C6AD7362E8}"/>
              </a:ext>
            </a:extLst>
          </p:cNvPr>
          <p:cNvSpPr/>
          <p:nvPr/>
        </p:nvSpPr>
        <p:spPr>
          <a:xfrm>
            <a:off x="7264400" y="2108200"/>
            <a:ext cx="647700" cy="279400"/>
          </a:xfrm>
          <a:prstGeom prst="roundRect">
            <a:avLst>
              <a:gd name="adj" fmla="val 50000"/>
            </a:avLst>
          </a:prstGeom>
          <a:solidFill>
            <a:srgbClr val="E869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그림판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FD0333-2C63-4CA0-95BE-46812C1E99D9}"/>
              </a:ext>
            </a:extLst>
          </p:cNvPr>
          <p:cNvSpPr txBox="1"/>
          <p:nvPr/>
        </p:nvSpPr>
        <p:spPr>
          <a:xfrm>
            <a:off x="7264400" y="24892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캡처 위에 빨간 박스와 화살표로 고칠 곳만 표시해서 보여 줌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'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여기 이 버튼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처럼 말로 설명하기 어려운 위치를 바로 전달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E06605E-2B19-4C7F-8D8A-A06471492672}"/>
              </a:ext>
            </a:extLst>
          </p:cNvPr>
          <p:cNvSpPr/>
          <p:nvPr/>
        </p:nvSpPr>
        <p:spPr>
          <a:xfrm>
            <a:off x="7264400" y="3505200"/>
            <a:ext cx="927100" cy="2794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펜 태블릿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F1B925-A23E-455C-AEBB-9B17DE3041A0}"/>
              </a:ext>
            </a:extLst>
          </p:cNvPr>
          <p:cNvSpPr txBox="1"/>
          <p:nvPr/>
        </p:nvSpPr>
        <p:spPr>
          <a:xfrm>
            <a:off x="7264400" y="38862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새로 넣을 배치나 움직임 방향을 손으로 빠르게 그려서 이미지로 전달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화살표로 움직이는 순서까지 표시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D0A1B352-D615-4BD3-A373-A3D0BAF4B3C9}"/>
              </a:ext>
            </a:extLst>
          </p:cNvPr>
          <p:cNvSpPr/>
          <p:nvPr/>
        </p:nvSpPr>
        <p:spPr>
          <a:xfrm>
            <a:off x="7264400" y="4851400"/>
            <a:ext cx="3937000" cy="584200"/>
          </a:xfrm>
          <a:prstGeom prst="roundRect">
            <a:avLst>
              <a:gd name="adj" fmla="val 6000"/>
            </a:avLst>
          </a:prstGeom>
          <a:solidFill>
            <a:srgbClr val="ECE9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1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말 대신 그림 한 장 → 한 번에 이해하는 수정 요청</a:t>
            </a:r>
          </a:p>
        </p:txBody>
      </p:sp>
    </p:spTree>
    <p:extLst>
      <p:ext uri="{BB962C8B-B14F-4D97-AF65-F5344CB8AC3E}">
        <p14:creationId xmlns:p14="http://schemas.microsoft.com/office/powerpoint/2010/main" val="2903698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9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altLang="ko-KR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 · AI</a:t>
            </a:r>
            <a:r>
              <a:rPr lang="ko-KR" altLang="en-US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와 맞춰 가기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en-US" altLang="ko-KR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자주 어긋난 곳과 해결 방법</a:t>
            </a:r>
            <a:endParaRPr lang="en-US" sz="3200" dirty="0"/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0C601443-784A-4326-B451-FBBBED539F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693370"/>
              </p:ext>
            </p:extLst>
          </p:nvPr>
        </p:nvGraphicFramePr>
        <p:xfrm>
          <a:off x="812800" y="1905000"/>
          <a:ext cx="105664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388396208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368749384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368074641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어긋난 것</a:t>
                      </a:r>
                    </a:p>
                  </a:txBody>
                  <a:tcPr marL="127000" marR="101600" anchor="ctr"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이런 일이 있었음</a:t>
                      </a:r>
                    </a:p>
                  </a:txBody>
                  <a:tcPr marL="127000" marR="101600" anchor="ctr"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이렇게 해결</a:t>
                      </a:r>
                    </a:p>
                  </a:txBody>
                  <a:tcPr marL="127000" marR="101600" anchor="ctr">
                    <a:solidFill>
                      <a:srgbClr val="162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12133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간격 </a:t>
                      </a:r>
                      <a:r>
                        <a:rPr lang="en-US" altLang="ko-KR" sz="1200" b="1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</a:t>
                      </a:r>
                      <a:r>
                        <a:rPr lang="ko-KR" altLang="en-US" sz="1200" b="1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크기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여백과 글자 크기가 요청할 때마다 달라짐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px · pt </a:t>
                      </a:r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값으로 고정해서 요청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9892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글꼴</a:t>
                      </a: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지정하지 않은 기본 글꼴로 바뀜</a:t>
                      </a: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글꼴 이름과 두께까지 적기</a:t>
                      </a: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30567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기존 디자인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 곳을 고치면 다른 곳도 같이 바뀜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'</a:t>
                      </a:r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요청한 부분만 수정</a:t>
                      </a:r>
                      <a:r>
                        <a:rPr lang="en-US" altLang="ko-KR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' + </a:t>
                      </a:r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작업 메모 파일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87574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움직임</a:t>
                      </a: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효과가 너무 빠르거나 한꺼번에 나옴</a:t>
                      </a: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 단위와 순서 번호로 요청</a:t>
                      </a: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42717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색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비슷하지만 다른 색이 들어감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</a:t>
                      </a:r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색상 코드로 지정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777001"/>
                  </a:ext>
                </a:extLst>
              </a:tr>
            </a:tbl>
          </a:graphicData>
        </a:graphic>
      </p:graphicFrame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3E92B95-9B53-4487-B820-DD12EEE98B02}"/>
              </a:ext>
            </a:extLst>
          </p:cNvPr>
          <p:cNvSpPr/>
          <p:nvPr/>
        </p:nvSpPr>
        <p:spPr>
          <a:xfrm>
            <a:off x="812800" y="5232400"/>
            <a:ext cx="10566400" cy="558800"/>
          </a:xfrm>
          <a:prstGeom prst="roundRect">
            <a:avLst>
              <a:gd name="adj" fmla="val 6000"/>
            </a:avLst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F8B2BD-8336-44FF-8CC5-4971002D2E63}"/>
              </a:ext>
            </a:extLst>
          </p:cNvPr>
          <p:cNvSpPr txBox="1"/>
          <p:nvPr/>
        </p:nvSpPr>
        <p:spPr>
          <a:xfrm>
            <a:off x="1066800" y="53975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규칙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요청 끝에 항상 </a:t>
            </a:r>
            <a:r>
              <a:rPr lang="en-US" altLang="ko-KR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나머지는 그대로 둬</a:t>
            </a:r>
            <a:r>
              <a:rPr lang="en-US" altLang="ko-KR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를 붙였습니다</a:t>
            </a:r>
          </a:p>
        </p:txBody>
      </p:sp>
    </p:spTree>
    <p:extLst>
      <p:ext uri="{BB962C8B-B14F-4D97-AF65-F5344CB8AC3E}">
        <p14:creationId xmlns:p14="http://schemas.microsoft.com/office/powerpoint/2010/main" val="684882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altLang="ko-KR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 · </a:t>
            </a:r>
            <a:r>
              <a:rPr lang="ko-KR" altLang="en-US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움직임 다듬기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움직임은 참고 사이트를 보고</a:t>
            </a:r>
            <a:r>
              <a:rPr lang="en-US" altLang="ko-KR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대화로 다듬었습니다</a:t>
            </a:r>
            <a:endParaRPr lang="en-US" sz="3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7E336A5-5511-4DB8-B726-53263FFA1D03}"/>
              </a:ext>
            </a:extLst>
          </p:cNvPr>
          <p:cNvSpPr/>
          <p:nvPr/>
        </p:nvSpPr>
        <p:spPr>
          <a:xfrm>
            <a:off x="812800" y="1905000"/>
            <a:ext cx="3416300" cy="1397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D69D44BC-94E4-4CA2-AA8D-38A04327AA83}"/>
              </a:ext>
            </a:extLst>
          </p:cNvPr>
          <p:cNvSpPr/>
          <p:nvPr/>
        </p:nvSpPr>
        <p:spPr>
          <a:xfrm>
            <a:off x="1016000" y="2108200"/>
            <a:ext cx="330200" cy="330200"/>
          </a:xfrm>
          <a:prstGeom prst="ellipse">
            <a:avLst/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200" b="1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23B8D9-8E8B-4BAE-9F0E-043812C04572}"/>
              </a:ext>
            </a:extLst>
          </p:cNvPr>
          <p:cNvSpPr txBox="1"/>
          <p:nvPr/>
        </p:nvSpPr>
        <p:spPr>
          <a:xfrm>
            <a:off x="1447800" y="21463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참고 사이트에서 찾기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73CAB7-B587-4B8B-B0BD-37F376EC2261}"/>
              </a:ext>
            </a:extLst>
          </p:cNvPr>
          <p:cNvSpPr txBox="1"/>
          <p:nvPr/>
        </p:nvSpPr>
        <p:spPr>
          <a:xfrm>
            <a:off x="1016000" y="2565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다른 홈페이지에서 마음에 드는 등장 효과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스크롤 효과를 찾아 캡처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61E596B-442E-4123-BBA7-91475D9712AA}"/>
              </a:ext>
            </a:extLst>
          </p:cNvPr>
          <p:cNvSpPr/>
          <p:nvPr/>
        </p:nvSpPr>
        <p:spPr>
          <a:xfrm>
            <a:off x="4381500" y="1905000"/>
            <a:ext cx="3416300" cy="1397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3788B9AC-51A6-4C2C-AA6E-5B7D449BBBFE}"/>
              </a:ext>
            </a:extLst>
          </p:cNvPr>
          <p:cNvSpPr/>
          <p:nvPr/>
        </p:nvSpPr>
        <p:spPr>
          <a:xfrm>
            <a:off x="4584700" y="2108200"/>
            <a:ext cx="330200" cy="330200"/>
          </a:xfrm>
          <a:prstGeom prst="ellipse">
            <a:avLst/>
          </a:prstGeom>
          <a:solidFill>
            <a:srgbClr val="E869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200" b="1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D28BF8-5453-4901-A61F-7278710052B4}"/>
              </a:ext>
            </a:extLst>
          </p:cNvPr>
          <p:cNvSpPr txBox="1"/>
          <p:nvPr/>
        </p:nvSpPr>
        <p:spPr>
          <a:xfrm>
            <a:off x="5016500" y="21463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느낌 </a:t>
            </a:r>
            <a:r>
              <a:rPr lang="en-US" altLang="ko-KR" sz="15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sz="15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숫자로 설명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077A2B-425E-43D2-80D9-147EE309F8CD}"/>
              </a:ext>
            </a:extLst>
          </p:cNvPr>
          <p:cNvSpPr txBox="1"/>
          <p:nvPr/>
        </p:nvSpPr>
        <p:spPr>
          <a:xfrm>
            <a:off x="4584700" y="2565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이런 느낌으로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'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보여 주고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속도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순서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간격은 숫자로 정해서 요청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7B4183D-23FB-4D42-8833-91FE61E8359F}"/>
              </a:ext>
            </a:extLst>
          </p:cNvPr>
          <p:cNvSpPr/>
          <p:nvPr/>
        </p:nvSpPr>
        <p:spPr>
          <a:xfrm>
            <a:off x="7950200" y="1905000"/>
            <a:ext cx="3416300" cy="1397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F58450AC-5952-4C72-A86C-2A50FBBF1288}"/>
              </a:ext>
            </a:extLst>
          </p:cNvPr>
          <p:cNvSpPr/>
          <p:nvPr/>
        </p:nvSpPr>
        <p:spPr>
          <a:xfrm>
            <a:off x="8153400" y="2108200"/>
            <a:ext cx="330200" cy="330200"/>
          </a:xfrm>
          <a:prstGeom prst="ellipse">
            <a:avLst/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200" b="1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F17229-C28B-4B03-9E94-C9DD76E9FABF}"/>
              </a:ext>
            </a:extLst>
          </p:cNvPr>
          <p:cNvSpPr txBox="1"/>
          <p:nvPr/>
        </p:nvSpPr>
        <p:spPr>
          <a:xfrm>
            <a:off x="8585200" y="2146300"/>
            <a:ext cx="260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보면서 대화로 수정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103397-4098-4095-81DF-E3D5199C4FA9}"/>
              </a:ext>
            </a:extLst>
          </p:cNvPr>
          <p:cNvSpPr txBox="1"/>
          <p:nvPr/>
        </p:nvSpPr>
        <p:spPr>
          <a:xfrm>
            <a:off x="8153400" y="2565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화면을 직접 돌려 보고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조금 더 느리게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', '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순서 바꿔줘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처럼 한 줄씩 고침</a:t>
            </a: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A065DA1F-43ED-4BA6-8144-6ADAB11FC4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792077"/>
              </p:ext>
            </p:extLst>
          </p:nvPr>
        </p:nvGraphicFramePr>
        <p:xfrm>
          <a:off x="812800" y="3505200"/>
          <a:ext cx="105664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47706376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180157012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888993076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효과</a:t>
                      </a:r>
                    </a:p>
                  </a:txBody>
                  <a:tcPr marL="127000" marR="101600" anchor="ctr"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페이지</a:t>
                      </a:r>
                    </a:p>
                  </a:txBody>
                  <a:tcPr marL="127000" marR="101600" anchor="ctr"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숫자로 정한 값</a:t>
                      </a:r>
                    </a:p>
                  </a:txBody>
                  <a:tcPr marL="127000" marR="101600" anchor="ctr">
                    <a:solidFill>
                      <a:srgbClr val="162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99615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타자 효과 → 부제가 좌우에서 날아옴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ABOUT US</a:t>
                      </a:r>
                      <a:endParaRPr lang="ko-KR" altLang="en-US" sz="1200" b="0">
                        <a:solidFill>
                          <a:srgbClr val="1B2433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H1 </a:t>
                      </a:r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다 나온 뒤 </a:t>
                      </a:r>
                      <a:r>
                        <a:rPr lang="en-US" altLang="ko-KR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H2 </a:t>
                      </a:r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첫 줄 </a:t>
                      </a:r>
                      <a:r>
                        <a:rPr lang="en-US" altLang="ko-KR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</a:t>
                      </a:r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둘째 줄 차례로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9106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네 단어가 차례로 튀어 오름</a:t>
                      </a: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ABOUT US</a:t>
                      </a:r>
                      <a:endParaRPr lang="ko-KR" altLang="en-US" sz="1200" b="0">
                        <a:solidFill>
                          <a:srgbClr val="1B2433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0.14</a:t>
                      </a:r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 간격</a:t>
                      </a: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52822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파트너 로고 띠 </a:t>
                      </a:r>
                      <a:r>
                        <a:rPr lang="en-US" altLang="ko-KR" sz="1200" b="1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</a:t>
                      </a:r>
                      <a:r>
                        <a:rPr lang="ko-KR" altLang="en-US" sz="1200" b="1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정지 버튼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ABOUT US</a:t>
                      </a:r>
                      <a:endParaRPr lang="ko-KR" altLang="en-US" sz="1200" b="0">
                        <a:solidFill>
                          <a:srgbClr val="1B2433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65</a:t>
                      </a:r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 무한 반복</a:t>
                      </a:r>
                      <a:r>
                        <a:rPr lang="en-US" altLang="ko-KR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두 줄 반대 방향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42723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제목이 아래에서 위로 진해짐</a:t>
                      </a: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AI VIDEO</a:t>
                      </a:r>
                      <a:endParaRPr lang="ko-KR" altLang="en-US" sz="1200" b="0">
                        <a:solidFill>
                          <a:srgbClr val="1B2433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문장당 </a:t>
                      </a:r>
                      <a:r>
                        <a:rPr lang="en-US" altLang="ko-KR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1.2</a:t>
                      </a:r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</a:t>
                      </a: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0818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카드에 마우스 올리면 제목 등장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PORTFOLIO</a:t>
                      </a:r>
                      <a:endParaRPr lang="ko-KR" altLang="en-US" sz="1200" b="0">
                        <a:solidFill>
                          <a:srgbClr val="1B2433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어두워지며 제목 표시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181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26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9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altLang="ko-KR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 · </a:t>
            </a:r>
            <a:r>
              <a:rPr lang="ko-KR" altLang="en-US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움직임 다듬기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이렇게 다듬은 움직임이 실제 화면에 들어갔습니다</a:t>
            </a:r>
            <a:endParaRPr lang="en-US" sz="3200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3C134D2E-BB82-4C08-BE5F-0A7C12B5E9A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905000"/>
            <a:ext cx="3416300" cy="1714500"/>
          </a:xfrm>
          <a:prstGeom prst="rect">
            <a:avLst/>
          </a:prstGeom>
          <a:ln w="9525">
            <a:solidFill>
              <a:srgbClr val="DCD6C8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6992144-F3AD-4551-A7C3-26E54CB8CEB3}"/>
              </a:ext>
            </a:extLst>
          </p:cNvPr>
          <p:cNvSpPr txBox="1"/>
          <p:nvPr/>
        </p:nvSpPr>
        <p:spPr>
          <a:xfrm>
            <a:off x="812800" y="3784600"/>
            <a:ext cx="34163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타자 효과 히어로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FA67CC-7678-4526-B567-36C7F206157E}"/>
              </a:ext>
            </a:extLst>
          </p:cNvPr>
          <p:cNvSpPr txBox="1"/>
          <p:nvPr/>
        </p:nvSpPr>
        <p:spPr>
          <a:xfrm>
            <a:off x="812800" y="4140200"/>
            <a:ext cx="34163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제목이 한 글자씩 써진 뒤 부제가 차례로 등장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9FD7027-FE0B-4E6D-8DE5-473A7DC802C4}"/>
              </a:ext>
            </a:extLst>
          </p:cNvPr>
          <p:cNvSpPr/>
          <p:nvPr/>
        </p:nvSpPr>
        <p:spPr>
          <a:xfrm>
            <a:off x="812800" y="4724400"/>
            <a:ext cx="3416300" cy="330200"/>
          </a:xfrm>
          <a:prstGeom prst="roundRect">
            <a:avLst>
              <a:gd name="adj" fmla="val 6000"/>
            </a:avLst>
          </a:prstGeom>
          <a:solidFill>
            <a:srgbClr val="ECE9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n-US" altLang="ko-KR" sz="11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H1 → H2 </a:t>
            </a:r>
            <a:r>
              <a:rPr lang="ko-KR" altLang="en-US" sz="11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순서대로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31BE9B43-A6B6-4485-A0D6-1FDEEEA54EF0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905000"/>
            <a:ext cx="3416300" cy="1714500"/>
          </a:xfrm>
          <a:prstGeom prst="rect">
            <a:avLst/>
          </a:prstGeom>
          <a:ln w="9525">
            <a:solidFill>
              <a:srgbClr val="DCD6C8"/>
            </a:solidFill>
          </a:ln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5653C35-B7BC-46EE-B71D-D438E88E8ADA}"/>
              </a:ext>
            </a:extLst>
          </p:cNvPr>
          <p:cNvSpPr txBox="1"/>
          <p:nvPr/>
        </p:nvSpPr>
        <p:spPr>
          <a:xfrm>
            <a:off x="4381500" y="3784600"/>
            <a:ext cx="34163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스크롤 등장 문구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6DE3DD-8868-42C5-B7EA-C21BC290C09D}"/>
              </a:ext>
            </a:extLst>
          </p:cNvPr>
          <p:cNvSpPr txBox="1"/>
          <p:nvPr/>
        </p:nvSpPr>
        <p:spPr>
          <a:xfrm>
            <a:off x="4381500" y="4140200"/>
            <a:ext cx="34163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스크롤해서 섹션에 닿으면 문구가 나타남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B0F40BE-1F2A-4C3A-9D11-996A202C53A6}"/>
              </a:ext>
            </a:extLst>
          </p:cNvPr>
          <p:cNvSpPr/>
          <p:nvPr/>
        </p:nvSpPr>
        <p:spPr>
          <a:xfrm>
            <a:off x="4381500" y="4724400"/>
            <a:ext cx="3416300" cy="330200"/>
          </a:xfrm>
          <a:prstGeom prst="roundRect">
            <a:avLst>
              <a:gd name="adj" fmla="val 6000"/>
            </a:avLst>
          </a:prstGeom>
          <a:solidFill>
            <a:srgbClr val="ECE9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1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화면에 들어올 때 시작</a:t>
            </a: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78EB9ABC-07AF-4F94-9667-64477E60B653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950200" y="1905000"/>
            <a:ext cx="3416300" cy="1714500"/>
          </a:xfrm>
          <a:prstGeom prst="rect">
            <a:avLst/>
          </a:prstGeom>
          <a:ln w="9525">
            <a:solidFill>
              <a:srgbClr val="DCD6C8"/>
            </a:solidFill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541D752-0863-4509-81F1-C33D9602DE7B}"/>
              </a:ext>
            </a:extLst>
          </p:cNvPr>
          <p:cNvSpPr txBox="1"/>
          <p:nvPr/>
        </p:nvSpPr>
        <p:spPr>
          <a:xfrm>
            <a:off x="7950200" y="3784600"/>
            <a:ext cx="34163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아래에서 진해지는 제목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C74343-A5F8-4640-BD5A-3F8F4D728273}"/>
              </a:ext>
            </a:extLst>
          </p:cNvPr>
          <p:cNvSpPr txBox="1"/>
          <p:nvPr/>
        </p:nvSpPr>
        <p:spPr>
          <a:xfrm>
            <a:off x="7950200" y="4140200"/>
            <a:ext cx="34163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글자가 아래에서 위로 채워지며 진해짐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302CF773-2BFD-4B83-83FC-74CC93F84BE0}"/>
              </a:ext>
            </a:extLst>
          </p:cNvPr>
          <p:cNvSpPr/>
          <p:nvPr/>
        </p:nvSpPr>
        <p:spPr>
          <a:xfrm>
            <a:off x="7950200" y="4724400"/>
            <a:ext cx="3416300" cy="330200"/>
          </a:xfrm>
          <a:prstGeom prst="roundRect">
            <a:avLst>
              <a:gd name="adj" fmla="val 6000"/>
            </a:avLst>
          </a:prstGeom>
          <a:solidFill>
            <a:srgbClr val="ECE9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ko-KR" altLang="en-US" sz="11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문장당 </a:t>
            </a:r>
            <a:r>
              <a:rPr lang="en-US" altLang="ko-KR" sz="11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1.2</a:t>
            </a:r>
            <a:r>
              <a:rPr lang="ko-KR" altLang="en-US" sz="11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DEFF2DC-2CB0-4A46-90CC-33A1DE2EF576}"/>
              </a:ext>
            </a:extLst>
          </p:cNvPr>
          <p:cNvSpPr/>
          <p:nvPr/>
        </p:nvSpPr>
        <p:spPr>
          <a:xfrm>
            <a:off x="812800" y="5359400"/>
            <a:ext cx="10566400" cy="558800"/>
          </a:xfrm>
          <a:prstGeom prst="roundRect">
            <a:avLst>
              <a:gd name="adj" fmla="val 6000"/>
            </a:avLst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A0D8BA-613A-4F9A-A542-3606D217F509}"/>
              </a:ext>
            </a:extLst>
          </p:cNvPr>
          <p:cNvSpPr txBox="1"/>
          <p:nvPr/>
        </p:nvSpPr>
        <p:spPr>
          <a:xfrm>
            <a:off x="1066800" y="55245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요청 예시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“제목이 한꺼번에 나와요</a:t>
            </a:r>
            <a:r>
              <a:rPr lang="en-US" altLang="ko-KR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한 문장씩 </a:t>
            </a:r>
            <a:r>
              <a:rPr lang="en-US" altLang="ko-KR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1.2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 간격으로 아래에서 올라오게 해 줘”</a:t>
            </a:r>
          </a:p>
        </p:txBody>
      </p:sp>
    </p:spTree>
    <p:extLst>
      <p:ext uri="{BB962C8B-B14F-4D97-AF65-F5344CB8AC3E}">
        <p14:creationId xmlns:p14="http://schemas.microsoft.com/office/powerpoint/2010/main" val="1869301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altLang="ko-KR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08 · </a:t>
            </a:r>
            <a:r>
              <a:rPr lang="ko-KR" altLang="en-US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벤치마킹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벤치마킹은 이렇게 했습니다</a:t>
            </a:r>
            <a:endParaRPr lang="en-US" sz="3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193BF84-497A-49A4-AE5C-030E4BF90211}"/>
              </a:ext>
            </a:extLst>
          </p:cNvPr>
          <p:cNvSpPr/>
          <p:nvPr/>
        </p:nvSpPr>
        <p:spPr>
          <a:xfrm>
            <a:off x="812800" y="2032000"/>
            <a:ext cx="2540000" cy="2921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40FA9872-7950-4330-81C5-CF6DAC59695B}"/>
              </a:ext>
            </a:extLst>
          </p:cNvPr>
          <p:cNvSpPr/>
          <p:nvPr/>
        </p:nvSpPr>
        <p:spPr>
          <a:xfrm>
            <a:off x="990600" y="2235200"/>
            <a:ext cx="381000" cy="381000"/>
          </a:xfrm>
          <a:prstGeom prst="ellipse">
            <a:avLst/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300" b="1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AC7143-53D9-4E12-BF5D-C07C06E95340}"/>
              </a:ext>
            </a:extLst>
          </p:cNvPr>
          <p:cNvSpPr txBox="1"/>
          <p:nvPr/>
        </p:nvSpPr>
        <p:spPr>
          <a:xfrm>
            <a:off x="990600" y="27686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찾기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B99DC8-B449-43BE-9159-B82FB5548451}"/>
              </a:ext>
            </a:extLst>
          </p:cNvPr>
          <p:cNvSpPr txBox="1"/>
          <p:nvPr/>
        </p:nvSpPr>
        <p:spPr>
          <a:xfrm>
            <a:off x="990600" y="32004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영상 제작사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영상 프로덕션 홈페이지를 각자 찾아 캡처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BFD158-C38F-49FC-B0A6-5B44E02AB73C}"/>
              </a:ext>
            </a:extLst>
          </p:cNvPr>
          <p:cNvSpPr txBox="1"/>
          <p:nvPr/>
        </p:nvSpPr>
        <p:spPr>
          <a:xfrm>
            <a:off x="3352800" y="3327400"/>
            <a:ext cx="1397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6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›</a:t>
            </a:r>
            <a:endParaRPr lang="ko-KR" altLang="en-US" sz="1600" b="1">
              <a:solidFill>
                <a:srgbClr val="8A8F9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AA90A7C-E5EC-450C-8DC5-E4B8ABA95F15}"/>
              </a:ext>
            </a:extLst>
          </p:cNvPr>
          <p:cNvSpPr/>
          <p:nvPr/>
        </p:nvSpPr>
        <p:spPr>
          <a:xfrm>
            <a:off x="3492500" y="2032000"/>
            <a:ext cx="2540000" cy="2921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330184CC-ACA1-4AF6-9FB0-8AFB921CA23D}"/>
              </a:ext>
            </a:extLst>
          </p:cNvPr>
          <p:cNvSpPr/>
          <p:nvPr/>
        </p:nvSpPr>
        <p:spPr>
          <a:xfrm>
            <a:off x="3670300" y="2235200"/>
            <a:ext cx="381000" cy="381000"/>
          </a:xfrm>
          <a:prstGeom prst="ellipse">
            <a:avLst/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300" b="1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815F63-6298-46D3-840F-181B598929E3}"/>
              </a:ext>
            </a:extLst>
          </p:cNvPr>
          <p:cNvSpPr txBox="1"/>
          <p:nvPr/>
        </p:nvSpPr>
        <p:spPr>
          <a:xfrm>
            <a:off x="3670300" y="27686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모으기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FB28EE-5334-4F1B-9361-90A88D481D26}"/>
              </a:ext>
            </a:extLst>
          </p:cNvPr>
          <p:cNvSpPr txBox="1"/>
          <p:nvPr/>
        </p:nvSpPr>
        <p:spPr>
          <a:xfrm>
            <a:off x="3670300" y="32004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좋은 점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아쉬운 점을 메모해 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MYBOX ·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노션에 공유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FF1FC5-8937-48DB-B919-96C6A79FA818}"/>
              </a:ext>
            </a:extLst>
          </p:cNvPr>
          <p:cNvSpPr txBox="1"/>
          <p:nvPr/>
        </p:nvSpPr>
        <p:spPr>
          <a:xfrm>
            <a:off x="6032500" y="3327400"/>
            <a:ext cx="1397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6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›</a:t>
            </a:r>
            <a:endParaRPr lang="ko-KR" altLang="en-US" sz="1600" b="1">
              <a:solidFill>
                <a:srgbClr val="8A8F9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B0204BA3-3EE7-4C20-83E8-6C6FB0578D34}"/>
              </a:ext>
            </a:extLst>
          </p:cNvPr>
          <p:cNvSpPr/>
          <p:nvPr/>
        </p:nvSpPr>
        <p:spPr>
          <a:xfrm>
            <a:off x="6172200" y="2032000"/>
            <a:ext cx="2540000" cy="2921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10D74AC9-5765-485B-9607-C10AD9F31C98}"/>
              </a:ext>
            </a:extLst>
          </p:cNvPr>
          <p:cNvSpPr/>
          <p:nvPr/>
        </p:nvSpPr>
        <p:spPr>
          <a:xfrm>
            <a:off x="6350000" y="2235200"/>
            <a:ext cx="381000" cy="381000"/>
          </a:xfrm>
          <a:prstGeom prst="ellipse">
            <a:avLst/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300" b="1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D58CA1-27D9-45D6-AAC5-4137CDCE3797}"/>
              </a:ext>
            </a:extLst>
          </p:cNvPr>
          <p:cNvSpPr txBox="1"/>
          <p:nvPr/>
        </p:nvSpPr>
        <p:spPr>
          <a:xfrm>
            <a:off x="6350000" y="27686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비교하기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822FEF-647C-417E-975F-4D66A3447DD2}"/>
              </a:ext>
            </a:extLst>
          </p:cNvPr>
          <p:cNvSpPr txBox="1"/>
          <p:nvPr/>
        </p:nvSpPr>
        <p:spPr>
          <a:xfrm>
            <a:off x="6350000" y="32004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첫 화면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메뉴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포트폴리오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제작 과정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가격 안내를 항목별로 비교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AD46C56-4181-4818-A56E-896E8FC770E4}"/>
              </a:ext>
            </a:extLst>
          </p:cNvPr>
          <p:cNvSpPr txBox="1"/>
          <p:nvPr/>
        </p:nvSpPr>
        <p:spPr>
          <a:xfrm>
            <a:off x="8712200" y="3327400"/>
            <a:ext cx="1397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6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›</a:t>
            </a:r>
            <a:endParaRPr lang="ko-KR" altLang="en-US" sz="1600" b="1">
              <a:solidFill>
                <a:srgbClr val="8A8F9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605BB33F-916C-4732-B5AD-E3156860E4F8}"/>
              </a:ext>
            </a:extLst>
          </p:cNvPr>
          <p:cNvSpPr/>
          <p:nvPr/>
        </p:nvSpPr>
        <p:spPr>
          <a:xfrm>
            <a:off x="8851900" y="2032000"/>
            <a:ext cx="2540000" cy="2921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B07C76CB-07D2-4678-9F9D-3001D165230E}"/>
              </a:ext>
            </a:extLst>
          </p:cNvPr>
          <p:cNvSpPr/>
          <p:nvPr/>
        </p:nvSpPr>
        <p:spPr>
          <a:xfrm>
            <a:off x="9029700" y="2235200"/>
            <a:ext cx="381000" cy="381000"/>
          </a:xfrm>
          <a:prstGeom prst="ellipse">
            <a:avLst/>
          </a:prstGeom>
          <a:solidFill>
            <a:srgbClr val="E869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1300" b="1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BCCFD5-1A11-406C-8939-714A7F6371E1}"/>
              </a:ext>
            </a:extLst>
          </p:cNvPr>
          <p:cNvSpPr txBox="1"/>
          <p:nvPr/>
        </p:nvSpPr>
        <p:spPr>
          <a:xfrm>
            <a:off x="9029700" y="27686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적용하기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04A8B2-BF8D-4D05-8C57-6265144BB2EF}"/>
              </a:ext>
            </a:extLst>
          </p:cNvPr>
          <p:cNvSpPr txBox="1"/>
          <p:nvPr/>
        </p:nvSpPr>
        <p:spPr>
          <a:xfrm>
            <a:off x="9029700" y="32004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그대로 따라 하지 않고 우리 회사에 맞게 바꿔서 시안에 반영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C926A71-5E18-4811-9FAA-71E7A9F54511}"/>
              </a:ext>
            </a:extLst>
          </p:cNvPr>
          <p:cNvSpPr/>
          <p:nvPr/>
        </p:nvSpPr>
        <p:spPr>
          <a:xfrm>
            <a:off x="812800" y="5207000"/>
            <a:ext cx="10566400" cy="558800"/>
          </a:xfrm>
          <a:prstGeom prst="roundRect">
            <a:avLst>
              <a:gd name="adj" fmla="val 6000"/>
            </a:avLst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B5DA2E-4FC4-4B9F-A20C-B083EF3EA3D5}"/>
              </a:ext>
            </a:extLst>
          </p:cNvPr>
          <p:cNvSpPr txBox="1"/>
          <p:nvPr/>
        </p:nvSpPr>
        <p:spPr>
          <a:xfrm>
            <a:off x="1066800" y="53721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원칙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디자인을 베끼지 않고</a:t>
            </a:r>
            <a:r>
              <a:rPr lang="en-US" altLang="ko-KR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구성과 기능 아이디어만 참고했습니다</a:t>
            </a:r>
          </a:p>
        </p:txBody>
      </p:sp>
    </p:spTree>
    <p:extLst>
      <p:ext uri="{BB962C8B-B14F-4D97-AF65-F5344CB8AC3E}">
        <p14:creationId xmlns:p14="http://schemas.microsoft.com/office/powerpoint/2010/main" val="3619128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altLang="ko-KR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08 · </a:t>
            </a:r>
            <a:r>
              <a:rPr lang="ko-KR" altLang="en-US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벤치마킹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벤치마킹 </a:t>
            </a:r>
            <a:r>
              <a:rPr lang="en-US" altLang="ko-KR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AI </a:t>
            </a: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제작사 홈페이지를 조사했습니다</a:t>
            </a:r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B8CAEC-66B2-4C87-87A6-25ECB2935DDA}"/>
              </a:ext>
            </a:extLst>
          </p:cNvPr>
          <p:cNvSpPr txBox="1"/>
          <p:nvPr/>
        </p:nvSpPr>
        <p:spPr>
          <a:xfrm>
            <a:off x="812800" y="1778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벤치마킹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잘 만든 다른 회사의 사례를 조사해서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우리 작업에 맞게 응용하는 것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D34D76C6-7779-4708-AEDB-E01B112E6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524361"/>
              </p:ext>
            </p:extLst>
          </p:nvPr>
        </p:nvGraphicFramePr>
        <p:xfrm>
          <a:off x="812800" y="2133600"/>
          <a:ext cx="105664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573547718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734111344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115834343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살펴본 것</a:t>
                      </a:r>
                    </a:p>
                  </a:txBody>
                  <a:tcPr marL="127000" marR="101600" anchor="ctr"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다른 회사 홈페이지는</a:t>
                      </a:r>
                    </a:p>
                  </a:txBody>
                  <a:tcPr marL="127000" marR="101600" anchor="ctr"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우리는 이렇게 적용</a:t>
                      </a:r>
                    </a:p>
                  </a:txBody>
                  <a:tcPr marL="127000" marR="101600" anchor="ctr">
                    <a:solidFill>
                      <a:srgbClr val="162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9681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첫 화면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대표 영상 </a:t>
                      </a:r>
                      <a:r>
                        <a:rPr lang="en-US" altLang="ko-KR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</a:t>
                      </a:r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큰 문구로 첫인상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큰 문구 모션 </a:t>
                      </a:r>
                      <a:r>
                        <a:rPr lang="en-US" altLang="ko-KR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+ 5 ~ 10</a:t>
                      </a:r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 배경 영상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18239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메뉴 구성</a:t>
                      </a: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회사 소개 </a:t>
                      </a:r>
                      <a:r>
                        <a:rPr lang="en-US" altLang="ko-KR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</a:t>
                      </a:r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작업물 </a:t>
                      </a:r>
                      <a:r>
                        <a:rPr lang="en-US" altLang="ko-KR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</a:t>
                      </a:r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문의로 단순하게</a:t>
                      </a: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it-IT" altLang="ko-KR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ABOUT · AI VIDEO · PORTFOLIO · CONTACT</a:t>
                      </a:r>
                      <a:endParaRPr lang="ko-KR" altLang="en-US" sz="1200" b="0">
                        <a:solidFill>
                          <a:srgbClr val="E8692C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9105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포트폴리오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업종 </a:t>
                      </a:r>
                      <a:r>
                        <a:rPr lang="en-US" altLang="ko-KR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</a:t>
                      </a:r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용도별 분류</a:t>
                      </a:r>
                      <a:r>
                        <a:rPr lang="en-US" altLang="ko-KR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썸네일 </a:t>
                      </a:r>
                      <a:r>
                        <a:rPr lang="en-US" altLang="ko-KR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+ </a:t>
                      </a:r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영상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개인 </a:t>
                      </a:r>
                      <a:r>
                        <a:rPr lang="en-US" altLang="ko-KR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</a:t>
                      </a:r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기업 </a:t>
                      </a:r>
                      <a:r>
                        <a:rPr lang="en-US" altLang="ko-KR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</a:t>
                      </a:r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지역 필터 </a:t>
                      </a:r>
                      <a:r>
                        <a:rPr lang="en-US" altLang="ko-KR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+ </a:t>
                      </a:r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영상 </a:t>
                      </a:r>
                      <a:r>
                        <a:rPr lang="en-US" altLang="ko-KR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16</a:t>
                      </a:r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편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9063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제작 과정</a:t>
                      </a: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상담 → 기획 → 제작 → 납품 단계 소개</a:t>
                      </a: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 카드 </a:t>
                      </a:r>
                      <a:r>
                        <a:rPr lang="en-US" altLang="ko-KR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+ </a:t>
                      </a:r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상담 준비 안내창</a:t>
                      </a:r>
                    </a:p>
                  </a:txBody>
                  <a:tcPr marL="127000" marR="101600" anchor="ctr">
                    <a:solidFill>
                      <a:srgbClr val="ECE9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1461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가격 안내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'</a:t>
                      </a:r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문의 주세요</a:t>
                      </a:r>
                      <a:r>
                        <a:rPr lang="en-US" altLang="ko-KR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'</a:t>
                      </a:r>
                      <a:r>
                        <a:rPr lang="ko-KR" altLang="en-US" sz="1200" b="0">
                          <a:solidFill>
                            <a:srgbClr val="1B24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 가격을 숨긴 곳이 많음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화질 </a:t>
                      </a:r>
                      <a:r>
                        <a:rPr lang="en-US" altLang="ko-KR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</a:t>
                      </a:r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길이 </a:t>
                      </a:r>
                      <a:r>
                        <a:rPr lang="en-US" altLang="ko-KR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</a:t>
                      </a:r>
                      <a:r>
                        <a:rPr lang="ko-KR" altLang="en-US" sz="1200" b="0">
                          <a:solidFill>
                            <a:srgbClr val="E8692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수량으로 예상 견적 자동 계산</a:t>
                      </a:r>
                    </a:p>
                  </a:txBody>
                  <a:tcPr marL="127000" marR="101600" anchor="ctr"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013991"/>
                  </a:ext>
                </a:extLst>
              </a:tr>
            </a:tbl>
          </a:graphicData>
        </a:graphic>
      </p:graphicFrame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9DED7AB-0043-473D-8E1D-A36134D2F1BB}"/>
              </a:ext>
            </a:extLst>
          </p:cNvPr>
          <p:cNvSpPr/>
          <p:nvPr/>
        </p:nvSpPr>
        <p:spPr>
          <a:xfrm>
            <a:off x="812800" y="5334000"/>
            <a:ext cx="10566400" cy="558800"/>
          </a:xfrm>
          <a:prstGeom prst="roundRect">
            <a:avLst>
              <a:gd name="adj" fmla="val 6000"/>
            </a:avLst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D59FFB-11B7-4EA4-B72E-0D7FAA5141EE}"/>
              </a:ext>
            </a:extLst>
          </p:cNvPr>
          <p:cNvSpPr txBox="1"/>
          <p:nvPr/>
        </p:nvSpPr>
        <p:spPr>
          <a:xfrm>
            <a:off x="1066800" y="54991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조사한 사이트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</a:t>
            </a:r>
            <a:r>
              <a:rPr lang="en-US" altLang="ko-KR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사이트 이름 </a:t>
            </a:r>
            <a:r>
              <a:rPr lang="en-US" altLang="ko-KR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1] · [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사이트 이름 </a:t>
            </a:r>
            <a:r>
              <a:rPr lang="en-US" altLang="ko-KR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2] · [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사이트 이름 </a:t>
            </a:r>
            <a:r>
              <a:rPr lang="en-US" altLang="ko-KR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3]</a:t>
            </a:r>
            <a:endParaRPr lang="ko-KR" altLang="en-US" sz="1300">
              <a:solidFill>
                <a:srgbClr val="E8692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429BB0-66F7-4BEA-A727-DE125BF6922D}"/>
              </a:ext>
            </a:extLst>
          </p:cNvPr>
          <p:cNvSpPr txBox="1"/>
          <p:nvPr/>
        </p:nvSpPr>
        <p:spPr>
          <a:xfrm>
            <a:off x="7874000" y="5499100"/>
            <a:ext cx="342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자료 정리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</a:t>
            </a:r>
            <a:r>
              <a:rPr lang="en-US" altLang="ko-KR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GitHub 02_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참고자료</a:t>
            </a:r>
            <a:r>
              <a:rPr lang="en-US" altLang="ko-KR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ko-KR" altLang="en-US" sz="13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콘셉트</a:t>
            </a:r>
          </a:p>
        </p:txBody>
      </p:sp>
    </p:spTree>
    <p:extLst>
      <p:ext uri="{BB962C8B-B14F-4D97-AF65-F5344CB8AC3E}">
        <p14:creationId xmlns:p14="http://schemas.microsoft.com/office/powerpoint/2010/main" val="2191240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9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altLang="ko-KR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08 · </a:t>
            </a:r>
            <a:r>
              <a:rPr lang="ko-KR" altLang="en-US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벤치마킹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벤치마킹한 내용이 이렇게 화면이 됐습니다</a:t>
            </a:r>
            <a:endParaRPr lang="en-US" sz="3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ECDE7BD-05CE-45AE-BAFC-C3C52DC0A7B0}"/>
              </a:ext>
            </a:extLst>
          </p:cNvPr>
          <p:cNvSpPr/>
          <p:nvPr/>
        </p:nvSpPr>
        <p:spPr>
          <a:xfrm>
            <a:off x="812800" y="1854200"/>
            <a:ext cx="5181600" cy="17272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1C1B2739-494C-47DF-A014-2E4435737AD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0" y="2019300"/>
            <a:ext cx="2794000" cy="1397000"/>
          </a:xfrm>
          <a:prstGeom prst="rect">
            <a:avLst/>
          </a:prstGeom>
          <a:ln w="9525">
            <a:solidFill>
              <a:srgbClr val="DCD6C8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5846AB3-9FEA-477A-889A-A1649F1AEA4B}"/>
              </a:ext>
            </a:extLst>
          </p:cNvPr>
          <p:cNvSpPr txBox="1"/>
          <p:nvPr/>
        </p:nvSpPr>
        <p:spPr>
          <a:xfrm>
            <a:off x="3911600" y="2032000"/>
            <a:ext cx="195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첫 화면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AA60CC-ED3D-44B6-8E43-A004533440BA}"/>
              </a:ext>
            </a:extLst>
          </p:cNvPr>
          <p:cNvSpPr txBox="1"/>
          <p:nvPr/>
        </p:nvSpPr>
        <p:spPr>
          <a:xfrm>
            <a:off x="3911600" y="2413000"/>
            <a:ext cx="195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참고</a:t>
            </a:r>
            <a:r>
              <a:rPr lang="ko-KR" altLang="en-US" sz="11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대표 영상 </a:t>
            </a:r>
            <a:r>
              <a:rPr lang="en-US" altLang="ko-KR" sz="11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sz="11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큰 문구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DAE7E4-4520-4CBD-A16F-01BF41A05235}"/>
              </a:ext>
            </a:extLst>
          </p:cNvPr>
          <p:cNvSpPr txBox="1"/>
          <p:nvPr/>
        </p:nvSpPr>
        <p:spPr>
          <a:xfrm>
            <a:off x="3911600" y="2921000"/>
            <a:ext cx="195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우리</a:t>
            </a:r>
            <a:r>
              <a:rPr lang="ko-KR" altLang="en-US" sz="11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타자 효과 큰 문구 </a:t>
            </a:r>
            <a:r>
              <a:rPr lang="en-US" altLang="ko-KR" sz="11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sz="11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배경 이미지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AB90B1FE-FA9B-4458-BAAB-94517FD77A0D}"/>
              </a:ext>
            </a:extLst>
          </p:cNvPr>
          <p:cNvSpPr/>
          <p:nvPr/>
        </p:nvSpPr>
        <p:spPr>
          <a:xfrm>
            <a:off x="6197600" y="1854200"/>
            <a:ext cx="5181600" cy="17272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CB6F470E-4ACA-4128-BC34-0F5518C5C656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2019300"/>
            <a:ext cx="2794000" cy="1397000"/>
          </a:xfrm>
          <a:prstGeom prst="rect">
            <a:avLst/>
          </a:prstGeom>
          <a:ln w="9525">
            <a:solidFill>
              <a:srgbClr val="DCD6C8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A3E094B-C065-48B4-8BCB-64E628ADF935}"/>
              </a:ext>
            </a:extLst>
          </p:cNvPr>
          <p:cNvSpPr txBox="1"/>
          <p:nvPr/>
        </p:nvSpPr>
        <p:spPr>
          <a:xfrm>
            <a:off x="9296400" y="2032000"/>
            <a:ext cx="195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포트폴리오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FC6A92-EF8D-4050-9ED7-ED44BD4FA7CA}"/>
              </a:ext>
            </a:extLst>
          </p:cNvPr>
          <p:cNvSpPr txBox="1"/>
          <p:nvPr/>
        </p:nvSpPr>
        <p:spPr>
          <a:xfrm>
            <a:off x="9296400" y="2413000"/>
            <a:ext cx="195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참고</a:t>
            </a:r>
            <a:r>
              <a:rPr lang="ko-KR" altLang="en-US" sz="11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썸네일 그리드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EF6F41-00E1-4EB9-97A4-CC050D2C9D6E}"/>
              </a:ext>
            </a:extLst>
          </p:cNvPr>
          <p:cNvSpPr txBox="1"/>
          <p:nvPr/>
        </p:nvSpPr>
        <p:spPr>
          <a:xfrm>
            <a:off x="9296400" y="2921000"/>
            <a:ext cx="195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우리</a:t>
            </a:r>
            <a:r>
              <a:rPr lang="ko-KR" altLang="en-US" sz="11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</a:t>
            </a:r>
            <a:r>
              <a:rPr lang="en-US" altLang="ko-KR" sz="11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1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열 그리드 </a:t>
            </a:r>
            <a:r>
              <a:rPr lang="en-US" altLang="ko-KR" sz="11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필터 </a:t>
            </a:r>
            <a:r>
              <a:rPr lang="en-US" altLang="ko-KR" sz="11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영상 </a:t>
            </a:r>
            <a:r>
              <a:rPr lang="en-US" altLang="ko-KR" sz="11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16</a:t>
            </a:r>
            <a:r>
              <a:rPr lang="ko-KR" altLang="en-US" sz="11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편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A6C42B9-62F8-463F-93C5-226D7D38B812}"/>
              </a:ext>
            </a:extLst>
          </p:cNvPr>
          <p:cNvSpPr/>
          <p:nvPr/>
        </p:nvSpPr>
        <p:spPr>
          <a:xfrm>
            <a:off x="812800" y="3733800"/>
            <a:ext cx="5181600" cy="17272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FAD4DABC-8C12-492A-8696-1C8C44B1E167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3898900"/>
            <a:ext cx="2794000" cy="1397000"/>
          </a:xfrm>
          <a:prstGeom prst="rect">
            <a:avLst/>
          </a:prstGeom>
          <a:ln w="9525">
            <a:solidFill>
              <a:srgbClr val="DCD6C8"/>
            </a:solidFill>
          </a:ln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D92099D8-9CE2-4812-870F-0432DE2BBF3E}"/>
              </a:ext>
            </a:extLst>
          </p:cNvPr>
          <p:cNvSpPr txBox="1"/>
          <p:nvPr/>
        </p:nvSpPr>
        <p:spPr>
          <a:xfrm>
            <a:off x="3911600" y="3911600"/>
            <a:ext cx="195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제작 과정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89AD4B-A174-4EE3-B7EB-AA43C8C82E46}"/>
              </a:ext>
            </a:extLst>
          </p:cNvPr>
          <p:cNvSpPr txBox="1"/>
          <p:nvPr/>
        </p:nvSpPr>
        <p:spPr>
          <a:xfrm>
            <a:off x="3911600" y="4292600"/>
            <a:ext cx="195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참고</a:t>
            </a:r>
            <a:r>
              <a:rPr lang="ko-KR" altLang="en-US" sz="11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단계별 소개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432ADE-E25E-4FB8-AF66-CD385DB343C7}"/>
              </a:ext>
            </a:extLst>
          </p:cNvPr>
          <p:cNvSpPr txBox="1"/>
          <p:nvPr/>
        </p:nvSpPr>
        <p:spPr>
          <a:xfrm>
            <a:off x="3911600" y="4800600"/>
            <a:ext cx="195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우리</a:t>
            </a:r>
            <a:r>
              <a:rPr lang="ko-KR" altLang="en-US" sz="11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</a:t>
            </a:r>
            <a:r>
              <a:rPr lang="en-US" altLang="ko-KR" sz="11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1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단계 카드 </a:t>
            </a:r>
            <a:r>
              <a:rPr lang="en-US" altLang="ko-KR" sz="11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sz="11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상담 버튼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FB14916F-91A5-4F84-B64A-FCCC24B79659}"/>
              </a:ext>
            </a:extLst>
          </p:cNvPr>
          <p:cNvSpPr/>
          <p:nvPr/>
        </p:nvSpPr>
        <p:spPr>
          <a:xfrm>
            <a:off x="6197600" y="3733800"/>
            <a:ext cx="5181600" cy="17272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B1D59A6C-DBB4-4E87-BF41-29CBDFE5303D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3898900"/>
            <a:ext cx="2794000" cy="1397000"/>
          </a:xfrm>
          <a:prstGeom prst="rect">
            <a:avLst/>
          </a:prstGeom>
          <a:ln w="9525">
            <a:solidFill>
              <a:srgbClr val="DCD6C8"/>
            </a:solidFill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C0BC90B-F0BE-4B83-9B5E-BC5A7F7C5A66}"/>
              </a:ext>
            </a:extLst>
          </p:cNvPr>
          <p:cNvSpPr txBox="1"/>
          <p:nvPr/>
        </p:nvSpPr>
        <p:spPr>
          <a:xfrm>
            <a:off x="9296400" y="3911600"/>
            <a:ext cx="195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가격 안내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7A1634-2626-4AC3-95B1-85B3AE1C5282}"/>
              </a:ext>
            </a:extLst>
          </p:cNvPr>
          <p:cNvSpPr txBox="1"/>
          <p:nvPr/>
        </p:nvSpPr>
        <p:spPr>
          <a:xfrm>
            <a:off x="9296400" y="4292600"/>
            <a:ext cx="195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참고</a:t>
            </a:r>
            <a:r>
              <a:rPr lang="ko-KR" altLang="en-US" sz="11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</a:t>
            </a:r>
            <a:r>
              <a:rPr lang="en-US" altLang="ko-KR" sz="11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1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문의 주세요</a:t>
            </a:r>
            <a:r>
              <a:rPr lang="en-US" altLang="ko-KR" sz="11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1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숨김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F9D29C-A36A-4E9B-8612-BD50FB3BA7D9}"/>
              </a:ext>
            </a:extLst>
          </p:cNvPr>
          <p:cNvSpPr txBox="1"/>
          <p:nvPr/>
        </p:nvSpPr>
        <p:spPr>
          <a:xfrm>
            <a:off x="9296400" y="4800600"/>
            <a:ext cx="195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우리</a:t>
            </a:r>
            <a:r>
              <a:rPr lang="ko-KR" altLang="en-US" sz="11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개인 </a:t>
            </a:r>
            <a:r>
              <a:rPr lang="en-US" altLang="ko-KR" sz="11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기업 문의 </a:t>
            </a:r>
            <a:r>
              <a:rPr lang="en-US" altLang="ko-KR" sz="11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sz="11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자동 견적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0B314EF-01F2-4DDF-B83F-ABDF510E9DEE}"/>
              </a:ext>
            </a:extLst>
          </p:cNvPr>
          <p:cNvSpPr txBox="1"/>
          <p:nvPr/>
        </p:nvSpPr>
        <p:spPr>
          <a:xfrm>
            <a:off x="812800" y="56896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벤치마킹 표의 항목이 실제 화면에 들어간 모습 </a:t>
            </a:r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(STUDIO </a:t>
            </a:r>
            <a:r>
              <a:rPr lang="ko-KR" altLang="en-US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상상 홈페이지 캡처</a:t>
            </a:r>
            <a:r>
              <a:rPr lang="en-US" altLang="ko-KR" sz="1000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000">
              <a:solidFill>
                <a:srgbClr val="8A8F9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9580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altLang="ko-KR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08 · </a:t>
            </a:r>
            <a:r>
              <a:rPr lang="ko-KR" altLang="en-US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벤치마킹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조사해 보니 없던 것</a:t>
            </a:r>
            <a:r>
              <a:rPr lang="en-US" altLang="ko-KR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우리가 더했습니다</a:t>
            </a:r>
            <a:endParaRPr lang="en-US" sz="3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0E3814F-1F46-4381-9EB0-75665E4517FF}"/>
              </a:ext>
            </a:extLst>
          </p:cNvPr>
          <p:cNvSpPr/>
          <p:nvPr/>
        </p:nvSpPr>
        <p:spPr>
          <a:xfrm>
            <a:off x="812800" y="1905000"/>
            <a:ext cx="3416300" cy="3429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20B78C0-3278-434A-9647-456166792181}"/>
              </a:ext>
            </a:extLst>
          </p:cNvPr>
          <p:cNvSpPr/>
          <p:nvPr/>
        </p:nvSpPr>
        <p:spPr>
          <a:xfrm>
            <a:off x="1016000" y="2108200"/>
            <a:ext cx="1206500" cy="279400"/>
          </a:xfrm>
          <a:prstGeom prst="roundRect">
            <a:avLst>
              <a:gd name="adj" fmla="val 50000"/>
            </a:avLst>
          </a:prstGeom>
          <a:solidFill>
            <a:srgbClr val="E869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CONTACT</a:t>
            </a:r>
            <a:endParaRPr lang="ko-KR" altLang="en-US" sz="1100" b="1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62B801-98EA-45D4-ADBC-A14F80FE9A9B}"/>
              </a:ext>
            </a:extLst>
          </p:cNvPr>
          <p:cNvSpPr txBox="1"/>
          <p:nvPr/>
        </p:nvSpPr>
        <p:spPr>
          <a:xfrm>
            <a:off x="1016000" y="2514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자동 견적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BAB995-4F52-4A41-9787-05688C83964C}"/>
              </a:ext>
            </a:extLst>
          </p:cNvPr>
          <p:cNvSpPr txBox="1"/>
          <p:nvPr/>
        </p:nvSpPr>
        <p:spPr>
          <a:xfrm>
            <a:off x="1016000" y="2997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조사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가격을 숨긴 곳이 많았음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DAA19B-58EF-4A00-92EE-76307EA69C31}"/>
              </a:ext>
            </a:extLst>
          </p:cNvPr>
          <p:cNvSpPr txBox="1"/>
          <p:nvPr/>
        </p:nvSpPr>
        <p:spPr>
          <a:xfrm>
            <a:off x="1016000" y="3632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우리</a:t>
            </a:r>
            <a:r>
              <a:rPr lang="ko-KR" altLang="en-US" sz="12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화질 </a:t>
            </a:r>
            <a:r>
              <a:rPr lang="en-US" altLang="ko-KR" sz="12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2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길이 </a:t>
            </a:r>
            <a:r>
              <a:rPr lang="en-US" altLang="ko-KR" sz="12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2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수량을 고르면 예상 견적이 바로 계산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3E47DAA-3D63-4394-85F6-2FF6B996EFA2}"/>
              </a:ext>
            </a:extLst>
          </p:cNvPr>
          <p:cNvSpPr/>
          <p:nvPr/>
        </p:nvSpPr>
        <p:spPr>
          <a:xfrm>
            <a:off x="4381500" y="1905000"/>
            <a:ext cx="3416300" cy="3429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2D506C8-ED2B-481F-A341-524FC352A6D3}"/>
              </a:ext>
            </a:extLst>
          </p:cNvPr>
          <p:cNvSpPr/>
          <p:nvPr/>
        </p:nvSpPr>
        <p:spPr>
          <a:xfrm>
            <a:off x="4584700" y="2108200"/>
            <a:ext cx="1346200" cy="2794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VIDEO</a:t>
            </a:r>
            <a:endParaRPr lang="ko-KR" altLang="en-US" sz="1100" b="1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EB6B94-58BD-4AE9-A056-0481C4EE5F85}"/>
              </a:ext>
            </a:extLst>
          </p:cNvPr>
          <p:cNvSpPr txBox="1"/>
          <p:nvPr/>
        </p:nvSpPr>
        <p:spPr>
          <a:xfrm>
            <a:off x="4584700" y="2514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상담 준비 안내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3A8853-BD2F-4977-8DD6-4B71382D181E}"/>
              </a:ext>
            </a:extLst>
          </p:cNvPr>
          <p:cNvSpPr txBox="1"/>
          <p:nvPr/>
        </p:nvSpPr>
        <p:spPr>
          <a:xfrm>
            <a:off x="4584700" y="2997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조사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문의 폼만 있는 곳이 많았음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889354-36BB-4D80-85C2-2A7D95AD1804}"/>
              </a:ext>
            </a:extLst>
          </p:cNvPr>
          <p:cNvSpPr txBox="1"/>
          <p:nvPr/>
        </p:nvSpPr>
        <p:spPr>
          <a:xfrm>
            <a:off x="4584700" y="3632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우리</a:t>
            </a:r>
            <a:r>
              <a:rPr lang="ko-KR" altLang="en-US" sz="12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상담 전에 준비할 </a:t>
            </a:r>
            <a:r>
              <a:rPr lang="en-US" altLang="ko-KR" sz="12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2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가지를 안내창으로 정리</a:t>
            </a:r>
            <a:r>
              <a:rPr lang="en-US" altLang="ko-KR" sz="12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양식 복사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DDBF212-AE66-41BF-9280-B39F9218BE74}"/>
              </a:ext>
            </a:extLst>
          </p:cNvPr>
          <p:cNvSpPr/>
          <p:nvPr/>
        </p:nvSpPr>
        <p:spPr>
          <a:xfrm>
            <a:off x="7950200" y="1905000"/>
            <a:ext cx="3416300" cy="3429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E37DD1C-C54C-448D-BF15-0ACC4641C965}"/>
              </a:ext>
            </a:extLst>
          </p:cNvPr>
          <p:cNvSpPr/>
          <p:nvPr/>
        </p:nvSpPr>
        <p:spPr>
          <a:xfrm>
            <a:off x="8153400" y="2108200"/>
            <a:ext cx="1485900" cy="279400"/>
          </a:xfrm>
          <a:prstGeom prst="roundRect">
            <a:avLst>
              <a:gd name="adj" fmla="val 50000"/>
            </a:avLst>
          </a:prstGeom>
          <a:solidFill>
            <a:srgbClr val="DCD6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n-US" altLang="ko-KR" sz="11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PORTFOLIO</a:t>
            </a:r>
            <a:endParaRPr lang="ko-KR" altLang="en-US" sz="1100" b="1">
              <a:solidFill>
                <a:srgbClr val="1B243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51D1E6-B836-4EFC-9473-BAA589E85F36}"/>
              </a:ext>
            </a:extLst>
          </p:cNvPr>
          <p:cNvSpPr txBox="1"/>
          <p:nvPr/>
        </p:nvSpPr>
        <p:spPr>
          <a:xfrm>
            <a:off x="8153400" y="2514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팀원이 만든 영상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13106A-7043-41E3-9073-1768EC1BC94C}"/>
              </a:ext>
            </a:extLst>
          </p:cNvPr>
          <p:cNvSpPr txBox="1"/>
          <p:nvPr/>
        </p:nvSpPr>
        <p:spPr>
          <a:xfrm>
            <a:off x="8153400" y="2997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8A8F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조사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샘플 영상이 적거나 오래됨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BD2057-308D-4270-9BAD-80D9F680E4B2}"/>
              </a:ext>
            </a:extLst>
          </p:cNvPr>
          <p:cNvSpPr txBox="1"/>
          <p:nvPr/>
        </p:nvSpPr>
        <p:spPr>
          <a:xfrm>
            <a:off x="8153400" y="3632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우리</a:t>
            </a:r>
            <a:r>
              <a:rPr lang="ko-KR" altLang="en-US" sz="12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　팀원 </a:t>
            </a:r>
            <a:r>
              <a:rPr lang="en-US" altLang="ko-KR" sz="12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2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명이 직접 만든 영상 </a:t>
            </a:r>
            <a:r>
              <a:rPr lang="en-US" altLang="ko-KR" sz="12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16</a:t>
            </a:r>
            <a:r>
              <a:rPr lang="ko-KR" altLang="en-US" sz="1200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편을 분류해서 공개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54F5DA-9097-41EF-B3AD-74571ECB2DB1}"/>
              </a:ext>
            </a:extLst>
          </p:cNvPr>
          <p:cNvSpPr txBox="1"/>
          <p:nvPr/>
        </p:nvSpPr>
        <p:spPr>
          <a:xfrm>
            <a:off x="812800" y="55626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벤치마킹으로 기본을 갖추고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조사에서 비어 있던 부분을 우리만의 기능으로 채웠습니다</a:t>
            </a:r>
            <a:r>
              <a:rPr lang="en-US" altLang="ko-KR" sz="12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>
              <a:solidFill>
                <a:srgbClr val="4A50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8121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altLang="ko-KR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08 · </a:t>
            </a:r>
            <a:r>
              <a:rPr lang="ko-KR" altLang="en-US" sz="1200" b="1" kern="0" spc="150">
                <a:solidFill>
                  <a:srgbClr val="B044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정리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en-US" altLang="ko-KR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r>
              <a:rPr lang="ko-KR" altLang="en-US" sz="3200" b="1" i="0">
                <a:solidFill>
                  <a:srgbClr val="1B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함께 만들며 배운 것</a:t>
            </a:r>
            <a:endParaRPr lang="en-US" sz="3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02AA63A-4D83-48C6-98EE-25042EF21762}"/>
              </a:ext>
            </a:extLst>
          </p:cNvPr>
          <p:cNvSpPr/>
          <p:nvPr/>
        </p:nvSpPr>
        <p:spPr>
          <a:xfrm>
            <a:off x="812800" y="1905000"/>
            <a:ext cx="10566400" cy="10668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9ACB26-F9F2-4A9F-8317-3FEC6FFA1215}"/>
              </a:ext>
            </a:extLst>
          </p:cNvPr>
          <p:cNvSpPr txBox="1"/>
          <p:nvPr/>
        </p:nvSpPr>
        <p:spPr>
          <a:xfrm>
            <a:off x="1117600" y="21844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6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01</a:t>
            </a:r>
            <a:endParaRPr lang="ko-KR" altLang="en-US" sz="2600" b="1">
              <a:solidFill>
                <a:srgbClr val="E8692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937183-C113-4818-AEDD-9D3B557E9179}"/>
              </a:ext>
            </a:extLst>
          </p:cNvPr>
          <p:cNvSpPr txBox="1"/>
          <p:nvPr/>
        </p:nvSpPr>
        <p:spPr>
          <a:xfrm>
            <a:off x="2032000" y="21082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보여 주면 빠르다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4D5C63-3DF7-4BD1-B3A7-95498304E092}"/>
              </a:ext>
            </a:extLst>
          </p:cNvPr>
          <p:cNvSpPr txBox="1"/>
          <p:nvPr/>
        </p:nvSpPr>
        <p:spPr>
          <a:xfrm>
            <a:off x="2032000" y="24892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말보다 시안 </a:t>
            </a:r>
            <a:r>
              <a:rPr lang="en-US" altLang="ko-KR" sz="13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3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캡처 </a:t>
            </a:r>
            <a:r>
              <a:rPr lang="en-US" altLang="ko-KR" sz="13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3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손그림 한 장이 수정 횟수를 줄였습니다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759D6C8-302D-4A77-9A00-08B5345A6988}"/>
              </a:ext>
            </a:extLst>
          </p:cNvPr>
          <p:cNvSpPr/>
          <p:nvPr/>
        </p:nvSpPr>
        <p:spPr>
          <a:xfrm>
            <a:off x="812800" y="3124200"/>
            <a:ext cx="10566400" cy="10668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394A08-8C61-47B7-B8CF-615B70931584}"/>
              </a:ext>
            </a:extLst>
          </p:cNvPr>
          <p:cNvSpPr txBox="1"/>
          <p:nvPr/>
        </p:nvSpPr>
        <p:spPr>
          <a:xfrm>
            <a:off x="1117600" y="3403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6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02</a:t>
            </a:r>
            <a:endParaRPr lang="ko-KR" altLang="en-US" sz="2600" b="1">
              <a:solidFill>
                <a:srgbClr val="E8692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ECBF38-A1C8-4E81-9583-257B24DE3066}"/>
              </a:ext>
            </a:extLst>
          </p:cNvPr>
          <p:cNvSpPr txBox="1"/>
          <p:nvPr/>
        </p:nvSpPr>
        <p:spPr>
          <a:xfrm>
            <a:off x="2032000" y="3327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숫자로 말하면 정확하다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5D85CC-6F9B-471B-8B69-25499499FA3A}"/>
              </a:ext>
            </a:extLst>
          </p:cNvPr>
          <p:cNvSpPr txBox="1"/>
          <p:nvPr/>
        </p:nvSpPr>
        <p:spPr>
          <a:xfrm>
            <a:off x="2032000" y="3708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px · pt · </a:t>
            </a:r>
            <a:r>
              <a:rPr lang="ko-KR" altLang="en-US" sz="13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 </a:t>
            </a:r>
            <a:r>
              <a:rPr lang="en-US" altLang="ko-KR" sz="13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3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색상 코드로 요청하면 한 번에 원하는 크기와 속도가 나왔습니다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B374EF6-F061-4589-B55D-4C648E7D4F84}"/>
              </a:ext>
            </a:extLst>
          </p:cNvPr>
          <p:cNvSpPr/>
          <p:nvPr/>
        </p:nvSpPr>
        <p:spPr>
          <a:xfrm>
            <a:off x="812800" y="4343400"/>
            <a:ext cx="10566400" cy="10668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>
            <a:solidFill>
              <a:srgbClr val="DCD6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E3B55-16C6-4959-AD49-B42C4C7ED3AD}"/>
              </a:ext>
            </a:extLst>
          </p:cNvPr>
          <p:cNvSpPr txBox="1"/>
          <p:nvPr/>
        </p:nvSpPr>
        <p:spPr>
          <a:xfrm>
            <a:off x="1117600" y="4622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600" b="1">
                <a:solidFill>
                  <a:srgbClr val="E8692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endParaRPr lang="ko-KR" altLang="en-US" sz="2600" b="1">
              <a:solidFill>
                <a:srgbClr val="E8692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1AB54D-CC5C-4B2C-A230-B7606B797856}"/>
              </a:ext>
            </a:extLst>
          </p:cNvPr>
          <p:cNvSpPr txBox="1"/>
          <p:nvPr/>
        </p:nvSpPr>
        <p:spPr>
          <a:xfrm>
            <a:off x="2032000" y="45466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1B24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참고하되 우리 것으로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208E14-5198-4524-BA84-88B9E25AFB82}"/>
              </a:ext>
            </a:extLst>
          </p:cNvPr>
          <p:cNvSpPr txBox="1"/>
          <p:nvPr/>
        </p:nvSpPr>
        <p:spPr>
          <a:xfrm>
            <a:off x="2032000" y="49276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벤치마킹으로 기본을 잡고</a:t>
            </a:r>
            <a:r>
              <a:rPr lang="en-US" altLang="ko-KR" sz="13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>
                <a:solidFill>
                  <a:srgbClr val="4A50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비어 있던 기능을 우리 아이디어로 채웠습니다</a:t>
            </a:r>
          </a:p>
        </p:txBody>
      </p:sp>
    </p:spTree>
    <p:extLst>
      <p:ext uri="{BB962C8B-B14F-4D97-AF65-F5344CB8AC3E}">
        <p14:creationId xmlns:p14="http://schemas.microsoft.com/office/powerpoint/2010/main" val="3281189046"/>
      </p:ext>
    </p:extLst>
  </p:cSld>
  <p:clrMapOvr>
    <a:masterClrMapping/>
  </p:clrMapOvr>
</p:sld>
</file>

<file path=ppt/theme/theme1.xml><?xml version="1.0" encoding="utf-8"?>
<a:theme xmlns:a="http://schemas.openxmlformats.org/drawingml/2006/main" name="STUDIO 상상 팀 프로젝트 발표">
  <a:themeElements>
    <a:clrScheme name="STUDIO 상상 팀 프로젝트 발표">
      <a:dk1>
        <a:srgbClr val="1B2433"/>
      </a:dk1>
      <a:lt1>
        <a:srgbClr val="F6F5F1"/>
      </a:lt1>
      <a:dk2>
        <a:srgbClr val="525863"/>
      </a:dk2>
      <a:lt2>
        <a:srgbClr val="E0E0DE"/>
      </a:lt2>
      <a:accent1>
        <a:srgbClr val="B0441A"/>
      </a:accent1>
      <a:accent2>
        <a:srgbClr val="E8692C"/>
      </a:accent2>
      <a:accent3>
        <a:srgbClr val="D9531E"/>
      </a:accent3>
      <a:accent4>
        <a:srgbClr val="4A5263"/>
      </a:accent4>
      <a:accent5>
        <a:srgbClr val="5A6170"/>
      </a:accent5>
      <a:accent6>
        <a:srgbClr val="C9CED8"/>
      </a:accent6>
      <a:hlink>
        <a:srgbClr val="0563C1"/>
      </a:hlink>
      <a:folHlink>
        <a:srgbClr val="954F72"/>
      </a:folHlink>
    </a:clrScheme>
    <a:fontScheme name="STUDIO 상상 팀 프로젝트 발표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3318</Words>
  <Application>Microsoft Office PowerPoint</Application>
  <PresentationFormat>와이드스크린</PresentationFormat>
  <Paragraphs>322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JetBrains Mono</vt:lpstr>
      <vt:lpstr>Noto Sans KR</vt:lpstr>
      <vt:lpstr>맑은 고딕</vt:lpstr>
      <vt:lpstr>Arial</vt:lpstr>
      <vt:lpstr>STUDIO 상상 팀 프로젝트 발표</vt:lpstr>
      <vt:lpstr>말로 안 될 땐, 그림으로 보여 줬습니다</vt:lpstr>
      <vt:lpstr>말로만 할 때 vs 그림 · 숫자로 보여 줄 때</vt:lpstr>
      <vt:lpstr>도구별로 이렇게 나눠 썼습니다</vt:lpstr>
      <vt:lpstr>일러스트 시안을 보여 주고, 이렇게 완성했습니다</vt:lpstr>
      <vt:lpstr>시안 하나로 배치 · 색 · 문구를 한 번에 전달</vt:lpstr>
      <vt:lpstr>알캡처로 재고, 숫자로 요청했습니다</vt:lpstr>
      <vt:lpstr>수정 요청은 이 공식으로 썼습니다</vt:lpstr>
      <vt:lpstr>고칠 곳은 그림판 · 펜 태블릿으로 표시했습니다</vt:lpstr>
      <vt:lpstr>AI가 자주 어긋난 곳과 해결 방법</vt:lpstr>
      <vt:lpstr>움직임은 참고 사이트를 보고, 대화로 다듬었습니다</vt:lpstr>
      <vt:lpstr>이렇게 다듬은 움직임이 실제 화면에 들어갔습니다</vt:lpstr>
      <vt:lpstr>벤치마킹은 이렇게 했습니다</vt:lpstr>
      <vt:lpstr>벤치마킹 — AI 영상 제작사 홈페이지를 조사했습니다</vt:lpstr>
      <vt:lpstr>벤치마킹한 내용이 이렇게 화면이 됐습니다</vt:lpstr>
      <vt:lpstr>조사해 보니 없던 것, 우리가 더했습니다</vt:lpstr>
      <vt:lpstr>AI와 함께 만들며 배운 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STUDIO 상상 팀 프로젝트 발표</dc:title>
  <dc:subject/>
  <dc:creator>802-7</dc:creator>
  <cp:lastModifiedBy>소연 김</cp:lastModifiedBy>
  <cp:revision>17</cp:revision>
  <dcterms:created xsi:type="dcterms:W3CDTF">2026-10-20T02:25:43Z</dcterms:created>
  <dcterms:modified xsi:type="dcterms:W3CDTF">2026-10-20T08:10:03Z</dcterms:modified>
</cp:coreProperties>
</file>