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77" r:id="rId3"/>
    <p:sldId id="257" r:id="rId4"/>
    <p:sldId id="258" r:id="rId5"/>
    <p:sldId id="259" r:id="rId6"/>
    <p:sldId id="260" r:id="rId7"/>
    <p:sldId id="261" r:id="rId8"/>
    <p:sldId id="286" r:id="rId9"/>
    <p:sldId id="296" r:id="rId10"/>
    <p:sldId id="297" r:id="rId11"/>
    <p:sldId id="287" r:id="rId12"/>
    <p:sldId id="291" r:id="rId13"/>
    <p:sldId id="288" r:id="rId14"/>
    <p:sldId id="298" r:id="rId15"/>
    <p:sldId id="292" r:id="rId16"/>
    <p:sldId id="299" r:id="rId17"/>
    <p:sldId id="289" r:id="rId18"/>
    <p:sldId id="300" r:id="rId19"/>
    <p:sldId id="293" r:id="rId20"/>
    <p:sldId id="290" r:id="rId21"/>
    <p:sldId id="301" r:id="rId22"/>
    <p:sldId id="294" r:id="rId23"/>
    <p:sldId id="295" r:id="rId24"/>
    <p:sldId id="262" r:id="rId25"/>
    <p:sldId id="263" r:id="rId26"/>
    <p:sldId id="284" r:id="rId27"/>
    <p:sldId id="264" r:id="rId28"/>
    <p:sldId id="285" r:id="rId29"/>
    <p:sldId id="265" r:id="rId30"/>
    <p:sldId id="266" r:id="rId31"/>
    <p:sldId id="267" r:id="rId32"/>
    <p:sldId id="268" r:id="rId33"/>
    <p:sldId id="269" r:id="rId34"/>
    <p:sldId id="270" r:id="rId35"/>
    <p:sldId id="271" r:id="rId36"/>
    <p:sldId id="272" r:id="rId37"/>
    <p:sldId id="278" r:id="rId38"/>
    <p:sldId id="279" r:id="rId39"/>
    <p:sldId id="280" r:id="rId40"/>
    <p:sldId id="281" r:id="rId41"/>
    <p:sldId id="282" r:id="rId42"/>
    <p:sldId id="283" r:id="rId43"/>
    <p:sldId id="273" r:id="rId44"/>
    <p:sldId id="274" r:id="rId45"/>
    <p:sldId id="275" r:id="rId46"/>
    <p:sldId id="276"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46687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후 한 줄 소개: 가상의 AI 영상 제작사 ‘STUDIO 상상’의 홈페이지를 네 명이 한 페이지씩 나눠 만들고 하나로 합쳐 배포했습니다. 이번 과제의 핵심은 Codex와 Claude Code 활용, 그리고 Git·GitHub·Notion 협업입니다.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 순서입니다. 프로젝트 소개 다음에 이번 과제의 핵심인 AI 도구 활용과 협업 방식을 먼저 보여 드리고, 이어서 팀원이 각자 맡은 페이지를 직접 소개합니다. 마지막으로 페이지를 합치면서 생긴 문제와 회고로 마무리합니다. 오른쪽 숫자는 각 슬라이드 위쪽에 적힌 번호입니다.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명이 네비게이션 메뉴 4개(ABOUT US, AI VIDEO, PORTFOLIO, CONTACT)를 한 페이지씩 맡았습니다. 각자 이름, 담당 페이지, 역할, 주로 쓴 AI 도구를 채워 주세요. 공통 업무(통합·배포 등)를 누가 맡았는지도 꼭 적어 주세요.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상상은 실제 회사가 아니라 이번 과제를 위해 만든 가상의 AI 영상 제작사입니다. 목표는 세 가지였습니다: 한 사람이 한 페이지씩, AI 코딩 도구로 만들고, Git·GitHub·Notion으로 협업해서 하나로 배포하기.</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명이 각자 폴더(main, ai-video, portfolio, contact)에서 페이지를 만들었습니다. 이것을 하나로 묶은 것이 site-header.js입니다. 이 파일이 모든 페이지에 똑같은 상단 메뉴와 하단 정보를 넣어 주기 때문에, 어느 페이지에서든 메뉴를 눌러 다른 팀원의 페이지로 이동할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평가에서 가장 중요합니다. 두 도구를 각각 어디에 썼는지 실제 경험으로 채워 주세요. 예시로 넣어 둔 [예: …] 칸은 실제 내용으로 바꾸세요. CONTACT 페이지는 작업 메모에 Codex로 작업했다는 기록이 있습니다. “둘 다 써 봤더니 이런 차이가 있었다”를 한 문장으로 말할 수 있으면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페이지 작업에서 실제로 쓴 방법입니다. AI는 새 대화를 시작하면 이전 내용을 기억하지 못하기 때문에, 확정된 내용을 메모 파일로 남기고 그 파일을 먼저 읽게 했습니다. 다른 팀원도 자신이 쓴 좋은 프롬프트가 있으면 이 슬라이드에 추가하거나 페이지별 슬라이드에 넣어 주세요.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29542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75572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82866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80585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41872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67513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914950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990132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73953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302074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762364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322481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960320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267383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822507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815576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협업 전체 흐름입니다. Notion에서 계획하고, 각자 브랜치에서 AI 도구로 작업하고, GitHub Pull Request로 합친 뒤 배포했습니다. 다음 두 슬라이드에서 GitHub과 Notion을 실제 화면과 함께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저장소의 실제 화면을 꼭 넣어 주세요. 커밋 기록(Insights → Network 그래프)이나 Pull Request 목록이 협업했다는 가장 확실한 증거입니다. 브랜치 이름과 커밋 메시지는 예시이니 실제로 쓴 이름으로 바꾸고, 커밋 · PR · 브랜치 개수도 채워 주세요.</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저장소의 실제 화면을 꼭 넣어 주세요. 커밋 기록(Insights → Network 그래프)이나 Pull Request 목록이 협업했다는 가장 확실한 증거입니다. 브랜치 이름과 커밋 메시지는 예시이니 실제로 쓴 이름으로 바꾸고, 커밋 · PR · 브랜치 개수도 채워 주세요.</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847482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팀 페이지의 실제 화면을 넣어 주세요. 네 가지 항목은 예시이니 팀이 실제로 만든 페이지에 맞게 바꾸거나 빼 주세요. 특히 ‘프롬프트 기록’이 있으면 AI 도구 활용과 협업을 동시에 보여 줄 수 있어 좋습니다.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저장소의 실제 화면을 꼭 넣어 주세요. 커밋 기록(Insights → Network 그래프)이나 Pull Request 목록이 협업했다는 가장 확실한 증거입니다. 브랜치 이름과 커밋 메시지는 예시이니 실제로 쓴 이름으로 바꾸고, 커밋 · PR · 브랜치 개수도 채워 주세요.</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452351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담당자가 직접 발표합니다. 화면 캡처를 넣고, 주요 기능 중 1~2개는 시연으로 보여 주면 좋습니다. AI에게 어떤 요청을 했고, 결과를 어떻게 고쳤는지 한 가지 예를 말해 주세요.</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담당자가 직접 발표합니다. 제목이 아래에서 위로 진해지는 효과처럼 눈에 띄는 동작은 시연으로 보여 주면 좋습니다. AI에게 어떤 요청을 했고, 결과를 어떻게 고쳤는지 한 가지 예를 말해 주세요.</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clipboard(navigator.clipboard): ‘상담 양식 복사하기’를 누르면 문의 양식이 복사되어 바로 붙여 넣을 수 있습니다. · animationend: 한 애니메이션이 끝난 것을 감지합니다. 한글 제목이 끝나면 영어 문장을 시작해 순서대로 보이게 했습니다. · 패럴랙스: 이미지가 스크롤보다 느리게 움직여 깊이감이 생기는 효과입니다. 제목 효과는 작업 메모에 ‘제목 위치 고정, 아래에서 위로 진해지는 효과(한글 → 영어 순차, 문장당 1.2초)’로 기록되어 있습니다. 이 요구를 AI에게 어떻게 전달했는지 말하면 좋습니다. 통합 후에는 ‘포트폴리오 보기’와 상담 버튼이 팝업 대신 각각 PORTFOLIO, CONTACT 페이지로 이동하도록 바꿨습니다.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담당자가 직접 발표합니다. 필터를 눌러 작업물이 바뀌는 모습을 시연하면 좋습니다. 이 페이지는 영상이 많아 용량 문제가 있었으니, 14번 슬라이드(통합 · 배포)와 연결해서 이야기하면 자연스럽습니다.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data-filter: 버튼마다 ‘개인’, ‘기업’ 같은 분류 이름을 붙여 두고, 같은 분류의 카드만 보여 줍니다. · 카드 → 상세창 → 영상창으로 알림창이 두 단계로 열립니다. 영상창을 닫으면 영상을 멈추고 원래 버튼으로 돌아가게 해서, 소리가 계속 나지 않게 했습니다. 추가로 말할 것: 첫 화면 배너 영상이 약 2초 재생되면 소개 문구 “말보다 확실한 결과물”이 나타납니다.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담당자가 직접 발표합니다. 영상을 담고 수량을 바꾸면 견적이 바로 바뀌는 모습을 시연하면 좋습니다. 주의: 상담 접수와 결제는 실제로 연결되지 않은 시연용 화면입니다. 발표할 때 실제 접수·결제가 된다고 말하지 마세요.</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modal(): 안내창을 여러 곳에서 쓰기 때문에 하나의 함수로 만들어 상황마다 내용만 바꿔 띄웁니다. 성공 안내 제목은 ‘상담 신청이 완료되었습니다.’입니다. · 카카오톡 · 이메일 · 전화 버튼도 각각 안내창이 뜹니다. 평일 10:00~19:00가 아니면 ‘지금은 상담 안내 시간이 아닙니다.’가 표시됩니다. · requestAnimationFrame: 화면이 다시 그려질 때마다 위치를 조금씩 바꿔, 견적서가 부드럽게 따라오게 합니다. · 기업 이미지에 마우스를 올리면 1.035배 커지고 옅은 그림자가 생깁니다. 주의: 상담 접수와 결제는 실제로 연결되지 않은 시연용 화면입니다.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0375725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5233565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4036695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1131830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1038178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순서: 무엇을 누르면 → 무엇이 뜨는지 → 어떻게 만들었는지 → AI에게 어떻게 요청했는지. · &lt;dialog&gt;와 showModal(): 브라우저에 있는 기본 팝업 기능입니다. 버튼을 누르면 창을 열고, 확인이나 ×를 누르면 닫습니다. · IntersectionObserver: 요소가 화면에 들어왔는지 알려 주는 기능입니다. 문장이 보이는 순간 애니메이션을 시작합니다. · @keyframes: CSS로 움직임의 시작과 끝을 정하는 방법입니다. 추가로 말할 것: 첫 화면 배경 이미지가 서서히 나타나고 제목이 올라오는 효과도 있습니다. 통합 후에는 제작문의 버튼이 팝업 대신 CONTACT 페이지로 이동하도록 공통 파일(site-header.js)에서 바꿨습니다. 개인 페이지일 때와 합친 뒤의 차이로 설명하면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9536930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페이지를 합칠 때 실제로 확인된 문제들입니다. 공통 헤더는 이미 해결되어 있고, 나머지 세 가지는 GitHub에 올리기 전에 해결해야 합니다. 해결한 뒤 [진행 상황] 칸을 실제 결과로 바꿔 주세요(예: 113MB → 3MB). 숫자가 바뀐 결과를 보여 주면 설득력이 커집니다.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처음부터 완벽하게 만들어 주지는 않았다는 점, 그리고 그때 팀원이 어떻게 판단했는지를 보여 주는 슬라이드입니다. CASE 01은 CONTACT 작업 메모에 적힌 내용입니다. CASE 02와 03은 다른 팀원의 실제 경험으로 채워 주세요. Git 충돌을 해결한 경험이 있으면 CASE 03에 넣기 좋습니다.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팀원마다 한 가지씩 말하면 자연스럽습니다. 소감 예시: “AI 도구가 코드는 빨리 만들어 줬지만, 무엇을 만들지와 어떻게 합칠지는 결국 우리가 정해야 했다.” 아쉬운 점에는 “처음부터 GitHub으로 작업 기록을 남겼으면 좋았다” 같은 솔직한 내용도 좋습니다.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질문을 받고, 시간이 있으면 배포된 사이트를 열어 네 페이지를 메뉴로 오가며 시연합니다. 주소 세 개는 발표 전에 실제 주소로 바꿔 주세요. QR 코드를 넣어도 좋습니다.</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87660"/>
          </a:xfrm>
          <a:prstGeom prst="rect">
            <a:avLst/>
          </a:prstGeom>
          <a:noFill/>
          <a:ln/>
        </p:spPr>
        <p:txBody>
          <a:bodyPr wrap="square" lIns="0" tIns="0" rIns="0" bIns="0" rtlCol="0" anchor="t"/>
          <a:lstStyle>
            <a:lvl1pPr marL="0" indent="0" algn="l">
              <a:lnSpc>
                <a:spcPct val="115000"/>
              </a:lnSpc>
              <a:buNone/>
              <a:defRPr lang="en-US" sz="3200" dirty="0">
                <a:solidFill>
                  <a:srgbClr val="1B2433"/>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20180"/>
            <a:ext cx="10566400" cy="4125020"/>
          </a:xfrm>
          <a:prstGeom prst="rect">
            <a:avLst/>
          </a:prstGeom>
          <a:noFill/>
          <a:ln/>
        </p:spPr>
        <p:txBody>
          <a:bodyPr wrap="square" lIns="0" tIns="0" rIns="0" bIns="0" rtlCol="0" anchor="t"/>
          <a:lstStyle>
            <a:lvl1pPr marL="0" indent="0" algn="l">
              <a:lnSpc>
                <a:spcPct val="140000"/>
              </a:lnSpc>
              <a:buNone/>
              <a:defRPr lang="en-US" sz="1600" dirty="0">
                <a:solidFill>
                  <a:srgbClr val="1B2433"/>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87660"/>
          </a:xfrm>
          <a:prstGeom prst="rect">
            <a:avLst/>
          </a:prstGeom>
          <a:noFill/>
          <a:ln/>
        </p:spPr>
        <p:txBody>
          <a:bodyPr wrap="square" lIns="0" tIns="0" rIns="0" bIns="0" rtlCol="0" anchor="t"/>
          <a:lstStyle>
            <a:lvl1pPr marL="0" indent="0" algn="l">
              <a:lnSpc>
                <a:spcPct val="115000"/>
              </a:lnSpc>
              <a:buNone/>
              <a:defRPr lang="en-US" sz="3200" dirty="0">
                <a:solidFill>
                  <a:srgbClr val="1B2433"/>
                </a:solidFill>
                <a:latin typeface="Noto Sans KR" pitchFamily="34" charset="0"/>
                <a:ea typeface="Noto Sans KR" pitchFamily="34" charset="-122"/>
                <a:cs typeface="Noto Sans K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20180"/>
            <a:ext cx="10566400" cy="4125020"/>
          </a:xfrm>
          <a:prstGeom prst="rect">
            <a:avLst/>
          </a:prstGeom>
          <a:noFill/>
          <a:ln/>
        </p:spPr>
        <p:txBody>
          <a:bodyPr wrap="square" lIns="0" tIns="0" rIns="0" bIns="0" rtlCol="0" anchor="t"/>
          <a:lstStyle>
            <a:lvl1pPr marL="0" indent="0" algn="l">
              <a:lnSpc>
                <a:spcPct val="140000"/>
              </a:lnSpc>
              <a:buNone/>
              <a:defRPr lang="en-US" sz="1600" dirty="0">
                <a:solidFill>
                  <a:srgbClr val="1B2433"/>
                </a:solidFill>
                <a:latin typeface="Noto Sans KR" pitchFamily="34" charset="0"/>
                <a:ea typeface="Noto Sans KR" pitchFamily="34" charset="-122"/>
                <a:cs typeface="Noto Sans K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 0"/>
          <p:cNvSpPr/>
          <p:nvPr/>
        </p:nvSpPr>
        <p:spPr>
          <a:xfrm>
            <a:off x="812800" y="612396"/>
            <a:ext cx="10883392" cy="439124"/>
          </a:xfrm>
          <a:prstGeom prst="rect">
            <a:avLst/>
          </a:prstGeom>
          <a:noFill/>
          <a:ln/>
        </p:spPr>
        <p:txBody>
          <a:bodyPr wrap="square" lIns="0" tIns="0" rIns="0" bIns="0" rtlCol="0" anchor="t">
            <a:noAutofit/>
          </a:bodyPr>
          <a:lstStyle/>
          <a:p>
            <a:pPr marL="0" indent="0" algn="l">
              <a:lnSpc>
                <a:spcPts val="1680"/>
              </a:lnSpc>
              <a:buNone/>
            </a:pPr>
            <a:r>
              <a:rPr lang="en-US" sz="2400" b="1" kern="0" spc="200" dirty="0">
                <a:solidFill>
                  <a:srgbClr val="E8692C"/>
                </a:solidFill>
                <a:latin typeface="JetBrains Mono" pitchFamily="49" charset="0"/>
                <a:ea typeface="JetBrains Mono" pitchFamily="49" charset="-122"/>
                <a:cs typeface="JetBrains Mono" pitchFamily="49" charset="-120"/>
              </a:rPr>
              <a:t>TEAM PROJECT · 2026</a:t>
            </a:r>
            <a:endParaRPr lang="en-US" sz="2400" dirty="0"/>
          </a:p>
        </p:txBody>
      </p:sp>
      <p:sp>
        <p:nvSpPr>
          <p:cNvPr id="3" name="Shape 1"/>
          <p:cNvSpPr/>
          <p:nvPr/>
        </p:nvSpPr>
        <p:spPr>
          <a:xfrm>
            <a:off x="812800" y="2115245"/>
            <a:ext cx="762000" cy="76200"/>
          </a:xfrm>
          <a:prstGeom prst="roundRect">
            <a:avLst>
              <a:gd name="adj" fmla="val 50000"/>
            </a:avLst>
          </a:prstGeom>
          <a:solidFill>
            <a:srgbClr val="E8692C"/>
          </a:solidFill>
          <a:ln/>
        </p:spPr>
      </p:sp>
      <p:sp>
        <p:nvSpPr>
          <p:cNvPr id="4" name="Text 2"/>
          <p:cNvSpPr>
            <a:spLocks noGrp="1"/>
          </p:cNvSpPr>
          <p:nvPr>
            <p:ph type="title"/>
          </p:nvPr>
        </p:nvSpPr>
        <p:spPr>
          <a:xfrm>
            <a:off x="812800" y="2405774"/>
            <a:ext cx="10883392" cy="2454192"/>
          </a:xfrm>
          <a:prstGeom prst="rect">
            <a:avLst/>
          </a:prstGeom>
          <a:noFill/>
          <a:ln/>
        </p:spPr>
        <p:txBody>
          <a:bodyPr wrap="square" lIns="0" tIns="0" rIns="0" bIns="0" rtlCol="0" anchor="t">
            <a:normAutofit/>
          </a:bodyPr>
          <a:lstStyle/>
          <a:p>
            <a:pPr marL="0" indent="0" algn="l">
              <a:lnSpc>
                <a:spcPct val="100000"/>
              </a:lnSpc>
              <a:buNone/>
            </a:pPr>
            <a:r>
              <a:rPr lang="en-US" sz="7000" b="1" i="0" dirty="0">
                <a:solidFill>
                  <a:schemeClr val="accent1">
                    <a:lumMod val="50000"/>
                  </a:schemeClr>
                </a:solidFill>
                <a:latin typeface="Noto Sans KR" pitchFamily="34" charset="0"/>
                <a:ea typeface="Noto Sans KR" pitchFamily="34" charset="-122"/>
                <a:cs typeface="Noto Sans KR" pitchFamily="34" charset="-120"/>
              </a:rPr>
              <a:t>STUDIO 상상</a:t>
            </a:r>
            <a:endParaRPr lang="en-US" sz="7000" dirty="0">
              <a:solidFill>
                <a:schemeClr val="accent1">
                  <a:lumMod val="50000"/>
                </a:schemeClr>
              </a:solidFill>
            </a:endParaRPr>
          </a:p>
          <a:p>
            <a:pPr marL="0" indent="0" algn="l">
              <a:lnSpc>
                <a:spcPct val="100000"/>
              </a:lnSpc>
              <a:buNone/>
            </a:pPr>
            <a:r>
              <a:rPr lang="en-US" sz="7000" b="1" i="0" dirty="0">
                <a:solidFill>
                  <a:schemeClr val="accent1">
                    <a:lumMod val="50000"/>
                  </a:schemeClr>
                </a:solidFill>
                <a:latin typeface="Noto Sans KR" pitchFamily="34" charset="0"/>
                <a:ea typeface="Noto Sans KR" pitchFamily="34" charset="-122"/>
                <a:cs typeface="Noto Sans KR" pitchFamily="34" charset="-120"/>
              </a:rPr>
              <a:t>통합 홈페이지 제작</a:t>
            </a:r>
            <a:endParaRPr lang="en-US" sz="7000" dirty="0">
              <a:solidFill>
                <a:schemeClr val="accent1">
                  <a:lumMod val="50000"/>
                </a:schemeClr>
              </a:solidFill>
            </a:endParaRPr>
          </a:p>
        </p:txBody>
      </p:sp>
      <p:sp>
        <p:nvSpPr>
          <p:cNvPr id="6" name="Shape 4"/>
          <p:cNvSpPr/>
          <p:nvPr/>
        </p:nvSpPr>
        <p:spPr>
          <a:xfrm>
            <a:off x="812800" y="5589984"/>
            <a:ext cx="10566400" cy="0"/>
          </a:xfrm>
          <a:prstGeom prst="line">
            <a:avLst/>
          </a:prstGeom>
          <a:noFill/>
          <a:ln w="6350">
            <a:solidFill>
              <a:srgbClr val="3A4558"/>
            </a:solidFill>
            <a:prstDash val="solid"/>
          </a:ln>
        </p:spPr>
      </p:sp>
      <p:sp>
        <p:nvSpPr>
          <p:cNvPr id="7" name="Text 5"/>
          <p:cNvSpPr/>
          <p:nvPr/>
        </p:nvSpPr>
        <p:spPr>
          <a:xfrm>
            <a:off x="812800" y="5992399"/>
            <a:ext cx="1952912" cy="274241"/>
          </a:xfrm>
          <a:prstGeom prst="rect">
            <a:avLst/>
          </a:prstGeom>
          <a:noFill/>
          <a:ln/>
        </p:spPr>
        <p:txBody>
          <a:bodyPr wrap="square" lIns="0" tIns="0" rIns="0" bIns="0" rtlCol="0" anchor="t">
            <a:normAutofit/>
          </a:bodyPr>
          <a:lstStyle/>
          <a:p>
            <a:pPr marL="0" indent="0" algn="l">
              <a:lnSpc>
                <a:spcPts val="1960"/>
              </a:lnSpc>
              <a:buNone/>
            </a:pPr>
            <a:r>
              <a:rPr lang="en-US" sz="2000" b="1" err="1">
                <a:solidFill>
                  <a:schemeClr val="accent1">
                    <a:lumMod val="50000"/>
                  </a:schemeClr>
                </a:solidFill>
                <a:latin typeface="Noto Sans KR" pitchFamily="34" charset="0"/>
                <a:ea typeface="Noto Sans KR" pitchFamily="34" charset="-122"/>
                <a:cs typeface="Noto Sans KR" pitchFamily="34" charset="-120"/>
              </a:rPr>
              <a:t>팀명</a:t>
            </a:r>
            <a:r>
              <a:rPr lang="en-US" sz="2000" b="1">
                <a:solidFill>
                  <a:schemeClr val="accent1">
                    <a:lumMod val="50000"/>
                  </a:schemeClr>
                </a:solidFill>
                <a:latin typeface="Noto Sans KR" pitchFamily="34" charset="0"/>
                <a:ea typeface="Noto Sans KR" pitchFamily="34" charset="-122"/>
                <a:cs typeface="Noto Sans KR" pitchFamily="34" charset="-120"/>
              </a:rPr>
              <a:t>　</a:t>
            </a:r>
            <a:r>
              <a:rPr lang="ko-KR" altLang="en-US" sz="2000" b="1">
                <a:solidFill>
                  <a:schemeClr val="accent1">
                    <a:lumMod val="50000"/>
                  </a:schemeClr>
                </a:solidFill>
                <a:latin typeface="Noto Sans KR" pitchFamily="34" charset="0"/>
                <a:ea typeface="Noto Sans KR" pitchFamily="34" charset="-122"/>
                <a:cs typeface="Noto Sans KR" pitchFamily="34" charset="-120"/>
              </a:rPr>
              <a:t>인생</a:t>
            </a:r>
            <a:r>
              <a:rPr lang="en-US" altLang="ko-KR" sz="2000" b="1">
                <a:solidFill>
                  <a:schemeClr val="accent1">
                    <a:lumMod val="50000"/>
                  </a:schemeClr>
                </a:solidFill>
                <a:latin typeface="Noto Sans KR" pitchFamily="34" charset="0"/>
                <a:ea typeface="Noto Sans KR" pitchFamily="34" charset="-122"/>
                <a:cs typeface="Noto Sans KR" pitchFamily="34" charset="-120"/>
              </a:rPr>
              <a:t>2</a:t>
            </a:r>
            <a:r>
              <a:rPr lang="ko-KR" altLang="en-US" sz="2000" b="1">
                <a:solidFill>
                  <a:schemeClr val="accent1">
                    <a:lumMod val="50000"/>
                  </a:schemeClr>
                </a:solidFill>
                <a:latin typeface="Noto Sans KR" pitchFamily="34" charset="0"/>
                <a:ea typeface="Noto Sans KR" pitchFamily="34" charset="-122"/>
                <a:cs typeface="Noto Sans KR" pitchFamily="34" charset="-120"/>
              </a:rPr>
              <a:t>막</a:t>
            </a:r>
            <a:endParaRPr lang="en-US" sz="2000" dirty="0"/>
          </a:p>
        </p:txBody>
      </p:sp>
      <p:sp>
        <p:nvSpPr>
          <p:cNvPr id="8" name="Text 6"/>
          <p:cNvSpPr/>
          <p:nvPr/>
        </p:nvSpPr>
        <p:spPr>
          <a:xfrm>
            <a:off x="2909652" y="6000354"/>
            <a:ext cx="6008491" cy="274241"/>
          </a:xfrm>
          <a:prstGeom prst="rect">
            <a:avLst/>
          </a:prstGeom>
          <a:noFill/>
          <a:ln/>
        </p:spPr>
        <p:txBody>
          <a:bodyPr wrap="square" lIns="0" tIns="0" rIns="0" bIns="0" rtlCol="0" anchor="t">
            <a:noAutofit/>
          </a:bodyPr>
          <a:lstStyle/>
          <a:p>
            <a:pPr marL="0" indent="0" algn="l">
              <a:lnSpc>
                <a:spcPts val="1960"/>
              </a:lnSpc>
              <a:buNone/>
            </a:pPr>
            <a:r>
              <a:rPr lang="en-US" sz="2000" b="1" err="1">
                <a:solidFill>
                  <a:schemeClr val="accent1">
                    <a:lumMod val="50000"/>
                  </a:schemeClr>
                </a:solidFill>
                <a:latin typeface="Noto Sans KR" pitchFamily="34" charset="0"/>
                <a:ea typeface="Noto Sans KR" pitchFamily="34" charset="-122"/>
                <a:cs typeface="Noto Sans KR" pitchFamily="34" charset="-120"/>
              </a:rPr>
              <a:t>팀원</a:t>
            </a:r>
            <a:r>
              <a:rPr lang="en-US" sz="2000" b="1">
                <a:solidFill>
                  <a:schemeClr val="accent1">
                    <a:lumMod val="50000"/>
                  </a:schemeClr>
                </a:solidFill>
                <a:latin typeface="Noto Sans KR" pitchFamily="34" charset="0"/>
                <a:ea typeface="Noto Sans KR" pitchFamily="34" charset="-122"/>
                <a:cs typeface="Noto Sans KR" pitchFamily="34" charset="-120"/>
              </a:rPr>
              <a:t>　</a:t>
            </a:r>
            <a:r>
              <a:rPr lang="ko-KR" altLang="en-US" sz="2000" b="1">
                <a:solidFill>
                  <a:schemeClr val="accent1">
                    <a:lumMod val="50000"/>
                  </a:schemeClr>
                </a:solidFill>
                <a:latin typeface="Noto Sans KR" pitchFamily="34" charset="0"/>
                <a:ea typeface="Noto Sans KR" pitchFamily="34" charset="-122"/>
                <a:cs typeface="Noto Sans KR" pitchFamily="34" charset="-120"/>
              </a:rPr>
              <a:t>염혜리</a:t>
            </a:r>
            <a:r>
              <a:rPr lang="en-US" altLang="ko-KR" sz="2000" b="1">
                <a:solidFill>
                  <a:schemeClr val="accent1">
                    <a:lumMod val="50000"/>
                  </a:schemeClr>
                </a:solidFill>
                <a:latin typeface="Noto Sans KR" pitchFamily="34" charset="0"/>
                <a:ea typeface="Noto Sans KR" pitchFamily="34" charset="-122"/>
                <a:cs typeface="Noto Sans KR" pitchFamily="34" charset="-120"/>
              </a:rPr>
              <a:t>(</a:t>
            </a:r>
            <a:r>
              <a:rPr lang="ko-KR" altLang="en-US" sz="2000" b="1">
                <a:solidFill>
                  <a:schemeClr val="accent1">
                    <a:lumMod val="50000"/>
                  </a:schemeClr>
                </a:solidFill>
                <a:latin typeface="Noto Sans KR" pitchFamily="34" charset="0"/>
                <a:ea typeface="Noto Sans KR" pitchFamily="34" charset="-122"/>
                <a:cs typeface="Noto Sans KR" pitchFamily="34" charset="-120"/>
              </a:rPr>
              <a:t>팀장</a:t>
            </a:r>
            <a:r>
              <a:rPr lang="en-US" altLang="ko-KR" sz="2000" b="1">
                <a:solidFill>
                  <a:schemeClr val="accent1">
                    <a:lumMod val="50000"/>
                  </a:schemeClr>
                </a:solidFill>
                <a:latin typeface="Noto Sans KR" pitchFamily="34" charset="0"/>
                <a:ea typeface="Noto Sans KR" pitchFamily="34" charset="-122"/>
                <a:cs typeface="Noto Sans KR" pitchFamily="34" charset="-120"/>
              </a:rPr>
              <a:t>)</a:t>
            </a:r>
            <a:r>
              <a:rPr lang="en-US" sz="2000" b="1">
                <a:solidFill>
                  <a:schemeClr val="accent1">
                    <a:lumMod val="50000"/>
                  </a:schemeClr>
                </a:solidFill>
                <a:latin typeface="Noto Sans KR" pitchFamily="34" charset="0"/>
                <a:ea typeface="Noto Sans KR" pitchFamily="34" charset="-122"/>
                <a:cs typeface="Noto Sans KR" pitchFamily="34" charset="-120"/>
              </a:rPr>
              <a:t> · </a:t>
            </a:r>
            <a:r>
              <a:rPr lang="ko-KR" altLang="en-US" sz="2000" b="1">
                <a:solidFill>
                  <a:schemeClr val="accent1">
                    <a:lumMod val="50000"/>
                  </a:schemeClr>
                </a:solidFill>
                <a:latin typeface="Noto Sans KR" pitchFamily="34" charset="0"/>
                <a:ea typeface="Noto Sans KR" pitchFamily="34" charset="-122"/>
                <a:cs typeface="Noto Sans KR" pitchFamily="34" charset="-120"/>
              </a:rPr>
              <a:t>이애리</a:t>
            </a:r>
            <a:r>
              <a:rPr lang="en-US" sz="2000" b="1">
                <a:solidFill>
                  <a:schemeClr val="accent1">
                    <a:lumMod val="50000"/>
                  </a:schemeClr>
                </a:solidFill>
                <a:latin typeface="Noto Sans KR" pitchFamily="34" charset="0"/>
                <a:ea typeface="Noto Sans KR" pitchFamily="34" charset="-122"/>
                <a:cs typeface="Noto Sans KR" pitchFamily="34" charset="-120"/>
              </a:rPr>
              <a:t> · </a:t>
            </a:r>
            <a:r>
              <a:rPr lang="ko-KR" altLang="en-US" sz="2000" b="1">
                <a:solidFill>
                  <a:schemeClr val="accent1">
                    <a:lumMod val="50000"/>
                  </a:schemeClr>
                </a:solidFill>
                <a:latin typeface="Noto Sans KR" pitchFamily="34" charset="0"/>
                <a:ea typeface="Noto Sans KR" pitchFamily="34" charset="-122"/>
                <a:cs typeface="Noto Sans KR" pitchFamily="34" charset="-120"/>
              </a:rPr>
              <a:t>김소연</a:t>
            </a:r>
            <a:r>
              <a:rPr lang="en-US" sz="2000" b="1">
                <a:solidFill>
                  <a:schemeClr val="accent1">
                    <a:lumMod val="50000"/>
                  </a:schemeClr>
                </a:solidFill>
                <a:latin typeface="Noto Sans KR" pitchFamily="34" charset="0"/>
                <a:ea typeface="Noto Sans KR" pitchFamily="34" charset="-122"/>
                <a:cs typeface="Noto Sans KR" pitchFamily="34" charset="-120"/>
              </a:rPr>
              <a:t> · </a:t>
            </a:r>
            <a:r>
              <a:rPr lang="ko-KR" altLang="en-US" sz="2000" b="1">
                <a:solidFill>
                  <a:schemeClr val="accent1">
                    <a:lumMod val="50000"/>
                  </a:schemeClr>
                </a:solidFill>
                <a:latin typeface="Noto Sans KR" pitchFamily="34" charset="0"/>
                <a:ea typeface="Noto Sans KR" pitchFamily="34" charset="-122"/>
                <a:cs typeface="Noto Sans KR" pitchFamily="34" charset="-120"/>
              </a:rPr>
              <a:t>유호원</a:t>
            </a:r>
            <a:endParaRPr lang="en-US" sz="2000" b="1" dirty="0"/>
          </a:p>
        </p:txBody>
      </p:sp>
      <p:sp>
        <p:nvSpPr>
          <p:cNvPr id="9" name="Text 7"/>
          <p:cNvSpPr/>
          <p:nvPr/>
        </p:nvSpPr>
        <p:spPr>
          <a:xfrm>
            <a:off x="9213086" y="6000354"/>
            <a:ext cx="4033131" cy="274241"/>
          </a:xfrm>
          <a:prstGeom prst="rect">
            <a:avLst/>
          </a:prstGeom>
          <a:noFill/>
          <a:ln/>
        </p:spPr>
        <p:txBody>
          <a:bodyPr wrap="square" lIns="0" tIns="0" rIns="0" bIns="0" rtlCol="0" anchor="t">
            <a:noAutofit/>
          </a:bodyPr>
          <a:lstStyle/>
          <a:p>
            <a:pPr marL="0" indent="0" algn="l">
              <a:lnSpc>
                <a:spcPts val="1960"/>
              </a:lnSpc>
              <a:buNone/>
            </a:pPr>
            <a:r>
              <a:rPr lang="en-US" b="1">
                <a:solidFill>
                  <a:schemeClr val="accent1">
                    <a:lumMod val="50000"/>
                  </a:schemeClr>
                </a:solidFill>
                <a:latin typeface="Noto Sans KR" pitchFamily="34" charset="0"/>
                <a:ea typeface="Noto Sans KR" pitchFamily="34" charset="-122"/>
                <a:cs typeface="Noto Sans KR" pitchFamily="34" charset="-120"/>
              </a:rPr>
              <a:t>발표일　2026.10.23</a:t>
            </a:r>
            <a:endParaRPr lang="en-US" b="1" dirty="0">
              <a:solidFill>
                <a:schemeClr val="accent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41A"/>
                </a:solidFill>
                <a:latin typeface="JetBrains Mono" pitchFamily="49" charset="0"/>
                <a:ea typeface="JetBrains Mono" pitchFamily="49" charset="-122"/>
                <a:cs typeface="JetBrains Mono" pitchFamily="49" charset="-120"/>
              </a:rPr>
              <a:t>CONTENTS</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목차</a:t>
            </a:r>
            <a:endParaRPr lang="en-US" sz="3200" dirty="0"/>
          </a:p>
        </p:txBody>
      </p:sp>
      <p:sp>
        <p:nvSpPr>
          <p:cNvPr id="30" name="Shape 2">
            <a:extLst>
              <a:ext uri="{FF2B5EF4-FFF2-40B4-BE49-F238E27FC236}">
                <a16:creationId xmlns:a16="http://schemas.microsoft.com/office/drawing/2014/main" id="{E3B35881-627B-4B2A-9380-ADF620E45D83}"/>
              </a:ext>
            </a:extLst>
          </p:cNvPr>
          <p:cNvSpPr/>
          <p:nvPr/>
        </p:nvSpPr>
        <p:spPr>
          <a:xfrm>
            <a:off x="812800" y="1905000"/>
            <a:ext cx="10566400" cy="0"/>
          </a:xfrm>
          <a:prstGeom prst="line">
            <a:avLst/>
          </a:prstGeom>
          <a:noFill/>
          <a:ln w="12700">
            <a:solidFill>
              <a:srgbClr val="1B2433"/>
            </a:solidFill>
            <a:prstDash val="solid"/>
          </a:ln>
        </p:spPr>
      </p:sp>
      <p:sp>
        <p:nvSpPr>
          <p:cNvPr id="31" name="Text 3">
            <a:extLst>
              <a:ext uri="{FF2B5EF4-FFF2-40B4-BE49-F238E27FC236}">
                <a16:creationId xmlns:a16="http://schemas.microsoft.com/office/drawing/2014/main" id="{FFD36575-8D56-4ECE-808C-DB81A1B1772F}"/>
              </a:ext>
            </a:extLst>
          </p:cNvPr>
          <p:cNvSpPr/>
          <p:nvPr/>
        </p:nvSpPr>
        <p:spPr>
          <a:xfrm>
            <a:off x="812800" y="19558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01</a:t>
            </a:r>
            <a:endParaRPr lang="en-US" sz="2400" dirty="0"/>
          </a:p>
        </p:txBody>
      </p:sp>
      <p:sp>
        <p:nvSpPr>
          <p:cNvPr id="32" name="Text 4">
            <a:extLst>
              <a:ext uri="{FF2B5EF4-FFF2-40B4-BE49-F238E27FC236}">
                <a16:creationId xmlns:a16="http://schemas.microsoft.com/office/drawing/2014/main" id="{16757BC0-7E5C-4A7E-BBE6-9FC8F1AFB986}"/>
              </a:ext>
            </a:extLst>
          </p:cNvPr>
          <p:cNvSpPr/>
          <p:nvPr/>
        </p:nvSpPr>
        <p:spPr>
          <a:xfrm>
            <a:off x="1778000" y="2019300"/>
            <a:ext cx="2747010" cy="330200"/>
          </a:xfrm>
          <a:prstGeom prst="rect">
            <a:avLst/>
          </a:prstGeom>
          <a:noFill/>
          <a:ln/>
        </p:spPr>
        <p:txBody>
          <a:bodyPr wrap="square" lIns="0" tIns="0" rIns="0" bIns="0" rtlCol="0" anchor="t">
            <a:normAutofit/>
          </a:bodyPr>
          <a:lstStyle/>
          <a:p>
            <a:pPr marL="0" indent="0" algn="l">
              <a:lnSpc>
                <a:spcPts val="2400"/>
              </a:lnSpc>
              <a:buNone/>
            </a:pPr>
            <a:r>
              <a:rPr lang="ko-KR" altLang="en-US" sz="2000" b="1">
                <a:solidFill>
                  <a:srgbClr val="1B2433"/>
                </a:solidFill>
                <a:latin typeface="Noto Sans KR" pitchFamily="34" charset="0"/>
                <a:ea typeface="Noto Sans KR" pitchFamily="34" charset="-122"/>
                <a:cs typeface="Noto Sans KR" pitchFamily="34" charset="-120"/>
              </a:rPr>
              <a:t>프로젝트 소개</a:t>
            </a:r>
            <a:endParaRPr lang="en-US" sz="2000" dirty="0"/>
          </a:p>
        </p:txBody>
      </p:sp>
      <p:sp>
        <p:nvSpPr>
          <p:cNvPr id="33" name="Text 5">
            <a:extLst>
              <a:ext uri="{FF2B5EF4-FFF2-40B4-BE49-F238E27FC236}">
                <a16:creationId xmlns:a16="http://schemas.microsoft.com/office/drawing/2014/main" id="{FC5E570F-9FA3-4939-B01C-9B8F9416D0D4}"/>
              </a:ext>
            </a:extLst>
          </p:cNvPr>
          <p:cNvSpPr/>
          <p:nvPr/>
        </p:nvSpPr>
        <p:spPr>
          <a:xfrm>
            <a:off x="4648200" y="2044700"/>
            <a:ext cx="5807964" cy="274241"/>
          </a:xfrm>
          <a:prstGeom prst="rect">
            <a:avLst/>
          </a:prstGeom>
          <a:noFill/>
          <a:ln/>
        </p:spPr>
        <p:txBody>
          <a:bodyPr wrap="square" lIns="0" tIns="0" rIns="0" bIns="0" rtlCol="0" anchor="t">
            <a:normAutofit/>
          </a:bodyPr>
          <a:lstStyle/>
          <a:p>
            <a:pPr marL="0" indent="0" algn="l">
              <a:lnSpc>
                <a:spcPts val="1960"/>
              </a:lnSpc>
              <a:buNone/>
            </a:pPr>
            <a:r>
              <a:rPr lang="ko-KR" altLang="en-US" sz="1400">
                <a:solidFill>
                  <a:srgbClr val="4A5263"/>
                </a:solidFill>
                <a:latin typeface="Noto Sans KR" pitchFamily="34" charset="0"/>
                <a:ea typeface="Noto Sans KR" pitchFamily="34" charset="-122"/>
                <a:cs typeface="Noto Sans KR" pitchFamily="34" charset="-120"/>
              </a:rPr>
              <a:t>팀원과 역할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프로젝트 개요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사이트 구조</a:t>
            </a:r>
            <a:endParaRPr lang="en-US" sz="1400" dirty="0"/>
          </a:p>
        </p:txBody>
      </p:sp>
      <p:sp>
        <p:nvSpPr>
          <p:cNvPr id="34" name="Text 6">
            <a:extLst>
              <a:ext uri="{FF2B5EF4-FFF2-40B4-BE49-F238E27FC236}">
                <a16:creationId xmlns:a16="http://schemas.microsoft.com/office/drawing/2014/main" id="{436BD160-9993-4680-8285-273D74E77F22}"/>
              </a:ext>
            </a:extLst>
          </p:cNvPr>
          <p:cNvSpPr/>
          <p:nvPr/>
        </p:nvSpPr>
        <p:spPr>
          <a:xfrm>
            <a:off x="10439400" y="20574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02–04</a:t>
            </a:r>
            <a:endParaRPr lang="en-US" sz="1200" dirty="0"/>
          </a:p>
        </p:txBody>
      </p:sp>
      <p:sp>
        <p:nvSpPr>
          <p:cNvPr id="35" name="Shape 2">
            <a:extLst>
              <a:ext uri="{FF2B5EF4-FFF2-40B4-BE49-F238E27FC236}">
                <a16:creationId xmlns:a16="http://schemas.microsoft.com/office/drawing/2014/main" id="{D866096A-DADA-41BC-9C81-23A15BE55EED}"/>
              </a:ext>
            </a:extLst>
          </p:cNvPr>
          <p:cNvSpPr/>
          <p:nvPr/>
        </p:nvSpPr>
        <p:spPr>
          <a:xfrm>
            <a:off x="812800" y="2463800"/>
            <a:ext cx="10566400" cy="0"/>
          </a:xfrm>
          <a:prstGeom prst="line">
            <a:avLst/>
          </a:prstGeom>
          <a:noFill/>
          <a:ln w="12700">
            <a:solidFill>
              <a:srgbClr val="1B2433"/>
            </a:solidFill>
            <a:prstDash val="solid"/>
          </a:ln>
        </p:spPr>
      </p:sp>
      <p:sp>
        <p:nvSpPr>
          <p:cNvPr id="36" name="Text 3">
            <a:extLst>
              <a:ext uri="{FF2B5EF4-FFF2-40B4-BE49-F238E27FC236}">
                <a16:creationId xmlns:a16="http://schemas.microsoft.com/office/drawing/2014/main" id="{C0292B0D-49A7-4B36-A04A-34B8CED996B3}"/>
              </a:ext>
            </a:extLst>
          </p:cNvPr>
          <p:cNvSpPr/>
          <p:nvPr/>
        </p:nvSpPr>
        <p:spPr>
          <a:xfrm>
            <a:off x="812800" y="25146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02</a:t>
            </a:r>
            <a:endParaRPr lang="en-US" sz="2400" dirty="0"/>
          </a:p>
        </p:txBody>
      </p:sp>
      <p:sp>
        <p:nvSpPr>
          <p:cNvPr id="37" name="Text 4">
            <a:extLst>
              <a:ext uri="{FF2B5EF4-FFF2-40B4-BE49-F238E27FC236}">
                <a16:creationId xmlns:a16="http://schemas.microsoft.com/office/drawing/2014/main" id="{2FA1BA64-34B1-4A1A-904F-8A46C8D93A17}"/>
              </a:ext>
            </a:extLst>
          </p:cNvPr>
          <p:cNvSpPr/>
          <p:nvPr/>
        </p:nvSpPr>
        <p:spPr>
          <a:xfrm>
            <a:off x="1778000" y="2578100"/>
            <a:ext cx="2747010" cy="330200"/>
          </a:xfrm>
          <a:prstGeom prst="rect">
            <a:avLst/>
          </a:prstGeom>
          <a:noFill/>
          <a:ln/>
        </p:spPr>
        <p:txBody>
          <a:bodyPr wrap="square" lIns="0" tIns="0" rIns="0" bIns="0" rtlCol="0" anchor="t">
            <a:normAutofit/>
          </a:bodyPr>
          <a:lstStyle/>
          <a:p>
            <a:pPr marL="0" indent="0" algn="l">
              <a:lnSpc>
                <a:spcPts val="2400"/>
              </a:lnSpc>
              <a:buNone/>
            </a:pPr>
            <a:r>
              <a:rPr lang="en-US" sz="2000" b="1">
                <a:solidFill>
                  <a:srgbClr val="1B2433"/>
                </a:solidFill>
                <a:latin typeface="Noto Sans KR" pitchFamily="34" charset="0"/>
                <a:ea typeface="Noto Sans KR" pitchFamily="34" charset="-122"/>
                <a:cs typeface="Noto Sans KR" pitchFamily="34" charset="-120"/>
              </a:rPr>
              <a:t>AI </a:t>
            </a:r>
            <a:r>
              <a:rPr lang="ko-KR" altLang="en-US" sz="2000" b="1">
                <a:solidFill>
                  <a:srgbClr val="1B2433"/>
                </a:solidFill>
                <a:latin typeface="Noto Sans KR" pitchFamily="34" charset="0"/>
                <a:ea typeface="Noto Sans KR" pitchFamily="34" charset="-122"/>
                <a:cs typeface="Noto Sans KR" pitchFamily="34" charset="-120"/>
              </a:rPr>
              <a:t>도구 활용</a:t>
            </a:r>
            <a:endParaRPr lang="en-US" sz="2000" dirty="0"/>
          </a:p>
        </p:txBody>
      </p:sp>
      <p:sp>
        <p:nvSpPr>
          <p:cNvPr id="38" name="Text 5">
            <a:extLst>
              <a:ext uri="{FF2B5EF4-FFF2-40B4-BE49-F238E27FC236}">
                <a16:creationId xmlns:a16="http://schemas.microsoft.com/office/drawing/2014/main" id="{956E6B9F-258B-4823-A405-167A0CC44277}"/>
              </a:ext>
            </a:extLst>
          </p:cNvPr>
          <p:cNvSpPr/>
          <p:nvPr/>
        </p:nvSpPr>
        <p:spPr>
          <a:xfrm>
            <a:off x="4648200" y="2603500"/>
            <a:ext cx="5807964" cy="274241"/>
          </a:xfrm>
          <a:prstGeom prst="rect">
            <a:avLst/>
          </a:prstGeom>
          <a:noFill/>
          <a:ln/>
        </p:spPr>
        <p:txBody>
          <a:bodyPr wrap="square" lIns="0" tIns="0" rIns="0" bIns="0" rtlCol="0" anchor="t">
            <a:normAutofit/>
          </a:bodyPr>
          <a:lstStyle/>
          <a:p>
            <a:pPr marL="0" indent="0" algn="l">
              <a:lnSpc>
                <a:spcPts val="1960"/>
              </a:lnSpc>
              <a:buNone/>
            </a:pPr>
            <a:r>
              <a:rPr lang="en-US" altLang="ko-KR" sz="1400">
                <a:solidFill>
                  <a:srgbClr val="4A5263"/>
                </a:solidFill>
                <a:latin typeface="Noto Sans KR" pitchFamily="34" charset="0"/>
                <a:ea typeface="Noto Sans KR" pitchFamily="34" charset="-122"/>
                <a:cs typeface="Noto Sans KR" pitchFamily="34" charset="-120"/>
              </a:rPr>
              <a:t>Codex</a:t>
            </a:r>
            <a:r>
              <a:rPr lang="ko-KR" altLang="en-US" sz="1400">
                <a:solidFill>
                  <a:srgbClr val="4A5263"/>
                </a:solidFill>
                <a:latin typeface="Noto Sans KR" pitchFamily="34" charset="0"/>
                <a:ea typeface="Noto Sans KR" pitchFamily="34" charset="-122"/>
                <a:cs typeface="Noto Sans KR" pitchFamily="34" charset="-120"/>
              </a:rPr>
              <a:t>와 </a:t>
            </a:r>
            <a:r>
              <a:rPr lang="en-US" altLang="ko-KR" sz="1400">
                <a:solidFill>
                  <a:srgbClr val="4A5263"/>
                </a:solidFill>
                <a:latin typeface="Noto Sans KR" pitchFamily="34" charset="0"/>
                <a:ea typeface="Noto Sans KR" pitchFamily="34" charset="-122"/>
                <a:cs typeface="Noto Sans KR" pitchFamily="34" charset="-120"/>
              </a:rPr>
              <a:t>Claude Code </a:t>
            </a:r>
            <a:r>
              <a:rPr lang="ko-KR" altLang="en-US" sz="1400">
                <a:solidFill>
                  <a:srgbClr val="4A5263"/>
                </a:solidFill>
                <a:latin typeface="Noto Sans KR" pitchFamily="34" charset="0"/>
                <a:ea typeface="Noto Sans KR" pitchFamily="34" charset="-122"/>
                <a:cs typeface="Noto Sans KR" pitchFamily="34" charset="-120"/>
              </a:rPr>
              <a:t>비교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맥락을 넘겨주는 프롬프트</a:t>
            </a:r>
            <a:endParaRPr lang="en-US" sz="1400" dirty="0"/>
          </a:p>
        </p:txBody>
      </p:sp>
      <p:sp>
        <p:nvSpPr>
          <p:cNvPr id="39" name="Text 6">
            <a:extLst>
              <a:ext uri="{FF2B5EF4-FFF2-40B4-BE49-F238E27FC236}">
                <a16:creationId xmlns:a16="http://schemas.microsoft.com/office/drawing/2014/main" id="{86D82820-D8B5-47CC-AE4A-2C3AB5ED6E35}"/>
              </a:ext>
            </a:extLst>
          </p:cNvPr>
          <p:cNvSpPr/>
          <p:nvPr/>
        </p:nvSpPr>
        <p:spPr>
          <a:xfrm>
            <a:off x="10439400" y="26162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05–06</a:t>
            </a:r>
            <a:endParaRPr lang="en-US" sz="1200" dirty="0"/>
          </a:p>
        </p:txBody>
      </p:sp>
      <p:sp>
        <p:nvSpPr>
          <p:cNvPr id="40" name="Shape 2">
            <a:extLst>
              <a:ext uri="{FF2B5EF4-FFF2-40B4-BE49-F238E27FC236}">
                <a16:creationId xmlns:a16="http://schemas.microsoft.com/office/drawing/2014/main" id="{E5570B95-6A48-43AE-B2C6-BDD1C993C44D}"/>
              </a:ext>
            </a:extLst>
          </p:cNvPr>
          <p:cNvSpPr/>
          <p:nvPr/>
        </p:nvSpPr>
        <p:spPr>
          <a:xfrm>
            <a:off x="812800" y="3022600"/>
            <a:ext cx="10566400" cy="0"/>
          </a:xfrm>
          <a:prstGeom prst="line">
            <a:avLst/>
          </a:prstGeom>
          <a:noFill/>
          <a:ln w="12700">
            <a:solidFill>
              <a:srgbClr val="1B2433"/>
            </a:solidFill>
            <a:prstDash val="solid"/>
          </a:ln>
        </p:spPr>
      </p:sp>
      <p:sp>
        <p:nvSpPr>
          <p:cNvPr id="41" name="Text 3">
            <a:extLst>
              <a:ext uri="{FF2B5EF4-FFF2-40B4-BE49-F238E27FC236}">
                <a16:creationId xmlns:a16="http://schemas.microsoft.com/office/drawing/2014/main" id="{C38B243C-CE8F-424A-BB9C-4D78A806F288}"/>
              </a:ext>
            </a:extLst>
          </p:cNvPr>
          <p:cNvSpPr/>
          <p:nvPr/>
        </p:nvSpPr>
        <p:spPr>
          <a:xfrm>
            <a:off x="812800" y="30734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03</a:t>
            </a:r>
            <a:endParaRPr lang="en-US" sz="2400" dirty="0"/>
          </a:p>
        </p:txBody>
      </p:sp>
      <p:sp>
        <p:nvSpPr>
          <p:cNvPr id="42" name="Text 4">
            <a:extLst>
              <a:ext uri="{FF2B5EF4-FFF2-40B4-BE49-F238E27FC236}">
                <a16:creationId xmlns:a16="http://schemas.microsoft.com/office/drawing/2014/main" id="{C9DCFA52-0D61-4684-BACA-FBF796E68835}"/>
              </a:ext>
            </a:extLst>
          </p:cNvPr>
          <p:cNvSpPr/>
          <p:nvPr/>
        </p:nvSpPr>
        <p:spPr>
          <a:xfrm>
            <a:off x="1778000" y="3136900"/>
            <a:ext cx="2747010" cy="330200"/>
          </a:xfrm>
          <a:prstGeom prst="rect">
            <a:avLst/>
          </a:prstGeom>
          <a:noFill/>
          <a:ln/>
        </p:spPr>
        <p:txBody>
          <a:bodyPr wrap="square" lIns="0" tIns="0" rIns="0" bIns="0" rtlCol="0" anchor="t">
            <a:normAutofit/>
          </a:bodyPr>
          <a:lstStyle/>
          <a:p>
            <a:pPr marL="0" indent="0" algn="l">
              <a:lnSpc>
                <a:spcPts val="2400"/>
              </a:lnSpc>
              <a:buNone/>
            </a:pPr>
            <a:r>
              <a:rPr lang="ko-KR" altLang="en-US" sz="2000" b="1">
                <a:solidFill>
                  <a:srgbClr val="1B2433"/>
                </a:solidFill>
                <a:latin typeface="Noto Sans KR" pitchFamily="34" charset="0"/>
                <a:ea typeface="Noto Sans KR" pitchFamily="34" charset="-122"/>
                <a:cs typeface="Noto Sans KR" pitchFamily="34" charset="-120"/>
              </a:rPr>
              <a:t>그림으로 보여 주기</a:t>
            </a:r>
            <a:endParaRPr lang="en-US" sz="2000" dirty="0"/>
          </a:p>
        </p:txBody>
      </p:sp>
      <p:sp>
        <p:nvSpPr>
          <p:cNvPr id="43" name="Text 5">
            <a:extLst>
              <a:ext uri="{FF2B5EF4-FFF2-40B4-BE49-F238E27FC236}">
                <a16:creationId xmlns:a16="http://schemas.microsoft.com/office/drawing/2014/main" id="{1848BEC1-2564-4EB2-A11B-39CE585D2EAC}"/>
              </a:ext>
            </a:extLst>
          </p:cNvPr>
          <p:cNvSpPr/>
          <p:nvPr/>
        </p:nvSpPr>
        <p:spPr>
          <a:xfrm>
            <a:off x="4648200" y="3162300"/>
            <a:ext cx="5807964" cy="274241"/>
          </a:xfrm>
          <a:prstGeom prst="rect">
            <a:avLst/>
          </a:prstGeom>
          <a:noFill/>
          <a:ln/>
        </p:spPr>
        <p:txBody>
          <a:bodyPr wrap="square" lIns="0" tIns="0" rIns="0" bIns="0" rtlCol="0" anchor="t">
            <a:normAutofit/>
          </a:bodyPr>
          <a:lstStyle/>
          <a:p>
            <a:pPr marL="0" indent="0" algn="l">
              <a:lnSpc>
                <a:spcPts val="1960"/>
              </a:lnSpc>
              <a:buNone/>
            </a:pPr>
            <a:r>
              <a:rPr lang="ko-KR" altLang="en-US" sz="1400">
                <a:solidFill>
                  <a:srgbClr val="4A5263"/>
                </a:solidFill>
                <a:latin typeface="Noto Sans KR" pitchFamily="34" charset="0"/>
                <a:ea typeface="Noto Sans KR" pitchFamily="34" charset="-122"/>
                <a:cs typeface="Noto Sans KR" pitchFamily="34" charset="-120"/>
              </a:rPr>
              <a:t>일러스트 시안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알캡처 </a:t>
            </a:r>
            <a:r>
              <a:rPr lang="en-US" altLang="ko-KR" sz="1400">
                <a:solidFill>
                  <a:srgbClr val="4A5263"/>
                </a:solidFill>
                <a:latin typeface="Noto Sans KR" pitchFamily="34" charset="0"/>
                <a:ea typeface="Noto Sans KR" pitchFamily="34" charset="-122"/>
                <a:cs typeface="Noto Sans KR" pitchFamily="34" charset="-120"/>
              </a:rPr>
              <a:t>px · </a:t>
            </a:r>
            <a:r>
              <a:rPr lang="ko-KR" altLang="en-US" sz="1400">
                <a:solidFill>
                  <a:srgbClr val="4A5263"/>
                </a:solidFill>
                <a:latin typeface="Noto Sans KR" pitchFamily="34" charset="0"/>
                <a:ea typeface="Noto Sans KR" pitchFamily="34" charset="-122"/>
                <a:cs typeface="Noto Sans KR" pitchFamily="34" charset="-120"/>
              </a:rPr>
              <a:t>펜 태블릿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그림판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움직임</a:t>
            </a:r>
            <a:endParaRPr lang="en-US" sz="1400" dirty="0"/>
          </a:p>
        </p:txBody>
      </p:sp>
      <p:sp>
        <p:nvSpPr>
          <p:cNvPr id="44" name="Text 6">
            <a:extLst>
              <a:ext uri="{FF2B5EF4-FFF2-40B4-BE49-F238E27FC236}">
                <a16:creationId xmlns:a16="http://schemas.microsoft.com/office/drawing/2014/main" id="{2B9F7AEA-BB1D-4117-AC5F-0C263BB3E49D}"/>
              </a:ext>
            </a:extLst>
          </p:cNvPr>
          <p:cNvSpPr/>
          <p:nvPr/>
        </p:nvSpPr>
        <p:spPr>
          <a:xfrm>
            <a:off x="10439400" y="31750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07</a:t>
            </a:r>
            <a:endParaRPr lang="en-US" sz="1200" dirty="0"/>
          </a:p>
        </p:txBody>
      </p:sp>
      <p:sp>
        <p:nvSpPr>
          <p:cNvPr id="45" name="Shape 2">
            <a:extLst>
              <a:ext uri="{FF2B5EF4-FFF2-40B4-BE49-F238E27FC236}">
                <a16:creationId xmlns:a16="http://schemas.microsoft.com/office/drawing/2014/main" id="{0ABF2333-E8E1-4A3E-849D-DBE1E4DD552A}"/>
              </a:ext>
            </a:extLst>
          </p:cNvPr>
          <p:cNvSpPr/>
          <p:nvPr/>
        </p:nvSpPr>
        <p:spPr>
          <a:xfrm>
            <a:off x="812800" y="3581400"/>
            <a:ext cx="10566400" cy="0"/>
          </a:xfrm>
          <a:prstGeom prst="line">
            <a:avLst/>
          </a:prstGeom>
          <a:noFill/>
          <a:ln w="12700">
            <a:solidFill>
              <a:srgbClr val="1B2433"/>
            </a:solidFill>
            <a:prstDash val="solid"/>
          </a:ln>
        </p:spPr>
      </p:sp>
      <p:sp>
        <p:nvSpPr>
          <p:cNvPr id="46" name="Text 3">
            <a:extLst>
              <a:ext uri="{FF2B5EF4-FFF2-40B4-BE49-F238E27FC236}">
                <a16:creationId xmlns:a16="http://schemas.microsoft.com/office/drawing/2014/main" id="{D4C1515F-69CF-4854-B7DD-59050A674C16}"/>
              </a:ext>
            </a:extLst>
          </p:cNvPr>
          <p:cNvSpPr/>
          <p:nvPr/>
        </p:nvSpPr>
        <p:spPr>
          <a:xfrm>
            <a:off x="812800" y="36322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04</a:t>
            </a:r>
            <a:endParaRPr lang="en-US" sz="2400" dirty="0"/>
          </a:p>
        </p:txBody>
      </p:sp>
      <p:sp>
        <p:nvSpPr>
          <p:cNvPr id="47" name="Text 4">
            <a:extLst>
              <a:ext uri="{FF2B5EF4-FFF2-40B4-BE49-F238E27FC236}">
                <a16:creationId xmlns:a16="http://schemas.microsoft.com/office/drawing/2014/main" id="{DCEDF42A-5C9E-470E-AD3A-D92C923A0081}"/>
              </a:ext>
            </a:extLst>
          </p:cNvPr>
          <p:cNvSpPr/>
          <p:nvPr/>
        </p:nvSpPr>
        <p:spPr>
          <a:xfrm>
            <a:off x="1778000" y="3695700"/>
            <a:ext cx="2747010" cy="330200"/>
          </a:xfrm>
          <a:prstGeom prst="rect">
            <a:avLst/>
          </a:prstGeom>
          <a:noFill/>
          <a:ln/>
        </p:spPr>
        <p:txBody>
          <a:bodyPr wrap="square" lIns="0" tIns="0" rIns="0" bIns="0" rtlCol="0" anchor="t">
            <a:normAutofit/>
          </a:bodyPr>
          <a:lstStyle/>
          <a:p>
            <a:pPr marL="0" indent="0" algn="l">
              <a:lnSpc>
                <a:spcPts val="2400"/>
              </a:lnSpc>
              <a:buNone/>
            </a:pPr>
            <a:r>
              <a:rPr lang="ko-KR" altLang="en-US" sz="2000" b="1">
                <a:solidFill>
                  <a:srgbClr val="1B2433"/>
                </a:solidFill>
                <a:latin typeface="Noto Sans KR" pitchFamily="34" charset="0"/>
                <a:ea typeface="Noto Sans KR" pitchFamily="34" charset="-122"/>
                <a:cs typeface="Noto Sans KR" pitchFamily="34" charset="-120"/>
              </a:rPr>
              <a:t>벤치마킹</a:t>
            </a:r>
            <a:endParaRPr lang="en-US" sz="2000" dirty="0"/>
          </a:p>
        </p:txBody>
      </p:sp>
      <p:sp>
        <p:nvSpPr>
          <p:cNvPr id="48" name="Text 5">
            <a:extLst>
              <a:ext uri="{FF2B5EF4-FFF2-40B4-BE49-F238E27FC236}">
                <a16:creationId xmlns:a16="http://schemas.microsoft.com/office/drawing/2014/main" id="{1B8B9CEC-2D6A-40B4-99CD-2998D63289A3}"/>
              </a:ext>
            </a:extLst>
          </p:cNvPr>
          <p:cNvSpPr/>
          <p:nvPr/>
        </p:nvSpPr>
        <p:spPr>
          <a:xfrm>
            <a:off x="4648200" y="3721100"/>
            <a:ext cx="5807964" cy="274241"/>
          </a:xfrm>
          <a:prstGeom prst="rect">
            <a:avLst/>
          </a:prstGeom>
          <a:noFill/>
          <a:ln/>
        </p:spPr>
        <p:txBody>
          <a:bodyPr wrap="square" lIns="0" tIns="0" rIns="0" bIns="0" rtlCol="0" anchor="t">
            <a:normAutofit/>
          </a:bodyPr>
          <a:lstStyle/>
          <a:p>
            <a:pPr marL="0" indent="0" algn="l">
              <a:lnSpc>
                <a:spcPts val="1960"/>
              </a:lnSpc>
              <a:buNone/>
            </a:pPr>
            <a:r>
              <a:rPr lang="en-US" altLang="ko-KR" sz="1400">
                <a:solidFill>
                  <a:srgbClr val="4A5263"/>
                </a:solidFill>
                <a:latin typeface="Noto Sans KR" pitchFamily="34" charset="0"/>
                <a:ea typeface="Noto Sans KR" pitchFamily="34" charset="-122"/>
                <a:cs typeface="Noto Sans KR" pitchFamily="34" charset="-120"/>
              </a:rPr>
              <a:t>AI </a:t>
            </a:r>
            <a:r>
              <a:rPr lang="ko-KR" altLang="en-US" sz="1400">
                <a:solidFill>
                  <a:srgbClr val="4A5263"/>
                </a:solidFill>
                <a:latin typeface="Noto Sans KR" pitchFamily="34" charset="0"/>
                <a:ea typeface="Noto Sans KR" pitchFamily="34" charset="-122"/>
                <a:cs typeface="Noto Sans KR" pitchFamily="34" charset="-120"/>
              </a:rPr>
              <a:t>영상 제작사 조사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우리 화면에 적용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배운 것</a:t>
            </a:r>
            <a:endParaRPr lang="en-US" sz="1400" dirty="0"/>
          </a:p>
        </p:txBody>
      </p:sp>
      <p:sp>
        <p:nvSpPr>
          <p:cNvPr id="49" name="Text 6">
            <a:extLst>
              <a:ext uri="{FF2B5EF4-FFF2-40B4-BE49-F238E27FC236}">
                <a16:creationId xmlns:a16="http://schemas.microsoft.com/office/drawing/2014/main" id="{6669DE78-0EF3-47DD-8643-CB16B6FDFD69}"/>
              </a:ext>
            </a:extLst>
          </p:cNvPr>
          <p:cNvSpPr/>
          <p:nvPr/>
        </p:nvSpPr>
        <p:spPr>
          <a:xfrm>
            <a:off x="10439400" y="37338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08</a:t>
            </a:r>
            <a:endParaRPr lang="en-US" sz="1200" dirty="0"/>
          </a:p>
        </p:txBody>
      </p:sp>
      <p:sp>
        <p:nvSpPr>
          <p:cNvPr id="50" name="Shape 2">
            <a:extLst>
              <a:ext uri="{FF2B5EF4-FFF2-40B4-BE49-F238E27FC236}">
                <a16:creationId xmlns:a16="http://schemas.microsoft.com/office/drawing/2014/main" id="{A7FA081B-5B23-4CED-ABD9-37188AC7B143}"/>
              </a:ext>
            </a:extLst>
          </p:cNvPr>
          <p:cNvSpPr/>
          <p:nvPr/>
        </p:nvSpPr>
        <p:spPr>
          <a:xfrm>
            <a:off x="812800" y="4140200"/>
            <a:ext cx="10566400" cy="0"/>
          </a:xfrm>
          <a:prstGeom prst="line">
            <a:avLst/>
          </a:prstGeom>
          <a:noFill/>
          <a:ln w="12700">
            <a:solidFill>
              <a:srgbClr val="1B2433"/>
            </a:solidFill>
            <a:prstDash val="solid"/>
          </a:ln>
        </p:spPr>
      </p:sp>
      <p:sp>
        <p:nvSpPr>
          <p:cNvPr id="51" name="Text 3">
            <a:extLst>
              <a:ext uri="{FF2B5EF4-FFF2-40B4-BE49-F238E27FC236}">
                <a16:creationId xmlns:a16="http://schemas.microsoft.com/office/drawing/2014/main" id="{A1432A77-294A-4329-8310-E758439B0005}"/>
              </a:ext>
            </a:extLst>
          </p:cNvPr>
          <p:cNvSpPr/>
          <p:nvPr/>
        </p:nvSpPr>
        <p:spPr>
          <a:xfrm>
            <a:off x="812800" y="41910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05</a:t>
            </a:r>
            <a:endParaRPr lang="en-US" sz="2400" dirty="0"/>
          </a:p>
        </p:txBody>
      </p:sp>
      <p:sp>
        <p:nvSpPr>
          <p:cNvPr id="52" name="Text 4">
            <a:extLst>
              <a:ext uri="{FF2B5EF4-FFF2-40B4-BE49-F238E27FC236}">
                <a16:creationId xmlns:a16="http://schemas.microsoft.com/office/drawing/2014/main" id="{2F79C2BF-E9FB-44BA-B3EC-51FFD17CE9BB}"/>
              </a:ext>
            </a:extLst>
          </p:cNvPr>
          <p:cNvSpPr/>
          <p:nvPr/>
        </p:nvSpPr>
        <p:spPr>
          <a:xfrm>
            <a:off x="1778000" y="4254500"/>
            <a:ext cx="2747010" cy="330200"/>
          </a:xfrm>
          <a:prstGeom prst="rect">
            <a:avLst/>
          </a:prstGeom>
          <a:noFill/>
          <a:ln/>
        </p:spPr>
        <p:txBody>
          <a:bodyPr wrap="square" lIns="0" tIns="0" rIns="0" bIns="0" rtlCol="0" anchor="t">
            <a:normAutofit/>
          </a:bodyPr>
          <a:lstStyle/>
          <a:p>
            <a:pPr marL="0" indent="0" algn="l">
              <a:lnSpc>
                <a:spcPts val="2400"/>
              </a:lnSpc>
              <a:buNone/>
            </a:pPr>
            <a:r>
              <a:rPr lang="ko-KR" altLang="en-US" sz="2000" b="1">
                <a:solidFill>
                  <a:srgbClr val="1B2433"/>
                </a:solidFill>
                <a:latin typeface="Noto Sans KR" pitchFamily="34" charset="0"/>
                <a:ea typeface="Noto Sans KR" pitchFamily="34" charset="-122"/>
                <a:cs typeface="Noto Sans KR" pitchFamily="34" charset="-120"/>
              </a:rPr>
              <a:t>협업 방식</a:t>
            </a:r>
            <a:endParaRPr lang="en-US" sz="2000" dirty="0"/>
          </a:p>
        </p:txBody>
      </p:sp>
      <p:sp>
        <p:nvSpPr>
          <p:cNvPr id="53" name="Text 5">
            <a:extLst>
              <a:ext uri="{FF2B5EF4-FFF2-40B4-BE49-F238E27FC236}">
                <a16:creationId xmlns:a16="http://schemas.microsoft.com/office/drawing/2014/main" id="{4B6C3150-4DB1-4673-9E08-9647FE385CD7}"/>
              </a:ext>
            </a:extLst>
          </p:cNvPr>
          <p:cNvSpPr/>
          <p:nvPr/>
        </p:nvSpPr>
        <p:spPr>
          <a:xfrm>
            <a:off x="4648200" y="4279900"/>
            <a:ext cx="5807964" cy="274241"/>
          </a:xfrm>
          <a:prstGeom prst="rect">
            <a:avLst/>
          </a:prstGeom>
          <a:noFill/>
          <a:ln/>
        </p:spPr>
        <p:txBody>
          <a:bodyPr wrap="square" lIns="0" tIns="0" rIns="0" bIns="0" rtlCol="0" anchor="t">
            <a:normAutofit/>
          </a:bodyPr>
          <a:lstStyle/>
          <a:p>
            <a:pPr marL="0" indent="0" algn="l">
              <a:lnSpc>
                <a:spcPts val="1960"/>
              </a:lnSpc>
              <a:buNone/>
            </a:pPr>
            <a:r>
              <a:rPr lang="ko-KR" altLang="en-US" sz="1400">
                <a:solidFill>
                  <a:srgbClr val="4A5263"/>
                </a:solidFill>
                <a:latin typeface="Noto Sans KR" pitchFamily="34" charset="0"/>
                <a:ea typeface="Noto Sans KR" pitchFamily="34" charset="-122"/>
                <a:cs typeface="Noto Sans KR" pitchFamily="34" charset="-120"/>
              </a:rPr>
              <a:t>협업 흐름 </a:t>
            </a:r>
            <a:r>
              <a:rPr lang="en-US" altLang="ko-KR" sz="1400">
                <a:solidFill>
                  <a:srgbClr val="4A5263"/>
                </a:solidFill>
                <a:latin typeface="Noto Sans KR" pitchFamily="34" charset="0"/>
                <a:ea typeface="Noto Sans KR" pitchFamily="34" charset="-122"/>
                <a:cs typeface="Noto Sans KR" pitchFamily="34" charset="-120"/>
              </a:rPr>
              <a:t>· GitHub </a:t>
            </a:r>
            <a:r>
              <a:rPr lang="ko-KR" altLang="en-US" sz="1400">
                <a:solidFill>
                  <a:srgbClr val="4A5263"/>
                </a:solidFill>
                <a:latin typeface="Noto Sans KR" pitchFamily="34" charset="0"/>
                <a:ea typeface="Noto Sans KR" pitchFamily="34" charset="-122"/>
                <a:cs typeface="Noto Sans KR" pitchFamily="34" charset="-120"/>
              </a:rPr>
              <a:t>작업 규칙 </a:t>
            </a:r>
            <a:r>
              <a:rPr lang="en-US" altLang="ko-KR" sz="1400">
                <a:solidFill>
                  <a:srgbClr val="4A5263"/>
                </a:solidFill>
                <a:latin typeface="Noto Sans KR" pitchFamily="34" charset="0"/>
                <a:ea typeface="Noto Sans KR" pitchFamily="34" charset="-122"/>
                <a:cs typeface="Noto Sans KR" pitchFamily="34" charset="-120"/>
              </a:rPr>
              <a:t>· Notion </a:t>
            </a:r>
            <a:r>
              <a:rPr lang="ko-KR" altLang="en-US" sz="1400">
                <a:solidFill>
                  <a:srgbClr val="4A5263"/>
                </a:solidFill>
                <a:latin typeface="Noto Sans KR" pitchFamily="34" charset="0"/>
                <a:ea typeface="Noto Sans KR" pitchFamily="34" charset="-122"/>
                <a:cs typeface="Noto Sans KR" pitchFamily="34" charset="-120"/>
              </a:rPr>
              <a:t>정리</a:t>
            </a:r>
            <a:endParaRPr lang="en-US" sz="1400" dirty="0"/>
          </a:p>
        </p:txBody>
      </p:sp>
      <p:sp>
        <p:nvSpPr>
          <p:cNvPr id="54" name="Text 6">
            <a:extLst>
              <a:ext uri="{FF2B5EF4-FFF2-40B4-BE49-F238E27FC236}">
                <a16:creationId xmlns:a16="http://schemas.microsoft.com/office/drawing/2014/main" id="{5CE19E04-BE7E-47EB-9F82-FF0E36335532}"/>
              </a:ext>
            </a:extLst>
          </p:cNvPr>
          <p:cNvSpPr/>
          <p:nvPr/>
        </p:nvSpPr>
        <p:spPr>
          <a:xfrm>
            <a:off x="10439400" y="42926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09–11</a:t>
            </a:r>
            <a:endParaRPr lang="en-US" sz="1200" dirty="0"/>
          </a:p>
        </p:txBody>
      </p:sp>
      <p:sp>
        <p:nvSpPr>
          <p:cNvPr id="55" name="Shape 2">
            <a:extLst>
              <a:ext uri="{FF2B5EF4-FFF2-40B4-BE49-F238E27FC236}">
                <a16:creationId xmlns:a16="http://schemas.microsoft.com/office/drawing/2014/main" id="{CDD9A953-CE68-4019-8C83-1414831FE3FD}"/>
              </a:ext>
            </a:extLst>
          </p:cNvPr>
          <p:cNvSpPr/>
          <p:nvPr/>
        </p:nvSpPr>
        <p:spPr>
          <a:xfrm>
            <a:off x="812800" y="4699000"/>
            <a:ext cx="10566400" cy="0"/>
          </a:xfrm>
          <a:prstGeom prst="line">
            <a:avLst/>
          </a:prstGeom>
          <a:noFill/>
          <a:ln w="12700">
            <a:solidFill>
              <a:srgbClr val="1B2433"/>
            </a:solidFill>
            <a:prstDash val="solid"/>
          </a:ln>
        </p:spPr>
      </p:sp>
      <p:sp>
        <p:nvSpPr>
          <p:cNvPr id="56" name="Text 3">
            <a:extLst>
              <a:ext uri="{FF2B5EF4-FFF2-40B4-BE49-F238E27FC236}">
                <a16:creationId xmlns:a16="http://schemas.microsoft.com/office/drawing/2014/main" id="{92EE4052-8C58-4A49-AF17-01A078900175}"/>
              </a:ext>
            </a:extLst>
          </p:cNvPr>
          <p:cNvSpPr/>
          <p:nvPr/>
        </p:nvSpPr>
        <p:spPr>
          <a:xfrm>
            <a:off x="812800" y="47498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06</a:t>
            </a:r>
            <a:endParaRPr lang="en-US" sz="2400" dirty="0"/>
          </a:p>
        </p:txBody>
      </p:sp>
      <p:sp>
        <p:nvSpPr>
          <p:cNvPr id="57" name="Text 4">
            <a:extLst>
              <a:ext uri="{FF2B5EF4-FFF2-40B4-BE49-F238E27FC236}">
                <a16:creationId xmlns:a16="http://schemas.microsoft.com/office/drawing/2014/main" id="{DE9E34CF-3860-499E-8421-E3A82B76385E}"/>
              </a:ext>
            </a:extLst>
          </p:cNvPr>
          <p:cNvSpPr/>
          <p:nvPr/>
        </p:nvSpPr>
        <p:spPr>
          <a:xfrm>
            <a:off x="1778000" y="4813300"/>
            <a:ext cx="2747010" cy="330200"/>
          </a:xfrm>
          <a:prstGeom prst="rect">
            <a:avLst/>
          </a:prstGeom>
          <a:noFill/>
          <a:ln/>
        </p:spPr>
        <p:txBody>
          <a:bodyPr wrap="square" lIns="0" tIns="0" rIns="0" bIns="0" rtlCol="0" anchor="t">
            <a:normAutofit/>
          </a:bodyPr>
          <a:lstStyle/>
          <a:p>
            <a:pPr marL="0" indent="0" algn="l">
              <a:lnSpc>
                <a:spcPts val="2400"/>
              </a:lnSpc>
              <a:buNone/>
            </a:pPr>
            <a:r>
              <a:rPr lang="ko-KR" altLang="en-US" sz="2000" b="1">
                <a:solidFill>
                  <a:srgbClr val="1B2433"/>
                </a:solidFill>
                <a:latin typeface="Noto Sans KR" pitchFamily="34" charset="0"/>
                <a:ea typeface="Noto Sans KR" pitchFamily="34" charset="-122"/>
                <a:cs typeface="Noto Sans KR" pitchFamily="34" charset="-120"/>
              </a:rPr>
              <a:t>페이지별 소개</a:t>
            </a:r>
            <a:endParaRPr lang="en-US" sz="2000" dirty="0"/>
          </a:p>
        </p:txBody>
      </p:sp>
      <p:sp>
        <p:nvSpPr>
          <p:cNvPr id="58" name="Text 5">
            <a:extLst>
              <a:ext uri="{FF2B5EF4-FFF2-40B4-BE49-F238E27FC236}">
                <a16:creationId xmlns:a16="http://schemas.microsoft.com/office/drawing/2014/main" id="{4A66C245-B415-40F5-B4B9-7AB867E27198}"/>
              </a:ext>
            </a:extLst>
          </p:cNvPr>
          <p:cNvSpPr/>
          <p:nvPr/>
        </p:nvSpPr>
        <p:spPr>
          <a:xfrm>
            <a:off x="4648200" y="4838700"/>
            <a:ext cx="5807964"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4A5263"/>
                </a:solidFill>
                <a:latin typeface="Noto Sans KR" pitchFamily="34" charset="0"/>
                <a:ea typeface="Noto Sans KR" pitchFamily="34" charset="-122"/>
                <a:cs typeface="Noto Sans KR" pitchFamily="34" charset="-120"/>
              </a:rPr>
              <a:t>ABOUT US · AI VIDEO · PORTFOLIO · CONTACT · </a:t>
            </a:r>
            <a:r>
              <a:rPr lang="ko-KR" altLang="en-US" sz="1400">
                <a:solidFill>
                  <a:srgbClr val="4A5263"/>
                </a:solidFill>
                <a:latin typeface="Noto Sans KR" pitchFamily="34" charset="0"/>
                <a:ea typeface="Noto Sans KR" pitchFamily="34" charset="-122"/>
                <a:cs typeface="Noto Sans KR" pitchFamily="34" charset="-120"/>
              </a:rPr>
              <a:t>반응형</a:t>
            </a:r>
            <a:endParaRPr lang="en-US" sz="1400" dirty="0"/>
          </a:p>
        </p:txBody>
      </p:sp>
      <p:sp>
        <p:nvSpPr>
          <p:cNvPr id="59" name="Text 6">
            <a:extLst>
              <a:ext uri="{FF2B5EF4-FFF2-40B4-BE49-F238E27FC236}">
                <a16:creationId xmlns:a16="http://schemas.microsoft.com/office/drawing/2014/main" id="{BB67B7C0-42B2-4DED-A17F-378BAFB2512D}"/>
              </a:ext>
            </a:extLst>
          </p:cNvPr>
          <p:cNvSpPr/>
          <p:nvPr/>
        </p:nvSpPr>
        <p:spPr>
          <a:xfrm>
            <a:off x="10439400" y="48514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12–15</a:t>
            </a:r>
            <a:endParaRPr lang="en-US" sz="1200" dirty="0"/>
          </a:p>
        </p:txBody>
      </p:sp>
      <p:sp>
        <p:nvSpPr>
          <p:cNvPr id="60" name="Shape 2">
            <a:extLst>
              <a:ext uri="{FF2B5EF4-FFF2-40B4-BE49-F238E27FC236}">
                <a16:creationId xmlns:a16="http://schemas.microsoft.com/office/drawing/2014/main" id="{8A5D7D82-3DFF-442F-9822-4596543E6FD2}"/>
              </a:ext>
            </a:extLst>
          </p:cNvPr>
          <p:cNvSpPr/>
          <p:nvPr/>
        </p:nvSpPr>
        <p:spPr>
          <a:xfrm>
            <a:off x="812800" y="5257800"/>
            <a:ext cx="10566400" cy="0"/>
          </a:xfrm>
          <a:prstGeom prst="line">
            <a:avLst/>
          </a:prstGeom>
          <a:noFill/>
          <a:ln w="12700">
            <a:solidFill>
              <a:srgbClr val="1B2433"/>
            </a:solidFill>
            <a:prstDash val="solid"/>
          </a:ln>
        </p:spPr>
      </p:sp>
      <p:sp>
        <p:nvSpPr>
          <p:cNvPr id="61" name="Text 3">
            <a:extLst>
              <a:ext uri="{FF2B5EF4-FFF2-40B4-BE49-F238E27FC236}">
                <a16:creationId xmlns:a16="http://schemas.microsoft.com/office/drawing/2014/main" id="{CACD54AC-6F54-42B3-AA70-13889B815A5E}"/>
              </a:ext>
            </a:extLst>
          </p:cNvPr>
          <p:cNvSpPr/>
          <p:nvPr/>
        </p:nvSpPr>
        <p:spPr>
          <a:xfrm>
            <a:off x="812800" y="5308600"/>
            <a:ext cx="812800" cy="452041"/>
          </a:xfrm>
          <a:prstGeom prst="rect">
            <a:avLst/>
          </a:prstGeom>
          <a:noFill/>
          <a:ln/>
        </p:spPr>
        <p:txBody>
          <a:bodyPr wrap="square" lIns="0" tIns="0" rIns="0" bIns="0" rtlCol="0" anchor="t">
            <a:normAutofit/>
          </a:bodyPr>
          <a:lstStyle/>
          <a:p>
            <a:pPr marL="0" indent="0" algn="l">
              <a:lnSpc>
                <a:spcPts val="3360"/>
              </a:lnSpc>
              <a:buNone/>
            </a:pPr>
            <a:r>
              <a:rPr lang="en-US" sz="2400" b="1">
                <a:solidFill>
                  <a:srgbClr val="D9531E"/>
                </a:solidFill>
                <a:latin typeface="JetBrains Mono" pitchFamily="49" charset="0"/>
                <a:ea typeface="JetBrains Mono" pitchFamily="49" charset="-122"/>
                <a:cs typeface="JetBrains Mono" pitchFamily="49" charset="-120"/>
              </a:rPr>
              <a:t>07</a:t>
            </a:r>
            <a:endParaRPr lang="en-US" sz="2400" dirty="0"/>
          </a:p>
        </p:txBody>
      </p:sp>
      <p:sp>
        <p:nvSpPr>
          <p:cNvPr id="62" name="Text 4">
            <a:extLst>
              <a:ext uri="{FF2B5EF4-FFF2-40B4-BE49-F238E27FC236}">
                <a16:creationId xmlns:a16="http://schemas.microsoft.com/office/drawing/2014/main" id="{8E83E2C5-9289-44F9-BBF6-6BFF3EA9C102}"/>
              </a:ext>
            </a:extLst>
          </p:cNvPr>
          <p:cNvSpPr/>
          <p:nvPr/>
        </p:nvSpPr>
        <p:spPr>
          <a:xfrm>
            <a:off x="1778000" y="5372100"/>
            <a:ext cx="2747010" cy="330200"/>
          </a:xfrm>
          <a:prstGeom prst="rect">
            <a:avLst/>
          </a:prstGeom>
          <a:noFill/>
          <a:ln/>
        </p:spPr>
        <p:txBody>
          <a:bodyPr wrap="square" lIns="0" tIns="0" rIns="0" bIns="0" rtlCol="0" anchor="t">
            <a:normAutofit/>
          </a:bodyPr>
          <a:lstStyle/>
          <a:p>
            <a:pPr marL="0" indent="0" algn="l">
              <a:lnSpc>
                <a:spcPts val="2400"/>
              </a:lnSpc>
              <a:buNone/>
            </a:pPr>
            <a:r>
              <a:rPr lang="ko-KR" altLang="en-US" sz="2000" b="1">
                <a:solidFill>
                  <a:srgbClr val="1B2433"/>
                </a:solidFill>
                <a:latin typeface="Noto Sans KR" pitchFamily="34" charset="0"/>
                <a:ea typeface="Noto Sans KR" pitchFamily="34" charset="-122"/>
                <a:cs typeface="Noto Sans KR" pitchFamily="34" charset="-120"/>
              </a:rPr>
              <a:t>통합과 회고</a:t>
            </a:r>
            <a:endParaRPr lang="en-US" sz="2000" dirty="0"/>
          </a:p>
        </p:txBody>
      </p:sp>
      <p:sp>
        <p:nvSpPr>
          <p:cNvPr id="63" name="Text 5">
            <a:extLst>
              <a:ext uri="{FF2B5EF4-FFF2-40B4-BE49-F238E27FC236}">
                <a16:creationId xmlns:a16="http://schemas.microsoft.com/office/drawing/2014/main" id="{7C788B7C-AC55-4802-B827-83034E1F3767}"/>
              </a:ext>
            </a:extLst>
          </p:cNvPr>
          <p:cNvSpPr/>
          <p:nvPr/>
        </p:nvSpPr>
        <p:spPr>
          <a:xfrm>
            <a:off x="4648200" y="5397500"/>
            <a:ext cx="5807964" cy="274241"/>
          </a:xfrm>
          <a:prstGeom prst="rect">
            <a:avLst/>
          </a:prstGeom>
          <a:noFill/>
          <a:ln/>
        </p:spPr>
        <p:txBody>
          <a:bodyPr wrap="square" lIns="0" tIns="0" rIns="0" bIns="0" rtlCol="0" anchor="t">
            <a:normAutofit/>
          </a:bodyPr>
          <a:lstStyle/>
          <a:p>
            <a:pPr marL="0" indent="0" algn="l">
              <a:lnSpc>
                <a:spcPts val="1960"/>
              </a:lnSpc>
              <a:buNone/>
            </a:pPr>
            <a:r>
              <a:rPr lang="ko-KR" altLang="en-US" sz="1400">
                <a:solidFill>
                  <a:srgbClr val="4A5263"/>
                </a:solidFill>
                <a:latin typeface="Noto Sans KR" pitchFamily="34" charset="0"/>
                <a:ea typeface="Noto Sans KR" pitchFamily="34" charset="-122"/>
                <a:cs typeface="Noto Sans KR" pitchFamily="34" charset="-120"/>
              </a:rPr>
              <a:t>합치며 생긴 문제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문제 해결 사례 </a:t>
            </a:r>
            <a:r>
              <a:rPr lang="en-US" altLang="ko-KR" sz="1400">
                <a:solidFill>
                  <a:srgbClr val="4A5263"/>
                </a:solidFill>
                <a:latin typeface="Noto Sans KR" pitchFamily="34" charset="0"/>
                <a:ea typeface="Noto Sans KR" pitchFamily="34" charset="-122"/>
                <a:cs typeface="Noto Sans KR" pitchFamily="34" charset="-120"/>
              </a:rPr>
              <a:t>· </a:t>
            </a:r>
            <a:r>
              <a:rPr lang="ko-KR" altLang="en-US" sz="1400">
                <a:solidFill>
                  <a:srgbClr val="4A5263"/>
                </a:solidFill>
                <a:latin typeface="Noto Sans KR" pitchFamily="34" charset="0"/>
                <a:ea typeface="Noto Sans KR" pitchFamily="34" charset="-122"/>
                <a:cs typeface="Noto Sans KR" pitchFamily="34" charset="-120"/>
              </a:rPr>
              <a:t>회고 </a:t>
            </a:r>
            <a:r>
              <a:rPr lang="en-US" altLang="ko-KR" sz="1400">
                <a:solidFill>
                  <a:srgbClr val="4A5263"/>
                </a:solidFill>
                <a:latin typeface="Noto Sans KR" pitchFamily="34" charset="0"/>
                <a:ea typeface="Noto Sans KR" pitchFamily="34" charset="-122"/>
                <a:cs typeface="Noto Sans KR" pitchFamily="34" charset="-120"/>
              </a:rPr>
              <a:t>· Q&amp;A</a:t>
            </a:r>
            <a:endParaRPr lang="en-US" sz="1400" dirty="0"/>
          </a:p>
        </p:txBody>
      </p:sp>
      <p:sp>
        <p:nvSpPr>
          <p:cNvPr id="64" name="Text 6">
            <a:extLst>
              <a:ext uri="{FF2B5EF4-FFF2-40B4-BE49-F238E27FC236}">
                <a16:creationId xmlns:a16="http://schemas.microsoft.com/office/drawing/2014/main" id="{1B7CD482-1D25-4B6C-A3F9-A618D8EE5E05}"/>
              </a:ext>
            </a:extLst>
          </p:cNvPr>
          <p:cNvSpPr/>
          <p:nvPr/>
        </p:nvSpPr>
        <p:spPr>
          <a:xfrm>
            <a:off x="10439400" y="5410200"/>
            <a:ext cx="939800" cy="238720"/>
          </a:xfrm>
          <a:prstGeom prst="rect">
            <a:avLst/>
          </a:prstGeom>
          <a:noFill/>
          <a:ln/>
        </p:spPr>
        <p:txBody>
          <a:bodyPr wrap="square" lIns="0" tIns="0" rIns="0" bIns="0" rtlCol="0" anchor="t">
            <a:normAutofit/>
          </a:bodyPr>
          <a:lstStyle/>
          <a:p>
            <a:pPr marL="0" indent="0" algn="r">
              <a:lnSpc>
                <a:spcPts val="1680"/>
              </a:lnSpc>
              <a:buNone/>
            </a:pPr>
            <a:r>
              <a:rPr lang="en-US" sz="1200">
                <a:solidFill>
                  <a:srgbClr val="5A6170"/>
                </a:solidFill>
                <a:latin typeface="JetBrains Mono" pitchFamily="49" charset="0"/>
                <a:ea typeface="JetBrains Mono" pitchFamily="49" charset="-122"/>
                <a:cs typeface="JetBrains Mono" pitchFamily="49" charset="-120"/>
              </a:rPr>
              <a:t>16–19</a:t>
            </a:r>
            <a:endParaRPr lang="en-US" sz="1200" dirty="0"/>
          </a:p>
        </p:txBody>
      </p:sp>
      <p:sp>
        <p:nvSpPr>
          <p:cNvPr id="65" name="Shape 2">
            <a:extLst>
              <a:ext uri="{FF2B5EF4-FFF2-40B4-BE49-F238E27FC236}">
                <a16:creationId xmlns:a16="http://schemas.microsoft.com/office/drawing/2014/main" id="{D1AABF4D-7665-411F-89CF-FE81F230AE60}"/>
              </a:ext>
            </a:extLst>
          </p:cNvPr>
          <p:cNvSpPr/>
          <p:nvPr/>
        </p:nvSpPr>
        <p:spPr>
          <a:xfrm>
            <a:off x="812800" y="5816600"/>
            <a:ext cx="10566400" cy="0"/>
          </a:xfrm>
          <a:prstGeom prst="line">
            <a:avLst/>
          </a:prstGeom>
          <a:noFill/>
          <a:ln w="12700">
            <a:solidFill>
              <a:srgbClr val="DCD6C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5975" y="60295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41A"/>
                </a:solidFill>
                <a:latin typeface="JetBrains Mono" pitchFamily="49" charset="0"/>
                <a:ea typeface="JetBrains Mono" pitchFamily="49" charset="-122"/>
                <a:cs typeface="JetBrains Mono" pitchFamily="49" charset="-120"/>
              </a:rPr>
              <a:t>02 · TEAM</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팀원과 역할</a:t>
            </a:r>
            <a:endParaRPr lang="en-US" sz="3200" dirty="0"/>
          </a:p>
        </p:txBody>
      </p:sp>
      <p:sp>
        <p:nvSpPr>
          <p:cNvPr id="4" name="Shape 2"/>
          <p:cNvSpPr/>
          <p:nvPr/>
        </p:nvSpPr>
        <p:spPr>
          <a:xfrm>
            <a:off x="815975" y="1974155"/>
            <a:ext cx="2520950" cy="2723680"/>
          </a:xfrm>
          <a:prstGeom prst="roundRect">
            <a:avLst>
              <a:gd name="adj" fmla="val 4436"/>
            </a:avLst>
          </a:prstGeom>
          <a:solidFill>
            <a:srgbClr val="FDFCF9"/>
          </a:solidFill>
          <a:ln w="6350">
            <a:solidFill>
              <a:srgbClr val="DCD6C8"/>
            </a:solidFill>
            <a:prstDash val="solid"/>
          </a:ln>
        </p:spPr>
      </p:sp>
      <p:sp>
        <p:nvSpPr>
          <p:cNvPr id="5" name="Text 3"/>
          <p:cNvSpPr/>
          <p:nvPr/>
        </p:nvSpPr>
        <p:spPr>
          <a:xfrm>
            <a:off x="1047750" y="220593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JetBrains Mono" pitchFamily="49" charset="0"/>
                <a:ea typeface="JetBrains Mono" pitchFamily="49" charset="-122"/>
                <a:cs typeface="JetBrains Mono" pitchFamily="49" charset="-120"/>
              </a:rPr>
              <a:t>MEMBER 01</a:t>
            </a:r>
            <a:endParaRPr lang="en-US" sz="1200" dirty="0"/>
          </a:p>
        </p:txBody>
      </p:sp>
      <p:sp>
        <p:nvSpPr>
          <p:cNvPr id="6" name="Text 4"/>
          <p:cNvSpPr/>
          <p:nvPr/>
        </p:nvSpPr>
        <p:spPr>
          <a:xfrm>
            <a:off x="1047750" y="2520851"/>
            <a:ext cx="2119122" cy="360660"/>
          </a:xfrm>
          <a:prstGeom prst="rect">
            <a:avLst/>
          </a:prstGeom>
          <a:noFill/>
          <a:ln/>
        </p:spPr>
        <p:txBody>
          <a:bodyPr wrap="square" lIns="0" tIns="0" rIns="0" bIns="0" rtlCol="0" anchor="t">
            <a:normAutofit/>
          </a:bodyPr>
          <a:lstStyle/>
          <a:p>
            <a:pPr marL="0" indent="0" algn="l">
              <a:lnSpc>
                <a:spcPts val="2640"/>
              </a:lnSpc>
              <a:buNone/>
            </a:pPr>
            <a:r>
              <a:rPr lang="ko-KR" altLang="en-US" sz="2200" b="1">
                <a:solidFill>
                  <a:srgbClr val="B0441A"/>
                </a:solidFill>
                <a:latin typeface="Noto Sans KR" pitchFamily="34" charset="0"/>
                <a:ea typeface="Noto Sans KR" pitchFamily="34" charset="-122"/>
                <a:cs typeface="Noto Sans KR" pitchFamily="34" charset="-120"/>
              </a:rPr>
              <a:t>염혜리</a:t>
            </a:r>
            <a:endParaRPr lang="en-US" sz="2200" dirty="0"/>
          </a:p>
        </p:txBody>
      </p:sp>
      <p:sp>
        <p:nvSpPr>
          <p:cNvPr id="7" name="Text 5"/>
          <p:cNvSpPr/>
          <p:nvPr/>
        </p:nvSpPr>
        <p:spPr>
          <a:xfrm>
            <a:off x="1047750" y="2957711"/>
            <a:ext cx="2119122"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4A5263"/>
                </a:solidFill>
                <a:latin typeface="Noto Sans KR" pitchFamily="34" charset="0"/>
                <a:ea typeface="Noto Sans KR" pitchFamily="34" charset="-122"/>
                <a:cs typeface="Noto Sans KR" pitchFamily="34" charset="-120"/>
              </a:rPr>
              <a:t>담당 </a:t>
            </a:r>
            <a:r>
              <a:rPr lang="en-US" sz="1400" b="1" err="1">
                <a:solidFill>
                  <a:srgbClr val="4A5263"/>
                </a:solidFill>
                <a:latin typeface="Noto Sans KR" pitchFamily="34" charset="0"/>
                <a:ea typeface="Noto Sans KR" pitchFamily="34" charset="-122"/>
                <a:cs typeface="Noto Sans KR" pitchFamily="34" charset="-120"/>
              </a:rPr>
              <a:t>페이지</a:t>
            </a:r>
            <a:r>
              <a:rPr lang="en-US" sz="1400">
                <a:solidFill>
                  <a:srgbClr val="4A5263"/>
                </a:solidFill>
                <a:latin typeface="Noto Sans KR" pitchFamily="34" charset="0"/>
                <a:ea typeface="Noto Sans KR" pitchFamily="34" charset="-122"/>
                <a:cs typeface="Noto Sans KR" pitchFamily="34" charset="-120"/>
              </a:rPr>
              <a:t>　</a:t>
            </a:r>
            <a:r>
              <a:rPr lang="en-US" sz="1400">
                <a:solidFill>
                  <a:srgbClr val="B0441A"/>
                </a:solidFill>
                <a:latin typeface="Noto Sans KR" pitchFamily="34" charset="0"/>
                <a:ea typeface="Noto Sans KR" pitchFamily="34" charset="-122"/>
                <a:cs typeface="Noto Sans KR" pitchFamily="34" charset="-120"/>
              </a:rPr>
              <a:t>ABOUT US</a:t>
            </a:r>
            <a:endParaRPr lang="en-US" sz="1400" dirty="0"/>
          </a:p>
        </p:txBody>
      </p:sp>
      <p:sp>
        <p:nvSpPr>
          <p:cNvPr id="8" name="Text 6"/>
          <p:cNvSpPr/>
          <p:nvPr/>
        </p:nvSpPr>
        <p:spPr>
          <a:xfrm>
            <a:off x="1047750" y="3326011"/>
            <a:ext cx="2119122" cy="626392"/>
          </a:xfrm>
          <a:prstGeom prst="rect">
            <a:avLst/>
          </a:prstGeom>
          <a:noFill/>
          <a:ln/>
        </p:spPr>
        <p:txBody>
          <a:bodyPr wrap="square" lIns="0" tIns="0" rIns="0" bIns="0" rtlCol="0" anchor="t">
            <a:normAutofit/>
          </a:bodyPr>
          <a:lstStyle/>
          <a:p>
            <a:pPr marL="0" indent="0" algn="l">
              <a:lnSpc>
                <a:spcPts val="2100"/>
              </a:lnSpc>
              <a:buNone/>
            </a:pPr>
            <a:r>
              <a:rPr lang="en-US" sz="1400" b="1" err="1">
                <a:solidFill>
                  <a:srgbClr val="4A5263"/>
                </a:solidFill>
                <a:latin typeface="Noto Sans KR" pitchFamily="34" charset="0"/>
                <a:ea typeface="Noto Sans KR" pitchFamily="34" charset="-122"/>
                <a:cs typeface="Noto Sans KR" pitchFamily="34" charset="-120"/>
              </a:rPr>
              <a:t>역할</a:t>
            </a:r>
            <a:r>
              <a:rPr lang="en-US" sz="1400">
                <a:solidFill>
                  <a:srgbClr val="4A5263"/>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메인</a:t>
            </a:r>
            <a:r>
              <a:rPr lang="en-US" altLang="ko-KR" sz="1400" dirty="0">
                <a:solidFill>
                  <a:srgbClr val="B0441A"/>
                </a:solidFill>
                <a:latin typeface="Noto Sans KR" pitchFamily="34" charset="0"/>
                <a:ea typeface="Noto Sans KR" pitchFamily="34" charset="-122"/>
                <a:cs typeface="Noto Sans KR" pitchFamily="34" charset="-120"/>
              </a:rPr>
              <a:t>, </a:t>
            </a:r>
            <a:r>
              <a:rPr lang="ko-KR" altLang="en-US" sz="1400" dirty="0">
                <a:solidFill>
                  <a:srgbClr val="B0441A"/>
                </a:solidFill>
                <a:latin typeface="Noto Sans KR" pitchFamily="34" charset="0"/>
                <a:ea typeface="Noto Sans KR" pitchFamily="34" charset="-122"/>
                <a:cs typeface="Noto Sans KR" pitchFamily="34" charset="-120"/>
              </a:rPr>
              <a:t>협력사 </a:t>
            </a:r>
            <a:r>
              <a:rPr lang="ko-KR" altLang="en-US" sz="1400">
                <a:solidFill>
                  <a:srgbClr val="B0441A"/>
                </a:solidFill>
                <a:latin typeface="Noto Sans KR" pitchFamily="34" charset="0"/>
                <a:ea typeface="Noto Sans KR" pitchFamily="34" charset="-122"/>
                <a:cs typeface="Noto Sans KR" pitchFamily="34" charset="-120"/>
              </a:rPr>
              <a:t>소개</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회사소개</a:t>
            </a:r>
            <a:endParaRPr lang="en-US" sz="1400" dirty="0"/>
          </a:p>
        </p:txBody>
      </p:sp>
      <p:sp>
        <p:nvSpPr>
          <p:cNvPr id="9" name="Text 7"/>
          <p:cNvSpPr/>
          <p:nvPr/>
        </p:nvSpPr>
        <p:spPr>
          <a:xfrm>
            <a:off x="1041400" y="4011687"/>
            <a:ext cx="2119122" cy="637544"/>
          </a:xfrm>
          <a:prstGeom prst="rect">
            <a:avLst/>
          </a:prstGeom>
          <a:noFill/>
          <a:ln/>
        </p:spPr>
        <p:txBody>
          <a:bodyPr wrap="square" lIns="0" tIns="0" rIns="0" bIns="0" rtlCol="0" anchor="t">
            <a:normAutofit/>
          </a:bodyPr>
          <a:lstStyle/>
          <a:p>
            <a:pPr marL="0" indent="0" algn="l">
              <a:lnSpc>
                <a:spcPts val="2100"/>
              </a:lnSpc>
              <a:buNone/>
            </a:pPr>
            <a:r>
              <a:rPr lang="ko-KR" altLang="en-US" sz="1400" b="1">
                <a:solidFill>
                  <a:srgbClr val="4A5263"/>
                </a:solidFill>
                <a:latin typeface="Noto Sans KR" pitchFamily="34" charset="0"/>
                <a:ea typeface="Noto Sans KR" pitchFamily="34" charset="-122"/>
                <a:cs typeface="Noto Sans KR" pitchFamily="34" charset="-120"/>
              </a:rPr>
              <a:t>주로 쓴 </a:t>
            </a:r>
            <a:r>
              <a:rPr lang="en-US" sz="1400" b="1">
                <a:solidFill>
                  <a:srgbClr val="4A5263"/>
                </a:solidFill>
                <a:latin typeface="Noto Sans KR" pitchFamily="34" charset="0"/>
                <a:ea typeface="Noto Sans KR" pitchFamily="34" charset="-122"/>
                <a:cs typeface="Noto Sans KR" pitchFamily="34" charset="-120"/>
              </a:rPr>
              <a:t>AI　</a:t>
            </a:r>
            <a:r>
              <a:rPr lang="en-US" sz="1400">
                <a:solidFill>
                  <a:srgbClr val="B0441A"/>
                </a:solidFill>
                <a:latin typeface="Noto Sans KR" pitchFamily="34" charset="0"/>
                <a:ea typeface="Noto Sans KR" pitchFamily="34" charset="-122"/>
                <a:cs typeface="Noto Sans KR" pitchFamily="34" charset="-120"/>
              </a:rPr>
              <a:t>Codex · Git · GitHub</a:t>
            </a:r>
            <a:endParaRPr lang="en-US" sz="1400" dirty="0">
              <a:solidFill>
                <a:srgbClr val="B0441A"/>
              </a:solidFill>
            </a:endParaRPr>
          </a:p>
        </p:txBody>
      </p:sp>
      <p:sp>
        <p:nvSpPr>
          <p:cNvPr id="10" name="Shape 8"/>
          <p:cNvSpPr/>
          <p:nvPr/>
        </p:nvSpPr>
        <p:spPr>
          <a:xfrm>
            <a:off x="3495675" y="1974155"/>
            <a:ext cx="2520950" cy="2723680"/>
          </a:xfrm>
          <a:prstGeom prst="roundRect">
            <a:avLst>
              <a:gd name="adj" fmla="val 4436"/>
            </a:avLst>
          </a:prstGeom>
          <a:solidFill>
            <a:srgbClr val="FDFCF9"/>
          </a:solidFill>
          <a:ln w="6350">
            <a:solidFill>
              <a:srgbClr val="DCD6C8"/>
            </a:solidFill>
            <a:prstDash val="solid"/>
          </a:ln>
        </p:spPr>
      </p:sp>
      <p:sp>
        <p:nvSpPr>
          <p:cNvPr id="11" name="Text 9"/>
          <p:cNvSpPr/>
          <p:nvPr/>
        </p:nvSpPr>
        <p:spPr>
          <a:xfrm>
            <a:off x="3727450" y="220593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JetBrains Mono" pitchFamily="49" charset="0"/>
                <a:ea typeface="JetBrains Mono" pitchFamily="49" charset="-122"/>
                <a:cs typeface="JetBrains Mono" pitchFamily="49" charset="-120"/>
              </a:rPr>
              <a:t>MEMBER 02</a:t>
            </a:r>
            <a:endParaRPr lang="en-US" sz="1200" dirty="0"/>
          </a:p>
        </p:txBody>
      </p:sp>
      <p:sp>
        <p:nvSpPr>
          <p:cNvPr id="12" name="Text 10"/>
          <p:cNvSpPr/>
          <p:nvPr/>
        </p:nvSpPr>
        <p:spPr>
          <a:xfrm>
            <a:off x="3727450" y="2520851"/>
            <a:ext cx="2119122" cy="360660"/>
          </a:xfrm>
          <a:prstGeom prst="rect">
            <a:avLst/>
          </a:prstGeom>
          <a:noFill/>
          <a:ln/>
        </p:spPr>
        <p:txBody>
          <a:bodyPr wrap="square" lIns="0" tIns="0" rIns="0" bIns="0" rtlCol="0" anchor="t">
            <a:normAutofit/>
          </a:bodyPr>
          <a:lstStyle/>
          <a:p>
            <a:pPr marL="0" indent="0" algn="l">
              <a:lnSpc>
                <a:spcPts val="2640"/>
              </a:lnSpc>
              <a:buNone/>
            </a:pPr>
            <a:r>
              <a:rPr lang="ko-KR" altLang="en-US" sz="2200" b="1">
                <a:solidFill>
                  <a:srgbClr val="B0441A"/>
                </a:solidFill>
                <a:latin typeface="Noto Sans KR" pitchFamily="34" charset="0"/>
                <a:ea typeface="Noto Sans KR" pitchFamily="34" charset="-122"/>
                <a:cs typeface="Noto Sans KR" pitchFamily="34" charset="-120"/>
              </a:rPr>
              <a:t>이애리</a:t>
            </a:r>
            <a:endParaRPr lang="en-US" sz="2200" dirty="0"/>
          </a:p>
        </p:txBody>
      </p:sp>
      <p:sp>
        <p:nvSpPr>
          <p:cNvPr id="13" name="Text 11"/>
          <p:cNvSpPr/>
          <p:nvPr/>
        </p:nvSpPr>
        <p:spPr>
          <a:xfrm>
            <a:off x="3727450" y="2957711"/>
            <a:ext cx="2119122"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4A5263"/>
                </a:solidFill>
                <a:latin typeface="Noto Sans KR" pitchFamily="34" charset="0"/>
                <a:ea typeface="Noto Sans KR" pitchFamily="34" charset="-122"/>
                <a:cs typeface="Noto Sans KR" pitchFamily="34" charset="-120"/>
              </a:rPr>
              <a:t>담당 </a:t>
            </a:r>
            <a:r>
              <a:rPr lang="en-US" sz="1400" b="1" err="1">
                <a:solidFill>
                  <a:srgbClr val="4A5263"/>
                </a:solidFill>
                <a:latin typeface="Noto Sans KR" pitchFamily="34" charset="0"/>
                <a:ea typeface="Noto Sans KR" pitchFamily="34" charset="-122"/>
                <a:cs typeface="Noto Sans KR" pitchFamily="34" charset="-120"/>
              </a:rPr>
              <a:t>페이지</a:t>
            </a:r>
            <a:r>
              <a:rPr lang="en-US" sz="1400">
                <a:solidFill>
                  <a:srgbClr val="4A5263"/>
                </a:solidFill>
                <a:latin typeface="Noto Sans KR" pitchFamily="34" charset="0"/>
                <a:ea typeface="Noto Sans KR" pitchFamily="34" charset="-122"/>
                <a:cs typeface="Noto Sans KR" pitchFamily="34" charset="-120"/>
              </a:rPr>
              <a:t>　</a:t>
            </a:r>
            <a:r>
              <a:rPr lang="en-US" sz="1400">
                <a:solidFill>
                  <a:srgbClr val="B0441A"/>
                </a:solidFill>
                <a:latin typeface="Noto Sans KR" pitchFamily="34" charset="0"/>
                <a:ea typeface="Noto Sans KR" pitchFamily="34" charset="-122"/>
                <a:cs typeface="Noto Sans KR" pitchFamily="34" charset="-120"/>
              </a:rPr>
              <a:t>AI VIDEO</a:t>
            </a:r>
            <a:endParaRPr lang="en-US" sz="1400" dirty="0"/>
          </a:p>
        </p:txBody>
      </p:sp>
      <p:sp>
        <p:nvSpPr>
          <p:cNvPr id="14" name="Text 12"/>
          <p:cNvSpPr/>
          <p:nvPr/>
        </p:nvSpPr>
        <p:spPr>
          <a:xfrm>
            <a:off x="3727450" y="3326010"/>
            <a:ext cx="2119122" cy="626393"/>
          </a:xfrm>
          <a:prstGeom prst="rect">
            <a:avLst/>
          </a:prstGeom>
          <a:noFill/>
          <a:ln/>
        </p:spPr>
        <p:txBody>
          <a:bodyPr wrap="square" lIns="0" tIns="0" rIns="0" bIns="0" rtlCol="0" anchor="t">
            <a:normAutofit/>
          </a:bodyPr>
          <a:lstStyle/>
          <a:p>
            <a:pPr marL="0" indent="0" algn="l">
              <a:lnSpc>
                <a:spcPts val="2100"/>
              </a:lnSpc>
              <a:buNone/>
            </a:pPr>
            <a:r>
              <a:rPr lang="en-US" sz="1400" b="1" err="1">
                <a:solidFill>
                  <a:srgbClr val="4A5263"/>
                </a:solidFill>
                <a:latin typeface="Noto Sans KR" pitchFamily="34" charset="0"/>
                <a:ea typeface="Noto Sans KR" pitchFamily="34" charset="-122"/>
                <a:cs typeface="Noto Sans KR" pitchFamily="34" charset="-120"/>
              </a:rPr>
              <a:t>역할</a:t>
            </a:r>
            <a:r>
              <a:rPr lang="en-US" sz="1400">
                <a:solidFill>
                  <a:srgbClr val="4A5263"/>
                </a:solidFill>
                <a:latin typeface="Noto Sans KR" pitchFamily="34" charset="0"/>
                <a:ea typeface="Noto Sans KR" pitchFamily="34" charset="-122"/>
                <a:cs typeface="Noto Sans KR" pitchFamily="34" charset="-120"/>
              </a:rPr>
              <a:t>　</a:t>
            </a:r>
            <a:r>
              <a:rPr lang="en-US" sz="1400">
                <a:solidFill>
                  <a:srgbClr val="B0441A"/>
                </a:solidFill>
                <a:latin typeface="Noto Sans KR" pitchFamily="34" charset="0"/>
                <a:ea typeface="Noto Sans KR" pitchFamily="34" charset="-122"/>
                <a:cs typeface="Noto Sans KR" pitchFamily="34" charset="-120"/>
              </a:rPr>
              <a:t>AI</a:t>
            </a:r>
            <a:r>
              <a:rPr lang="ko-KR" altLang="en-US" sz="1400">
                <a:solidFill>
                  <a:srgbClr val="B0441A"/>
                </a:solidFill>
                <a:latin typeface="Noto Sans KR" pitchFamily="34" charset="0"/>
                <a:ea typeface="Noto Sans KR" pitchFamily="34" charset="-122"/>
                <a:cs typeface="Noto Sans KR" pitchFamily="34" charset="-120"/>
              </a:rPr>
              <a:t> </a:t>
            </a:r>
            <a:r>
              <a:rPr lang="ko-KR" altLang="en-US" sz="1400" dirty="0">
                <a:solidFill>
                  <a:srgbClr val="B0441A"/>
                </a:solidFill>
                <a:latin typeface="Noto Sans KR" pitchFamily="34" charset="0"/>
                <a:ea typeface="Noto Sans KR" pitchFamily="34" charset="-122"/>
                <a:cs typeface="Noto Sans KR" pitchFamily="34" charset="-120"/>
              </a:rPr>
              <a:t>영상 제작과정과 </a:t>
            </a:r>
            <a:r>
              <a:rPr lang="ko-KR" altLang="en-US" sz="1400">
                <a:solidFill>
                  <a:srgbClr val="B0441A"/>
                </a:solidFill>
                <a:latin typeface="Noto Sans KR" pitchFamily="34" charset="0"/>
                <a:ea typeface="Noto Sans KR" pitchFamily="34" charset="-122"/>
                <a:cs typeface="Noto Sans KR" pitchFamily="34" charset="-120"/>
              </a:rPr>
              <a:t>동종업계와의 차별성</a:t>
            </a:r>
            <a:endParaRPr lang="en-US" sz="1400" dirty="0"/>
          </a:p>
        </p:txBody>
      </p:sp>
      <p:sp>
        <p:nvSpPr>
          <p:cNvPr id="16" name="Shape 14"/>
          <p:cNvSpPr/>
          <p:nvPr/>
        </p:nvSpPr>
        <p:spPr>
          <a:xfrm>
            <a:off x="6175375" y="1974155"/>
            <a:ext cx="2520950" cy="2723680"/>
          </a:xfrm>
          <a:prstGeom prst="roundRect">
            <a:avLst>
              <a:gd name="adj" fmla="val 4436"/>
            </a:avLst>
          </a:prstGeom>
          <a:solidFill>
            <a:srgbClr val="FDFCF9"/>
          </a:solidFill>
          <a:ln w="6350">
            <a:solidFill>
              <a:srgbClr val="DCD6C8"/>
            </a:solidFill>
            <a:prstDash val="solid"/>
          </a:ln>
        </p:spPr>
      </p:sp>
      <p:sp>
        <p:nvSpPr>
          <p:cNvPr id="17" name="Text 15"/>
          <p:cNvSpPr/>
          <p:nvPr/>
        </p:nvSpPr>
        <p:spPr>
          <a:xfrm>
            <a:off x="6407150" y="220593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JetBrains Mono" pitchFamily="49" charset="0"/>
                <a:ea typeface="JetBrains Mono" pitchFamily="49" charset="-122"/>
                <a:cs typeface="JetBrains Mono" pitchFamily="49" charset="-120"/>
              </a:rPr>
              <a:t>MEMBER 03</a:t>
            </a:r>
            <a:endParaRPr lang="en-US" sz="1200" dirty="0"/>
          </a:p>
        </p:txBody>
      </p:sp>
      <p:sp>
        <p:nvSpPr>
          <p:cNvPr id="18" name="Text 16"/>
          <p:cNvSpPr/>
          <p:nvPr/>
        </p:nvSpPr>
        <p:spPr>
          <a:xfrm>
            <a:off x="6407150" y="2520851"/>
            <a:ext cx="2119122" cy="360660"/>
          </a:xfrm>
          <a:prstGeom prst="rect">
            <a:avLst/>
          </a:prstGeom>
          <a:noFill/>
          <a:ln/>
        </p:spPr>
        <p:txBody>
          <a:bodyPr wrap="square" lIns="0" tIns="0" rIns="0" bIns="0" rtlCol="0" anchor="t">
            <a:normAutofit/>
          </a:bodyPr>
          <a:lstStyle/>
          <a:p>
            <a:pPr marL="0" indent="0" algn="l">
              <a:lnSpc>
                <a:spcPts val="2640"/>
              </a:lnSpc>
              <a:buNone/>
            </a:pPr>
            <a:r>
              <a:rPr lang="ko-KR" altLang="en-US" sz="2200" b="1">
                <a:solidFill>
                  <a:srgbClr val="B0441A"/>
                </a:solidFill>
                <a:latin typeface="Noto Sans KR" pitchFamily="34" charset="0"/>
                <a:ea typeface="Noto Sans KR" pitchFamily="34" charset="-122"/>
                <a:cs typeface="Noto Sans KR" pitchFamily="34" charset="-120"/>
              </a:rPr>
              <a:t>유호원</a:t>
            </a:r>
            <a:endParaRPr lang="en-US" sz="2200" dirty="0"/>
          </a:p>
        </p:txBody>
      </p:sp>
      <p:sp>
        <p:nvSpPr>
          <p:cNvPr id="19" name="Text 17"/>
          <p:cNvSpPr/>
          <p:nvPr/>
        </p:nvSpPr>
        <p:spPr>
          <a:xfrm>
            <a:off x="6407150" y="2957711"/>
            <a:ext cx="2119122"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4A5263"/>
                </a:solidFill>
                <a:latin typeface="Noto Sans KR" pitchFamily="34" charset="0"/>
                <a:ea typeface="Noto Sans KR" pitchFamily="34" charset="-122"/>
                <a:cs typeface="Noto Sans KR" pitchFamily="34" charset="-120"/>
              </a:rPr>
              <a:t>담당 </a:t>
            </a:r>
            <a:r>
              <a:rPr lang="en-US" sz="1400" b="1" err="1">
                <a:solidFill>
                  <a:srgbClr val="4A5263"/>
                </a:solidFill>
                <a:latin typeface="Noto Sans KR" pitchFamily="34" charset="0"/>
                <a:ea typeface="Noto Sans KR" pitchFamily="34" charset="-122"/>
                <a:cs typeface="Noto Sans KR" pitchFamily="34" charset="-120"/>
              </a:rPr>
              <a:t>페이지</a:t>
            </a:r>
            <a:r>
              <a:rPr lang="en-US" sz="1400">
                <a:solidFill>
                  <a:srgbClr val="4A5263"/>
                </a:solidFill>
                <a:latin typeface="Noto Sans KR" pitchFamily="34" charset="0"/>
                <a:ea typeface="Noto Sans KR" pitchFamily="34" charset="-122"/>
                <a:cs typeface="Noto Sans KR" pitchFamily="34" charset="-120"/>
              </a:rPr>
              <a:t>　</a:t>
            </a:r>
            <a:r>
              <a:rPr lang="en-US" sz="1400">
                <a:solidFill>
                  <a:srgbClr val="B0441A"/>
                </a:solidFill>
                <a:latin typeface="Noto Sans KR" pitchFamily="34" charset="0"/>
                <a:ea typeface="Noto Sans KR" pitchFamily="34" charset="-122"/>
                <a:cs typeface="Noto Sans KR" pitchFamily="34" charset="-120"/>
              </a:rPr>
              <a:t>PORTFOLIO</a:t>
            </a:r>
            <a:endParaRPr lang="en-US" sz="1400" dirty="0"/>
          </a:p>
        </p:txBody>
      </p:sp>
      <p:sp>
        <p:nvSpPr>
          <p:cNvPr id="20" name="Text 18"/>
          <p:cNvSpPr/>
          <p:nvPr/>
        </p:nvSpPr>
        <p:spPr>
          <a:xfrm>
            <a:off x="6407149" y="3326010"/>
            <a:ext cx="2447925" cy="516147"/>
          </a:xfrm>
          <a:prstGeom prst="rect">
            <a:avLst/>
          </a:prstGeom>
          <a:noFill/>
          <a:ln/>
        </p:spPr>
        <p:txBody>
          <a:bodyPr wrap="square" lIns="0" tIns="0" rIns="0" bIns="0" rtlCol="0" anchor="t">
            <a:normAutofit/>
          </a:bodyPr>
          <a:lstStyle/>
          <a:p>
            <a:pPr marL="0" indent="0" algn="l">
              <a:lnSpc>
                <a:spcPts val="2100"/>
              </a:lnSpc>
              <a:buNone/>
            </a:pPr>
            <a:r>
              <a:rPr lang="en-US" sz="1400" b="1" dirty="0" err="1">
                <a:solidFill>
                  <a:srgbClr val="4A5263"/>
                </a:solidFill>
                <a:latin typeface="Noto Sans KR" pitchFamily="34" charset="0"/>
                <a:ea typeface="Noto Sans KR" pitchFamily="34" charset="-122"/>
                <a:cs typeface="Noto Sans KR" pitchFamily="34" charset="-120"/>
              </a:rPr>
              <a:t>역할</a:t>
            </a:r>
            <a:r>
              <a:rPr lang="en-US" sz="1400" dirty="0">
                <a:solidFill>
                  <a:srgbClr val="4A5263"/>
                </a:solidFill>
                <a:latin typeface="Noto Sans KR" pitchFamily="34" charset="0"/>
                <a:ea typeface="Noto Sans KR" pitchFamily="34" charset="-122"/>
                <a:cs typeface="Noto Sans KR" pitchFamily="34" charset="-120"/>
              </a:rPr>
              <a:t>　</a:t>
            </a:r>
            <a:r>
              <a:rPr lang="en-US" altLang="ko-KR" sz="1400" dirty="0">
                <a:solidFill>
                  <a:srgbClr val="B0441A"/>
                </a:solidFill>
                <a:latin typeface="Noto Sans KR" pitchFamily="34" charset="0"/>
                <a:ea typeface="Noto Sans KR" pitchFamily="34" charset="-122"/>
                <a:cs typeface="Noto Sans KR" pitchFamily="34" charset="-120"/>
              </a:rPr>
              <a:t>AI </a:t>
            </a:r>
            <a:r>
              <a:rPr lang="ko-KR" altLang="en-US" sz="1400" dirty="0">
                <a:solidFill>
                  <a:srgbClr val="B0441A"/>
                </a:solidFill>
                <a:latin typeface="Noto Sans KR" pitchFamily="34" charset="0"/>
                <a:ea typeface="Noto Sans KR" pitchFamily="34" charset="-122"/>
                <a:cs typeface="Noto Sans KR" pitchFamily="34" charset="-120"/>
              </a:rPr>
              <a:t>제작 영상 포트폴리오</a:t>
            </a:r>
            <a:endParaRPr lang="en-US" altLang="ko-KR" sz="1400" dirty="0">
              <a:solidFill>
                <a:srgbClr val="B0441A"/>
              </a:solidFill>
              <a:latin typeface="Noto Sans KR" pitchFamily="34" charset="0"/>
              <a:ea typeface="Noto Sans KR" pitchFamily="34" charset="-122"/>
              <a:cs typeface="Noto Sans KR" pitchFamily="34" charset="-120"/>
            </a:endParaRPr>
          </a:p>
          <a:p>
            <a:pPr marL="0" indent="0" algn="l">
              <a:lnSpc>
                <a:spcPts val="2100"/>
              </a:lnSpc>
              <a:buNone/>
            </a:pPr>
            <a:r>
              <a:rPr lang="ko-KR" altLang="en-US" sz="1400" dirty="0" err="1">
                <a:solidFill>
                  <a:srgbClr val="B0441A"/>
                </a:solidFill>
                <a:latin typeface="Noto Sans KR" pitchFamily="34" charset="0"/>
                <a:ea typeface="Noto Sans KR" pitchFamily="34" charset="-122"/>
                <a:cs typeface="Noto Sans KR" pitchFamily="34" charset="-120"/>
              </a:rPr>
              <a:t>를</a:t>
            </a:r>
            <a:r>
              <a:rPr lang="ko-KR" altLang="en-US" sz="1400" dirty="0">
                <a:solidFill>
                  <a:srgbClr val="B0441A"/>
                </a:solidFill>
                <a:latin typeface="Noto Sans KR" pitchFamily="34" charset="0"/>
                <a:ea typeface="Noto Sans KR" pitchFamily="34" charset="-122"/>
                <a:cs typeface="Noto Sans KR" pitchFamily="34" charset="-120"/>
              </a:rPr>
              <a:t> 확인</a:t>
            </a:r>
            <a:endParaRPr lang="en-US" sz="1400" dirty="0"/>
          </a:p>
        </p:txBody>
      </p:sp>
      <p:sp>
        <p:nvSpPr>
          <p:cNvPr id="22" name="Shape 20"/>
          <p:cNvSpPr/>
          <p:nvPr/>
        </p:nvSpPr>
        <p:spPr>
          <a:xfrm>
            <a:off x="8855075" y="1974155"/>
            <a:ext cx="2520950" cy="2723680"/>
          </a:xfrm>
          <a:prstGeom prst="roundRect">
            <a:avLst>
              <a:gd name="adj" fmla="val 4436"/>
            </a:avLst>
          </a:prstGeom>
          <a:solidFill>
            <a:srgbClr val="FDFCF9"/>
          </a:solidFill>
          <a:ln w="6350">
            <a:solidFill>
              <a:srgbClr val="DCD6C8"/>
            </a:solidFill>
            <a:prstDash val="solid"/>
          </a:ln>
        </p:spPr>
      </p:sp>
      <p:sp>
        <p:nvSpPr>
          <p:cNvPr id="23" name="Text 21"/>
          <p:cNvSpPr/>
          <p:nvPr/>
        </p:nvSpPr>
        <p:spPr>
          <a:xfrm>
            <a:off x="9086850" y="2205930"/>
            <a:ext cx="211912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JetBrains Mono" pitchFamily="49" charset="0"/>
                <a:ea typeface="JetBrains Mono" pitchFamily="49" charset="-122"/>
                <a:cs typeface="JetBrains Mono" pitchFamily="49" charset="-120"/>
              </a:rPr>
              <a:t>MEMBER 04</a:t>
            </a:r>
            <a:endParaRPr lang="en-US" sz="1200" dirty="0"/>
          </a:p>
        </p:txBody>
      </p:sp>
      <p:sp>
        <p:nvSpPr>
          <p:cNvPr id="24" name="Text 22"/>
          <p:cNvSpPr/>
          <p:nvPr/>
        </p:nvSpPr>
        <p:spPr>
          <a:xfrm>
            <a:off x="9086850" y="2520851"/>
            <a:ext cx="2119122" cy="360660"/>
          </a:xfrm>
          <a:prstGeom prst="rect">
            <a:avLst/>
          </a:prstGeom>
          <a:noFill/>
          <a:ln/>
        </p:spPr>
        <p:txBody>
          <a:bodyPr wrap="square" lIns="0" tIns="0" rIns="0" bIns="0" rtlCol="0" anchor="t">
            <a:normAutofit/>
          </a:bodyPr>
          <a:lstStyle/>
          <a:p>
            <a:pPr marL="0" indent="0" algn="l">
              <a:lnSpc>
                <a:spcPts val="2640"/>
              </a:lnSpc>
              <a:buNone/>
            </a:pPr>
            <a:r>
              <a:rPr lang="ko-KR" altLang="en-US" sz="2200" b="1">
                <a:solidFill>
                  <a:srgbClr val="B0441A"/>
                </a:solidFill>
                <a:latin typeface="Noto Sans KR" pitchFamily="34" charset="0"/>
                <a:ea typeface="Noto Sans KR" pitchFamily="34" charset="-122"/>
                <a:cs typeface="Noto Sans KR" pitchFamily="34" charset="-120"/>
              </a:rPr>
              <a:t>김소연</a:t>
            </a:r>
            <a:endParaRPr lang="en-US" sz="2200" dirty="0"/>
          </a:p>
        </p:txBody>
      </p:sp>
      <p:sp>
        <p:nvSpPr>
          <p:cNvPr id="25" name="Text 23"/>
          <p:cNvSpPr/>
          <p:nvPr/>
        </p:nvSpPr>
        <p:spPr>
          <a:xfrm>
            <a:off x="9086850" y="2957711"/>
            <a:ext cx="2119122"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4A5263"/>
                </a:solidFill>
                <a:latin typeface="Noto Sans KR" pitchFamily="34" charset="0"/>
                <a:ea typeface="Noto Sans KR" pitchFamily="34" charset="-122"/>
                <a:cs typeface="Noto Sans KR" pitchFamily="34" charset="-120"/>
              </a:rPr>
              <a:t>담당 </a:t>
            </a:r>
            <a:r>
              <a:rPr lang="en-US" sz="1400" b="1" err="1">
                <a:solidFill>
                  <a:srgbClr val="4A5263"/>
                </a:solidFill>
                <a:latin typeface="Noto Sans KR" pitchFamily="34" charset="0"/>
                <a:ea typeface="Noto Sans KR" pitchFamily="34" charset="-122"/>
                <a:cs typeface="Noto Sans KR" pitchFamily="34" charset="-120"/>
              </a:rPr>
              <a:t>페이지</a:t>
            </a:r>
            <a:r>
              <a:rPr lang="en-US" sz="1400">
                <a:solidFill>
                  <a:srgbClr val="4A5263"/>
                </a:solidFill>
                <a:latin typeface="Noto Sans KR" pitchFamily="34" charset="0"/>
                <a:ea typeface="Noto Sans KR" pitchFamily="34" charset="-122"/>
                <a:cs typeface="Noto Sans KR" pitchFamily="34" charset="-120"/>
              </a:rPr>
              <a:t>　</a:t>
            </a:r>
            <a:r>
              <a:rPr lang="en-US" sz="1400">
                <a:solidFill>
                  <a:srgbClr val="B0441A"/>
                </a:solidFill>
                <a:latin typeface="Noto Sans KR" pitchFamily="34" charset="0"/>
                <a:ea typeface="Noto Sans KR" pitchFamily="34" charset="-122"/>
                <a:cs typeface="Noto Sans KR" pitchFamily="34" charset="-120"/>
              </a:rPr>
              <a:t>CONTACT</a:t>
            </a:r>
            <a:endParaRPr lang="en-US" sz="1400" dirty="0"/>
          </a:p>
        </p:txBody>
      </p:sp>
      <p:sp>
        <p:nvSpPr>
          <p:cNvPr id="26" name="Text 24"/>
          <p:cNvSpPr/>
          <p:nvPr/>
        </p:nvSpPr>
        <p:spPr>
          <a:xfrm>
            <a:off x="9086850" y="3326011"/>
            <a:ext cx="2292350" cy="660400"/>
          </a:xfrm>
          <a:prstGeom prst="rect">
            <a:avLst/>
          </a:prstGeom>
          <a:noFill/>
          <a:ln/>
        </p:spPr>
        <p:txBody>
          <a:bodyPr wrap="square" lIns="0" tIns="0" rIns="0" bIns="0" rtlCol="0" anchor="t">
            <a:normAutofit/>
          </a:bodyPr>
          <a:lstStyle/>
          <a:p>
            <a:pPr marL="0" indent="0" algn="l">
              <a:lnSpc>
                <a:spcPts val="2100"/>
              </a:lnSpc>
              <a:buNone/>
            </a:pPr>
            <a:r>
              <a:rPr lang="en-US" sz="1400" b="1" dirty="0" err="1">
                <a:solidFill>
                  <a:srgbClr val="4A5263"/>
                </a:solidFill>
                <a:latin typeface="Noto Sans KR" pitchFamily="34" charset="0"/>
                <a:ea typeface="Noto Sans KR" pitchFamily="34" charset="-122"/>
                <a:cs typeface="Noto Sans KR" pitchFamily="34" charset="-120"/>
              </a:rPr>
              <a:t>역할</a:t>
            </a:r>
            <a:r>
              <a:rPr lang="en-US" sz="1400" dirty="0">
                <a:solidFill>
                  <a:srgbClr val="4A5263"/>
                </a:solidFill>
                <a:latin typeface="Noto Sans KR" pitchFamily="34" charset="0"/>
                <a:ea typeface="Noto Sans KR" pitchFamily="34" charset="-122"/>
                <a:cs typeface="Noto Sans KR" pitchFamily="34" charset="-120"/>
              </a:rPr>
              <a:t>　</a:t>
            </a:r>
            <a:r>
              <a:rPr lang="ko-KR" altLang="en-US" sz="1400" dirty="0">
                <a:solidFill>
                  <a:srgbClr val="B0441A"/>
                </a:solidFill>
                <a:latin typeface="Noto Sans KR" pitchFamily="34" charset="0"/>
                <a:ea typeface="Noto Sans KR" pitchFamily="34" charset="-122"/>
                <a:cs typeface="Noto Sans KR" pitchFamily="34" charset="-120"/>
              </a:rPr>
              <a:t> </a:t>
            </a:r>
            <a:r>
              <a:rPr lang="en-US" altLang="ko-KR" sz="1400" dirty="0">
                <a:solidFill>
                  <a:srgbClr val="B0441A"/>
                </a:solidFill>
                <a:latin typeface="Noto Sans KR" pitchFamily="34" charset="0"/>
                <a:ea typeface="Noto Sans KR" pitchFamily="34" charset="-122"/>
                <a:cs typeface="Noto Sans KR" pitchFamily="34" charset="-120"/>
              </a:rPr>
              <a:t>AI </a:t>
            </a:r>
            <a:r>
              <a:rPr lang="ko-KR" altLang="en-US" sz="1400" dirty="0">
                <a:solidFill>
                  <a:srgbClr val="B0441A"/>
                </a:solidFill>
                <a:latin typeface="Noto Sans KR" pitchFamily="34" charset="0"/>
                <a:ea typeface="Noto Sans KR" pitchFamily="34" charset="-122"/>
                <a:cs typeface="Noto Sans KR" pitchFamily="34" charset="-120"/>
              </a:rPr>
              <a:t>영상 제작 견적 안내 페이지 </a:t>
            </a:r>
            <a:r>
              <a:rPr lang="en-US" altLang="ko-KR" sz="1400" dirty="0">
                <a:solidFill>
                  <a:srgbClr val="B0441A"/>
                </a:solidFill>
                <a:latin typeface="Noto Sans KR" pitchFamily="34" charset="0"/>
                <a:ea typeface="Noto Sans KR" pitchFamily="34" charset="-122"/>
                <a:cs typeface="Noto Sans KR" pitchFamily="34" charset="-120"/>
              </a:rPr>
              <a:t>(</a:t>
            </a:r>
            <a:r>
              <a:rPr lang="ko-KR" altLang="en-US" sz="1400" dirty="0">
                <a:solidFill>
                  <a:srgbClr val="B0441A"/>
                </a:solidFill>
                <a:latin typeface="Noto Sans KR" pitchFamily="34" charset="0"/>
                <a:ea typeface="Noto Sans KR" pitchFamily="34" charset="-122"/>
                <a:cs typeface="Noto Sans KR" pitchFamily="34" charset="-120"/>
              </a:rPr>
              <a:t>개인 </a:t>
            </a:r>
            <a:r>
              <a:rPr lang="en-US" altLang="ko-KR" sz="1400" dirty="0">
                <a:solidFill>
                  <a:srgbClr val="B0441A"/>
                </a:solidFill>
                <a:latin typeface="Noto Sans KR" pitchFamily="34" charset="0"/>
                <a:ea typeface="Noto Sans KR" pitchFamily="34" charset="-122"/>
                <a:cs typeface="Noto Sans KR" pitchFamily="34" charset="-120"/>
              </a:rPr>
              <a:t>·</a:t>
            </a:r>
            <a:r>
              <a:rPr lang="ko-KR" altLang="en-US" sz="1400" dirty="0">
                <a:solidFill>
                  <a:srgbClr val="B0441A"/>
                </a:solidFill>
                <a:latin typeface="Noto Sans KR" pitchFamily="34" charset="0"/>
                <a:ea typeface="Noto Sans KR" pitchFamily="34" charset="-122"/>
                <a:cs typeface="Noto Sans KR" pitchFamily="34" charset="-120"/>
              </a:rPr>
              <a:t>기업</a:t>
            </a:r>
            <a:r>
              <a:rPr lang="en-US" altLang="ko-KR" sz="1400" dirty="0">
                <a:solidFill>
                  <a:srgbClr val="B0441A"/>
                </a:solidFill>
                <a:latin typeface="Noto Sans KR" pitchFamily="34" charset="0"/>
                <a:ea typeface="Noto Sans KR" pitchFamily="34" charset="-122"/>
                <a:cs typeface="Noto Sans KR" pitchFamily="34" charset="-120"/>
              </a:rPr>
              <a:t>)</a:t>
            </a:r>
            <a:endParaRPr lang="en-US" sz="1400" dirty="0"/>
          </a:p>
        </p:txBody>
      </p:sp>
      <p:sp>
        <p:nvSpPr>
          <p:cNvPr id="27" name="Text 25"/>
          <p:cNvSpPr/>
          <p:nvPr/>
        </p:nvSpPr>
        <p:spPr>
          <a:xfrm>
            <a:off x="6417540" y="4011922"/>
            <a:ext cx="2218460" cy="593633"/>
          </a:xfrm>
          <a:prstGeom prst="rect">
            <a:avLst/>
          </a:prstGeom>
          <a:noFill/>
          <a:ln/>
        </p:spPr>
        <p:txBody>
          <a:bodyPr wrap="square" lIns="0" tIns="0" rIns="0" bIns="0" rtlCol="0" anchor="t">
            <a:normAutofit/>
          </a:bodyPr>
          <a:lstStyle/>
          <a:p>
            <a:pPr marL="0" indent="0" algn="l">
              <a:lnSpc>
                <a:spcPts val="2100"/>
              </a:lnSpc>
              <a:buNone/>
            </a:pPr>
            <a:r>
              <a:rPr lang="ko-KR" altLang="en-US" sz="1400" b="1">
                <a:solidFill>
                  <a:srgbClr val="4A5263"/>
                </a:solidFill>
                <a:latin typeface="Noto Sans KR" pitchFamily="34" charset="0"/>
                <a:ea typeface="Noto Sans KR" pitchFamily="34" charset="-122"/>
                <a:cs typeface="Noto Sans KR" pitchFamily="34" charset="-120"/>
              </a:rPr>
              <a:t>주로 쓴 </a:t>
            </a:r>
            <a:r>
              <a:rPr lang="en-US" sz="1400" b="1">
                <a:solidFill>
                  <a:srgbClr val="4A5263"/>
                </a:solidFill>
                <a:latin typeface="Noto Sans KR" pitchFamily="34" charset="0"/>
                <a:ea typeface="Noto Sans KR" pitchFamily="34" charset="-122"/>
                <a:cs typeface="Noto Sans KR" pitchFamily="34" charset="-120"/>
              </a:rPr>
              <a:t>AI　</a:t>
            </a:r>
            <a:r>
              <a:rPr lang="en-US" sz="1400">
                <a:solidFill>
                  <a:srgbClr val="B0441A"/>
                </a:solidFill>
                <a:latin typeface="Noto Sans KR" pitchFamily="34" charset="0"/>
                <a:ea typeface="Noto Sans KR" pitchFamily="34" charset="-122"/>
                <a:cs typeface="Noto Sans KR" pitchFamily="34" charset="-120"/>
              </a:rPr>
              <a:t>Codex · Git · GitHub</a:t>
            </a:r>
            <a:endParaRPr lang="en-US" sz="1400" dirty="0">
              <a:solidFill>
                <a:srgbClr val="B0441A"/>
              </a:solidFill>
            </a:endParaRPr>
          </a:p>
        </p:txBody>
      </p:sp>
      <p:sp>
        <p:nvSpPr>
          <p:cNvPr id="28" name="Shape 26"/>
          <p:cNvSpPr/>
          <p:nvPr/>
        </p:nvSpPr>
        <p:spPr>
          <a:xfrm>
            <a:off x="812800" y="5029002"/>
            <a:ext cx="10566400" cy="655241"/>
          </a:xfrm>
          <a:prstGeom prst="roundRect">
            <a:avLst>
              <a:gd name="adj" fmla="val 15506"/>
            </a:avLst>
          </a:prstGeom>
          <a:solidFill>
            <a:srgbClr val="ECE9E1"/>
          </a:solidFill>
          <a:ln/>
        </p:spPr>
      </p:sp>
      <p:sp>
        <p:nvSpPr>
          <p:cNvPr id="29" name="Text 27"/>
          <p:cNvSpPr/>
          <p:nvPr/>
        </p:nvSpPr>
        <p:spPr>
          <a:xfrm>
            <a:off x="1041400" y="5232202"/>
            <a:ext cx="83367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3"/>
                </a:solidFill>
                <a:latin typeface="Noto Sans KR" pitchFamily="34" charset="0"/>
                <a:ea typeface="Noto Sans KR" pitchFamily="34" charset="-122"/>
                <a:cs typeface="Noto Sans KR" pitchFamily="34" charset="-120"/>
              </a:rPr>
              <a:t>공통 업무</a:t>
            </a:r>
            <a:endParaRPr lang="en-US" sz="1400" dirty="0"/>
          </a:p>
        </p:txBody>
      </p:sp>
      <p:sp>
        <p:nvSpPr>
          <p:cNvPr id="30" name="Text 28"/>
          <p:cNvSpPr/>
          <p:nvPr/>
        </p:nvSpPr>
        <p:spPr>
          <a:xfrm>
            <a:off x="2040930" y="5232202"/>
            <a:ext cx="8032075" cy="274241"/>
          </a:xfrm>
          <a:prstGeom prst="rect">
            <a:avLst/>
          </a:prstGeom>
          <a:noFill/>
          <a:ln/>
        </p:spPr>
        <p:txBody>
          <a:bodyPr wrap="square" lIns="0" tIns="0" rIns="0" bIns="0" rtlCol="0" anchor="t">
            <a:normAutofit/>
          </a:bodyPr>
          <a:lstStyle/>
          <a:p>
            <a:pPr marL="0" indent="0" algn="l">
              <a:lnSpc>
                <a:spcPts val="1960"/>
              </a:lnSpc>
              <a:buNone/>
            </a:pPr>
            <a:r>
              <a:rPr lang="en-US" sz="1400" dirty="0" err="1">
                <a:solidFill>
                  <a:srgbClr val="4A5263"/>
                </a:solidFill>
                <a:latin typeface="Noto Sans KR" pitchFamily="34" charset="0"/>
                <a:ea typeface="Noto Sans KR" pitchFamily="34" charset="-122"/>
                <a:cs typeface="Noto Sans KR" pitchFamily="34" charset="-120"/>
              </a:rPr>
              <a:t>통합·</a:t>
            </a:r>
            <a:r>
              <a:rPr lang="en-US" sz="1400" err="1">
                <a:solidFill>
                  <a:srgbClr val="4A5263"/>
                </a:solidFill>
                <a:latin typeface="Noto Sans KR" pitchFamily="34" charset="0"/>
                <a:ea typeface="Noto Sans KR" pitchFamily="34" charset="-122"/>
                <a:cs typeface="Noto Sans KR" pitchFamily="34" charset="-120"/>
              </a:rPr>
              <a:t>배포</a:t>
            </a:r>
            <a:r>
              <a:rPr lang="en-US" sz="1400">
                <a:solidFill>
                  <a:srgbClr val="4A5263"/>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유호원</a:t>
            </a:r>
            <a:r>
              <a:rPr lang="en-US" sz="1400">
                <a:solidFill>
                  <a:srgbClr val="4A5263"/>
                </a:solidFill>
                <a:latin typeface="Noto Sans KR" pitchFamily="34" charset="0"/>
                <a:ea typeface="Noto Sans KR" pitchFamily="34" charset="-122"/>
                <a:cs typeface="Noto Sans KR" pitchFamily="34" charset="-120"/>
              </a:rPr>
              <a:t>　</a:t>
            </a:r>
            <a:r>
              <a:rPr lang="en-US" sz="1400" dirty="0">
                <a:solidFill>
                  <a:srgbClr val="4A5263"/>
                </a:solidFill>
                <a:latin typeface="Noto Sans KR" pitchFamily="34" charset="0"/>
                <a:ea typeface="Noto Sans KR" pitchFamily="34" charset="-122"/>
                <a:cs typeface="Noto Sans KR" pitchFamily="34" charset="-120"/>
              </a:rPr>
              <a:t>·　GitHub </a:t>
            </a:r>
            <a:r>
              <a:rPr lang="en-US" sz="1400" err="1">
                <a:solidFill>
                  <a:srgbClr val="4A5263"/>
                </a:solidFill>
                <a:latin typeface="Noto Sans KR" pitchFamily="34" charset="0"/>
                <a:ea typeface="Noto Sans KR" pitchFamily="34" charset="-122"/>
                <a:cs typeface="Noto Sans KR" pitchFamily="34" charset="-120"/>
              </a:rPr>
              <a:t>관리</a:t>
            </a:r>
            <a:r>
              <a:rPr lang="en-US" sz="1400">
                <a:solidFill>
                  <a:srgbClr val="4A5263"/>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김소연</a:t>
            </a:r>
            <a:r>
              <a:rPr lang="en-US" sz="1400">
                <a:solidFill>
                  <a:srgbClr val="4A5263"/>
                </a:solidFill>
                <a:latin typeface="Noto Sans KR" pitchFamily="34" charset="0"/>
                <a:ea typeface="Noto Sans KR" pitchFamily="34" charset="-122"/>
                <a:cs typeface="Noto Sans KR" pitchFamily="34" charset="-120"/>
              </a:rPr>
              <a:t>　</a:t>
            </a:r>
            <a:r>
              <a:rPr lang="en-US" sz="1400" dirty="0">
                <a:solidFill>
                  <a:srgbClr val="4A5263"/>
                </a:solidFill>
                <a:latin typeface="Noto Sans KR" pitchFamily="34" charset="0"/>
                <a:ea typeface="Noto Sans KR" pitchFamily="34" charset="-122"/>
                <a:cs typeface="Noto Sans KR" pitchFamily="34" charset="-120"/>
              </a:rPr>
              <a:t>·　Notion </a:t>
            </a:r>
            <a:r>
              <a:rPr lang="en-US" sz="1400" err="1">
                <a:solidFill>
                  <a:srgbClr val="4A5263"/>
                </a:solidFill>
                <a:latin typeface="Noto Sans KR" pitchFamily="34" charset="0"/>
                <a:ea typeface="Noto Sans KR" pitchFamily="34" charset="-122"/>
                <a:cs typeface="Noto Sans KR" pitchFamily="34" charset="-120"/>
              </a:rPr>
              <a:t>정리</a:t>
            </a:r>
            <a:r>
              <a:rPr lang="en-US" sz="1400">
                <a:solidFill>
                  <a:srgbClr val="4A5263"/>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염혜리</a:t>
            </a:r>
            <a:r>
              <a:rPr lang="en-US" sz="1400">
                <a:solidFill>
                  <a:srgbClr val="4A5263"/>
                </a:solidFill>
                <a:latin typeface="Noto Sans KR" pitchFamily="34" charset="0"/>
                <a:ea typeface="Noto Sans KR" pitchFamily="34" charset="-122"/>
                <a:cs typeface="Noto Sans KR" pitchFamily="34" charset="-120"/>
              </a:rPr>
              <a:t>　</a:t>
            </a:r>
            <a:r>
              <a:rPr lang="en-US" sz="1400" dirty="0">
                <a:solidFill>
                  <a:srgbClr val="4A5263"/>
                </a:solidFill>
                <a:latin typeface="Noto Sans KR" pitchFamily="34" charset="0"/>
                <a:ea typeface="Noto Sans KR" pitchFamily="34" charset="-122"/>
                <a:cs typeface="Noto Sans KR" pitchFamily="34" charset="-120"/>
              </a:rPr>
              <a:t>·　</a:t>
            </a:r>
            <a:r>
              <a:rPr lang="en-US" sz="1400" dirty="0" err="1">
                <a:solidFill>
                  <a:srgbClr val="4A5263"/>
                </a:solidFill>
                <a:latin typeface="Noto Sans KR" pitchFamily="34" charset="0"/>
                <a:ea typeface="Noto Sans KR" pitchFamily="34" charset="-122"/>
                <a:cs typeface="Noto Sans KR" pitchFamily="34" charset="-120"/>
              </a:rPr>
              <a:t>PPT·</a:t>
            </a:r>
            <a:r>
              <a:rPr lang="en-US" sz="1400" err="1">
                <a:solidFill>
                  <a:srgbClr val="4A5263"/>
                </a:solidFill>
                <a:latin typeface="Noto Sans KR" pitchFamily="34" charset="0"/>
                <a:ea typeface="Noto Sans KR" pitchFamily="34" charset="-122"/>
                <a:cs typeface="Noto Sans KR" pitchFamily="34" charset="-120"/>
              </a:rPr>
              <a:t>발표</a:t>
            </a:r>
            <a:r>
              <a:rPr lang="en-US" sz="1400">
                <a:solidFill>
                  <a:srgbClr val="4A5263"/>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이애리</a:t>
            </a:r>
            <a:endParaRPr lang="en-US" sz="1400" dirty="0"/>
          </a:p>
        </p:txBody>
      </p:sp>
      <p:sp>
        <p:nvSpPr>
          <p:cNvPr id="31" name="Text 25">
            <a:extLst>
              <a:ext uri="{FF2B5EF4-FFF2-40B4-BE49-F238E27FC236}">
                <a16:creationId xmlns:a16="http://schemas.microsoft.com/office/drawing/2014/main" id="{FAE07A8B-12E0-4DF8-9DCA-76D786AAB29C}"/>
              </a:ext>
            </a:extLst>
          </p:cNvPr>
          <p:cNvSpPr/>
          <p:nvPr/>
        </p:nvSpPr>
        <p:spPr>
          <a:xfrm>
            <a:off x="9086850" y="4011921"/>
            <a:ext cx="2218460" cy="593633"/>
          </a:xfrm>
          <a:prstGeom prst="rect">
            <a:avLst/>
          </a:prstGeom>
          <a:noFill/>
          <a:ln/>
        </p:spPr>
        <p:txBody>
          <a:bodyPr wrap="square" lIns="0" tIns="0" rIns="0" bIns="0" rtlCol="0" anchor="t">
            <a:normAutofit/>
          </a:bodyPr>
          <a:lstStyle/>
          <a:p>
            <a:pPr marL="0" indent="0" algn="l">
              <a:lnSpc>
                <a:spcPts val="2100"/>
              </a:lnSpc>
              <a:buNone/>
            </a:pPr>
            <a:r>
              <a:rPr lang="ko-KR" altLang="en-US" sz="1400" b="1">
                <a:solidFill>
                  <a:srgbClr val="4A5263"/>
                </a:solidFill>
                <a:latin typeface="Noto Sans KR" pitchFamily="34" charset="0"/>
                <a:ea typeface="Noto Sans KR" pitchFamily="34" charset="-122"/>
                <a:cs typeface="Noto Sans KR" pitchFamily="34" charset="-120"/>
              </a:rPr>
              <a:t>주로 쓴 </a:t>
            </a:r>
            <a:r>
              <a:rPr lang="en-US" sz="1400" b="1">
                <a:solidFill>
                  <a:srgbClr val="4A5263"/>
                </a:solidFill>
                <a:latin typeface="Noto Sans KR" pitchFamily="34" charset="0"/>
                <a:ea typeface="Noto Sans KR" pitchFamily="34" charset="-122"/>
                <a:cs typeface="Noto Sans KR" pitchFamily="34" charset="-120"/>
              </a:rPr>
              <a:t>AI　</a:t>
            </a:r>
            <a:r>
              <a:rPr lang="en-US" sz="1400">
                <a:solidFill>
                  <a:srgbClr val="B0441A"/>
                </a:solidFill>
                <a:latin typeface="Noto Sans KR" pitchFamily="34" charset="0"/>
                <a:ea typeface="Noto Sans KR" pitchFamily="34" charset="-122"/>
                <a:cs typeface="Noto Sans KR" pitchFamily="34" charset="-120"/>
              </a:rPr>
              <a:t>Codex · Git · GitHub</a:t>
            </a:r>
            <a:endParaRPr lang="en-US" sz="1400" dirty="0">
              <a:solidFill>
                <a:srgbClr val="B0441A"/>
              </a:solidFill>
            </a:endParaRPr>
          </a:p>
        </p:txBody>
      </p:sp>
      <p:sp>
        <p:nvSpPr>
          <p:cNvPr id="32" name="Text 25">
            <a:extLst>
              <a:ext uri="{FF2B5EF4-FFF2-40B4-BE49-F238E27FC236}">
                <a16:creationId xmlns:a16="http://schemas.microsoft.com/office/drawing/2014/main" id="{8EAAD6D0-D8AA-43CB-B710-8F614CFAE256}"/>
              </a:ext>
            </a:extLst>
          </p:cNvPr>
          <p:cNvSpPr/>
          <p:nvPr/>
        </p:nvSpPr>
        <p:spPr>
          <a:xfrm>
            <a:off x="3727450" y="4016963"/>
            <a:ext cx="2218460" cy="593633"/>
          </a:xfrm>
          <a:prstGeom prst="rect">
            <a:avLst/>
          </a:prstGeom>
          <a:noFill/>
          <a:ln/>
        </p:spPr>
        <p:txBody>
          <a:bodyPr wrap="square" lIns="0" tIns="0" rIns="0" bIns="0" rtlCol="0" anchor="t">
            <a:normAutofit/>
          </a:bodyPr>
          <a:lstStyle/>
          <a:p>
            <a:pPr marL="0" indent="0" algn="l">
              <a:lnSpc>
                <a:spcPts val="2100"/>
              </a:lnSpc>
              <a:buNone/>
            </a:pPr>
            <a:r>
              <a:rPr lang="ko-KR" altLang="en-US" sz="1400" b="1">
                <a:solidFill>
                  <a:srgbClr val="4A5263"/>
                </a:solidFill>
                <a:latin typeface="Noto Sans KR" pitchFamily="34" charset="0"/>
                <a:ea typeface="Noto Sans KR" pitchFamily="34" charset="-122"/>
                <a:cs typeface="Noto Sans KR" pitchFamily="34" charset="-120"/>
              </a:rPr>
              <a:t>주로 쓴 </a:t>
            </a:r>
            <a:r>
              <a:rPr lang="en-US" sz="1400" b="1">
                <a:solidFill>
                  <a:srgbClr val="4A5263"/>
                </a:solidFill>
                <a:latin typeface="Noto Sans KR" pitchFamily="34" charset="0"/>
                <a:ea typeface="Noto Sans KR" pitchFamily="34" charset="-122"/>
                <a:cs typeface="Noto Sans KR" pitchFamily="34" charset="-120"/>
              </a:rPr>
              <a:t>AI　</a:t>
            </a:r>
            <a:r>
              <a:rPr lang="en-US" sz="1400">
                <a:solidFill>
                  <a:srgbClr val="B0441A"/>
                </a:solidFill>
                <a:latin typeface="Noto Sans KR" pitchFamily="34" charset="0"/>
                <a:ea typeface="Noto Sans KR" pitchFamily="34" charset="-122"/>
                <a:cs typeface="Noto Sans KR" pitchFamily="34" charset="-120"/>
              </a:rPr>
              <a:t>Codex · Git · GitHub</a:t>
            </a:r>
            <a:endParaRPr lang="en-US" sz="1400" dirty="0">
              <a:solidFill>
                <a:srgbClr val="B0441A"/>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41A"/>
                </a:solidFill>
                <a:latin typeface="JetBrains Mono" pitchFamily="49" charset="0"/>
                <a:ea typeface="JetBrains Mono" pitchFamily="49" charset="-122"/>
                <a:cs typeface="JetBrains Mono" pitchFamily="49" charset="-120"/>
              </a:rPr>
              <a:t>03 · OVERVIEW</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600" b="1" i="0" dirty="0">
                <a:solidFill>
                  <a:srgbClr val="1B2433"/>
                </a:solidFill>
                <a:latin typeface="Noto Sans KR" pitchFamily="34" charset="0"/>
                <a:ea typeface="Noto Sans KR" pitchFamily="34" charset="-122"/>
                <a:cs typeface="Noto Sans KR" pitchFamily="34" charset="-120"/>
              </a:rPr>
              <a:t>가상의 AI 영상 제작사, STUDIO 상상의 홈페이지</a:t>
            </a:r>
            <a:endParaRPr lang="en-US" sz="3600" dirty="0"/>
          </a:p>
        </p:txBody>
      </p:sp>
      <p:sp>
        <p:nvSpPr>
          <p:cNvPr id="4" name="Text 2"/>
          <p:cNvSpPr/>
          <p:nvPr/>
        </p:nvSpPr>
        <p:spPr>
          <a:xfrm>
            <a:off x="815975" y="1960491"/>
            <a:ext cx="10883392" cy="675481"/>
          </a:xfrm>
          <a:prstGeom prst="rect">
            <a:avLst/>
          </a:prstGeom>
          <a:noFill/>
          <a:ln/>
        </p:spPr>
        <p:txBody>
          <a:bodyPr wrap="square" lIns="0" tIns="0" rIns="0" bIns="0" rtlCol="0" anchor="t">
            <a:normAutofit/>
          </a:bodyPr>
          <a:lstStyle/>
          <a:p>
            <a:pPr marL="0" indent="0" algn="l">
              <a:lnSpc>
                <a:spcPts val="2560"/>
              </a:lnSpc>
              <a:buNone/>
            </a:pPr>
            <a:r>
              <a:rPr lang="en-US" sz="2000" dirty="0">
                <a:solidFill>
                  <a:srgbClr val="4A5263"/>
                </a:solidFill>
                <a:latin typeface="Noto Sans KR" pitchFamily="34" charset="0"/>
                <a:ea typeface="Noto Sans KR" pitchFamily="34" charset="-122"/>
                <a:cs typeface="Noto Sans KR" pitchFamily="34" charset="-120"/>
              </a:rPr>
              <a:t>기획부터 AI 영상 제작까지 맡아 주는 가상의 스튜디오를 </a:t>
            </a:r>
            <a:r>
              <a:rPr lang="en-US" sz="2000" dirty="0" err="1">
                <a:solidFill>
                  <a:srgbClr val="4A5263"/>
                </a:solidFill>
                <a:latin typeface="Noto Sans KR" pitchFamily="34" charset="0"/>
                <a:ea typeface="Noto Sans KR" pitchFamily="34" charset="-122"/>
                <a:cs typeface="Noto Sans KR" pitchFamily="34" charset="-120"/>
              </a:rPr>
              <a:t>정하고</a:t>
            </a:r>
            <a:r>
              <a:rPr lang="en-US" sz="2000" dirty="0">
                <a:solidFill>
                  <a:srgbClr val="4A5263"/>
                </a:solidFill>
                <a:latin typeface="Noto Sans KR" pitchFamily="34" charset="0"/>
                <a:ea typeface="Noto Sans KR" pitchFamily="34" charset="-122"/>
                <a:cs typeface="Noto Sans KR" pitchFamily="34" charset="-120"/>
              </a:rPr>
              <a:t>,</a:t>
            </a:r>
          </a:p>
          <a:p>
            <a:pPr marL="0" indent="0" algn="l">
              <a:lnSpc>
                <a:spcPts val="2560"/>
              </a:lnSpc>
              <a:buNone/>
            </a:pPr>
            <a:r>
              <a:rPr lang="en-US" sz="2000" dirty="0">
                <a:solidFill>
                  <a:srgbClr val="4A5263"/>
                </a:solidFill>
                <a:latin typeface="Noto Sans KR" pitchFamily="34" charset="0"/>
                <a:ea typeface="Noto Sans KR" pitchFamily="34" charset="-122"/>
                <a:cs typeface="Noto Sans KR" pitchFamily="34" charset="-120"/>
              </a:rPr>
              <a:t> 회사 소개 · 제작 방식 · 포트폴리오 · 제작 문의까지 실제 회사 홈페이지처럼 만들었습니다.</a:t>
            </a:r>
            <a:endParaRPr lang="en-US" sz="2000" dirty="0"/>
          </a:p>
        </p:txBody>
      </p:sp>
      <p:sp>
        <p:nvSpPr>
          <p:cNvPr id="5" name="Shape 3"/>
          <p:cNvSpPr/>
          <p:nvPr/>
        </p:nvSpPr>
        <p:spPr>
          <a:xfrm>
            <a:off x="815975" y="3070045"/>
            <a:ext cx="3414117" cy="2550610"/>
          </a:xfrm>
          <a:prstGeom prst="roundRect">
            <a:avLst>
              <a:gd name="adj" fmla="val 5136"/>
            </a:avLst>
          </a:prstGeom>
          <a:solidFill>
            <a:srgbClr val="FDFCF9"/>
          </a:solidFill>
          <a:ln w="6350">
            <a:solidFill>
              <a:srgbClr val="DCD6C8"/>
            </a:solidFill>
            <a:prstDash val="solid"/>
          </a:ln>
        </p:spPr>
      </p:sp>
      <p:sp>
        <p:nvSpPr>
          <p:cNvPr id="6" name="Text 4"/>
          <p:cNvSpPr/>
          <p:nvPr/>
        </p:nvSpPr>
        <p:spPr>
          <a:xfrm>
            <a:off x="1073150" y="3151806"/>
            <a:ext cx="2986760" cy="39313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531E"/>
                </a:solidFill>
                <a:latin typeface="JetBrains Mono" pitchFamily="49" charset="0"/>
                <a:ea typeface="JetBrains Mono" pitchFamily="49" charset="-122"/>
                <a:cs typeface="JetBrains Mono" pitchFamily="49" charset="-120"/>
              </a:rPr>
              <a:t>01</a:t>
            </a:r>
            <a:endParaRPr lang="en-US" sz="2200" dirty="0"/>
          </a:p>
        </p:txBody>
      </p:sp>
      <p:sp>
        <p:nvSpPr>
          <p:cNvPr id="7" name="Text 5"/>
          <p:cNvSpPr/>
          <p:nvPr/>
        </p:nvSpPr>
        <p:spPr>
          <a:xfrm>
            <a:off x="1073150" y="3614161"/>
            <a:ext cx="2986760" cy="39882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33"/>
                </a:solidFill>
                <a:latin typeface="Noto Sans KR" pitchFamily="34" charset="0"/>
                <a:ea typeface="Noto Sans KR" pitchFamily="34" charset="-122"/>
                <a:cs typeface="Noto Sans KR" pitchFamily="34" charset="-120"/>
              </a:rPr>
              <a:t>1인 1페이지</a:t>
            </a:r>
            <a:endParaRPr lang="en-US" sz="1800" dirty="0"/>
          </a:p>
        </p:txBody>
      </p:sp>
      <p:sp>
        <p:nvSpPr>
          <p:cNvPr id="8" name="Text 6"/>
          <p:cNvSpPr/>
          <p:nvPr/>
        </p:nvSpPr>
        <p:spPr>
          <a:xfrm>
            <a:off x="1073150" y="3965173"/>
            <a:ext cx="2986760" cy="1420559"/>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메뉴 4개를 한 사람씩 맡아 각자 페이지를 완성</a:t>
            </a:r>
            <a:endParaRPr lang="en-US" sz="1400" dirty="0"/>
          </a:p>
        </p:txBody>
      </p:sp>
      <p:sp>
        <p:nvSpPr>
          <p:cNvPr id="9" name="Shape 7"/>
          <p:cNvSpPr/>
          <p:nvPr/>
        </p:nvSpPr>
        <p:spPr>
          <a:xfrm>
            <a:off x="4388842" y="3070045"/>
            <a:ext cx="3414216" cy="2550610"/>
          </a:xfrm>
          <a:prstGeom prst="roundRect">
            <a:avLst>
              <a:gd name="adj" fmla="val 5136"/>
            </a:avLst>
          </a:prstGeom>
          <a:solidFill>
            <a:srgbClr val="FDFCF9"/>
          </a:solidFill>
          <a:ln w="6350">
            <a:solidFill>
              <a:srgbClr val="DCD6C8"/>
            </a:solidFill>
            <a:prstDash val="solid"/>
          </a:ln>
        </p:spPr>
      </p:sp>
      <p:sp>
        <p:nvSpPr>
          <p:cNvPr id="10" name="Text 8"/>
          <p:cNvSpPr/>
          <p:nvPr/>
        </p:nvSpPr>
        <p:spPr>
          <a:xfrm>
            <a:off x="4646017" y="3151806"/>
            <a:ext cx="2986862" cy="39313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531E"/>
                </a:solidFill>
                <a:latin typeface="JetBrains Mono" pitchFamily="49" charset="0"/>
                <a:ea typeface="JetBrains Mono" pitchFamily="49" charset="-122"/>
                <a:cs typeface="JetBrains Mono" pitchFamily="49" charset="-120"/>
              </a:rPr>
              <a:t>02</a:t>
            </a:r>
            <a:endParaRPr lang="en-US" sz="2200" dirty="0"/>
          </a:p>
        </p:txBody>
      </p:sp>
      <p:sp>
        <p:nvSpPr>
          <p:cNvPr id="11" name="Text 9"/>
          <p:cNvSpPr/>
          <p:nvPr/>
        </p:nvSpPr>
        <p:spPr>
          <a:xfrm>
            <a:off x="4646017" y="3614161"/>
            <a:ext cx="2986862" cy="39882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33"/>
                </a:solidFill>
                <a:latin typeface="Noto Sans KR" pitchFamily="34" charset="0"/>
                <a:ea typeface="Noto Sans KR" pitchFamily="34" charset="-122"/>
                <a:cs typeface="Noto Sans KR" pitchFamily="34" charset="-120"/>
              </a:rPr>
              <a:t>AI 코딩 도구</a:t>
            </a:r>
            <a:endParaRPr lang="en-US" sz="1800" dirty="0"/>
          </a:p>
        </p:txBody>
      </p:sp>
      <p:sp>
        <p:nvSpPr>
          <p:cNvPr id="12" name="Text 10"/>
          <p:cNvSpPr/>
          <p:nvPr/>
        </p:nvSpPr>
        <p:spPr>
          <a:xfrm>
            <a:off x="4646017" y="3965173"/>
            <a:ext cx="2986862" cy="1420559"/>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Codex와 Claude Code로 코드 작성 · 수정 · 정리</a:t>
            </a:r>
            <a:endParaRPr lang="en-US" sz="1400" dirty="0"/>
          </a:p>
        </p:txBody>
      </p:sp>
      <p:sp>
        <p:nvSpPr>
          <p:cNvPr id="13" name="Shape 11"/>
          <p:cNvSpPr/>
          <p:nvPr/>
        </p:nvSpPr>
        <p:spPr>
          <a:xfrm>
            <a:off x="7961809" y="3070045"/>
            <a:ext cx="3414216" cy="2550610"/>
          </a:xfrm>
          <a:prstGeom prst="roundRect">
            <a:avLst>
              <a:gd name="adj" fmla="val 5136"/>
            </a:avLst>
          </a:prstGeom>
          <a:solidFill>
            <a:srgbClr val="FDFCF9"/>
          </a:solidFill>
          <a:ln w="6350">
            <a:solidFill>
              <a:srgbClr val="DCD6C8"/>
            </a:solidFill>
            <a:prstDash val="solid"/>
          </a:ln>
        </p:spPr>
      </p:sp>
      <p:sp>
        <p:nvSpPr>
          <p:cNvPr id="14" name="Text 12"/>
          <p:cNvSpPr/>
          <p:nvPr/>
        </p:nvSpPr>
        <p:spPr>
          <a:xfrm>
            <a:off x="8218984" y="3151806"/>
            <a:ext cx="2986862" cy="39313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531E"/>
                </a:solidFill>
                <a:latin typeface="JetBrains Mono" pitchFamily="49" charset="0"/>
                <a:ea typeface="JetBrains Mono" pitchFamily="49" charset="-122"/>
                <a:cs typeface="JetBrains Mono" pitchFamily="49" charset="-120"/>
              </a:rPr>
              <a:t>03</a:t>
            </a:r>
            <a:endParaRPr lang="en-US" sz="2200" dirty="0"/>
          </a:p>
        </p:txBody>
      </p:sp>
      <p:sp>
        <p:nvSpPr>
          <p:cNvPr id="15" name="Text 13"/>
          <p:cNvSpPr/>
          <p:nvPr/>
        </p:nvSpPr>
        <p:spPr>
          <a:xfrm>
            <a:off x="8218984" y="3614161"/>
            <a:ext cx="2986862" cy="39882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33"/>
                </a:solidFill>
                <a:latin typeface="Noto Sans KR" pitchFamily="34" charset="0"/>
                <a:ea typeface="Noto Sans KR" pitchFamily="34" charset="-122"/>
                <a:cs typeface="Noto Sans KR" pitchFamily="34" charset="-120"/>
              </a:rPr>
              <a:t>협업과 배포</a:t>
            </a:r>
            <a:endParaRPr lang="en-US" sz="1800" dirty="0"/>
          </a:p>
        </p:txBody>
      </p:sp>
      <p:sp>
        <p:nvSpPr>
          <p:cNvPr id="16" name="Text 14"/>
          <p:cNvSpPr/>
          <p:nvPr/>
        </p:nvSpPr>
        <p:spPr>
          <a:xfrm>
            <a:off x="8218984" y="3965173"/>
            <a:ext cx="2986862" cy="1420559"/>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Git · GitHub · Notion으로 합치고 하나의 사이트로 배포</a:t>
            </a:r>
            <a:endParaRPr lang="en-US" sz="1400" dirty="0"/>
          </a:p>
        </p:txBody>
      </p:sp>
      <p:sp>
        <p:nvSpPr>
          <p:cNvPr id="17" name="Text 15"/>
          <p:cNvSpPr/>
          <p:nvPr/>
        </p:nvSpPr>
        <p:spPr>
          <a:xfrm>
            <a:off x="812800" y="6040885"/>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err="1">
                <a:solidFill>
                  <a:srgbClr val="5A6170"/>
                </a:solidFill>
                <a:latin typeface="Noto Sans KR" pitchFamily="34" charset="0"/>
                <a:ea typeface="Noto Sans KR" pitchFamily="34" charset="-122"/>
                <a:cs typeface="Noto Sans KR" pitchFamily="34" charset="-120"/>
              </a:rPr>
              <a:t>기간</a:t>
            </a:r>
            <a:r>
              <a:rPr lang="en-US" sz="1300">
                <a:solidFill>
                  <a:srgbClr val="5A6170"/>
                </a:solidFill>
                <a:latin typeface="Noto Sans KR" pitchFamily="34" charset="0"/>
                <a:ea typeface="Noto Sans KR" pitchFamily="34" charset="-122"/>
                <a:cs typeface="Noto Sans KR" pitchFamily="34" charset="-120"/>
              </a:rPr>
              <a:t> </a:t>
            </a:r>
            <a:r>
              <a:rPr lang="en-US" sz="1300">
                <a:solidFill>
                  <a:srgbClr val="B0441A"/>
                </a:solidFill>
                <a:latin typeface="Noto Sans KR" pitchFamily="34" charset="0"/>
                <a:ea typeface="Noto Sans KR" pitchFamily="34" charset="-122"/>
                <a:cs typeface="Noto Sans KR" pitchFamily="34" charset="-120"/>
              </a:rPr>
              <a:t>10.13 ~ 10.22</a:t>
            </a:r>
            <a:r>
              <a:rPr lang="en-US" sz="1300">
                <a:solidFill>
                  <a:srgbClr val="5A6170"/>
                </a:solidFill>
                <a:latin typeface="Noto Sans KR" pitchFamily="34" charset="0"/>
                <a:ea typeface="Noto Sans KR" pitchFamily="34" charset="-122"/>
                <a:cs typeface="Noto Sans KR" pitchFamily="34" charset="-120"/>
              </a:rPr>
              <a:t>　</a:t>
            </a:r>
            <a:r>
              <a:rPr lang="en-US" sz="1300" dirty="0">
                <a:solidFill>
                  <a:srgbClr val="5A6170"/>
                </a:solidFill>
                <a:latin typeface="Noto Sans KR" pitchFamily="34" charset="0"/>
                <a:ea typeface="Noto Sans KR" pitchFamily="34" charset="-122"/>
                <a:cs typeface="Noto Sans KR" pitchFamily="34" charset="-120"/>
              </a:rPr>
              <a:t>·　</a:t>
            </a:r>
            <a:r>
              <a:rPr lang="en-US" sz="1300" b="1" dirty="0">
                <a:solidFill>
                  <a:srgbClr val="5A6170"/>
                </a:solidFill>
                <a:latin typeface="Noto Sans KR" pitchFamily="34" charset="0"/>
                <a:ea typeface="Noto Sans KR" pitchFamily="34" charset="-122"/>
                <a:cs typeface="Noto Sans KR" pitchFamily="34" charset="-120"/>
              </a:rPr>
              <a:t>사용 기술</a:t>
            </a:r>
            <a:r>
              <a:rPr lang="en-US" sz="1300" dirty="0">
                <a:solidFill>
                  <a:srgbClr val="5A6170"/>
                </a:solidFill>
                <a:latin typeface="Noto Sans KR" pitchFamily="34" charset="0"/>
                <a:ea typeface="Noto Sans KR" pitchFamily="34" charset="-122"/>
                <a:cs typeface="Noto Sans KR" pitchFamily="34" charset="-120"/>
              </a:rPr>
              <a:t> HTML · CSS · JavaScript　·　</a:t>
            </a:r>
            <a:r>
              <a:rPr lang="en-US" sz="1300" b="1">
                <a:solidFill>
                  <a:srgbClr val="5A6170"/>
                </a:solidFill>
                <a:latin typeface="Noto Sans KR" pitchFamily="34" charset="0"/>
                <a:ea typeface="Noto Sans KR" pitchFamily="34" charset="-122"/>
                <a:cs typeface="Noto Sans KR" pitchFamily="34" charset="-120"/>
              </a:rPr>
              <a:t>배포</a:t>
            </a:r>
            <a:r>
              <a:rPr lang="en-US" sz="1300">
                <a:solidFill>
                  <a:srgbClr val="5A6170"/>
                </a:solidFill>
                <a:latin typeface="Noto Sans KR" pitchFamily="34" charset="0"/>
                <a:ea typeface="Noto Sans KR" pitchFamily="34" charset="-122"/>
                <a:cs typeface="Noto Sans KR" pitchFamily="34" charset="-120"/>
              </a:rPr>
              <a:t> </a:t>
            </a:r>
            <a:r>
              <a:rPr lang="en-US" sz="1300">
                <a:solidFill>
                  <a:srgbClr val="B0441A"/>
                </a:solidFill>
                <a:latin typeface="Noto Sans KR" pitchFamily="34" charset="0"/>
                <a:ea typeface="Noto Sans KR" pitchFamily="34" charset="-122"/>
                <a:cs typeface="Noto Sans KR" pitchFamily="34" charset="-120"/>
              </a:rPr>
              <a:t>GitHub Pages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41A"/>
                </a:solidFill>
                <a:latin typeface="JetBrains Mono" pitchFamily="49" charset="0"/>
                <a:ea typeface="JetBrains Mono" pitchFamily="49" charset="-122"/>
                <a:cs typeface="JetBrains Mono" pitchFamily="49" charset="-120"/>
              </a:rPr>
              <a:t>04 · SITE MAP</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4개 페이지를 하나로 묶은 구조</a:t>
            </a:r>
            <a:endParaRPr lang="en-US" sz="3200" dirty="0"/>
          </a:p>
        </p:txBody>
      </p:sp>
      <p:sp>
        <p:nvSpPr>
          <p:cNvPr id="4" name="Shape 2"/>
          <p:cNvSpPr/>
          <p:nvPr/>
        </p:nvSpPr>
        <p:spPr>
          <a:xfrm>
            <a:off x="3927177" y="1869380"/>
            <a:ext cx="4337546" cy="553641"/>
          </a:xfrm>
          <a:prstGeom prst="roundRect">
            <a:avLst>
              <a:gd name="adj" fmla="val 18351"/>
            </a:avLst>
          </a:prstGeom>
          <a:solidFill>
            <a:srgbClr val="16202E"/>
          </a:solidFill>
          <a:ln/>
        </p:spPr>
      </p:sp>
      <p:sp>
        <p:nvSpPr>
          <p:cNvPr id="5" name="Text 3"/>
          <p:cNvSpPr/>
          <p:nvPr/>
        </p:nvSpPr>
        <p:spPr>
          <a:xfrm>
            <a:off x="4231977" y="2021780"/>
            <a:ext cx="12192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8692C"/>
                </a:solidFill>
                <a:latin typeface="JetBrains Mono" pitchFamily="49" charset="0"/>
                <a:ea typeface="JetBrains Mono" pitchFamily="49" charset="-122"/>
                <a:cs typeface="JetBrains Mono" pitchFamily="49" charset="-120"/>
              </a:rPr>
              <a:t>index.html</a:t>
            </a:r>
            <a:endParaRPr lang="en-US" sz="1400" dirty="0"/>
          </a:p>
        </p:txBody>
      </p:sp>
      <p:sp>
        <p:nvSpPr>
          <p:cNvPr id="6" name="Text 4"/>
          <p:cNvSpPr/>
          <p:nvPr/>
        </p:nvSpPr>
        <p:spPr>
          <a:xfrm>
            <a:off x="5451177" y="2021780"/>
            <a:ext cx="281354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F1EC"/>
                </a:solidFill>
                <a:latin typeface="Noto Sans KR" pitchFamily="34" charset="0"/>
                <a:ea typeface="Noto Sans KR" pitchFamily="34" charset="-122"/>
                <a:cs typeface="Noto Sans KR" pitchFamily="34" charset="-120"/>
              </a:rPr>
              <a:t>시작 페이지 → ABOUT US로 이동</a:t>
            </a:r>
            <a:endParaRPr lang="en-US" sz="1400" dirty="0"/>
          </a:p>
        </p:txBody>
      </p:sp>
      <p:pic>
        <p:nvPicPr>
          <p:cNvPr id="7" name="Image 0" descr="arrow-down"/>
          <p:cNvPicPr>
            <a:picLocks noChangeAspect="1"/>
          </p:cNvPicPr>
          <p:nvPr/>
        </p:nvPicPr>
        <p:blipFill>
          <a:blip r:embed="rId3"/>
          <a:srcRect/>
          <a:stretch/>
        </p:blipFill>
        <p:spPr>
          <a:xfrm>
            <a:off x="5981700" y="2524621"/>
            <a:ext cx="228600" cy="304800"/>
          </a:xfrm>
          <a:prstGeom prst="rect">
            <a:avLst/>
          </a:prstGeom>
        </p:spPr>
      </p:pic>
      <p:sp>
        <p:nvSpPr>
          <p:cNvPr id="8" name="Shape 5"/>
          <p:cNvSpPr/>
          <p:nvPr/>
        </p:nvSpPr>
        <p:spPr>
          <a:xfrm>
            <a:off x="815975" y="2934196"/>
            <a:ext cx="2520950" cy="2183236"/>
          </a:xfrm>
          <a:prstGeom prst="roundRect">
            <a:avLst>
              <a:gd name="adj" fmla="val 7291"/>
            </a:avLst>
          </a:prstGeom>
          <a:solidFill>
            <a:srgbClr val="FDFCF9"/>
          </a:solidFill>
          <a:ln w="6350">
            <a:solidFill>
              <a:srgbClr val="DCD6C8"/>
            </a:solidFill>
            <a:prstDash val="solid"/>
          </a:ln>
        </p:spPr>
      </p:sp>
      <p:sp>
        <p:nvSpPr>
          <p:cNvPr id="9" name="Text 6"/>
          <p:cNvSpPr/>
          <p:nvPr/>
        </p:nvSpPr>
        <p:spPr>
          <a:xfrm>
            <a:off x="1022350" y="3140571"/>
            <a:ext cx="2171446" cy="238720"/>
          </a:xfrm>
          <a:prstGeom prst="rect">
            <a:avLst/>
          </a:prstGeom>
          <a:noFill/>
          <a:ln/>
        </p:spPr>
        <p:txBody>
          <a:bodyPr wrap="square" lIns="0" tIns="0" rIns="0" bIns="0" rtlCol="0" anchor="t">
            <a:normAutofit/>
          </a:bodyPr>
          <a:lstStyle/>
          <a:p>
            <a:pPr marL="0" indent="0" algn="l">
              <a:lnSpc>
                <a:spcPts val="1680"/>
              </a:lnSpc>
              <a:buNone/>
            </a:pPr>
            <a:r>
              <a:rPr lang="en-US" b="1" dirty="0">
                <a:solidFill>
                  <a:srgbClr val="5A6170"/>
                </a:solidFill>
                <a:latin typeface="JetBrains Mono" pitchFamily="49" charset="0"/>
                <a:ea typeface="JetBrains Mono" pitchFamily="49" charset="-122"/>
                <a:cs typeface="JetBrains Mono" pitchFamily="49" charset="-120"/>
              </a:rPr>
              <a:t>main</a:t>
            </a:r>
            <a:r>
              <a:rPr lang="en-US" sz="1200" b="1" dirty="0">
                <a:solidFill>
                  <a:srgbClr val="5A6170"/>
                </a:solidFill>
                <a:latin typeface="JetBrains Mono" pitchFamily="49" charset="0"/>
                <a:ea typeface="JetBrains Mono" pitchFamily="49" charset="-122"/>
                <a:cs typeface="JetBrains Mono" pitchFamily="49" charset="-120"/>
              </a:rPr>
              <a:t>/</a:t>
            </a:r>
            <a:endParaRPr lang="en-US" sz="1200" dirty="0"/>
          </a:p>
        </p:txBody>
      </p:sp>
      <p:sp>
        <p:nvSpPr>
          <p:cNvPr id="10" name="Text 7"/>
          <p:cNvSpPr/>
          <p:nvPr/>
        </p:nvSpPr>
        <p:spPr>
          <a:xfrm>
            <a:off x="1022350" y="343009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ABOUT US</a:t>
            </a:r>
            <a:endParaRPr lang="en-US" sz="2000" dirty="0"/>
          </a:p>
        </p:txBody>
      </p:sp>
      <p:sp>
        <p:nvSpPr>
          <p:cNvPr id="11" name="Text 8"/>
          <p:cNvSpPr/>
          <p:nvPr/>
        </p:nvSpPr>
        <p:spPr>
          <a:xfrm>
            <a:off x="1022350" y="3811091"/>
            <a:ext cx="21714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회사 소개 · 서비스 · 위치</a:t>
            </a:r>
            <a:endParaRPr lang="en-US" sz="1400" dirty="0"/>
          </a:p>
        </p:txBody>
      </p:sp>
      <p:sp>
        <p:nvSpPr>
          <p:cNvPr id="12" name="Shape 9"/>
          <p:cNvSpPr/>
          <p:nvPr/>
        </p:nvSpPr>
        <p:spPr>
          <a:xfrm>
            <a:off x="3495675" y="2934196"/>
            <a:ext cx="2520950" cy="2183236"/>
          </a:xfrm>
          <a:prstGeom prst="roundRect">
            <a:avLst>
              <a:gd name="adj" fmla="val 7291"/>
            </a:avLst>
          </a:prstGeom>
          <a:solidFill>
            <a:srgbClr val="FDFCF9"/>
          </a:solidFill>
          <a:ln w="6350">
            <a:solidFill>
              <a:srgbClr val="DCD6C8"/>
            </a:solidFill>
            <a:prstDash val="solid"/>
          </a:ln>
        </p:spPr>
      </p:sp>
      <p:sp>
        <p:nvSpPr>
          <p:cNvPr id="13" name="Text 10"/>
          <p:cNvSpPr/>
          <p:nvPr/>
        </p:nvSpPr>
        <p:spPr>
          <a:xfrm>
            <a:off x="3702050" y="3140571"/>
            <a:ext cx="2171446" cy="238720"/>
          </a:xfrm>
          <a:prstGeom prst="rect">
            <a:avLst/>
          </a:prstGeom>
          <a:noFill/>
          <a:ln/>
        </p:spPr>
        <p:txBody>
          <a:bodyPr wrap="square" lIns="0" tIns="0" rIns="0" bIns="0" rtlCol="0" anchor="t">
            <a:normAutofit/>
          </a:bodyPr>
          <a:lstStyle/>
          <a:p>
            <a:pPr marL="0" indent="0" algn="l">
              <a:lnSpc>
                <a:spcPts val="1680"/>
              </a:lnSpc>
              <a:buNone/>
            </a:pPr>
            <a:r>
              <a:rPr lang="en-US" b="1" dirty="0">
                <a:solidFill>
                  <a:srgbClr val="5A6170"/>
                </a:solidFill>
                <a:latin typeface="JetBrains Mono" pitchFamily="49" charset="0"/>
                <a:ea typeface="JetBrains Mono" pitchFamily="49" charset="-122"/>
                <a:cs typeface="JetBrains Mono" pitchFamily="49" charset="-120"/>
              </a:rPr>
              <a:t>ai-video/</a:t>
            </a:r>
            <a:endParaRPr lang="en-US" dirty="0"/>
          </a:p>
        </p:txBody>
      </p:sp>
      <p:sp>
        <p:nvSpPr>
          <p:cNvPr id="14" name="Text 11"/>
          <p:cNvSpPr/>
          <p:nvPr/>
        </p:nvSpPr>
        <p:spPr>
          <a:xfrm>
            <a:off x="3702050" y="343009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AI VIDEO</a:t>
            </a:r>
            <a:endParaRPr lang="en-US" sz="2000" dirty="0"/>
          </a:p>
        </p:txBody>
      </p:sp>
      <p:sp>
        <p:nvSpPr>
          <p:cNvPr id="15" name="Text 12"/>
          <p:cNvSpPr/>
          <p:nvPr/>
        </p:nvSpPr>
        <p:spPr>
          <a:xfrm>
            <a:off x="3702050" y="3811091"/>
            <a:ext cx="21714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제작 방식 · 제작 과정</a:t>
            </a:r>
            <a:endParaRPr lang="en-US" sz="1400" dirty="0"/>
          </a:p>
        </p:txBody>
      </p:sp>
      <p:sp>
        <p:nvSpPr>
          <p:cNvPr id="16" name="Shape 13"/>
          <p:cNvSpPr/>
          <p:nvPr/>
        </p:nvSpPr>
        <p:spPr>
          <a:xfrm>
            <a:off x="6175375" y="2934196"/>
            <a:ext cx="2520950" cy="2183236"/>
          </a:xfrm>
          <a:prstGeom prst="roundRect">
            <a:avLst>
              <a:gd name="adj" fmla="val 7291"/>
            </a:avLst>
          </a:prstGeom>
          <a:solidFill>
            <a:srgbClr val="FDFCF9"/>
          </a:solidFill>
          <a:ln w="6350">
            <a:solidFill>
              <a:srgbClr val="DCD6C8"/>
            </a:solidFill>
            <a:prstDash val="solid"/>
          </a:ln>
        </p:spPr>
      </p:sp>
      <p:sp>
        <p:nvSpPr>
          <p:cNvPr id="17" name="Text 14"/>
          <p:cNvSpPr/>
          <p:nvPr/>
        </p:nvSpPr>
        <p:spPr>
          <a:xfrm>
            <a:off x="6381750" y="3140571"/>
            <a:ext cx="2171446" cy="238720"/>
          </a:xfrm>
          <a:prstGeom prst="rect">
            <a:avLst/>
          </a:prstGeom>
          <a:noFill/>
          <a:ln/>
        </p:spPr>
        <p:txBody>
          <a:bodyPr wrap="square" lIns="0" tIns="0" rIns="0" bIns="0" rtlCol="0" anchor="t">
            <a:normAutofit/>
          </a:bodyPr>
          <a:lstStyle/>
          <a:p>
            <a:pPr marL="0" indent="0" algn="l">
              <a:lnSpc>
                <a:spcPts val="1680"/>
              </a:lnSpc>
              <a:buNone/>
            </a:pPr>
            <a:r>
              <a:rPr lang="en-US" b="1" dirty="0">
                <a:solidFill>
                  <a:srgbClr val="5A6170"/>
                </a:solidFill>
                <a:latin typeface="JetBrains Mono" pitchFamily="49" charset="0"/>
                <a:ea typeface="JetBrains Mono" pitchFamily="49" charset="-122"/>
                <a:cs typeface="JetBrains Mono" pitchFamily="49" charset="-120"/>
              </a:rPr>
              <a:t>portfolio/</a:t>
            </a:r>
            <a:endParaRPr lang="en-US" dirty="0"/>
          </a:p>
        </p:txBody>
      </p:sp>
      <p:sp>
        <p:nvSpPr>
          <p:cNvPr id="18" name="Text 15"/>
          <p:cNvSpPr/>
          <p:nvPr/>
        </p:nvSpPr>
        <p:spPr>
          <a:xfrm>
            <a:off x="6381750" y="343009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PORTFOLIO</a:t>
            </a:r>
            <a:endParaRPr lang="en-US" sz="2000" dirty="0"/>
          </a:p>
        </p:txBody>
      </p:sp>
      <p:sp>
        <p:nvSpPr>
          <p:cNvPr id="19" name="Text 16"/>
          <p:cNvSpPr/>
          <p:nvPr/>
        </p:nvSpPr>
        <p:spPr>
          <a:xfrm>
            <a:off x="6381750" y="3811091"/>
            <a:ext cx="21714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작업물 · 영상 16편</a:t>
            </a:r>
            <a:endParaRPr lang="en-US" sz="1400" dirty="0"/>
          </a:p>
        </p:txBody>
      </p:sp>
      <p:sp>
        <p:nvSpPr>
          <p:cNvPr id="20" name="Shape 17"/>
          <p:cNvSpPr/>
          <p:nvPr/>
        </p:nvSpPr>
        <p:spPr>
          <a:xfrm>
            <a:off x="8855075" y="2934196"/>
            <a:ext cx="2520950" cy="2183236"/>
          </a:xfrm>
          <a:prstGeom prst="roundRect">
            <a:avLst>
              <a:gd name="adj" fmla="val 7291"/>
            </a:avLst>
          </a:prstGeom>
          <a:solidFill>
            <a:srgbClr val="FDFCF9"/>
          </a:solidFill>
          <a:ln w="6350">
            <a:solidFill>
              <a:srgbClr val="DCD6C8"/>
            </a:solidFill>
            <a:prstDash val="solid"/>
          </a:ln>
        </p:spPr>
      </p:sp>
      <p:sp>
        <p:nvSpPr>
          <p:cNvPr id="21" name="Text 18"/>
          <p:cNvSpPr/>
          <p:nvPr/>
        </p:nvSpPr>
        <p:spPr>
          <a:xfrm>
            <a:off x="9061450" y="3140571"/>
            <a:ext cx="217144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JetBrains Mono" pitchFamily="49" charset="0"/>
                <a:ea typeface="JetBrains Mono" pitchFamily="49" charset="-122"/>
                <a:cs typeface="JetBrains Mono" pitchFamily="49" charset="-120"/>
              </a:rPr>
              <a:t>contact/</a:t>
            </a:r>
            <a:endParaRPr lang="en-US" sz="1200" dirty="0"/>
          </a:p>
        </p:txBody>
      </p:sp>
      <p:sp>
        <p:nvSpPr>
          <p:cNvPr id="22" name="Text 19"/>
          <p:cNvSpPr/>
          <p:nvPr/>
        </p:nvSpPr>
        <p:spPr>
          <a:xfrm>
            <a:off x="9061450" y="3430091"/>
            <a:ext cx="21714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CONTACT</a:t>
            </a:r>
            <a:endParaRPr lang="en-US" sz="2000" dirty="0"/>
          </a:p>
        </p:txBody>
      </p:sp>
      <p:sp>
        <p:nvSpPr>
          <p:cNvPr id="23" name="Text 20"/>
          <p:cNvSpPr/>
          <p:nvPr/>
        </p:nvSpPr>
        <p:spPr>
          <a:xfrm>
            <a:off x="9061450" y="3811091"/>
            <a:ext cx="2171446"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견적 계산 · 상담 신청</a:t>
            </a:r>
            <a:endParaRPr lang="en-US" sz="1400" dirty="0"/>
          </a:p>
        </p:txBody>
      </p:sp>
      <p:sp>
        <p:nvSpPr>
          <p:cNvPr id="24" name="Shape 21"/>
          <p:cNvSpPr/>
          <p:nvPr/>
        </p:nvSpPr>
        <p:spPr>
          <a:xfrm>
            <a:off x="812800" y="5523832"/>
            <a:ext cx="10566400" cy="604441"/>
          </a:xfrm>
          <a:prstGeom prst="roundRect">
            <a:avLst>
              <a:gd name="adj" fmla="val 16809"/>
            </a:avLst>
          </a:prstGeom>
          <a:solidFill>
            <a:srgbClr val="D9531E"/>
          </a:solidFill>
          <a:ln/>
        </p:spPr>
      </p:sp>
      <p:sp>
        <p:nvSpPr>
          <p:cNvPr id="25" name="Text 22"/>
          <p:cNvSpPr/>
          <p:nvPr/>
        </p:nvSpPr>
        <p:spPr>
          <a:xfrm>
            <a:off x="1066800" y="5701632"/>
            <a:ext cx="169674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E"/>
                </a:solidFill>
                <a:latin typeface="JetBrains Mono" pitchFamily="49" charset="0"/>
                <a:ea typeface="JetBrains Mono" pitchFamily="49" charset="-122"/>
                <a:cs typeface="JetBrains Mono" pitchFamily="49" charset="-120"/>
              </a:rPr>
              <a:t>site-header.js</a:t>
            </a:r>
            <a:endParaRPr lang="en-US" sz="1400" dirty="0"/>
          </a:p>
        </p:txBody>
      </p:sp>
      <p:sp>
        <p:nvSpPr>
          <p:cNvPr id="26" name="Text 23"/>
          <p:cNvSpPr/>
          <p:nvPr/>
        </p:nvSpPr>
        <p:spPr>
          <a:xfrm>
            <a:off x="2763540" y="5701632"/>
            <a:ext cx="553200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E"/>
                </a:solidFill>
                <a:latin typeface="Noto Sans KR" pitchFamily="34" charset="0"/>
                <a:ea typeface="Noto Sans KR" pitchFamily="34" charset="-122"/>
                <a:cs typeface="Noto Sans KR" pitchFamily="34" charset="-120"/>
              </a:rPr>
              <a:t>네 페이지 모두에 같은 헤더 · 푸터 · 메뉴를 넣어 주는 공통 파일</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41A"/>
                </a:solidFill>
                <a:latin typeface="JetBrains Mono" pitchFamily="49" charset="0"/>
                <a:ea typeface="JetBrains Mono" pitchFamily="49" charset="-122"/>
                <a:cs typeface="JetBrains Mono" pitchFamily="49" charset="-120"/>
              </a:rPr>
              <a:t>05 · AI TOOLS</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Codex와 Claude Code, 이렇게 나눠 썼습니다</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046029391"/>
              </p:ext>
            </p:extLst>
          </p:nvPr>
        </p:nvGraphicFramePr>
        <p:xfrm>
          <a:off x="825500" y="1932881"/>
          <a:ext cx="10553700" cy="2722118"/>
        </p:xfrm>
        <a:graphic>
          <a:graphicData uri="http://schemas.openxmlformats.org/drawingml/2006/table">
            <a:tbl>
              <a:tblPr/>
              <a:tblGrid>
                <a:gridCol w="2321814">
                  <a:extLst>
                    <a:ext uri="{9D8B030D-6E8A-4147-A177-3AD203B41FA5}">
                      <a16:colId xmlns:a16="http://schemas.microsoft.com/office/drawing/2014/main" val="20000"/>
                    </a:ext>
                  </a:extLst>
                </a:gridCol>
                <a:gridCol w="411594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478848">
                <a:tc>
                  <a:txBody>
                    <a:bodyPr/>
                    <a:lstStyle/>
                    <a:p>
                      <a:pPr marL="0" indent="0">
                        <a:lnSpc>
                          <a:spcPts val="1960"/>
                        </a:lnSpc>
                        <a:buNone/>
                      </a:pPr>
                      <a:r>
                        <a:rPr lang="en-US" sz="1400" b="1" dirty="0">
                          <a:solidFill>
                            <a:srgbClr val="F3F1EC"/>
                          </a:solidFill>
                          <a:latin typeface="Noto Sans KR" pitchFamily="34" charset="0"/>
                          <a:ea typeface="Noto Sans KR" pitchFamily="34" charset="-122"/>
                          <a:cs typeface="Noto Sans KR" pitchFamily="34" charset="-120"/>
                        </a:rPr>
                        <a:t>구분</a:t>
                      </a:r>
                      <a:endParaRPr lang="en-US" sz="1400" dirty="0">
                        <a:latin typeface="Noto Sans KR" charset="0"/>
                        <a:ea typeface="Noto Sans KR" charset="0"/>
                        <a:cs typeface="Noto Sans KR" charset="0"/>
                      </a:endParaRPr>
                    </a:p>
                  </a:txBody>
                  <a:tcPr marL="177800" marR="177800" marT="127000" marB="127000">
                    <a:lnL w="12700" cap="flat" cmpd="sng" algn="ctr">
                      <a:solidFill>
                        <a:srgbClr val="C4C4C0"/>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960"/>
                        </a:lnSpc>
                        <a:buNone/>
                      </a:pPr>
                      <a:r>
                        <a:rPr lang="en-US" sz="1400" b="1" dirty="0">
                          <a:solidFill>
                            <a:srgbClr val="F3F1EC"/>
                          </a:solidFill>
                          <a:latin typeface="Noto Sans KR" pitchFamily="34" charset="0"/>
                          <a:ea typeface="Noto Sans KR" pitchFamily="34" charset="-122"/>
                          <a:cs typeface="Noto Sans KR" pitchFamily="34" charset="-120"/>
                        </a:rPr>
                        <a:t>Codex</a:t>
                      </a:r>
                      <a:endParaRPr lang="en-US" sz="1400" dirty="0">
                        <a:latin typeface="Noto Sans KR" charset="0"/>
                        <a:ea typeface="Noto Sans KR" charset="0"/>
                        <a:cs typeface="Noto Sans KR" charset="0"/>
                      </a:endParaRPr>
                    </a:p>
                  </a:txBody>
                  <a:tcPr marL="177800" marR="177800" marT="127000" marB="12700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960"/>
                        </a:lnSpc>
                        <a:buNone/>
                      </a:pPr>
                      <a:r>
                        <a:rPr lang="en-US" sz="1400" b="1" dirty="0">
                          <a:solidFill>
                            <a:srgbClr val="F3F1EC"/>
                          </a:solidFill>
                          <a:latin typeface="Noto Sans KR" pitchFamily="34" charset="0"/>
                          <a:ea typeface="Noto Sans KR" pitchFamily="34" charset="-122"/>
                          <a:cs typeface="Noto Sans KR" pitchFamily="34" charset="-120"/>
                        </a:rPr>
                        <a:t>Claude Code</a:t>
                      </a:r>
                      <a:endParaRPr lang="en-US" sz="1400" dirty="0">
                        <a:latin typeface="Noto Sans KR" charset="0"/>
                        <a:ea typeface="Noto Sans KR" charset="0"/>
                        <a:cs typeface="Noto Sans KR" charset="0"/>
                      </a:endParaRPr>
                    </a:p>
                  </a:txBody>
                  <a:tcPr marL="177800" marR="177800" marT="127000" marB="12700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558800">
                <a:tc>
                  <a:txBody>
                    <a:bodyPr/>
                    <a:lstStyle/>
                    <a:p>
                      <a:pPr marL="0" indent="0">
                        <a:lnSpc>
                          <a:spcPts val="1960"/>
                        </a:lnSpc>
                        <a:buNone/>
                      </a:pPr>
                      <a:r>
                        <a:rPr lang="en-US" sz="1400" dirty="0">
                          <a:solidFill>
                            <a:srgbClr val="1B2433"/>
                          </a:solidFill>
                          <a:latin typeface="Noto Sans KR" pitchFamily="34" charset="0"/>
                          <a:ea typeface="Noto Sans KR" pitchFamily="34" charset="-122"/>
                          <a:cs typeface="Noto Sans KR" pitchFamily="34" charset="-120"/>
                        </a:rPr>
                        <a:t>사용한 페이지</a:t>
                      </a:r>
                      <a:endParaRPr lang="en-US" sz="1400" dirty="0">
                        <a:latin typeface="Noto Sans KR" charset="0"/>
                        <a:ea typeface="Noto Sans KR" charset="0"/>
                        <a:cs typeface="Noto Sans KR" charset="0"/>
                      </a:endParaRPr>
                    </a:p>
                  </a:txBody>
                  <a:tcPr marL="177800" marR="177800" marT="127000" marB="12700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altLang="ko-KR" sz="1400">
                          <a:solidFill>
                            <a:srgbClr val="B0441A"/>
                          </a:solidFill>
                          <a:latin typeface="Noto Sans KR" pitchFamily="34" charset="0"/>
                          <a:ea typeface="Noto Sans KR" pitchFamily="34" charset="-122"/>
                          <a:cs typeface="Noto Sans KR" pitchFamily="34" charset="-120"/>
                        </a:rPr>
                        <a:t>4</a:t>
                      </a:r>
                      <a:r>
                        <a:rPr lang="ko-KR" altLang="en-US" sz="1400">
                          <a:solidFill>
                            <a:srgbClr val="B0441A"/>
                          </a:solidFill>
                          <a:latin typeface="Noto Sans KR" pitchFamily="34" charset="0"/>
                          <a:ea typeface="Noto Sans KR" pitchFamily="34" charset="-122"/>
                          <a:cs typeface="Noto Sans KR" pitchFamily="34" charset="-120"/>
                        </a:rPr>
                        <a:t>개 페이지 모두</a:t>
                      </a:r>
                      <a:endParaRPr lang="en-US" sz="1400" dirty="0">
                        <a:latin typeface="Noto Sans KR" charset="0"/>
                        <a:ea typeface="Noto Sans KR" charset="0"/>
                        <a:cs typeface="Noto Sans KR" charset="0"/>
                      </a:endParaRPr>
                    </a:p>
                  </a:txBody>
                  <a:tcPr marL="177800" marR="177800" marT="127000" marB="1270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altLang="ko-KR" sz="1400">
                          <a:solidFill>
                            <a:srgbClr val="B0441A"/>
                          </a:solidFill>
                          <a:latin typeface="Noto Sans KR" pitchFamily="34" charset="0"/>
                          <a:ea typeface="Noto Sans KR" pitchFamily="34" charset="-122"/>
                          <a:cs typeface="Noto Sans KR" pitchFamily="34" charset="-120"/>
                        </a:rPr>
                        <a:t>GitHub </a:t>
                      </a:r>
                      <a:r>
                        <a:rPr lang="ko-KR" altLang="en-US" sz="1400">
                          <a:solidFill>
                            <a:srgbClr val="B0441A"/>
                          </a:solidFill>
                          <a:latin typeface="Noto Sans KR" pitchFamily="34" charset="0"/>
                          <a:ea typeface="Noto Sans KR" pitchFamily="34" charset="-122"/>
                          <a:cs typeface="Noto Sans KR" pitchFamily="34" charset="-120"/>
                        </a:rPr>
                        <a:t>정리 </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통합 점검 </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발표 자료</a:t>
                      </a:r>
                      <a:endParaRPr lang="en-US" sz="1400" dirty="0">
                        <a:latin typeface="Noto Sans KR" charset="0"/>
                        <a:ea typeface="Noto Sans KR" charset="0"/>
                        <a:cs typeface="Noto Sans KR" charset="0"/>
                      </a:endParaRPr>
                    </a:p>
                  </a:txBody>
                  <a:tcPr marL="177800" marR="177800" marT="127000" marB="1270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558800">
                <a:tc>
                  <a:txBody>
                    <a:bodyPr/>
                    <a:lstStyle/>
                    <a:p>
                      <a:pPr marL="0" indent="0">
                        <a:lnSpc>
                          <a:spcPts val="1960"/>
                        </a:lnSpc>
                        <a:buNone/>
                      </a:pPr>
                      <a:r>
                        <a:rPr lang="en-US" sz="1400" dirty="0">
                          <a:solidFill>
                            <a:srgbClr val="1B2433"/>
                          </a:solidFill>
                          <a:latin typeface="Noto Sans KR" pitchFamily="34" charset="0"/>
                          <a:ea typeface="Noto Sans KR" pitchFamily="34" charset="-122"/>
                          <a:cs typeface="Noto Sans KR" pitchFamily="34" charset="-120"/>
                        </a:rPr>
                        <a:t>주로 맡긴 작업</a:t>
                      </a:r>
                      <a:endParaRPr lang="en-US" sz="1400" dirty="0">
                        <a:latin typeface="Noto Sans KR" charset="0"/>
                        <a:ea typeface="Noto Sans KR" charset="0"/>
                        <a:cs typeface="Noto Sans KR" charset="0"/>
                      </a:endParaRPr>
                    </a:p>
                  </a:txBody>
                  <a:tcPr marL="177800" marR="177800" marT="127000" marB="127000">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nSpc>
                          <a:spcPts val="1960"/>
                        </a:lnSpc>
                        <a:buNone/>
                      </a:pPr>
                      <a:r>
                        <a:rPr lang="ko-KR" altLang="en-US" sz="1400">
                          <a:solidFill>
                            <a:srgbClr val="B0441A"/>
                          </a:solidFill>
                          <a:latin typeface="Noto Sans KR" pitchFamily="34" charset="0"/>
                          <a:ea typeface="Noto Sans KR" pitchFamily="34" charset="-122"/>
                          <a:cs typeface="Noto Sans KR" pitchFamily="34" charset="-120"/>
                        </a:rPr>
                        <a:t>메인 모션</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제작 과정 화면</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필터 </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영상</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견적 계산</a:t>
                      </a:r>
                      <a:endParaRPr lang="en-US" sz="1400" dirty="0">
                        <a:latin typeface="Noto Sans KR" charset="0"/>
                        <a:ea typeface="Noto Sans KR" charset="0"/>
                        <a:cs typeface="Noto Sans KR" charset="0"/>
                      </a:endParaRPr>
                    </a:p>
                  </a:txBody>
                  <a:tcPr marL="177800" marR="177800" marT="127000" marB="12700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nSpc>
                          <a:spcPts val="1960"/>
                        </a:lnSpc>
                        <a:buNone/>
                      </a:pPr>
                      <a:r>
                        <a:rPr lang="ko-KR" altLang="en-US" sz="1400">
                          <a:solidFill>
                            <a:srgbClr val="B0441A"/>
                          </a:solidFill>
                          <a:latin typeface="Noto Sans KR" pitchFamily="34" charset="0"/>
                          <a:ea typeface="Noto Sans KR" pitchFamily="34" charset="-122"/>
                          <a:cs typeface="Noto Sans KR" pitchFamily="34" charset="-120"/>
                        </a:rPr>
                        <a:t>폴더 전체 분석</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대용량 파일 업로드</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노션 정리</a:t>
                      </a:r>
                      <a:endParaRPr lang="en-US" sz="1400" dirty="0">
                        <a:latin typeface="Noto Sans KR" charset="0"/>
                        <a:ea typeface="Noto Sans KR" charset="0"/>
                        <a:cs typeface="Noto Sans KR" charset="0"/>
                      </a:endParaRPr>
                    </a:p>
                  </a:txBody>
                  <a:tcPr marL="177800" marR="177800" marT="127000" marB="12700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extLst>
                  <a:ext uri="{0D108BD9-81ED-4DB2-BD59-A6C34878D82A}">
                    <a16:rowId xmlns:a16="http://schemas.microsoft.com/office/drawing/2014/main" val="10002"/>
                  </a:ext>
                </a:extLst>
              </a:tr>
              <a:tr h="558800">
                <a:tc>
                  <a:txBody>
                    <a:bodyPr/>
                    <a:lstStyle/>
                    <a:p>
                      <a:pPr marL="0" indent="0">
                        <a:lnSpc>
                          <a:spcPts val="1960"/>
                        </a:lnSpc>
                        <a:buNone/>
                      </a:pPr>
                      <a:r>
                        <a:rPr lang="en-US" sz="1400" dirty="0">
                          <a:solidFill>
                            <a:srgbClr val="1B2433"/>
                          </a:solidFill>
                          <a:latin typeface="Noto Sans KR" pitchFamily="34" charset="0"/>
                          <a:ea typeface="Noto Sans KR" pitchFamily="34" charset="-122"/>
                          <a:cs typeface="Noto Sans KR" pitchFamily="34" charset="-120"/>
                        </a:rPr>
                        <a:t>좋았던 점</a:t>
                      </a:r>
                      <a:endParaRPr lang="en-US" sz="1400" dirty="0">
                        <a:latin typeface="Noto Sans KR" charset="0"/>
                        <a:ea typeface="Noto Sans KR" charset="0"/>
                        <a:cs typeface="Noto Sans KR" charset="0"/>
                      </a:endParaRPr>
                    </a:p>
                  </a:txBody>
                  <a:tcPr marL="177800" marR="177800" marT="127000" marB="12700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ko-KR" altLang="en-US" sz="1400">
                          <a:solidFill>
                            <a:srgbClr val="B0441A"/>
                          </a:solidFill>
                          <a:latin typeface="Noto Sans KR" pitchFamily="34" charset="0"/>
                          <a:ea typeface="Noto Sans KR" pitchFamily="34" charset="-122"/>
                          <a:cs typeface="Noto Sans KR" pitchFamily="34" charset="-120"/>
                        </a:rPr>
                        <a:t>원하는 화면을 숫자로 말하면 바로 구현</a:t>
                      </a:r>
                      <a:endParaRPr lang="en-US" sz="1400" dirty="0">
                        <a:latin typeface="Noto Sans KR" charset="0"/>
                        <a:ea typeface="Noto Sans KR" charset="0"/>
                        <a:cs typeface="Noto Sans KR" charset="0"/>
                      </a:endParaRPr>
                    </a:p>
                  </a:txBody>
                  <a:tcPr marL="177800" marR="177800" marT="127000" marB="1270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ko-KR" altLang="en-US" sz="1400">
                          <a:solidFill>
                            <a:srgbClr val="B0441A"/>
                          </a:solidFill>
                          <a:latin typeface="Noto Sans KR" pitchFamily="34" charset="0"/>
                          <a:ea typeface="Noto Sans KR" pitchFamily="34" charset="-122"/>
                          <a:cs typeface="Noto Sans KR" pitchFamily="34" charset="-120"/>
                        </a:rPr>
                        <a:t>여러 파일을 한 번에 읽고 정리</a:t>
                      </a:r>
                      <a:endParaRPr lang="en-US" sz="1400" dirty="0">
                        <a:latin typeface="Noto Sans KR" charset="0"/>
                        <a:ea typeface="Noto Sans KR" charset="0"/>
                        <a:cs typeface="Noto Sans KR" charset="0"/>
                      </a:endParaRPr>
                    </a:p>
                  </a:txBody>
                  <a:tcPr marL="177800" marR="177800" marT="127000" marB="1270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558800">
                <a:tc>
                  <a:txBody>
                    <a:bodyPr/>
                    <a:lstStyle/>
                    <a:p>
                      <a:pPr marL="0" indent="0">
                        <a:lnSpc>
                          <a:spcPts val="1960"/>
                        </a:lnSpc>
                        <a:buNone/>
                      </a:pPr>
                      <a:r>
                        <a:rPr lang="en-US" sz="1400" dirty="0">
                          <a:solidFill>
                            <a:srgbClr val="1B2433"/>
                          </a:solidFill>
                          <a:latin typeface="Noto Sans KR" pitchFamily="34" charset="0"/>
                          <a:ea typeface="Noto Sans KR" pitchFamily="34" charset="-122"/>
                          <a:cs typeface="Noto Sans KR" pitchFamily="34" charset="-120"/>
                        </a:rPr>
                        <a:t>아쉬웠던 점</a:t>
                      </a:r>
                      <a:endParaRPr lang="en-US" sz="1400" dirty="0">
                        <a:latin typeface="Noto Sans KR" charset="0"/>
                        <a:ea typeface="Noto Sans KR" charset="0"/>
                        <a:cs typeface="Noto Sans KR" charset="0"/>
                      </a:endParaRPr>
                    </a:p>
                  </a:txBody>
                  <a:tcPr marL="177800" marR="177800" marT="127000" marB="127000">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nSpc>
                          <a:spcPts val="1960"/>
                        </a:lnSpc>
                        <a:buNone/>
                      </a:pPr>
                      <a:r>
                        <a:rPr lang="ko-KR" altLang="en-US" sz="1400">
                          <a:solidFill>
                            <a:srgbClr val="B0441A"/>
                          </a:solidFill>
                          <a:latin typeface="Noto Sans KR" pitchFamily="34" charset="0"/>
                          <a:ea typeface="Noto Sans KR" pitchFamily="34" charset="-122"/>
                          <a:cs typeface="Noto Sans KR" pitchFamily="34" charset="-120"/>
                        </a:rPr>
                        <a:t>새 대화마다 작업 맥락을 다시 설명해야 함</a:t>
                      </a:r>
                      <a:endParaRPr lang="en-US" sz="1400" dirty="0">
                        <a:latin typeface="Noto Sans KR" charset="0"/>
                        <a:ea typeface="Noto Sans KR" charset="0"/>
                        <a:cs typeface="Noto Sans KR" charset="0"/>
                      </a:endParaRPr>
                    </a:p>
                  </a:txBody>
                  <a:tcPr marL="177800" marR="177800" marT="127000" marB="12700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nSpc>
                          <a:spcPts val="1960"/>
                        </a:lnSpc>
                        <a:buNone/>
                      </a:pPr>
                      <a:r>
                        <a:rPr lang="ko-KR" altLang="en-US" sz="1400">
                          <a:solidFill>
                            <a:srgbClr val="B0441A"/>
                          </a:solidFill>
                          <a:latin typeface="Noto Sans KR" pitchFamily="34" charset="0"/>
                          <a:ea typeface="Noto Sans KR" pitchFamily="34" charset="-122"/>
                          <a:cs typeface="Noto Sans KR" pitchFamily="34" charset="-120"/>
                        </a:rPr>
                        <a:t>큰 작업은 결과를 직접 확인해야 함</a:t>
                      </a:r>
                      <a:endParaRPr lang="en-US" sz="1400" dirty="0">
                        <a:latin typeface="Noto Sans KR" charset="0"/>
                        <a:ea typeface="Noto Sans KR" charset="0"/>
                        <a:cs typeface="Noto Sans KR" charset="0"/>
                      </a:endParaRPr>
                    </a:p>
                  </a:txBody>
                  <a:tcPr marL="177800" marR="177800" marT="127000" marB="12700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extLst>
                  <a:ext uri="{0D108BD9-81ED-4DB2-BD59-A6C34878D82A}">
                    <a16:rowId xmlns:a16="http://schemas.microsoft.com/office/drawing/2014/main" val="10004"/>
                  </a:ext>
                </a:extLst>
              </a:tr>
            </a:tbl>
          </a:graphicData>
        </a:graphic>
      </p:graphicFrame>
      <p:sp>
        <p:nvSpPr>
          <p:cNvPr id="5" name="Shape 2"/>
          <p:cNvSpPr/>
          <p:nvPr/>
        </p:nvSpPr>
        <p:spPr>
          <a:xfrm>
            <a:off x="838200" y="5973618"/>
            <a:ext cx="0" cy="387350"/>
          </a:xfrm>
          <a:prstGeom prst="line">
            <a:avLst/>
          </a:prstGeom>
          <a:noFill/>
          <a:ln w="50800">
            <a:solidFill>
              <a:srgbClr val="D9531E"/>
            </a:solidFill>
            <a:prstDash val="solid"/>
          </a:ln>
        </p:spPr>
      </p:sp>
      <p:sp>
        <p:nvSpPr>
          <p:cNvPr id="6" name="Text 3"/>
          <p:cNvSpPr/>
          <p:nvPr/>
        </p:nvSpPr>
        <p:spPr>
          <a:xfrm>
            <a:off x="1066800" y="6024418"/>
            <a:ext cx="10621772" cy="311150"/>
          </a:xfrm>
          <a:prstGeom prst="rect">
            <a:avLst/>
          </a:prstGeom>
          <a:noFill/>
          <a:ln/>
        </p:spPr>
        <p:txBody>
          <a:bodyPr wrap="square" lIns="0" tIns="0" rIns="0" bIns="0" rtlCol="0" anchor="t">
            <a:normAutofit/>
          </a:bodyPr>
          <a:lstStyle/>
          <a:p>
            <a:pPr marL="0" indent="0" algn="l">
              <a:lnSpc>
                <a:spcPts val="2250"/>
              </a:lnSpc>
              <a:buNone/>
            </a:pPr>
            <a:r>
              <a:rPr lang="en-US" sz="1500" b="1" dirty="0">
                <a:solidFill>
                  <a:srgbClr val="1B2433"/>
                </a:solidFill>
                <a:latin typeface="Noto Sans KR" pitchFamily="34" charset="0"/>
                <a:ea typeface="Noto Sans KR" pitchFamily="34" charset="-122"/>
                <a:cs typeface="Noto Sans KR" pitchFamily="34" charset="-120"/>
              </a:rPr>
              <a:t>AI는 코드를 쓰고, 기획 · 디자인 결정 · 최종 확인은 팀원이 직접 했습니다.</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0441A"/>
                </a:solidFill>
                <a:latin typeface="JetBrains Mono" pitchFamily="49" charset="0"/>
                <a:ea typeface="JetBrains Mono" pitchFamily="49" charset="-122"/>
                <a:cs typeface="JetBrains Mono" pitchFamily="49" charset="-120"/>
              </a:rPr>
              <a:t>06 · PROMPT</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AI에게 작업 맥락을 넘겨주는 방법</a:t>
            </a:r>
            <a:endParaRPr lang="en-US" sz="3200" dirty="0"/>
          </a:p>
        </p:txBody>
      </p:sp>
      <p:sp>
        <p:nvSpPr>
          <p:cNvPr id="4" name="Text 2"/>
          <p:cNvSpPr/>
          <p:nvPr/>
        </p:nvSpPr>
        <p:spPr>
          <a:xfrm>
            <a:off x="812800" y="1920180"/>
            <a:ext cx="4944618" cy="675481"/>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4A5263"/>
                </a:solidFill>
                <a:latin typeface="Noto Sans KR" pitchFamily="34" charset="0"/>
                <a:ea typeface="Noto Sans KR" pitchFamily="34" charset="-122"/>
                <a:cs typeface="Noto Sans KR" pitchFamily="34" charset="-120"/>
              </a:rPr>
              <a:t>집과 학원, 다른 컴퓨터에서 이어서 작업할 때 </a:t>
            </a:r>
            <a:r>
              <a:rPr lang="en-US" sz="1600" b="1" dirty="0">
                <a:solidFill>
                  <a:srgbClr val="4A5263"/>
                </a:solidFill>
                <a:latin typeface="Noto Sans KR" pitchFamily="34" charset="0"/>
                <a:ea typeface="Noto Sans KR" pitchFamily="34" charset="-122"/>
                <a:cs typeface="Noto Sans KR" pitchFamily="34" charset="-120"/>
              </a:rPr>
              <a:t>작업 메모 파일</a:t>
            </a:r>
            <a:r>
              <a:rPr lang="en-US" sz="1600" dirty="0">
                <a:solidFill>
                  <a:srgbClr val="4A5263"/>
                </a:solidFill>
                <a:latin typeface="Noto Sans KR" pitchFamily="34" charset="0"/>
                <a:ea typeface="Noto Sans KR" pitchFamily="34" charset="-122"/>
                <a:cs typeface="Noto Sans KR" pitchFamily="34" charset="-120"/>
              </a:rPr>
              <a:t>을 만들어 AI가 먼저 읽게 했습니다.</a:t>
            </a:r>
            <a:endParaRPr lang="en-US" sz="1600" dirty="0"/>
          </a:p>
        </p:txBody>
      </p:sp>
      <p:sp>
        <p:nvSpPr>
          <p:cNvPr id="5" name="Text 3"/>
          <p:cNvSpPr/>
          <p:nvPr/>
        </p:nvSpPr>
        <p:spPr>
          <a:xfrm>
            <a:off x="812800" y="2773462"/>
            <a:ext cx="4944618"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D9531E"/>
                </a:solidFill>
                <a:latin typeface="Noto Sans KR" pitchFamily="34" charset="0"/>
                <a:ea typeface="Noto Sans KR" pitchFamily="34" charset="-122"/>
                <a:cs typeface="Noto Sans KR" pitchFamily="34" charset="-120"/>
              </a:rPr>
              <a:t>01</a:t>
            </a:r>
            <a:r>
              <a:rPr lang="en-US" sz="1400" dirty="0">
                <a:solidFill>
                  <a:srgbClr val="1B2433"/>
                </a:solidFill>
                <a:latin typeface="Noto Sans KR" pitchFamily="34" charset="0"/>
                <a:ea typeface="Noto Sans KR" pitchFamily="34" charset="-122"/>
                <a:cs typeface="Noto Sans KR" pitchFamily="34" charset="-120"/>
              </a:rPr>
              <a:t>　확정된 디자인 · 동작 · 모션을 문서로 정리</a:t>
            </a:r>
            <a:endParaRPr lang="en-US" sz="1400" dirty="0"/>
          </a:p>
        </p:txBody>
      </p:sp>
      <p:sp>
        <p:nvSpPr>
          <p:cNvPr id="6" name="Text 4"/>
          <p:cNvSpPr/>
          <p:nvPr/>
        </p:nvSpPr>
        <p:spPr>
          <a:xfrm>
            <a:off x="812800" y="3167162"/>
            <a:ext cx="4944618"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D9531E"/>
                </a:solidFill>
                <a:latin typeface="Noto Sans KR" pitchFamily="34" charset="0"/>
                <a:ea typeface="Noto Sans KR" pitchFamily="34" charset="-122"/>
                <a:cs typeface="Noto Sans KR" pitchFamily="34" charset="-120"/>
              </a:rPr>
              <a:t>02</a:t>
            </a:r>
            <a:r>
              <a:rPr lang="en-US" sz="1400" dirty="0">
                <a:solidFill>
                  <a:srgbClr val="1B2433"/>
                </a:solidFill>
                <a:latin typeface="Noto Sans KR" pitchFamily="34" charset="0"/>
                <a:ea typeface="Noto Sans KR" pitchFamily="34" charset="-122"/>
                <a:cs typeface="Noto Sans KR" pitchFamily="34" charset="-120"/>
              </a:rPr>
              <a:t>　기존 디자인을 마음대로 바꾸지 말라는 규칙 작성</a:t>
            </a:r>
            <a:endParaRPr lang="en-US" sz="1400" dirty="0"/>
          </a:p>
        </p:txBody>
      </p:sp>
      <p:sp>
        <p:nvSpPr>
          <p:cNvPr id="7" name="Text 5"/>
          <p:cNvSpPr/>
          <p:nvPr/>
        </p:nvSpPr>
        <p:spPr>
          <a:xfrm>
            <a:off x="812800" y="3560862"/>
            <a:ext cx="4944618" cy="2921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D9531E"/>
                </a:solidFill>
                <a:latin typeface="Noto Sans KR" pitchFamily="34" charset="0"/>
                <a:ea typeface="Noto Sans KR" pitchFamily="34" charset="-122"/>
                <a:cs typeface="Noto Sans KR" pitchFamily="34" charset="-120"/>
              </a:rPr>
              <a:t>03</a:t>
            </a:r>
            <a:r>
              <a:rPr lang="en-US" sz="1400" dirty="0">
                <a:solidFill>
                  <a:srgbClr val="1B2433"/>
                </a:solidFill>
                <a:latin typeface="Noto Sans KR" pitchFamily="34" charset="0"/>
                <a:ea typeface="Noto Sans KR" pitchFamily="34" charset="-122"/>
                <a:cs typeface="Noto Sans KR" pitchFamily="34" charset="-120"/>
              </a:rPr>
              <a:t>　새 대화에서도 같은 상태에서 바로 이어서 작업</a:t>
            </a:r>
            <a:endParaRPr lang="en-US" sz="1400" dirty="0"/>
          </a:p>
        </p:txBody>
      </p:sp>
      <p:sp>
        <p:nvSpPr>
          <p:cNvPr id="8" name="Shape 6"/>
          <p:cNvSpPr/>
          <p:nvPr/>
        </p:nvSpPr>
        <p:spPr>
          <a:xfrm>
            <a:off x="5969000" y="1920180"/>
            <a:ext cx="5410200" cy="4125020"/>
          </a:xfrm>
          <a:prstGeom prst="roundRect">
            <a:avLst>
              <a:gd name="adj" fmla="val 2463"/>
            </a:avLst>
          </a:prstGeom>
          <a:solidFill>
            <a:srgbClr val="16202E"/>
          </a:solidFill>
          <a:ln/>
        </p:spPr>
      </p:sp>
      <p:sp>
        <p:nvSpPr>
          <p:cNvPr id="9" name="Text 7"/>
          <p:cNvSpPr/>
          <p:nvPr/>
        </p:nvSpPr>
        <p:spPr>
          <a:xfrm>
            <a:off x="6273800" y="2943820"/>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692C"/>
                </a:solidFill>
                <a:latin typeface="JetBrains Mono" pitchFamily="49" charset="0"/>
                <a:ea typeface="JetBrains Mono" pitchFamily="49" charset="-122"/>
                <a:cs typeface="JetBrains Mono" pitchFamily="49" charset="-120"/>
              </a:rPr>
              <a:t>실제 사용한 프롬프트 · CONTACT</a:t>
            </a:r>
            <a:endParaRPr lang="en-US" sz="1200" dirty="0"/>
          </a:p>
        </p:txBody>
      </p:sp>
      <p:sp>
        <p:nvSpPr>
          <p:cNvPr id="10" name="Text 8"/>
          <p:cNvSpPr/>
          <p:nvPr/>
        </p:nvSpPr>
        <p:spPr>
          <a:xfrm>
            <a:off x="6273800" y="3334941"/>
            <a:ext cx="4944618" cy="1320800"/>
          </a:xfrm>
          <a:prstGeom prst="rect">
            <a:avLst/>
          </a:prstGeom>
          <a:noFill/>
          <a:ln/>
        </p:spPr>
        <p:txBody>
          <a:bodyPr wrap="square" lIns="0" tIns="0" rIns="0" bIns="0" rtlCol="0" anchor="t">
            <a:normAutofit/>
          </a:bodyPr>
          <a:lstStyle/>
          <a:p>
            <a:pPr marL="0" indent="0" algn="l">
              <a:lnSpc>
                <a:spcPts val="2550"/>
              </a:lnSpc>
              <a:buNone/>
            </a:pPr>
            <a:r>
              <a:rPr lang="en-US" sz="1500" dirty="0">
                <a:solidFill>
                  <a:srgbClr val="F3F1EC"/>
                </a:solidFill>
                <a:latin typeface="Noto Sans KR" pitchFamily="34" charset="0"/>
                <a:ea typeface="Noto Sans KR" pitchFamily="34" charset="-122"/>
                <a:cs typeface="Noto Sans KR" pitchFamily="34" charset="-120"/>
              </a:rPr>
              <a:t>“이 폴더의 ‘학원에서_이어가기.md’를 읽고 기존 홈페이지 작업을 이어가 주세요. 현재 디자인과 기능은 승인된 상태입니다. 먼저 실제 파일을 확인하고, 제가 새로 요청하는 부분만 수정해 주세요.”</a:t>
            </a:r>
            <a:endParaRPr lang="en-US" sz="1500" dirty="0"/>
          </a:p>
        </p:txBody>
      </p:sp>
      <p:sp>
        <p:nvSpPr>
          <p:cNvPr id="11" name="Text 9"/>
          <p:cNvSpPr/>
          <p:nvPr/>
        </p:nvSpPr>
        <p:spPr>
          <a:xfrm>
            <a:off x="6273800" y="4808141"/>
            <a:ext cx="494461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B1BF"/>
                </a:solidFill>
                <a:latin typeface="Noto Sans KR" pitchFamily="34" charset="0"/>
                <a:ea typeface="Noto Sans KR" pitchFamily="34" charset="-122"/>
                <a:cs typeface="Noto Sans KR" pitchFamily="34" charset="-120"/>
              </a:rPr>
              <a:t>출처: contact/학원에서_이어가기.md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그림으로 보여 주기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말로 안 될 땐</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그림으로 보여 줬습니다</a:t>
            </a:r>
            <a:endParaRPr lang="en-US" sz="3200" dirty="0"/>
          </a:p>
        </p:txBody>
      </p:sp>
      <p:sp>
        <p:nvSpPr>
          <p:cNvPr id="26" name="사각형: 둥근 모서리 25">
            <a:extLst>
              <a:ext uri="{FF2B5EF4-FFF2-40B4-BE49-F238E27FC236}">
                <a16:creationId xmlns:a16="http://schemas.microsoft.com/office/drawing/2014/main" id="{BE7FEEB6-72C9-425C-B9F3-5908A4420251}"/>
              </a:ext>
            </a:extLst>
          </p:cNvPr>
          <p:cNvSpPr/>
          <p:nvPr/>
        </p:nvSpPr>
        <p:spPr>
          <a:xfrm>
            <a:off x="812800" y="1905000"/>
            <a:ext cx="2413000" cy="406400"/>
          </a:xfrm>
          <a:prstGeom prst="roundRect">
            <a:avLst>
              <a:gd name="adj" fmla="val 50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200" b="1">
                <a:solidFill>
                  <a:srgbClr val="1B2433"/>
                </a:solidFill>
                <a:latin typeface="Noto Sans KR" panose="020B0200000000000000" pitchFamily="50" charset="-127"/>
                <a:ea typeface="Noto Sans KR" panose="020B0200000000000000" pitchFamily="50" charset="-127"/>
              </a:rPr>
              <a:t>① AI </a:t>
            </a:r>
            <a:r>
              <a:rPr lang="ko-KR" altLang="en-US" sz="1200" b="1">
                <a:solidFill>
                  <a:srgbClr val="1B2433"/>
                </a:solidFill>
                <a:latin typeface="Noto Sans KR" panose="020B0200000000000000" pitchFamily="50" charset="-127"/>
                <a:ea typeface="Noto Sans KR" panose="020B0200000000000000" pitchFamily="50" charset="-127"/>
              </a:rPr>
              <a:t>결과 확인</a:t>
            </a:r>
          </a:p>
        </p:txBody>
      </p:sp>
      <p:sp>
        <p:nvSpPr>
          <p:cNvPr id="27" name="TextBox 26">
            <a:extLst>
              <a:ext uri="{FF2B5EF4-FFF2-40B4-BE49-F238E27FC236}">
                <a16:creationId xmlns:a16="http://schemas.microsoft.com/office/drawing/2014/main" id="{93A7AAC8-62F9-4111-ADCA-5FE5F4317AE7}"/>
              </a:ext>
            </a:extLst>
          </p:cNvPr>
          <p:cNvSpPr txBox="1"/>
          <p:nvPr/>
        </p:nvSpPr>
        <p:spPr>
          <a:xfrm>
            <a:off x="3251200" y="1968500"/>
            <a:ext cx="241300" cy="369332"/>
          </a:xfrm>
          <a:prstGeom prst="rect">
            <a:avLst/>
          </a:prstGeom>
          <a:noFill/>
        </p:spPr>
        <p:txBody>
          <a:bodyPr vert="horz" wrap="square" lIns="0" tIns="0" rIns="0" bIns="0" rtlCol="0">
            <a:noAutofit/>
          </a:bodyPr>
          <a:lstStyle/>
          <a:p>
            <a:pPr algn="ctr"/>
            <a:r>
              <a:rPr lang="ko-KR" altLang="en-US" sz="1300" b="1">
                <a:solidFill>
                  <a:srgbClr val="8A8F98"/>
                </a:solidFill>
                <a:latin typeface="Noto Sans KR" panose="020B0200000000000000" pitchFamily="50" charset="-127"/>
                <a:ea typeface="Noto Sans KR" panose="020B0200000000000000" pitchFamily="50" charset="-127"/>
              </a:rPr>
              <a:t>→</a:t>
            </a:r>
          </a:p>
        </p:txBody>
      </p:sp>
      <p:sp>
        <p:nvSpPr>
          <p:cNvPr id="28" name="사각형: 둥근 모서리 27">
            <a:extLst>
              <a:ext uri="{FF2B5EF4-FFF2-40B4-BE49-F238E27FC236}">
                <a16:creationId xmlns:a16="http://schemas.microsoft.com/office/drawing/2014/main" id="{1FC30CBF-572D-4FA2-A098-DE36A8926BE8}"/>
              </a:ext>
            </a:extLst>
          </p:cNvPr>
          <p:cNvSpPr/>
          <p:nvPr/>
        </p:nvSpPr>
        <p:spPr>
          <a:xfrm>
            <a:off x="3492500" y="1905000"/>
            <a:ext cx="2413000" cy="406400"/>
          </a:xfrm>
          <a:prstGeom prst="roundRect">
            <a:avLst>
              <a:gd name="adj" fmla="val 50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200" b="1">
                <a:solidFill>
                  <a:srgbClr val="1B2433"/>
                </a:solidFill>
                <a:latin typeface="Noto Sans KR" panose="020B0200000000000000" pitchFamily="50" charset="-127"/>
                <a:ea typeface="Noto Sans KR" panose="020B0200000000000000" pitchFamily="50" charset="-127"/>
              </a:rPr>
              <a:t>② 안 맞는 곳 찾기</a:t>
            </a:r>
          </a:p>
        </p:txBody>
      </p:sp>
      <p:sp>
        <p:nvSpPr>
          <p:cNvPr id="29" name="TextBox 28">
            <a:extLst>
              <a:ext uri="{FF2B5EF4-FFF2-40B4-BE49-F238E27FC236}">
                <a16:creationId xmlns:a16="http://schemas.microsoft.com/office/drawing/2014/main" id="{1442499E-BAA2-4A94-BE58-E95C08B89D38}"/>
              </a:ext>
            </a:extLst>
          </p:cNvPr>
          <p:cNvSpPr txBox="1"/>
          <p:nvPr/>
        </p:nvSpPr>
        <p:spPr>
          <a:xfrm>
            <a:off x="5930900" y="1968500"/>
            <a:ext cx="241300" cy="369332"/>
          </a:xfrm>
          <a:prstGeom prst="rect">
            <a:avLst/>
          </a:prstGeom>
          <a:noFill/>
        </p:spPr>
        <p:txBody>
          <a:bodyPr vert="horz" wrap="square" lIns="0" tIns="0" rIns="0" bIns="0" rtlCol="0">
            <a:noAutofit/>
          </a:bodyPr>
          <a:lstStyle/>
          <a:p>
            <a:pPr algn="ctr"/>
            <a:r>
              <a:rPr lang="ko-KR" altLang="en-US" sz="1300" b="1">
                <a:solidFill>
                  <a:srgbClr val="8A8F98"/>
                </a:solidFill>
                <a:latin typeface="Noto Sans KR" panose="020B0200000000000000" pitchFamily="50" charset="-127"/>
                <a:ea typeface="Noto Sans KR" panose="020B0200000000000000" pitchFamily="50" charset="-127"/>
              </a:rPr>
              <a:t>→</a:t>
            </a:r>
          </a:p>
        </p:txBody>
      </p:sp>
      <p:sp>
        <p:nvSpPr>
          <p:cNvPr id="30" name="사각형: 둥근 모서리 29">
            <a:extLst>
              <a:ext uri="{FF2B5EF4-FFF2-40B4-BE49-F238E27FC236}">
                <a16:creationId xmlns:a16="http://schemas.microsoft.com/office/drawing/2014/main" id="{FDDE8DFA-FB00-400D-899A-A1614F1CB88B}"/>
              </a:ext>
            </a:extLst>
          </p:cNvPr>
          <p:cNvSpPr/>
          <p:nvPr/>
        </p:nvSpPr>
        <p:spPr>
          <a:xfrm>
            <a:off x="6172200" y="1905000"/>
            <a:ext cx="2413000" cy="406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200" b="1">
                <a:solidFill>
                  <a:srgbClr val="FFFFFF"/>
                </a:solidFill>
                <a:latin typeface="Noto Sans KR" panose="020B0200000000000000" pitchFamily="50" charset="-127"/>
                <a:ea typeface="Noto Sans KR" panose="020B0200000000000000" pitchFamily="50" charset="-127"/>
              </a:rPr>
              <a:t>③ 그림 </a:t>
            </a:r>
            <a:r>
              <a:rPr lang="en-US" altLang="ko-KR" sz="1200" b="1">
                <a:solidFill>
                  <a:srgbClr val="FFFFFF"/>
                </a:solidFill>
                <a:latin typeface="Noto Sans KR" panose="020B0200000000000000" pitchFamily="50" charset="-127"/>
                <a:ea typeface="Noto Sans KR" panose="020B0200000000000000" pitchFamily="50" charset="-127"/>
              </a:rPr>
              <a:t>· </a:t>
            </a:r>
            <a:r>
              <a:rPr lang="ko-KR" altLang="en-US" sz="1200" b="1">
                <a:solidFill>
                  <a:srgbClr val="FFFFFF"/>
                </a:solidFill>
                <a:latin typeface="Noto Sans KR" panose="020B0200000000000000" pitchFamily="50" charset="-127"/>
                <a:ea typeface="Noto Sans KR" panose="020B0200000000000000" pitchFamily="50" charset="-127"/>
              </a:rPr>
              <a:t>치수로 보여 주기</a:t>
            </a:r>
          </a:p>
        </p:txBody>
      </p:sp>
      <p:sp>
        <p:nvSpPr>
          <p:cNvPr id="31" name="TextBox 30">
            <a:extLst>
              <a:ext uri="{FF2B5EF4-FFF2-40B4-BE49-F238E27FC236}">
                <a16:creationId xmlns:a16="http://schemas.microsoft.com/office/drawing/2014/main" id="{125DD113-BCEB-44D1-8023-41629F03D6F7}"/>
              </a:ext>
            </a:extLst>
          </p:cNvPr>
          <p:cNvSpPr txBox="1"/>
          <p:nvPr/>
        </p:nvSpPr>
        <p:spPr>
          <a:xfrm>
            <a:off x="8610600" y="1968500"/>
            <a:ext cx="241300" cy="369332"/>
          </a:xfrm>
          <a:prstGeom prst="rect">
            <a:avLst/>
          </a:prstGeom>
          <a:noFill/>
        </p:spPr>
        <p:txBody>
          <a:bodyPr vert="horz" wrap="square" lIns="0" tIns="0" rIns="0" bIns="0" rtlCol="0">
            <a:noAutofit/>
          </a:bodyPr>
          <a:lstStyle/>
          <a:p>
            <a:pPr algn="ctr"/>
            <a:r>
              <a:rPr lang="ko-KR" altLang="en-US" sz="1300" b="1">
                <a:solidFill>
                  <a:srgbClr val="8A8F98"/>
                </a:solidFill>
                <a:latin typeface="Noto Sans KR" panose="020B0200000000000000" pitchFamily="50" charset="-127"/>
                <a:ea typeface="Noto Sans KR" panose="020B0200000000000000" pitchFamily="50" charset="-127"/>
              </a:rPr>
              <a:t>→</a:t>
            </a:r>
          </a:p>
        </p:txBody>
      </p:sp>
      <p:sp>
        <p:nvSpPr>
          <p:cNvPr id="32" name="사각형: 둥근 모서리 31">
            <a:extLst>
              <a:ext uri="{FF2B5EF4-FFF2-40B4-BE49-F238E27FC236}">
                <a16:creationId xmlns:a16="http://schemas.microsoft.com/office/drawing/2014/main" id="{572947D4-BD8A-4741-A729-7A1A0F80AA0C}"/>
              </a:ext>
            </a:extLst>
          </p:cNvPr>
          <p:cNvSpPr/>
          <p:nvPr/>
        </p:nvSpPr>
        <p:spPr>
          <a:xfrm>
            <a:off x="8851900" y="1905000"/>
            <a:ext cx="2413000" cy="406400"/>
          </a:xfrm>
          <a:prstGeom prst="roundRect">
            <a:avLst>
              <a:gd name="adj" fmla="val 50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200" b="1">
                <a:solidFill>
                  <a:srgbClr val="1B2433"/>
                </a:solidFill>
                <a:latin typeface="Noto Sans KR" panose="020B0200000000000000" pitchFamily="50" charset="-127"/>
                <a:ea typeface="Noto Sans KR" panose="020B0200000000000000" pitchFamily="50" charset="-127"/>
              </a:rPr>
              <a:t>④ 다시 요청</a:t>
            </a:r>
          </a:p>
        </p:txBody>
      </p:sp>
      <p:sp>
        <p:nvSpPr>
          <p:cNvPr id="33" name="사각형: 둥근 모서리 32">
            <a:extLst>
              <a:ext uri="{FF2B5EF4-FFF2-40B4-BE49-F238E27FC236}">
                <a16:creationId xmlns:a16="http://schemas.microsoft.com/office/drawing/2014/main" id="{9B31D18A-184E-4084-9DFA-B7A1278C5470}"/>
              </a:ext>
            </a:extLst>
          </p:cNvPr>
          <p:cNvSpPr/>
          <p:nvPr/>
        </p:nvSpPr>
        <p:spPr>
          <a:xfrm>
            <a:off x="812800" y="2514600"/>
            <a:ext cx="2540000" cy="28194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사각형: 둥근 모서리 33">
            <a:extLst>
              <a:ext uri="{FF2B5EF4-FFF2-40B4-BE49-F238E27FC236}">
                <a16:creationId xmlns:a16="http://schemas.microsoft.com/office/drawing/2014/main" id="{F7BF8349-1D27-4EF0-AD9E-F3AB6E21B5D1}"/>
              </a:ext>
            </a:extLst>
          </p:cNvPr>
          <p:cNvSpPr/>
          <p:nvPr/>
        </p:nvSpPr>
        <p:spPr>
          <a:xfrm>
            <a:off x="990600" y="2692400"/>
            <a:ext cx="7874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일러스트</a:t>
            </a:r>
          </a:p>
        </p:txBody>
      </p:sp>
      <p:sp>
        <p:nvSpPr>
          <p:cNvPr id="35" name="TextBox 34">
            <a:extLst>
              <a:ext uri="{FF2B5EF4-FFF2-40B4-BE49-F238E27FC236}">
                <a16:creationId xmlns:a16="http://schemas.microsoft.com/office/drawing/2014/main" id="{FDAF56A9-6603-4341-9B83-DC57869B46A4}"/>
              </a:ext>
            </a:extLst>
          </p:cNvPr>
          <p:cNvSpPr txBox="1"/>
          <p:nvPr/>
        </p:nvSpPr>
        <p:spPr>
          <a:xfrm>
            <a:off x="990600" y="3098800"/>
            <a:ext cx="2235200" cy="369332"/>
          </a:xfrm>
          <a:prstGeom prst="rect">
            <a:avLst/>
          </a:prstGeom>
          <a:noFill/>
        </p:spPr>
        <p:txBody>
          <a:bodyPr vert="horz" wrap="square" lIns="0" tIns="0" rIns="0" bIns="0" rtlCol="0">
            <a:noAutofit/>
          </a:bodyPr>
          <a:lstStyle/>
          <a:p>
            <a:r>
              <a:rPr lang="en-US" altLang="ko-KR" sz="1500" b="1">
                <a:solidFill>
                  <a:srgbClr val="1B2433"/>
                </a:solidFill>
                <a:latin typeface="Noto Sans KR" panose="020B0200000000000000" pitchFamily="50" charset="-127"/>
                <a:ea typeface="Noto Sans KR" panose="020B0200000000000000" pitchFamily="50" charset="-127"/>
              </a:rPr>
              <a:t>Illustrator </a:t>
            </a:r>
            <a:r>
              <a:rPr lang="ko-KR" altLang="en-US" sz="1500" b="1">
                <a:solidFill>
                  <a:srgbClr val="1B2433"/>
                </a:solidFill>
                <a:latin typeface="Noto Sans KR" panose="020B0200000000000000" pitchFamily="50" charset="-127"/>
                <a:ea typeface="Noto Sans KR" panose="020B0200000000000000" pitchFamily="50" charset="-127"/>
              </a:rPr>
              <a:t>시안</a:t>
            </a:r>
          </a:p>
        </p:txBody>
      </p:sp>
      <p:sp>
        <p:nvSpPr>
          <p:cNvPr id="36" name="TextBox 35">
            <a:extLst>
              <a:ext uri="{FF2B5EF4-FFF2-40B4-BE49-F238E27FC236}">
                <a16:creationId xmlns:a16="http://schemas.microsoft.com/office/drawing/2014/main" id="{1D04BEC1-5D09-482C-A7D8-BF7D9F8B01A9}"/>
              </a:ext>
            </a:extLst>
          </p:cNvPr>
          <p:cNvSpPr txBox="1"/>
          <p:nvPr/>
        </p:nvSpPr>
        <p:spPr>
          <a:xfrm>
            <a:off x="990600" y="34798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페이지를 그림으로 먼저 그려 </a:t>
            </a:r>
            <a:r>
              <a:rPr lang="en-US" altLang="ko-KR" sz="1200">
                <a:solidFill>
                  <a:srgbClr val="4A505C"/>
                </a:solidFill>
                <a:latin typeface="Noto Sans KR" panose="020B0200000000000000" pitchFamily="50" charset="-127"/>
                <a:ea typeface="Noto Sans KR" panose="020B0200000000000000" pitchFamily="50" charset="-127"/>
              </a:rPr>
              <a:t>GPT</a:t>
            </a:r>
            <a:r>
              <a:rPr lang="ko-KR" altLang="en-US" sz="1200">
                <a:solidFill>
                  <a:srgbClr val="4A505C"/>
                </a:solidFill>
                <a:latin typeface="Noto Sans KR" panose="020B0200000000000000" pitchFamily="50" charset="-127"/>
                <a:ea typeface="Noto Sans KR" panose="020B0200000000000000" pitchFamily="50" charset="-127"/>
              </a:rPr>
              <a:t>에 보여 주고 </a:t>
            </a:r>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이 배치 그대로</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요청</a:t>
            </a:r>
          </a:p>
        </p:txBody>
      </p:sp>
      <p:sp>
        <p:nvSpPr>
          <p:cNvPr id="37" name="사각형: 둥근 모서리 36">
            <a:extLst>
              <a:ext uri="{FF2B5EF4-FFF2-40B4-BE49-F238E27FC236}">
                <a16:creationId xmlns:a16="http://schemas.microsoft.com/office/drawing/2014/main" id="{D1EB7476-8EB7-40C7-99CE-46350E46AB3B}"/>
              </a:ext>
            </a:extLst>
          </p:cNvPr>
          <p:cNvSpPr/>
          <p:nvPr/>
        </p:nvSpPr>
        <p:spPr>
          <a:xfrm>
            <a:off x="990600" y="4800600"/>
            <a:ext cx="21844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000">
                <a:solidFill>
                  <a:srgbClr val="1B2433"/>
                </a:solidFill>
                <a:latin typeface="Noto Sans KR" panose="020B0200000000000000" pitchFamily="50" charset="-127"/>
                <a:ea typeface="Noto Sans KR" panose="020B0200000000000000" pitchFamily="50" charset="-127"/>
              </a:rPr>
              <a:t>전원 </a:t>
            </a:r>
            <a:r>
              <a:rPr lang="en-US" altLang="ko-KR" sz="1000">
                <a:solidFill>
                  <a:srgbClr val="1B2433"/>
                </a:solidFill>
                <a:latin typeface="Noto Sans KR" panose="020B0200000000000000" pitchFamily="50" charset="-127"/>
                <a:ea typeface="Noto Sans KR" panose="020B0200000000000000" pitchFamily="50" charset="-127"/>
              </a:rPr>
              <a:t>· </a:t>
            </a:r>
            <a:r>
              <a:rPr lang="ko-KR" altLang="en-US" sz="1000">
                <a:solidFill>
                  <a:srgbClr val="1B2433"/>
                </a:solidFill>
                <a:latin typeface="Noto Sans KR" panose="020B0200000000000000" pitchFamily="50" charset="-127"/>
                <a:ea typeface="Noto Sans KR" panose="020B0200000000000000" pitchFamily="50" charset="-127"/>
              </a:rPr>
              <a:t>페이지 이미지화</a:t>
            </a:r>
          </a:p>
        </p:txBody>
      </p:sp>
      <p:sp>
        <p:nvSpPr>
          <p:cNvPr id="38" name="사각형: 둥근 모서리 37">
            <a:extLst>
              <a:ext uri="{FF2B5EF4-FFF2-40B4-BE49-F238E27FC236}">
                <a16:creationId xmlns:a16="http://schemas.microsoft.com/office/drawing/2014/main" id="{78FE0E75-80F8-4485-9A02-CB6EAD337D82}"/>
              </a:ext>
            </a:extLst>
          </p:cNvPr>
          <p:cNvSpPr/>
          <p:nvPr/>
        </p:nvSpPr>
        <p:spPr>
          <a:xfrm>
            <a:off x="3492500" y="2514600"/>
            <a:ext cx="2540000" cy="28194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사각형: 둥근 모서리 38">
            <a:extLst>
              <a:ext uri="{FF2B5EF4-FFF2-40B4-BE49-F238E27FC236}">
                <a16:creationId xmlns:a16="http://schemas.microsoft.com/office/drawing/2014/main" id="{B6ACA1DD-2A18-47D9-9CA0-DC2D99DA40A2}"/>
              </a:ext>
            </a:extLst>
          </p:cNvPr>
          <p:cNvSpPr/>
          <p:nvPr/>
        </p:nvSpPr>
        <p:spPr>
          <a:xfrm>
            <a:off x="3670300" y="2692400"/>
            <a:ext cx="508000" cy="279400"/>
          </a:xfrm>
          <a:prstGeom prst="roundRect">
            <a:avLst>
              <a:gd name="adj" fmla="val 50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캡처</a:t>
            </a:r>
          </a:p>
        </p:txBody>
      </p:sp>
      <p:sp>
        <p:nvSpPr>
          <p:cNvPr id="40" name="TextBox 39">
            <a:extLst>
              <a:ext uri="{FF2B5EF4-FFF2-40B4-BE49-F238E27FC236}">
                <a16:creationId xmlns:a16="http://schemas.microsoft.com/office/drawing/2014/main" id="{89E08420-767F-4B3B-AC70-57F189F41A0E}"/>
              </a:ext>
            </a:extLst>
          </p:cNvPr>
          <p:cNvSpPr txBox="1"/>
          <p:nvPr/>
        </p:nvSpPr>
        <p:spPr>
          <a:xfrm>
            <a:off x="3670300" y="3098800"/>
            <a:ext cx="22352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알캡처로 </a:t>
            </a:r>
            <a:r>
              <a:rPr lang="en-US" altLang="ko-KR" sz="1500" b="1">
                <a:solidFill>
                  <a:srgbClr val="1B2433"/>
                </a:solidFill>
                <a:latin typeface="Noto Sans KR" panose="020B0200000000000000" pitchFamily="50" charset="-127"/>
                <a:ea typeface="Noto Sans KR" panose="020B0200000000000000" pitchFamily="50" charset="-127"/>
              </a:rPr>
              <a:t>px </a:t>
            </a:r>
            <a:r>
              <a:rPr lang="ko-KR" altLang="en-US" sz="1500" b="1">
                <a:solidFill>
                  <a:srgbClr val="1B2433"/>
                </a:solidFill>
                <a:latin typeface="Noto Sans KR" panose="020B0200000000000000" pitchFamily="50" charset="-127"/>
                <a:ea typeface="Noto Sans KR" panose="020B0200000000000000" pitchFamily="50" charset="-127"/>
              </a:rPr>
              <a:t>재기</a:t>
            </a:r>
          </a:p>
        </p:txBody>
      </p:sp>
      <p:sp>
        <p:nvSpPr>
          <p:cNvPr id="41" name="TextBox 40">
            <a:extLst>
              <a:ext uri="{FF2B5EF4-FFF2-40B4-BE49-F238E27FC236}">
                <a16:creationId xmlns:a16="http://schemas.microsoft.com/office/drawing/2014/main" id="{D7C2D7C7-217E-417B-885D-DB08726CD610}"/>
              </a:ext>
            </a:extLst>
          </p:cNvPr>
          <p:cNvSpPr txBox="1"/>
          <p:nvPr/>
        </p:nvSpPr>
        <p:spPr>
          <a:xfrm>
            <a:off x="3670300" y="34798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화면을 캡처해 영역을 잡고 몇 </a:t>
            </a:r>
            <a:r>
              <a:rPr lang="en-US" altLang="ko-KR" sz="1200">
                <a:solidFill>
                  <a:srgbClr val="4A505C"/>
                </a:solidFill>
                <a:latin typeface="Noto Sans KR" panose="020B0200000000000000" pitchFamily="50" charset="-127"/>
                <a:ea typeface="Noto Sans KR" panose="020B0200000000000000" pitchFamily="50" charset="-127"/>
              </a:rPr>
              <a:t>px</a:t>
            </a:r>
            <a:r>
              <a:rPr lang="ko-KR" altLang="en-US" sz="1200">
                <a:solidFill>
                  <a:srgbClr val="4A505C"/>
                </a:solidFill>
                <a:latin typeface="Noto Sans KR" panose="020B0200000000000000" pitchFamily="50" charset="-127"/>
                <a:ea typeface="Noto Sans KR" panose="020B0200000000000000" pitchFamily="50" charset="-127"/>
              </a:rPr>
              <a:t>인지 재서 숫자로 요청</a:t>
            </a:r>
          </a:p>
        </p:txBody>
      </p:sp>
      <p:sp>
        <p:nvSpPr>
          <p:cNvPr id="42" name="사각형: 둥근 모서리 41">
            <a:extLst>
              <a:ext uri="{FF2B5EF4-FFF2-40B4-BE49-F238E27FC236}">
                <a16:creationId xmlns:a16="http://schemas.microsoft.com/office/drawing/2014/main" id="{2EC113A8-AEC1-4764-A344-B5ED967A37F7}"/>
              </a:ext>
            </a:extLst>
          </p:cNvPr>
          <p:cNvSpPr/>
          <p:nvPr/>
        </p:nvSpPr>
        <p:spPr>
          <a:xfrm>
            <a:off x="3670300" y="4800600"/>
            <a:ext cx="21844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000">
                <a:solidFill>
                  <a:srgbClr val="1B2433"/>
                </a:solidFill>
                <a:latin typeface="Noto Sans KR" panose="020B0200000000000000" pitchFamily="50" charset="-127"/>
                <a:ea typeface="Noto Sans KR" panose="020B0200000000000000" pitchFamily="50" charset="-127"/>
              </a:rPr>
              <a:t>김소연 </a:t>
            </a:r>
            <a:r>
              <a:rPr lang="en-US" altLang="ko-KR" sz="1000">
                <a:solidFill>
                  <a:srgbClr val="1B2433"/>
                </a:solidFill>
                <a:latin typeface="Noto Sans KR" panose="020B0200000000000000" pitchFamily="50" charset="-127"/>
                <a:ea typeface="Noto Sans KR" panose="020B0200000000000000" pitchFamily="50" charset="-127"/>
              </a:rPr>
              <a:t>· CONTACT</a:t>
            </a:r>
            <a:endParaRPr lang="ko-KR" altLang="en-US" sz="1000">
              <a:solidFill>
                <a:srgbClr val="1B2433"/>
              </a:solidFill>
              <a:latin typeface="Noto Sans KR" panose="020B0200000000000000" pitchFamily="50" charset="-127"/>
              <a:ea typeface="Noto Sans KR" panose="020B0200000000000000" pitchFamily="50" charset="-127"/>
            </a:endParaRPr>
          </a:p>
        </p:txBody>
      </p:sp>
      <p:sp>
        <p:nvSpPr>
          <p:cNvPr id="43" name="사각형: 둥근 모서리 42">
            <a:extLst>
              <a:ext uri="{FF2B5EF4-FFF2-40B4-BE49-F238E27FC236}">
                <a16:creationId xmlns:a16="http://schemas.microsoft.com/office/drawing/2014/main" id="{E3D20CA4-9E2D-48A3-8051-775A3C21A371}"/>
              </a:ext>
            </a:extLst>
          </p:cNvPr>
          <p:cNvSpPr/>
          <p:nvPr/>
        </p:nvSpPr>
        <p:spPr>
          <a:xfrm>
            <a:off x="6172200" y="2514600"/>
            <a:ext cx="2540000" cy="28194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사각형: 둥근 모서리 43">
            <a:extLst>
              <a:ext uri="{FF2B5EF4-FFF2-40B4-BE49-F238E27FC236}">
                <a16:creationId xmlns:a16="http://schemas.microsoft.com/office/drawing/2014/main" id="{628BD91F-2557-48F8-B6EC-13B098C9E5FE}"/>
              </a:ext>
            </a:extLst>
          </p:cNvPr>
          <p:cNvSpPr/>
          <p:nvPr/>
        </p:nvSpPr>
        <p:spPr>
          <a:xfrm>
            <a:off x="6350000" y="2692400"/>
            <a:ext cx="647700" cy="279400"/>
          </a:xfrm>
          <a:prstGeom prst="roundRect">
            <a:avLst>
              <a:gd name="adj" fmla="val 50000"/>
            </a:avLst>
          </a:prstGeom>
          <a:solidFill>
            <a:srgbClr val="DCD6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1B2433"/>
                </a:solidFill>
                <a:latin typeface="Noto Sans KR" panose="020B0200000000000000" pitchFamily="50" charset="-127"/>
                <a:ea typeface="Noto Sans KR" panose="020B0200000000000000" pitchFamily="50" charset="-127"/>
              </a:rPr>
              <a:t>손그림</a:t>
            </a:r>
          </a:p>
        </p:txBody>
      </p:sp>
      <p:sp>
        <p:nvSpPr>
          <p:cNvPr id="45" name="TextBox 44">
            <a:extLst>
              <a:ext uri="{FF2B5EF4-FFF2-40B4-BE49-F238E27FC236}">
                <a16:creationId xmlns:a16="http://schemas.microsoft.com/office/drawing/2014/main" id="{B933D5DD-E99B-4C29-8BB0-22F3322C912C}"/>
              </a:ext>
            </a:extLst>
          </p:cNvPr>
          <p:cNvSpPr txBox="1"/>
          <p:nvPr/>
        </p:nvSpPr>
        <p:spPr>
          <a:xfrm>
            <a:off x="6350000" y="3098800"/>
            <a:ext cx="22352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펜 태블릿 스케치</a:t>
            </a:r>
          </a:p>
        </p:txBody>
      </p:sp>
      <p:sp>
        <p:nvSpPr>
          <p:cNvPr id="46" name="TextBox 45">
            <a:extLst>
              <a:ext uri="{FF2B5EF4-FFF2-40B4-BE49-F238E27FC236}">
                <a16:creationId xmlns:a16="http://schemas.microsoft.com/office/drawing/2014/main" id="{6576F94E-C0AD-4BBD-AB43-0C4D7DE1BCBC}"/>
              </a:ext>
            </a:extLst>
          </p:cNvPr>
          <p:cNvSpPr txBox="1"/>
          <p:nvPr/>
        </p:nvSpPr>
        <p:spPr>
          <a:xfrm>
            <a:off x="6350000" y="34798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배치와 움직임을 손으로 그려 이미지로 전달</a:t>
            </a:r>
          </a:p>
        </p:txBody>
      </p:sp>
      <p:sp>
        <p:nvSpPr>
          <p:cNvPr id="47" name="사각형: 둥근 모서리 46">
            <a:extLst>
              <a:ext uri="{FF2B5EF4-FFF2-40B4-BE49-F238E27FC236}">
                <a16:creationId xmlns:a16="http://schemas.microsoft.com/office/drawing/2014/main" id="{1162B996-D297-46C8-8AA9-DFEAEBC873D5}"/>
              </a:ext>
            </a:extLst>
          </p:cNvPr>
          <p:cNvSpPr/>
          <p:nvPr/>
        </p:nvSpPr>
        <p:spPr>
          <a:xfrm>
            <a:off x="6350000" y="4800600"/>
            <a:ext cx="21844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000">
                <a:solidFill>
                  <a:srgbClr val="1B2433"/>
                </a:solidFill>
                <a:latin typeface="Noto Sans KR" panose="020B0200000000000000" pitchFamily="50" charset="-127"/>
                <a:ea typeface="Noto Sans KR" panose="020B0200000000000000" pitchFamily="50" charset="-127"/>
              </a:rPr>
              <a:t>레이아웃 </a:t>
            </a:r>
            <a:r>
              <a:rPr lang="en-US" altLang="ko-KR" sz="1000">
                <a:solidFill>
                  <a:srgbClr val="1B2433"/>
                </a:solidFill>
                <a:latin typeface="Noto Sans KR" panose="020B0200000000000000" pitchFamily="50" charset="-127"/>
                <a:ea typeface="Noto Sans KR" panose="020B0200000000000000" pitchFamily="50" charset="-127"/>
              </a:rPr>
              <a:t>· </a:t>
            </a:r>
            <a:r>
              <a:rPr lang="ko-KR" altLang="en-US" sz="1000">
                <a:solidFill>
                  <a:srgbClr val="1B2433"/>
                </a:solidFill>
                <a:latin typeface="Noto Sans KR" panose="020B0200000000000000" pitchFamily="50" charset="-127"/>
                <a:ea typeface="Noto Sans KR" panose="020B0200000000000000" pitchFamily="50" charset="-127"/>
              </a:rPr>
              <a:t>움직임 스케치</a:t>
            </a:r>
          </a:p>
        </p:txBody>
      </p:sp>
      <p:sp>
        <p:nvSpPr>
          <p:cNvPr id="48" name="사각형: 둥근 모서리 47">
            <a:extLst>
              <a:ext uri="{FF2B5EF4-FFF2-40B4-BE49-F238E27FC236}">
                <a16:creationId xmlns:a16="http://schemas.microsoft.com/office/drawing/2014/main" id="{68EF5496-F30E-47A8-87FE-7609248C8353}"/>
              </a:ext>
            </a:extLst>
          </p:cNvPr>
          <p:cNvSpPr/>
          <p:nvPr/>
        </p:nvSpPr>
        <p:spPr>
          <a:xfrm>
            <a:off x="8851900" y="2514600"/>
            <a:ext cx="2540000" cy="28194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사각형: 둥근 모서리 48">
            <a:extLst>
              <a:ext uri="{FF2B5EF4-FFF2-40B4-BE49-F238E27FC236}">
                <a16:creationId xmlns:a16="http://schemas.microsoft.com/office/drawing/2014/main" id="{AD40B133-AF3C-4427-B32C-67D8B59DFE8E}"/>
              </a:ext>
            </a:extLst>
          </p:cNvPr>
          <p:cNvSpPr/>
          <p:nvPr/>
        </p:nvSpPr>
        <p:spPr>
          <a:xfrm>
            <a:off x="9029700" y="2692400"/>
            <a:ext cx="508000" cy="279400"/>
          </a:xfrm>
          <a:prstGeom prst="roundRect">
            <a:avLst>
              <a:gd name="adj" fmla="val 50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1B2433"/>
                </a:solidFill>
                <a:latin typeface="Noto Sans KR" panose="020B0200000000000000" pitchFamily="50" charset="-127"/>
                <a:ea typeface="Noto Sans KR" panose="020B0200000000000000" pitchFamily="50" charset="-127"/>
              </a:rPr>
              <a:t>표시</a:t>
            </a:r>
          </a:p>
        </p:txBody>
      </p:sp>
      <p:sp>
        <p:nvSpPr>
          <p:cNvPr id="50" name="TextBox 49">
            <a:extLst>
              <a:ext uri="{FF2B5EF4-FFF2-40B4-BE49-F238E27FC236}">
                <a16:creationId xmlns:a16="http://schemas.microsoft.com/office/drawing/2014/main" id="{95ED9CDE-0725-4A8A-B006-31C0C4D3C09A}"/>
              </a:ext>
            </a:extLst>
          </p:cNvPr>
          <p:cNvSpPr txBox="1"/>
          <p:nvPr/>
        </p:nvSpPr>
        <p:spPr>
          <a:xfrm>
            <a:off x="9029700" y="3098800"/>
            <a:ext cx="22352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그림판 수정 표시</a:t>
            </a:r>
          </a:p>
        </p:txBody>
      </p:sp>
      <p:sp>
        <p:nvSpPr>
          <p:cNvPr id="51" name="TextBox 50">
            <a:extLst>
              <a:ext uri="{FF2B5EF4-FFF2-40B4-BE49-F238E27FC236}">
                <a16:creationId xmlns:a16="http://schemas.microsoft.com/office/drawing/2014/main" id="{E5A8A5CE-BD43-4ECC-AE6D-EBF3A0FC63B2}"/>
              </a:ext>
            </a:extLst>
          </p:cNvPr>
          <p:cNvSpPr txBox="1"/>
          <p:nvPr/>
        </p:nvSpPr>
        <p:spPr>
          <a:xfrm>
            <a:off x="9029700" y="34798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캡처 위에 빨간 박스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화살표로 고칠 곳을 표시해 전달</a:t>
            </a:r>
          </a:p>
        </p:txBody>
      </p:sp>
      <p:sp>
        <p:nvSpPr>
          <p:cNvPr id="52" name="사각형: 둥근 모서리 51">
            <a:extLst>
              <a:ext uri="{FF2B5EF4-FFF2-40B4-BE49-F238E27FC236}">
                <a16:creationId xmlns:a16="http://schemas.microsoft.com/office/drawing/2014/main" id="{DD7B9FA6-73AD-48D5-A015-8C44236EFD75}"/>
              </a:ext>
            </a:extLst>
          </p:cNvPr>
          <p:cNvSpPr/>
          <p:nvPr/>
        </p:nvSpPr>
        <p:spPr>
          <a:xfrm>
            <a:off x="9029700" y="4800600"/>
            <a:ext cx="21844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000">
                <a:solidFill>
                  <a:srgbClr val="1B2433"/>
                </a:solidFill>
                <a:latin typeface="Noto Sans KR" panose="020B0200000000000000" pitchFamily="50" charset="-127"/>
                <a:ea typeface="Noto Sans KR" panose="020B0200000000000000" pitchFamily="50" charset="-127"/>
              </a:rPr>
              <a:t>수정 요청할 때</a:t>
            </a:r>
          </a:p>
        </p:txBody>
      </p:sp>
      <p:sp>
        <p:nvSpPr>
          <p:cNvPr id="53" name="사각형: 둥근 모서리 52">
            <a:extLst>
              <a:ext uri="{FF2B5EF4-FFF2-40B4-BE49-F238E27FC236}">
                <a16:creationId xmlns:a16="http://schemas.microsoft.com/office/drawing/2014/main" id="{61092BA3-DC07-4455-A52B-3D934822437D}"/>
              </a:ext>
            </a:extLst>
          </p:cNvPr>
          <p:cNvSpPr/>
          <p:nvPr/>
        </p:nvSpPr>
        <p:spPr>
          <a:xfrm>
            <a:off x="812800" y="55372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TextBox 53">
            <a:extLst>
              <a:ext uri="{FF2B5EF4-FFF2-40B4-BE49-F238E27FC236}">
                <a16:creationId xmlns:a16="http://schemas.microsoft.com/office/drawing/2014/main" id="{AC4D6913-4ABD-496F-80E1-9FC4CA2B2530}"/>
              </a:ext>
            </a:extLst>
          </p:cNvPr>
          <p:cNvSpPr txBox="1"/>
          <p:nvPr/>
        </p:nvSpPr>
        <p:spPr>
          <a:xfrm>
            <a:off x="1066800" y="57023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효과</a:t>
            </a:r>
            <a:r>
              <a:rPr lang="ko-KR" altLang="en-US" sz="1300">
                <a:solidFill>
                  <a:srgbClr val="E8692C"/>
                </a:solidFill>
                <a:latin typeface="Noto Sans KR" panose="020B0200000000000000" pitchFamily="50" charset="-127"/>
                <a:ea typeface="Noto Sans KR" panose="020B0200000000000000" pitchFamily="50" charset="-127"/>
              </a:rPr>
              <a:t>　말로만 설명할 때보다 수정 횟수가 줄고</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원하는 배치에 한 번에 가까워졌습니다</a:t>
            </a:r>
          </a:p>
        </p:txBody>
      </p:sp>
    </p:spTree>
    <p:extLst>
      <p:ext uri="{BB962C8B-B14F-4D97-AF65-F5344CB8AC3E}">
        <p14:creationId xmlns:p14="http://schemas.microsoft.com/office/powerpoint/2010/main" val="3421864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그림으로 보여 주기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말로만 할 때 </a:t>
            </a:r>
            <a:r>
              <a:rPr lang="en-US" altLang="ko-KR" sz="3200" b="1" i="0">
                <a:solidFill>
                  <a:srgbClr val="1B2433"/>
                </a:solidFill>
                <a:latin typeface="Noto Sans KR" pitchFamily="34" charset="0"/>
                <a:ea typeface="Noto Sans KR" pitchFamily="34" charset="-122"/>
                <a:cs typeface="Noto Sans KR" pitchFamily="34" charset="-120"/>
              </a:rPr>
              <a:t>vs </a:t>
            </a:r>
            <a:r>
              <a:rPr lang="ko-KR" altLang="en-US" sz="3200" b="1" i="0">
                <a:solidFill>
                  <a:srgbClr val="1B2433"/>
                </a:solidFill>
                <a:latin typeface="Noto Sans KR" pitchFamily="34" charset="0"/>
                <a:ea typeface="Noto Sans KR" pitchFamily="34" charset="-122"/>
                <a:cs typeface="Noto Sans KR" pitchFamily="34" charset="-120"/>
              </a:rPr>
              <a:t>그림 </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숫자로 보여 줄 때</a:t>
            </a:r>
            <a:endParaRPr lang="en-US" sz="3200" dirty="0"/>
          </a:p>
        </p:txBody>
      </p:sp>
      <p:sp>
        <p:nvSpPr>
          <p:cNvPr id="26" name="사각형: 둥근 모서리 25">
            <a:extLst>
              <a:ext uri="{FF2B5EF4-FFF2-40B4-BE49-F238E27FC236}">
                <a16:creationId xmlns:a16="http://schemas.microsoft.com/office/drawing/2014/main" id="{663E636F-E745-44E3-AFD4-0535A0861773}"/>
              </a:ext>
            </a:extLst>
          </p:cNvPr>
          <p:cNvSpPr/>
          <p:nvPr/>
        </p:nvSpPr>
        <p:spPr>
          <a:xfrm>
            <a:off x="812800" y="1905000"/>
            <a:ext cx="5080000" cy="3429000"/>
          </a:xfrm>
          <a:prstGeom prst="roundRect">
            <a:avLst>
              <a:gd name="adj" fmla="val 6000"/>
            </a:avLst>
          </a:prstGeom>
          <a:solidFill>
            <a:srgbClr val="ECE9E1"/>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사각형: 둥근 모서리 26">
            <a:extLst>
              <a:ext uri="{FF2B5EF4-FFF2-40B4-BE49-F238E27FC236}">
                <a16:creationId xmlns:a16="http://schemas.microsoft.com/office/drawing/2014/main" id="{C0E09612-4B2A-4BF0-A63B-3CB9F23941D4}"/>
              </a:ext>
            </a:extLst>
          </p:cNvPr>
          <p:cNvSpPr/>
          <p:nvPr/>
        </p:nvSpPr>
        <p:spPr>
          <a:xfrm>
            <a:off x="1016000" y="2108200"/>
            <a:ext cx="1066800" cy="279400"/>
          </a:xfrm>
          <a:prstGeom prst="roundRect">
            <a:avLst>
              <a:gd name="adj" fmla="val 50000"/>
            </a:avLst>
          </a:prstGeom>
          <a:solidFill>
            <a:srgbClr val="DCD6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1B2433"/>
                </a:solidFill>
                <a:latin typeface="Noto Sans KR" panose="020B0200000000000000" pitchFamily="50" charset="-127"/>
                <a:ea typeface="Noto Sans KR" panose="020B0200000000000000" pitchFamily="50" charset="-127"/>
              </a:rPr>
              <a:t>글로만 요청</a:t>
            </a:r>
          </a:p>
        </p:txBody>
      </p:sp>
      <p:sp>
        <p:nvSpPr>
          <p:cNvPr id="28" name="TextBox 27">
            <a:extLst>
              <a:ext uri="{FF2B5EF4-FFF2-40B4-BE49-F238E27FC236}">
                <a16:creationId xmlns:a16="http://schemas.microsoft.com/office/drawing/2014/main" id="{EFAC2546-2980-4441-A831-07C84337BDBF}"/>
              </a:ext>
            </a:extLst>
          </p:cNvPr>
          <p:cNvSpPr txBox="1"/>
          <p:nvPr/>
        </p:nvSpPr>
        <p:spPr>
          <a:xfrm>
            <a:off x="1016000" y="2514600"/>
            <a:ext cx="4673600" cy="369332"/>
          </a:xfrm>
          <a:prstGeom prst="rect">
            <a:avLst/>
          </a:prstGeom>
          <a:noFill/>
        </p:spPr>
        <p:txBody>
          <a:bodyPr vert="horz" wrap="square" lIns="0" tIns="0" rIns="0" bIns="0" rtlCol="0">
            <a:noAutofit/>
          </a:bodyPr>
          <a:lstStyle/>
          <a:p>
            <a:r>
              <a:rPr lang="ko-KR" altLang="en-US" sz="1600" b="1">
                <a:solidFill>
                  <a:srgbClr val="1B2433"/>
                </a:solidFill>
                <a:latin typeface="Noto Sans KR" panose="020B0200000000000000" pitchFamily="50" charset="-127"/>
                <a:ea typeface="Noto Sans KR" panose="020B0200000000000000" pitchFamily="50" charset="-127"/>
              </a:rPr>
              <a:t>말로만 설명했을 때</a:t>
            </a:r>
          </a:p>
        </p:txBody>
      </p:sp>
      <p:sp>
        <p:nvSpPr>
          <p:cNvPr id="29" name="사각형: 둥근 모서리 28">
            <a:extLst>
              <a:ext uri="{FF2B5EF4-FFF2-40B4-BE49-F238E27FC236}">
                <a16:creationId xmlns:a16="http://schemas.microsoft.com/office/drawing/2014/main" id="{1DB8716B-AA57-45A4-9739-C514F3F1D145}"/>
              </a:ext>
            </a:extLst>
          </p:cNvPr>
          <p:cNvSpPr/>
          <p:nvPr/>
        </p:nvSpPr>
        <p:spPr>
          <a:xfrm>
            <a:off x="1016000" y="2946400"/>
            <a:ext cx="4673600" cy="8382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0" rIns="152400" bIns="0" rtlCol="0" anchor="ctr"/>
          <a:lstStyle/>
          <a:p>
            <a:r>
              <a:rPr lang="ko-KR" altLang="en-US" sz="1200">
                <a:solidFill>
                  <a:srgbClr val="4A505C"/>
                </a:solidFill>
                <a:latin typeface="Noto Sans KR" panose="020B0200000000000000" pitchFamily="50" charset="-127"/>
                <a:ea typeface="Noto Sans KR" panose="020B0200000000000000" pitchFamily="50" charset="-127"/>
              </a:rPr>
              <a:t>“메인 문구 좀 크게 하고</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버튼은 아래쪽에 예쁘게 놔 줘”</a:t>
            </a:r>
          </a:p>
        </p:txBody>
      </p:sp>
      <p:sp>
        <p:nvSpPr>
          <p:cNvPr id="30" name="TextBox 29">
            <a:extLst>
              <a:ext uri="{FF2B5EF4-FFF2-40B4-BE49-F238E27FC236}">
                <a16:creationId xmlns:a16="http://schemas.microsoft.com/office/drawing/2014/main" id="{97D23B51-80B8-4189-A81D-BF7A9D1ECC26}"/>
              </a:ext>
            </a:extLst>
          </p:cNvPr>
          <p:cNvSpPr txBox="1"/>
          <p:nvPr/>
        </p:nvSpPr>
        <p:spPr>
          <a:xfrm>
            <a:off x="1016000" y="3987800"/>
            <a:ext cx="46736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  크기 </a:t>
            </a:r>
            <a:r>
              <a:rPr lang="en-US" altLang="ko-KR" sz="1300">
                <a:solidFill>
                  <a:srgbClr val="4A505C"/>
                </a:solidFill>
                <a:latin typeface="Noto Sans KR" panose="020B0200000000000000" pitchFamily="50" charset="-127"/>
                <a:ea typeface="Noto Sans KR" panose="020B0200000000000000" pitchFamily="50" charset="-127"/>
              </a:rPr>
              <a:t>· </a:t>
            </a:r>
            <a:r>
              <a:rPr lang="ko-KR" altLang="en-US" sz="1300">
                <a:solidFill>
                  <a:srgbClr val="4A505C"/>
                </a:solidFill>
                <a:latin typeface="Noto Sans KR" panose="020B0200000000000000" pitchFamily="50" charset="-127"/>
                <a:ea typeface="Noto Sans KR" panose="020B0200000000000000" pitchFamily="50" charset="-127"/>
              </a:rPr>
              <a:t>위치가 요청할 때마다 달라짐</a:t>
            </a:r>
          </a:p>
        </p:txBody>
      </p:sp>
      <p:sp>
        <p:nvSpPr>
          <p:cNvPr id="31" name="TextBox 30">
            <a:extLst>
              <a:ext uri="{FF2B5EF4-FFF2-40B4-BE49-F238E27FC236}">
                <a16:creationId xmlns:a16="http://schemas.microsoft.com/office/drawing/2014/main" id="{BCE57436-A4EC-4C70-990C-C203864D3280}"/>
              </a:ext>
            </a:extLst>
          </p:cNvPr>
          <p:cNvSpPr txBox="1"/>
          <p:nvPr/>
        </p:nvSpPr>
        <p:spPr>
          <a:xfrm>
            <a:off x="1016000" y="4368800"/>
            <a:ext cx="46736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  고치지 않은 곳까지 바뀜</a:t>
            </a:r>
          </a:p>
        </p:txBody>
      </p:sp>
      <p:sp>
        <p:nvSpPr>
          <p:cNvPr id="32" name="TextBox 31">
            <a:extLst>
              <a:ext uri="{FF2B5EF4-FFF2-40B4-BE49-F238E27FC236}">
                <a16:creationId xmlns:a16="http://schemas.microsoft.com/office/drawing/2014/main" id="{0A0D8DAB-4499-482B-B39D-26E38F889445}"/>
              </a:ext>
            </a:extLst>
          </p:cNvPr>
          <p:cNvSpPr txBox="1"/>
          <p:nvPr/>
        </p:nvSpPr>
        <p:spPr>
          <a:xfrm>
            <a:off x="1016000" y="4749800"/>
            <a:ext cx="46736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  같은 요청을 여러 번 반복</a:t>
            </a:r>
          </a:p>
        </p:txBody>
      </p:sp>
      <p:sp>
        <p:nvSpPr>
          <p:cNvPr id="33" name="사각형: 둥근 모서리 32">
            <a:extLst>
              <a:ext uri="{FF2B5EF4-FFF2-40B4-BE49-F238E27FC236}">
                <a16:creationId xmlns:a16="http://schemas.microsoft.com/office/drawing/2014/main" id="{BADC8EBB-6FE9-4522-B3A9-ECC2183C5937}"/>
              </a:ext>
            </a:extLst>
          </p:cNvPr>
          <p:cNvSpPr/>
          <p:nvPr/>
        </p:nvSpPr>
        <p:spPr>
          <a:xfrm>
            <a:off x="6299200" y="1905000"/>
            <a:ext cx="5080000" cy="34290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사각형: 둥근 모서리 33">
            <a:extLst>
              <a:ext uri="{FF2B5EF4-FFF2-40B4-BE49-F238E27FC236}">
                <a16:creationId xmlns:a16="http://schemas.microsoft.com/office/drawing/2014/main" id="{E9809232-BE2E-45EB-B090-5F1DE72681F7}"/>
              </a:ext>
            </a:extLst>
          </p:cNvPr>
          <p:cNvSpPr/>
          <p:nvPr/>
        </p:nvSpPr>
        <p:spPr>
          <a:xfrm>
            <a:off x="6502400" y="2108200"/>
            <a:ext cx="1765300" cy="279400"/>
          </a:xfrm>
          <a:prstGeom prst="roundRect">
            <a:avLst>
              <a:gd name="adj" fmla="val 50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그림 </a:t>
            </a:r>
            <a:r>
              <a:rPr lang="en-US" altLang="ko-KR" sz="1100" b="1">
                <a:solidFill>
                  <a:srgbClr val="FFFFFF"/>
                </a:solidFill>
                <a:latin typeface="Noto Sans KR" panose="020B0200000000000000" pitchFamily="50" charset="-127"/>
                <a:ea typeface="Noto Sans KR" panose="020B0200000000000000" pitchFamily="50" charset="-127"/>
              </a:rPr>
              <a:t>+ </a:t>
            </a:r>
            <a:r>
              <a:rPr lang="ko-KR" altLang="en-US" sz="1100" b="1">
                <a:solidFill>
                  <a:srgbClr val="FFFFFF"/>
                </a:solidFill>
                <a:latin typeface="Noto Sans KR" panose="020B0200000000000000" pitchFamily="50" charset="-127"/>
                <a:ea typeface="Noto Sans KR" panose="020B0200000000000000" pitchFamily="50" charset="-127"/>
              </a:rPr>
              <a:t>숫자로 요청</a:t>
            </a:r>
          </a:p>
        </p:txBody>
      </p:sp>
      <p:sp>
        <p:nvSpPr>
          <p:cNvPr id="35" name="TextBox 34">
            <a:extLst>
              <a:ext uri="{FF2B5EF4-FFF2-40B4-BE49-F238E27FC236}">
                <a16:creationId xmlns:a16="http://schemas.microsoft.com/office/drawing/2014/main" id="{AD85D8CD-D2F6-4AE7-9598-7870FD9F3A16}"/>
              </a:ext>
            </a:extLst>
          </p:cNvPr>
          <p:cNvSpPr txBox="1"/>
          <p:nvPr/>
        </p:nvSpPr>
        <p:spPr>
          <a:xfrm>
            <a:off x="6502400" y="2514600"/>
            <a:ext cx="4673600" cy="369332"/>
          </a:xfrm>
          <a:prstGeom prst="rect">
            <a:avLst/>
          </a:prstGeom>
          <a:noFill/>
        </p:spPr>
        <p:txBody>
          <a:bodyPr vert="horz" wrap="square" lIns="0" tIns="0" rIns="0" bIns="0" rtlCol="0">
            <a:noAutofit/>
          </a:bodyPr>
          <a:lstStyle/>
          <a:p>
            <a:r>
              <a:rPr lang="ko-KR" altLang="en-US" sz="1600" b="1">
                <a:solidFill>
                  <a:srgbClr val="FFFFFF"/>
                </a:solidFill>
                <a:latin typeface="Noto Sans KR" panose="020B0200000000000000" pitchFamily="50" charset="-127"/>
                <a:ea typeface="Noto Sans KR" panose="020B0200000000000000" pitchFamily="50" charset="-127"/>
              </a:rPr>
              <a:t>시안 </a:t>
            </a:r>
            <a:r>
              <a:rPr lang="en-US" altLang="ko-KR" sz="1600" b="1">
                <a:solidFill>
                  <a:srgbClr val="FFFFFF"/>
                </a:solidFill>
                <a:latin typeface="Noto Sans KR" panose="020B0200000000000000" pitchFamily="50" charset="-127"/>
                <a:ea typeface="Noto Sans KR" panose="020B0200000000000000" pitchFamily="50" charset="-127"/>
              </a:rPr>
              <a:t>· </a:t>
            </a:r>
            <a:r>
              <a:rPr lang="ko-KR" altLang="en-US" sz="1600" b="1">
                <a:solidFill>
                  <a:srgbClr val="FFFFFF"/>
                </a:solidFill>
                <a:latin typeface="Noto Sans KR" panose="020B0200000000000000" pitchFamily="50" charset="-127"/>
                <a:ea typeface="Noto Sans KR" panose="020B0200000000000000" pitchFamily="50" charset="-127"/>
              </a:rPr>
              <a:t>캡처를 함께 보여 줬을 때</a:t>
            </a:r>
          </a:p>
        </p:txBody>
      </p:sp>
      <p:sp>
        <p:nvSpPr>
          <p:cNvPr id="36" name="사각형: 둥근 모서리 35">
            <a:extLst>
              <a:ext uri="{FF2B5EF4-FFF2-40B4-BE49-F238E27FC236}">
                <a16:creationId xmlns:a16="http://schemas.microsoft.com/office/drawing/2014/main" id="{AC31FD3D-AD08-4CA5-9033-8047305ABAE2}"/>
              </a:ext>
            </a:extLst>
          </p:cNvPr>
          <p:cNvSpPr/>
          <p:nvPr/>
        </p:nvSpPr>
        <p:spPr>
          <a:xfrm>
            <a:off x="6502400" y="2946400"/>
            <a:ext cx="4673600" cy="8382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wrap="square" lIns="152400" tIns="0" rIns="152400" bIns="0" rtlCol="0" anchor="ctr"/>
          <a:lstStyle/>
          <a:p>
            <a:r>
              <a:rPr lang="ko-KR" altLang="en-US" sz="1200">
                <a:solidFill>
                  <a:srgbClr val="4A505C"/>
                </a:solidFill>
                <a:latin typeface="Noto Sans KR" panose="020B0200000000000000" pitchFamily="50" charset="-127"/>
                <a:ea typeface="Noto Sans KR" panose="020B0200000000000000" pitchFamily="50" charset="-127"/>
              </a:rPr>
              <a:t>“첨부한 시안처럼</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제목 </a:t>
            </a:r>
            <a:r>
              <a:rPr lang="en-US" altLang="ko-KR" sz="1200">
                <a:solidFill>
                  <a:srgbClr val="4A505C"/>
                </a:solidFill>
                <a:latin typeface="Noto Sans KR" panose="020B0200000000000000" pitchFamily="50" charset="-127"/>
                <a:ea typeface="Noto Sans KR" panose="020B0200000000000000" pitchFamily="50" charset="-127"/>
              </a:rPr>
              <a:t>124pt Heavy, </a:t>
            </a:r>
            <a:r>
              <a:rPr lang="ko-KR" altLang="en-US" sz="1200">
                <a:solidFill>
                  <a:srgbClr val="4A505C"/>
                </a:solidFill>
                <a:latin typeface="Noto Sans KR" panose="020B0200000000000000" pitchFamily="50" charset="-127"/>
                <a:ea typeface="Noto Sans KR" panose="020B0200000000000000" pitchFamily="50" charset="-127"/>
              </a:rPr>
              <a:t>버튼 </a:t>
            </a:r>
            <a:r>
              <a:rPr lang="en-US" altLang="ko-KR" sz="1200">
                <a:solidFill>
                  <a:srgbClr val="4A505C"/>
                </a:solidFill>
                <a:latin typeface="Noto Sans KR" panose="020B0200000000000000" pitchFamily="50" charset="-127"/>
                <a:ea typeface="Noto Sans KR" panose="020B0200000000000000" pitchFamily="50" charset="-127"/>
              </a:rPr>
              <a:t>394 × 80 #E0FF4F, </a:t>
            </a:r>
            <a:r>
              <a:rPr lang="ko-KR" altLang="en-US" sz="1200">
                <a:solidFill>
                  <a:srgbClr val="4A505C"/>
                </a:solidFill>
                <a:latin typeface="Noto Sans KR" panose="020B0200000000000000" pitchFamily="50" charset="-127"/>
                <a:ea typeface="Noto Sans KR" panose="020B0200000000000000" pitchFamily="50" charset="-127"/>
              </a:rPr>
              <a:t>버튼 사이 </a:t>
            </a:r>
            <a:r>
              <a:rPr lang="en-US" altLang="ko-KR" sz="1200">
                <a:solidFill>
                  <a:srgbClr val="4A505C"/>
                </a:solidFill>
                <a:latin typeface="Noto Sans KR" panose="020B0200000000000000" pitchFamily="50" charset="-127"/>
                <a:ea typeface="Noto Sans KR" panose="020B0200000000000000" pitchFamily="50" charset="-127"/>
              </a:rPr>
              <a:t>58px”</a:t>
            </a:r>
            <a:endParaRPr lang="ko-KR" altLang="en-US" sz="1200">
              <a:solidFill>
                <a:srgbClr val="4A505C"/>
              </a:solidFill>
              <a:latin typeface="Noto Sans KR" panose="020B0200000000000000" pitchFamily="50" charset="-127"/>
              <a:ea typeface="Noto Sans KR" panose="020B0200000000000000" pitchFamily="50" charset="-127"/>
            </a:endParaRPr>
          </a:p>
        </p:txBody>
      </p:sp>
      <p:sp>
        <p:nvSpPr>
          <p:cNvPr id="37" name="TextBox 36">
            <a:extLst>
              <a:ext uri="{FF2B5EF4-FFF2-40B4-BE49-F238E27FC236}">
                <a16:creationId xmlns:a16="http://schemas.microsoft.com/office/drawing/2014/main" id="{4BBE3928-FF9F-4105-AB46-E67339CB03BA}"/>
              </a:ext>
            </a:extLst>
          </p:cNvPr>
          <p:cNvSpPr txBox="1"/>
          <p:nvPr/>
        </p:nvSpPr>
        <p:spPr>
          <a:xfrm>
            <a:off x="6502400" y="3987800"/>
            <a:ext cx="46736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  한두 번 만에 원하는 배치</a:t>
            </a:r>
          </a:p>
        </p:txBody>
      </p:sp>
      <p:sp>
        <p:nvSpPr>
          <p:cNvPr id="38" name="TextBox 37">
            <a:extLst>
              <a:ext uri="{FF2B5EF4-FFF2-40B4-BE49-F238E27FC236}">
                <a16:creationId xmlns:a16="http://schemas.microsoft.com/office/drawing/2014/main" id="{7B4C01A3-A16B-4EBD-826E-29F724DC9D4E}"/>
              </a:ext>
            </a:extLst>
          </p:cNvPr>
          <p:cNvSpPr txBox="1"/>
          <p:nvPr/>
        </p:nvSpPr>
        <p:spPr>
          <a:xfrm>
            <a:off x="6502400" y="4368800"/>
            <a:ext cx="46736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  요청한 곳만 정확히 수정</a:t>
            </a:r>
          </a:p>
        </p:txBody>
      </p:sp>
      <p:sp>
        <p:nvSpPr>
          <p:cNvPr id="39" name="TextBox 38">
            <a:extLst>
              <a:ext uri="{FF2B5EF4-FFF2-40B4-BE49-F238E27FC236}">
                <a16:creationId xmlns:a16="http://schemas.microsoft.com/office/drawing/2014/main" id="{0989985E-D94A-4FEC-BBC2-1715667DA4FF}"/>
              </a:ext>
            </a:extLst>
          </p:cNvPr>
          <p:cNvSpPr txBox="1"/>
          <p:nvPr/>
        </p:nvSpPr>
        <p:spPr>
          <a:xfrm>
            <a:off x="6502400" y="4749800"/>
            <a:ext cx="46736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  팀원 </a:t>
            </a:r>
            <a:r>
              <a:rPr lang="en-US" altLang="ko-KR" sz="1300" b="1">
                <a:solidFill>
                  <a:srgbClr val="FFFFFF"/>
                </a:solidFill>
                <a:latin typeface="Noto Sans KR" panose="020B0200000000000000" pitchFamily="50" charset="-127"/>
                <a:ea typeface="Noto Sans KR" panose="020B0200000000000000" pitchFamily="50" charset="-127"/>
              </a:rPr>
              <a:t>4</a:t>
            </a:r>
            <a:r>
              <a:rPr lang="ko-KR" altLang="en-US" sz="1300" b="1">
                <a:solidFill>
                  <a:srgbClr val="FFFFFF"/>
                </a:solidFill>
                <a:latin typeface="Noto Sans KR" panose="020B0200000000000000" pitchFamily="50" charset="-127"/>
                <a:ea typeface="Noto Sans KR" panose="020B0200000000000000" pitchFamily="50" charset="-127"/>
              </a:rPr>
              <a:t>명의 화면 스타일 통일</a:t>
            </a:r>
          </a:p>
        </p:txBody>
      </p:sp>
      <p:sp>
        <p:nvSpPr>
          <p:cNvPr id="40" name="TextBox 39">
            <a:extLst>
              <a:ext uri="{FF2B5EF4-FFF2-40B4-BE49-F238E27FC236}">
                <a16:creationId xmlns:a16="http://schemas.microsoft.com/office/drawing/2014/main" id="{F20395FB-A0D4-4459-B1B6-ACE49879ADD8}"/>
              </a:ext>
            </a:extLst>
          </p:cNvPr>
          <p:cNvSpPr txBox="1"/>
          <p:nvPr/>
        </p:nvSpPr>
        <p:spPr>
          <a:xfrm>
            <a:off x="5918200" y="3429000"/>
            <a:ext cx="330200" cy="381000"/>
          </a:xfrm>
          <a:prstGeom prst="rect">
            <a:avLst/>
          </a:prstGeom>
          <a:noFill/>
        </p:spPr>
        <p:txBody>
          <a:bodyPr vert="horz" wrap="square" lIns="0" tIns="0" rIns="0" bIns="0" rtlCol="0">
            <a:noAutofit/>
          </a:bodyPr>
          <a:lstStyle/>
          <a:p>
            <a:pPr algn="ctr"/>
            <a:r>
              <a:rPr lang="ko-KR" altLang="en-US" sz="2000" b="1">
                <a:solidFill>
                  <a:srgbClr val="E8692C"/>
                </a:solidFill>
                <a:latin typeface="Noto Sans KR" panose="020B0200000000000000" pitchFamily="50" charset="-127"/>
                <a:ea typeface="Noto Sans KR" panose="020B0200000000000000" pitchFamily="50" charset="-127"/>
              </a:rPr>
              <a:t>→</a:t>
            </a:r>
          </a:p>
        </p:txBody>
      </p:sp>
      <p:sp>
        <p:nvSpPr>
          <p:cNvPr id="41" name="사각형: 둥근 모서리 40">
            <a:extLst>
              <a:ext uri="{FF2B5EF4-FFF2-40B4-BE49-F238E27FC236}">
                <a16:creationId xmlns:a16="http://schemas.microsoft.com/office/drawing/2014/main" id="{77D8B10D-9C77-42D8-BB8C-1D2240EF469A}"/>
              </a:ext>
            </a:extLst>
          </p:cNvPr>
          <p:cNvSpPr/>
          <p:nvPr/>
        </p:nvSpPr>
        <p:spPr>
          <a:xfrm>
            <a:off x="812800" y="55372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E20B0A1D-D60B-4583-A093-16D3B21ED32A}"/>
              </a:ext>
            </a:extLst>
          </p:cNvPr>
          <p:cNvSpPr txBox="1"/>
          <p:nvPr/>
        </p:nvSpPr>
        <p:spPr>
          <a:xfrm>
            <a:off x="1066800" y="57023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깨달은 점</a:t>
            </a:r>
            <a:r>
              <a:rPr lang="ko-KR" altLang="en-US" sz="1300">
                <a:solidFill>
                  <a:srgbClr val="E8692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AI</a:t>
            </a:r>
            <a:r>
              <a:rPr lang="ko-KR" altLang="en-US" sz="1300">
                <a:solidFill>
                  <a:srgbClr val="E8692C"/>
                </a:solidFill>
                <a:latin typeface="Noto Sans KR" panose="020B0200000000000000" pitchFamily="50" charset="-127"/>
                <a:ea typeface="Noto Sans KR" panose="020B0200000000000000" pitchFamily="50" charset="-127"/>
              </a:rPr>
              <a:t>는 말보다 그림과 숫자를 더 정확하게 알아들었습니다</a:t>
            </a:r>
          </a:p>
        </p:txBody>
      </p:sp>
    </p:spTree>
    <p:extLst>
      <p:ext uri="{BB962C8B-B14F-4D97-AF65-F5344CB8AC3E}">
        <p14:creationId xmlns:p14="http://schemas.microsoft.com/office/powerpoint/2010/main" val="3144614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그림으로 보여 주기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도구별로 이렇게 나눠 썼습니다</a:t>
            </a:r>
            <a:endParaRPr lang="en-US" sz="3200" dirty="0"/>
          </a:p>
        </p:txBody>
      </p:sp>
      <p:graphicFrame>
        <p:nvGraphicFramePr>
          <p:cNvPr id="26" name="표 25">
            <a:extLst>
              <a:ext uri="{FF2B5EF4-FFF2-40B4-BE49-F238E27FC236}">
                <a16:creationId xmlns:a16="http://schemas.microsoft.com/office/drawing/2014/main" id="{888A1C7D-B86F-4173-926F-EDC2E4251AFC}"/>
              </a:ext>
            </a:extLst>
          </p:cNvPr>
          <p:cNvGraphicFramePr>
            <a:graphicFrameLocks noGrp="1"/>
          </p:cNvGraphicFramePr>
          <p:nvPr>
            <p:extLst>
              <p:ext uri="{D42A27DB-BD31-4B8C-83A1-F6EECF244321}">
                <p14:modId xmlns:p14="http://schemas.microsoft.com/office/powerpoint/2010/main" val="1719096866"/>
              </p:ext>
            </p:extLst>
          </p:nvPr>
        </p:nvGraphicFramePr>
        <p:xfrm>
          <a:off x="812800" y="1905000"/>
          <a:ext cx="10566400" cy="2921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76908789"/>
                    </a:ext>
                  </a:extLst>
                </a:gridCol>
                <a:gridCol w="2667000">
                  <a:extLst>
                    <a:ext uri="{9D8B030D-6E8A-4147-A177-3AD203B41FA5}">
                      <a16:colId xmlns:a16="http://schemas.microsoft.com/office/drawing/2014/main" val="3730404522"/>
                    </a:ext>
                  </a:extLst>
                </a:gridCol>
                <a:gridCol w="3175000">
                  <a:extLst>
                    <a:ext uri="{9D8B030D-6E8A-4147-A177-3AD203B41FA5}">
                      <a16:colId xmlns:a16="http://schemas.microsoft.com/office/drawing/2014/main" val="1739896305"/>
                    </a:ext>
                  </a:extLst>
                </a:gridCol>
                <a:gridCol w="2819400">
                  <a:extLst>
                    <a:ext uri="{9D8B030D-6E8A-4147-A177-3AD203B41FA5}">
                      <a16:colId xmlns:a16="http://schemas.microsoft.com/office/drawing/2014/main" val="2188318548"/>
                    </a:ext>
                  </a:extLst>
                </a:gridCol>
              </a:tblGrid>
              <a:tr h="584200">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도구</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언제 썼나</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좋았던 점</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아쉬웠던 점</a:t>
                      </a:r>
                    </a:p>
                  </a:txBody>
                  <a:tcPr marL="127000" marR="101600" anchor="ctr">
                    <a:solidFill>
                      <a:srgbClr val="16202E"/>
                    </a:solidFill>
                  </a:tcPr>
                </a:tc>
                <a:extLst>
                  <a:ext uri="{0D108BD9-81ED-4DB2-BD59-A6C34878D82A}">
                    <a16:rowId xmlns:a16="http://schemas.microsoft.com/office/drawing/2014/main" val="4241231522"/>
                  </a:ext>
                </a:extLst>
              </a:tr>
              <a:tr h="584200">
                <a:tc>
                  <a:txBody>
                    <a:bodyPr/>
                    <a:lstStyle/>
                    <a:p>
                      <a:pPr latinLnBrk="1"/>
                      <a:r>
                        <a:rPr lang="en-US" altLang="ko-KR" sz="1200" b="1">
                          <a:solidFill>
                            <a:srgbClr val="1B2433"/>
                          </a:solidFill>
                          <a:latin typeface="Noto Sans KR" panose="020B0200000000000000" pitchFamily="50" charset="-127"/>
                          <a:ea typeface="Noto Sans KR" panose="020B0200000000000000" pitchFamily="50" charset="-127"/>
                        </a:rPr>
                        <a:t>Illustrator</a:t>
                      </a:r>
                      <a:endParaRPr lang="ko-KR" altLang="en-US" sz="1200" b="1">
                        <a:solidFill>
                          <a:srgbClr val="1B2433"/>
                        </a:solidFill>
                        <a:latin typeface="Noto Sans KR" panose="020B0200000000000000" pitchFamily="50" charset="-127"/>
                        <a:ea typeface="Noto Sans KR" panose="020B0200000000000000" pitchFamily="50" charset="-127"/>
                      </a:endParaRP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페이지 첫 시안</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배치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색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문구를 한 장에 전달</a:t>
                      </a:r>
                    </a:p>
                  </a:txBody>
                  <a:tcPr marL="127000" marR="101600" anchor="ctr">
                    <a:solidFill>
                      <a:srgbClr val="FDFCF9"/>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그리는 데 시간이 걸림</a:t>
                      </a:r>
                    </a:p>
                  </a:txBody>
                  <a:tcPr marL="127000" marR="101600" anchor="ctr">
                    <a:solidFill>
                      <a:srgbClr val="FDFCF9"/>
                    </a:solidFill>
                  </a:tcPr>
                </a:tc>
                <a:extLst>
                  <a:ext uri="{0D108BD9-81ED-4DB2-BD59-A6C34878D82A}">
                    <a16:rowId xmlns:a16="http://schemas.microsoft.com/office/drawing/2014/main" val="1878926363"/>
                  </a:ext>
                </a:extLst>
              </a:tr>
              <a:tr h="5842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알캡처</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크기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간격 맞출 때</a:t>
                      </a:r>
                    </a:p>
                  </a:txBody>
                  <a:tcPr marL="127000" marR="101600" anchor="ctr">
                    <a:solidFill>
                      <a:srgbClr val="ECE9E1"/>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px </a:t>
                      </a:r>
                      <a:r>
                        <a:rPr lang="ko-KR" altLang="en-US" sz="1200" b="0">
                          <a:solidFill>
                            <a:srgbClr val="1B2433"/>
                          </a:solidFill>
                          <a:latin typeface="Noto Sans KR" panose="020B0200000000000000" pitchFamily="50" charset="-127"/>
                          <a:ea typeface="Noto Sans KR" panose="020B0200000000000000" pitchFamily="50" charset="-127"/>
                        </a:rPr>
                        <a:t>숫자로 정확하게 요청</a:t>
                      </a:r>
                    </a:p>
                  </a:txBody>
                  <a:tcPr marL="127000" marR="101600" anchor="ctr">
                    <a:solidFill>
                      <a:srgbClr val="ECE9E1"/>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화면 배율에 따라 값이 달라짐</a:t>
                      </a:r>
                    </a:p>
                  </a:txBody>
                  <a:tcPr marL="127000" marR="101600" anchor="ctr">
                    <a:solidFill>
                      <a:srgbClr val="ECE9E1"/>
                    </a:solidFill>
                  </a:tcPr>
                </a:tc>
                <a:extLst>
                  <a:ext uri="{0D108BD9-81ED-4DB2-BD59-A6C34878D82A}">
                    <a16:rowId xmlns:a16="http://schemas.microsoft.com/office/drawing/2014/main" val="4071999779"/>
                  </a:ext>
                </a:extLst>
              </a:tr>
              <a:tr h="5842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펜 태블릿</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새 배치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움직임 아이디어</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손으로 빠르게 그려서 전달</a:t>
                      </a:r>
                    </a:p>
                  </a:txBody>
                  <a:tcPr marL="127000" marR="101600" anchor="ctr">
                    <a:solidFill>
                      <a:srgbClr val="FDFCF9"/>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대충 그리면 </a:t>
                      </a:r>
                      <a:r>
                        <a:rPr lang="en-US" altLang="ko-KR" sz="1200" b="0">
                          <a:solidFill>
                            <a:srgbClr val="E8692C"/>
                          </a:solidFill>
                          <a:latin typeface="Noto Sans KR" panose="020B0200000000000000" pitchFamily="50" charset="-127"/>
                          <a:ea typeface="Noto Sans KR" panose="020B0200000000000000" pitchFamily="50" charset="-127"/>
                        </a:rPr>
                        <a:t>AI</a:t>
                      </a:r>
                      <a:r>
                        <a:rPr lang="ko-KR" altLang="en-US" sz="1200" b="0">
                          <a:solidFill>
                            <a:srgbClr val="E8692C"/>
                          </a:solidFill>
                          <a:latin typeface="Noto Sans KR" panose="020B0200000000000000" pitchFamily="50" charset="-127"/>
                          <a:ea typeface="Noto Sans KR" panose="020B0200000000000000" pitchFamily="50" charset="-127"/>
                        </a:rPr>
                        <a:t>가 다르게 해석</a:t>
                      </a:r>
                    </a:p>
                  </a:txBody>
                  <a:tcPr marL="127000" marR="101600" anchor="ctr">
                    <a:solidFill>
                      <a:srgbClr val="FDFCF9"/>
                    </a:solidFill>
                  </a:tcPr>
                </a:tc>
                <a:extLst>
                  <a:ext uri="{0D108BD9-81ED-4DB2-BD59-A6C34878D82A}">
                    <a16:rowId xmlns:a16="http://schemas.microsoft.com/office/drawing/2014/main" val="168908097"/>
                  </a:ext>
                </a:extLst>
              </a:tr>
              <a:tr h="5842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그림판</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부분 수정 요청</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고칠 곳만 콕 집어 표시</a:t>
                      </a:r>
                    </a:p>
                  </a:txBody>
                  <a:tcPr marL="127000" marR="101600" anchor="ctr">
                    <a:solidFill>
                      <a:srgbClr val="ECE9E1"/>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큰 구조 변경에는 부족</a:t>
                      </a:r>
                    </a:p>
                  </a:txBody>
                  <a:tcPr marL="127000" marR="101600" anchor="ctr">
                    <a:solidFill>
                      <a:srgbClr val="ECE9E1"/>
                    </a:solidFill>
                  </a:tcPr>
                </a:tc>
                <a:extLst>
                  <a:ext uri="{0D108BD9-81ED-4DB2-BD59-A6C34878D82A}">
                    <a16:rowId xmlns:a16="http://schemas.microsoft.com/office/drawing/2014/main" val="2130179530"/>
                  </a:ext>
                </a:extLst>
              </a:tr>
            </a:tbl>
          </a:graphicData>
        </a:graphic>
      </p:graphicFrame>
      <p:sp>
        <p:nvSpPr>
          <p:cNvPr id="27" name="사각형: 둥근 모서리 26">
            <a:extLst>
              <a:ext uri="{FF2B5EF4-FFF2-40B4-BE49-F238E27FC236}">
                <a16:creationId xmlns:a16="http://schemas.microsoft.com/office/drawing/2014/main" id="{D0BBED46-E804-4B73-840F-8ABC031E6A10}"/>
              </a:ext>
            </a:extLst>
          </p:cNvPr>
          <p:cNvSpPr/>
          <p:nvPr/>
        </p:nvSpPr>
        <p:spPr>
          <a:xfrm>
            <a:off x="812800" y="50800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5E8EB204-797D-4B4A-8561-4C3D40B922A7}"/>
              </a:ext>
            </a:extLst>
          </p:cNvPr>
          <p:cNvSpPr txBox="1"/>
          <p:nvPr/>
        </p:nvSpPr>
        <p:spPr>
          <a:xfrm>
            <a:off x="1066800" y="52451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순서</a:t>
            </a:r>
            <a:r>
              <a:rPr lang="ko-KR" altLang="en-US" sz="1300">
                <a:solidFill>
                  <a:srgbClr val="E8692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Illustrator</a:t>
            </a:r>
            <a:r>
              <a:rPr lang="ko-KR" altLang="en-US" sz="1300">
                <a:solidFill>
                  <a:srgbClr val="E8692C"/>
                </a:solidFill>
                <a:latin typeface="Noto Sans KR" panose="020B0200000000000000" pitchFamily="50" charset="-127"/>
                <a:ea typeface="Noto Sans KR" panose="020B0200000000000000" pitchFamily="50" charset="-127"/>
              </a:rPr>
              <a:t>로 큰 그림 → 알캡처로 숫자 → 그림판 </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펜 태블릿으로 수정 요청</a:t>
            </a:r>
          </a:p>
        </p:txBody>
      </p:sp>
    </p:spTree>
    <p:extLst>
      <p:ext uri="{BB962C8B-B14F-4D97-AF65-F5344CB8AC3E}">
        <p14:creationId xmlns:p14="http://schemas.microsoft.com/office/powerpoint/2010/main" val="4015368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그림으로 보여 주기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일러스트 시안을 보여 주고</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이렇게 완성했습니다</a:t>
            </a:r>
            <a:endParaRPr lang="en-US" sz="3200" dirty="0"/>
          </a:p>
        </p:txBody>
      </p:sp>
      <p:sp>
        <p:nvSpPr>
          <p:cNvPr id="26" name="TextBox 25">
            <a:extLst>
              <a:ext uri="{FF2B5EF4-FFF2-40B4-BE49-F238E27FC236}">
                <a16:creationId xmlns:a16="http://schemas.microsoft.com/office/drawing/2014/main" id="{0E6FD591-A2BB-48B5-9D3D-8747D7C2DD21}"/>
              </a:ext>
            </a:extLst>
          </p:cNvPr>
          <p:cNvSpPr txBox="1"/>
          <p:nvPr/>
        </p:nvSpPr>
        <p:spPr>
          <a:xfrm>
            <a:off x="812800" y="1879600"/>
            <a:ext cx="5080000" cy="369332"/>
          </a:xfrm>
          <a:prstGeom prst="rect">
            <a:avLst/>
          </a:prstGeom>
          <a:noFill/>
        </p:spPr>
        <p:txBody>
          <a:bodyPr vert="horz" wrap="square" lIns="0" tIns="0" rIns="0" bIns="0" rtlCol="0">
            <a:noAutofit/>
          </a:bodyPr>
          <a:lstStyle/>
          <a:p>
            <a:r>
              <a:rPr lang="en-US" altLang="ko-KR" sz="1200" b="1">
                <a:solidFill>
                  <a:srgbClr val="1B2433"/>
                </a:solidFill>
                <a:latin typeface="Noto Sans KR" panose="020B0200000000000000" pitchFamily="50" charset="-127"/>
                <a:ea typeface="Noto Sans KR" panose="020B0200000000000000" pitchFamily="50" charset="-127"/>
              </a:rPr>
              <a:t>ABOUT US · </a:t>
            </a:r>
            <a:r>
              <a:rPr lang="ko-KR" altLang="en-US" sz="1200" b="1">
                <a:solidFill>
                  <a:srgbClr val="1B2433"/>
                </a:solidFill>
                <a:latin typeface="Noto Sans KR" panose="020B0200000000000000" pitchFamily="50" charset="-127"/>
                <a:ea typeface="Noto Sans KR" panose="020B0200000000000000" pitchFamily="50" charset="-127"/>
              </a:rPr>
              <a:t>염혜리</a:t>
            </a:r>
          </a:p>
        </p:txBody>
      </p:sp>
      <p:pic>
        <p:nvPicPr>
          <p:cNvPr id="28" name="그림 27">
            <a:extLst>
              <a:ext uri="{FF2B5EF4-FFF2-40B4-BE49-F238E27FC236}">
                <a16:creationId xmlns:a16="http://schemas.microsoft.com/office/drawing/2014/main" id="{812C8035-DBF8-4424-B585-542932B49FD3}"/>
              </a:ext>
            </a:extLst>
          </p:cNvPr>
          <p:cNvPicPr>
            <a:picLocks/>
          </p:cNvPicPr>
          <p:nvPr/>
        </p:nvPicPr>
        <p:blipFill>
          <a:blip r:embed="rId3"/>
          <a:stretch>
            <a:fillRect/>
          </a:stretch>
        </p:blipFill>
        <p:spPr>
          <a:xfrm>
            <a:off x="812800" y="2159000"/>
            <a:ext cx="2336800" cy="1460500"/>
          </a:xfrm>
          <a:prstGeom prst="rect">
            <a:avLst/>
          </a:prstGeom>
          <a:ln w="9525">
            <a:solidFill>
              <a:srgbClr val="DCD6C8"/>
            </a:solidFill>
          </a:ln>
        </p:spPr>
      </p:pic>
      <p:sp>
        <p:nvSpPr>
          <p:cNvPr id="29" name="TextBox 28">
            <a:extLst>
              <a:ext uri="{FF2B5EF4-FFF2-40B4-BE49-F238E27FC236}">
                <a16:creationId xmlns:a16="http://schemas.microsoft.com/office/drawing/2014/main" id="{A0564201-D5B4-4CD6-B6CE-F186B702174C}"/>
              </a:ext>
            </a:extLst>
          </p:cNvPr>
          <p:cNvSpPr txBox="1"/>
          <p:nvPr/>
        </p:nvSpPr>
        <p:spPr>
          <a:xfrm>
            <a:off x="3175000" y="2717800"/>
            <a:ext cx="355600" cy="369332"/>
          </a:xfrm>
          <a:prstGeom prst="rect">
            <a:avLst/>
          </a:prstGeom>
          <a:noFill/>
        </p:spPr>
        <p:txBody>
          <a:bodyPr vert="horz" wrap="square" lIns="0" tIns="0" rIns="0" bIns="0" rtlCol="0">
            <a:noAutofit/>
          </a:bodyPr>
          <a:lstStyle/>
          <a:p>
            <a:pPr algn="ctr"/>
            <a:r>
              <a:rPr lang="ko-KR" altLang="en-US" sz="1600" b="1">
                <a:solidFill>
                  <a:srgbClr val="E8692C"/>
                </a:solidFill>
                <a:latin typeface="Noto Sans KR" panose="020B0200000000000000" pitchFamily="50" charset="-127"/>
                <a:ea typeface="Noto Sans KR" panose="020B0200000000000000" pitchFamily="50" charset="-127"/>
              </a:rPr>
              <a:t>→</a:t>
            </a:r>
          </a:p>
        </p:txBody>
      </p:sp>
      <p:sp>
        <p:nvSpPr>
          <p:cNvPr id="32" name="TextBox 31">
            <a:extLst>
              <a:ext uri="{FF2B5EF4-FFF2-40B4-BE49-F238E27FC236}">
                <a16:creationId xmlns:a16="http://schemas.microsoft.com/office/drawing/2014/main" id="{F8AB14C6-668D-4BF5-87E1-099628E15F0E}"/>
              </a:ext>
            </a:extLst>
          </p:cNvPr>
          <p:cNvSpPr txBox="1"/>
          <p:nvPr/>
        </p:nvSpPr>
        <p:spPr>
          <a:xfrm>
            <a:off x="812800" y="36703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시안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일러스트</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33" name="TextBox 32">
            <a:extLst>
              <a:ext uri="{FF2B5EF4-FFF2-40B4-BE49-F238E27FC236}">
                <a16:creationId xmlns:a16="http://schemas.microsoft.com/office/drawing/2014/main" id="{AC884923-8C03-4618-B9F0-48AEBE3E3622}"/>
              </a:ext>
            </a:extLst>
          </p:cNvPr>
          <p:cNvSpPr txBox="1"/>
          <p:nvPr/>
        </p:nvSpPr>
        <p:spPr>
          <a:xfrm>
            <a:off x="3556000" y="36703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완성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홈페이지</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34" name="TextBox 33">
            <a:extLst>
              <a:ext uri="{FF2B5EF4-FFF2-40B4-BE49-F238E27FC236}">
                <a16:creationId xmlns:a16="http://schemas.microsoft.com/office/drawing/2014/main" id="{ED8EC325-D5BA-4219-9936-886DC0800501}"/>
              </a:ext>
            </a:extLst>
          </p:cNvPr>
          <p:cNvSpPr txBox="1"/>
          <p:nvPr/>
        </p:nvSpPr>
        <p:spPr>
          <a:xfrm>
            <a:off x="6299200" y="1879600"/>
            <a:ext cx="5080000" cy="369332"/>
          </a:xfrm>
          <a:prstGeom prst="rect">
            <a:avLst/>
          </a:prstGeom>
          <a:noFill/>
        </p:spPr>
        <p:txBody>
          <a:bodyPr vert="horz" wrap="square" lIns="0" tIns="0" rIns="0" bIns="0" rtlCol="0">
            <a:noAutofit/>
          </a:bodyPr>
          <a:lstStyle/>
          <a:p>
            <a:r>
              <a:rPr lang="en-US" altLang="ko-KR" sz="1200" b="1">
                <a:solidFill>
                  <a:srgbClr val="1B2433"/>
                </a:solidFill>
                <a:latin typeface="Noto Sans KR" panose="020B0200000000000000" pitchFamily="50" charset="-127"/>
                <a:ea typeface="Noto Sans KR" panose="020B0200000000000000" pitchFamily="50" charset="-127"/>
              </a:rPr>
              <a:t>AI VIDEO · </a:t>
            </a:r>
            <a:r>
              <a:rPr lang="ko-KR" altLang="en-US" sz="1200" b="1">
                <a:solidFill>
                  <a:srgbClr val="1B2433"/>
                </a:solidFill>
                <a:latin typeface="Noto Sans KR" panose="020B0200000000000000" pitchFamily="50" charset="-127"/>
                <a:ea typeface="Noto Sans KR" panose="020B0200000000000000" pitchFamily="50" charset="-127"/>
              </a:rPr>
              <a:t>이애리</a:t>
            </a:r>
          </a:p>
        </p:txBody>
      </p:sp>
      <p:pic>
        <p:nvPicPr>
          <p:cNvPr id="36" name="그림 35">
            <a:extLst>
              <a:ext uri="{FF2B5EF4-FFF2-40B4-BE49-F238E27FC236}">
                <a16:creationId xmlns:a16="http://schemas.microsoft.com/office/drawing/2014/main" id="{2489D425-EFF9-4267-8B5B-2B58A9A1124D}"/>
              </a:ext>
            </a:extLst>
          </p:cNvPr>
          <p:cNvPicPr>
            <a:picLocks/>
          </p:cNvPicPr>
          <p:nvPr/>
        </p:nvPicPr>
        <p:blipFill>
          <a:blip r:embed="rId4"/>
          <a:stretch>
            <a:fillRect/>
          </a:stretch>
        </p:blipFill>
        <p:spPr>
          <a:xfrm>
            <a:off x="6299200" y="2159000"/>
            <a:ext cx="2336800" cy="1460500"/>
          </a:xfrm>
          <a:prstGeom prst="rect">
            <a:avLst/>
          </a:prstGeom>
          <a:ln w="9525">
            <a:solidFill>
              <a:srgbClr val="DCD6C8"/>
            </a:solidFill>
          </a:ln>
        </p:spPr>
      </p:pic>
      <p:sp>
        <p:nvSpPr>
          <p:cNvPr id="37" name="TextBox 36">
            <a:extLst>
              <a:ext uri="{FF2B5EF4-FFF2-40B4-BE49-F238E27FC236}">
                <a16:creationId xmlns:a16="http://schemas.microsoft.com/office/drawing/2014/main" id="{D7801355-BFA3-4DC5-8784-543C785928E5}"/>
              </a:ext>
            </a:extLst>
          </p:cNvPr>
          <p:cNvSpPr txBox="1"/>
          <p:nvPr/>
        </p:nvSpPr>
        <p:spPr>
          <a:xfrm>
            <a:off x="8661400" y="2717800"/>
            <a:ext cx="355600" cy="369332"/>
          </a:xfrm>
          <a:prstGeom prst="rect">
            <a:avLst/>
          </a:prstGeom>
          <a:noFill/>
        </p:spPr>
        <p:txBody>
          <a:bodyPr vert="horz" wrap="square" lIns="0" tIns="0" rIns="0" bIns="0" rtlCol="0">
            <a:noAutofit/>
          </a:bodyPr>
          <a:lstStyle/>
          <a:p>
            <a:pPr algn="ctr"/>
            <a:r>
              <a:rPr lang="ko-KR" altLang="en-US" sz="1600" b="1">
                <a:solidFill>
                  <a:srgbClr val="E8692C"/>
                </a:solidFill>
                <a:latin typeface="Noto Sans KR" panose="020B0200000000000000" pitchFamily="50" charset="-127"/>
                <a:ea typeface="Noto Sans KR" panose="020B0200000000000000" pitchFamily="50" charset="-127"/>
              </a:rPr>
              <a:t>→</a:t>
            </a:r>
          </a:p>
        </p:txBody>
      </p:sp>
      <p:pic>
        <p:nvPicPr>
          <p:cNvPr id="39" name="그림 38">
            <a:extLst>
              <a:ext uri="{FF2B5EF4-FFF2-40B4-BE49-F238E27FC236}">
                <a16:creationId xmlns:a16="http://schemas.microsoft.com/office/drawing/2014/main" id="{E6353155-0674-4A56-9CB6-E8FBFFF1DE01}"/>
              </a:ext>
            </a:extLst>
          </p:cNvPr>
          <p:cNvPicPr>
            <a:picLocks/>
          </p:cNvPicPr>
          <p:nvPr/>
        </p:nvPicPr>
        <p:blipFill>
          <a:blip r:embed="rId5"/>
          <a:stretch>
            <a:fillRect/>
          </a:stretch>
        </p:blipFill>
        <p:spPr>
          <a:xfrm>
            <a:off x="9042400" y="2159000"/>
            <a:ext cx="2336800" cy="1460500"/>
          </a:xfrm>
          <a:prstGeom prst="rect">
            <a:avLst/>
          </a:prstGeom>
          <a:ln w="9525">
            <a:solidFill>
              <a:srgbClr val="DCD6C8"/>
            </a:solidFill>
          </a:ln>
        </p:spPr>
      </p:pic>
      <p:sp>
        <p:nvSpPr>
          <p:cNvPr id="40" name="TextBox 39">
            <a:extLst>
              <a:ext uri="{FF2B5EF4-FFF2-40B4-BE49-F238E27FC236}">
                <a16:creationId xmlns:a16="http://schemas.microsoft.com/office/drawing/2014/main" id="{0CBD21C0-BAB4-4D48-81CD-F7682F541F14}"/>
              </a:ext>
            </a:extLst>
          </p:cNvPr>
          <p:cNvSpPr txBox="1"/>
          <p:nvPr/>
        </p:nvSpPr>
        <p:spPr>
          <a:xfrm>
            <a:off x="6299200" y="36703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시안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일러스트</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41" name="TextBox 40">
            <a:extLst>
              <a:ext uri="{FF2B5EF4-FFF2-40B4-BE49-F238E27FC236}">
                <a16:creationId xmlns:a16="http://schemas.microsoft.com/office/drawing/2014/main" id="{1A5A4FC8-2006-42B3-9E88-AFDABB5545E4}"/>
              </a:ext>
            </a:extLst>
          </p:cNvPr>
          <p:cNvSpPr txBox="1"/>
          <p:nvPr/>
        </p:nvSpPr>
        <p:spPr>
          <a:xfrm>
            <a:off x="9042400" y="36703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완성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홈페이지</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42" name="TextBox 41">
            <a:extLst>
              <a:ext uri="{FF2B5EF4-FFF2-40B4-BE49-F238E27FC236}">
                <a16:creationId xmlns:a16="http://schemas.microsoft.com/office/drawing/2014/main" id="{68633677-6424-45F6-8802-C08D4E4EDC26}"/>
              </a:ext>
            </a:extLst>
          </p:cNvPr>
          <p:cNvSpPr txBox="1"/>
          <p:nvPr/>
        </p:nvSpPr>
        <p:spPr>
          <a:xfrm>
            <a:off x="812800" y="4013200"/>
            <a:ext cx="5080000" cy="369332"/>
          </a:xfrm>
          <a:prstGeom prst="rect">
            <a:avLst/>
          </a:prstGeom>
          <a:noFill/>
        </p:spPr>
        <p:txBody>
          <a:bodyPr vert="horz" wrap="square" lIns="0" tIns="0" rIns="0" bIns="0" rtlCol="0">
            <a:noAutofit/>
          </a:bodyPr>
          <a:lstStyle/>
          <a:p>
            <a:r>
              <a:rPr lang="en-US" altLang="ko-KR" sz="1200" b="1">
                <a:solidFill>
                  <a:srgbClr val="1B2433"/>
                </a:solidFill>
                <a:latin typeface="Noto Sans KR" panose="020B0200000000000000" pitchFamily="50" charset="-127"/>
                <a:ea typeface="Noto Sans KR" panose="020B0200000000000000" pitchFamily="50" charset="-127"/>
              </a:rPr>
              <a:t>PORTFOLIO · </a:t>
            </a:r>
            <a:r>
              <a:rPr lang="ko-KR" altLang="en-US" sz="1200" b="1">
                <a:solidFill>
                  <a:srgbClr val="1B2433"/>
                </a:solidFill>
                <a:latin typeface="Noto Sans KR" panose="020B0200000000000000" pitchFamily="50" charset="-127"/>
                <a:ea typeface="Noto Sans KR" panose="020B0200000000000000" pitchFamily="50" charset="-127"/>
              </a:rPr>
              <a:t>유호원</a:t>
            </a:r>
          </a:p>
        </p:txBody>
      </p:sp>
      <p:pic>
        <p:nvPicPr>
          <p:cNvPr id="44" name="그림 43">
            <a:extLst>
              <a:ext uri="{FF2B5EF4-FFF2-40B4-BE49-F238E27FC236}">
                <a16:creationId xmlns:a16="http://schemas.microsoft.com/office/drawing/2014/main" id="{D7F1DCBF-9375-4F82-9CE6-59A51E64BADC}"/>
              </a:ext>
            </a:extLst>
          </p:cNvPr>
          <p:cNvPicPr>
            <a:picLocks/>
          </p:cNvPicPr>
          <p:nvPr/>
        </p:nvPicPr>
        <p:blipFill>
          <a:blip r:embed="rId6"/>
          <a:stretch>
            <a:fillRect/>
          </a:stretch>
        </p:blipFill>
        <p:spPr>
          <a:xfrm>
            <a:off x="812800" y="4292600"/>
            <a:ext cx="2336800" cy="1460500"/>
          </a:xfrm>
          <a:prstGeom prst="rect">
            <a:avLst/>
          </a:prstGeom>
          <a:ln w="9525">
            <a:solidFill>
              <a:srgbClr val="DCD6C8"/>
            </a:solidFill>
          </a:ln>
        </p:spPr>
      </p:pic>
      <p:sp>
        <p:nvSpPr>
          <p:cNvPr id="45" name="TextBox 44">
            <a:extLst>
              <a:ext uri="{FF2B5EF4-FFF2-40B4-BE49-F238E27FC236}">
                <a16:creationId xmlns:a16="http://schemas.microsoft.com/office/drawing/2014/main" id="{694F69BB-5A3B-40FB-9782-E0FA007056FA}"/>
              </a:ext>
            </a:extLst>
          </p:cNvPr>
          <p:cNvSpPr txBox="1"/>
          <p:nvPr/>
        </p:nvSpPr>
        <p:spPr>
          <a:xfrm>
            <a:off x="3175000" y="4851400"/>
            <a:ext cx="355600" cy="369332"/>
          </a:xfrm>
          <a:prstGeom prst="rect">
            <a:avLst/>
          </a:prstGeom>
          <a:noFill/>
        </p:spPr>
        <p:txBody>
          <a:bodyPr vert="horz" wrap="square" lIns="0" tIns="0" rIns="0" bIns="0" rtlCol="0">
            <a:noAutofit/>
          </a:bodyPr>
          <a:lstStyle/>
          <a:p>
            <a:pPr algn="ctr"/>
            <a:r>
              <a:rPr lang="ko-KR" altLang="en-US" sz="1600" b="1">
                <a:solidFill>
                  <a:srgbClr val="E8692C"/>
                </a:solidFill>
                <a:latin typeface="Noto Sans KR" panose="020B0200000000000000" pitchFamily="50" charset="-127"/>
                <a:ea typeface="Noto Sans KR" panose="020B0200000000000000" pitchFamily="50" charset="-127"/>
              </a:rPr>
              <a:t>→</a:t>
            </a:r>
          </a:p>
        </p:txBody>
      </p:sp>
      <p:pic>
        <p:nvPicPr>
          <p:cNvPr id="47" name="그림 46">
            <a:extLst>
              <a:ext uri="{FF2B5EF4-FFF2-40B4-BE49-F238E27FC236}">
                <a16:creationId xmlns:a16="http://schemas.microsoft.com/office/drawing/2014/main" id="{0B5F952A-867E-42BC-93F2-65A12CDB662B}"/>
              </a:ext>
            </a:extLst>
          </p:cNvPr>
          <p:cNvPicPr>
            <a:picLocks/>
          </p:cNvPicPr>
          <p:nvPr/>
        </p:nvPicPr>
        <p:blipFill>
          <a:blip r:embed="rId7"/>
          <a:stretch>
            <a:fillRect/>
          </a:stretch>
        </p:blipFill>
        <p:spPr>
          <a:xfrm>
            <a:off x="3556000" y="4292600"/>
            <a:ext cx="2336800" cy="1460500"/>
          </a:xfrm>
          <a:prstGeom prst="rect">
            <a:avLst/>
          </a:prstGeom>
          <a:ln w="9525">
            <a:solidFill>
              <a:srgbClr val="DCD6C8"/>
            </a:solidFill>
          </a:ln>
        </p:spPr>
      </p:pic>
      <p:sp>
        <p:nvSpPr>
          <p:cNvPr id="48" name="TextBox 47">
            <a:extLst>
              <a:ext uri="{FF2B5EF4-FFF2-40B4-BE49-F238E27FC236}">
                <a16:creationId xmlns:a16="http://schemas.microsoft.com/office/drawing/2014/main" id="{42015245-15E4-4011-966E-A25F74FA685E}"/>
              </a:ext>
            </a:extLst>
          </p:cNvPr>
          <p:cNvSpPr txBox="1"/>
          <p:nvPr/>
        </p:nvSpPr>
        <p:spPr>
          <a:xfrm>
            <a:off x="812800" y="58039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시안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일러스트</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49" name="TextBox 48">
            <a:extLst>
              <a:ext uri="{FF2B5EF4-FFF2-40B4-BE49-F238E27FC236}">
                <a16:creationId xmlns:a16="http://schemas.microsoft.com/office/drawing/2014/main" id="{75489A66-7991-4FEE-A866-661A4079ABE9}"/>
              </a:ext>
            </a:extLst>
          </p:cNvPr>
          <p:cNvSpPr txBox="1"/>
          <p:nvPr/>
        </p:nvSpPr>
        <p:spPr>
          <a:xfrm>
            <a:off x="3556000" y="58039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완성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홈페이지</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50" name="TextBox 49">
            <a:extLst>
              <a:ext uri="{FF2B5EF4-FFF2-40B4-BE49-F238E27FC236}">
                <a16:creationId xmlns:a16="http://schemas.microsoft.com/office/drawing/2014/main" id="{47ADD944-51D9-478A-9FB2-6D69A2046AE6}"/>
              </a:ext>
            </a:extLst>
          </p:cNvPr>
          <p:cNvSpPr txBox="1"/>
          <p:nvPr/>
        </p:nvSpPr>
        <p:spPr>
          <a:xfrm>
            <a:off x="6299200" y="4013200"/>
            <a:ext cx="5080000" cy="369332"/>
          </a:xfrm>
          <a:prstGeom prst="rect">
            <a:avLst/>
          </a:prstGeom>
          <a:noFill/>
        </p:spPr>
        <p:txBody>
          <a:bodyPr vert="horz" wrap="square" lIns="0" tIns="0" rIns="0" bIns="0" rtlCol="0">
            <a:noAutofit/>
          </a:bodyPr>
          <a:lstStyle/>
          <a:p>
            <a:r>
              <a:rPr lang="en-US" altLang="ko-KR" sz="1200" b="1">
                <a:solidFill>
                  <a:srgbClr val="1B2433"/>
                </a:solidFill>
                <a:latin typeface="Noto Sans KR" panose="020B0200000000000000" pitchFamily="50" charset="-127"/>
                <a:ea typeface="Noto Sans KR" panose="020B0200000000000000" pitchFamily="50" charset="-127"/>
              </a:rPr>
              <a:t>CONTACT · </a:t>
            </a:r>
            <a:r>
              <a:rPr lang="ko-KR" altLang="en-US" sz="1200" b="1">
                <a:solidFill>
                  <a:srgbClr val="1B2433"/>
                </a:solidFill>
                <a:latin typeface="Noto Sans KR" panose="020B0200000000000000" pitchFamily="50" charset="-127"/>
                <a:ea typeface="Noto Sans KR" panose="020B0200000000000000" pitchFamily="50" charset="-127"/>
              </a:rPr>
              <a:t>김소연</a:t>
            </a:r>
          </a:p>
        </p:txBody>
      </p:sp>
      <p:pic>
        <p:nvPicPr>
          <p:cNvPr id="52" name="그림 51">
            <a:extLst>
              <a:ext uri="{FF2B5EF4-FFF2-40B4-BE49-F238E27FC236}">
                <a16:creationId xmlns:a16="http://schemas.microsoft.com/office/drawing/2014/main" id="{08CC3A35-2DD4-4B08-984C-F0DB7C786758}"/>
              </a:ext>
            </a:extLst>
          </p:cNvPr>
          <p:cNvPicPr>
            <a:picLocks/>
          </p:cNvPicPr>
          <p:nvPr/>
        </p:nvPicPr>
        <p:blipFill>
          <a:blip r:embed="rId8"/>
          <a:stretch>
            <a:fillRect/>
          </a:stretch>
        </p:blipFill>
        <p:spPr>
          <a:xfrm>
            <a:off x="6299200" y="4292600"/>
            <a:ext cx="2336800" cy="1460500"/>
          </a:xfrm>
          <a:prstGeom prst="rect">
            <a:avLst/>
          </a:prstGeom>
          <a:ln w="9525">
            <a:solidFill>
              <a:srgbClr val="DCD6C8"/>
            </a:solidFill>
          </a:ln>
        </p:spPr>
      </p:pic>
      <p:sp>
        <p:nvSpPr>
          <p:cNvPr id="53" name="TextBox 52">
            <a:extLst>
              <a:ext uri="{FF2B5EF4-FFF2-40B4-BE49-F238E27FC236}">
                <a16:creationId xmlns:a16="http://schemas.microsoft.com/office/drawing/2014/main" id="{DAB47861-6C70-441B-A4EC-D88BD0A759F1}"/>
              </a:ext>
            </a:extLst>
          </p:cNvPr>
          <p:cNvSpPr txBox="1"/>
          <p:nvPr/>
        </p:nvSpPr>
        <p:spPr>
          <a:xfrm>
            <a:off x="8661400" y="4851400"/>
            <a:ext cx="355600" cy="369332"/>
          </a:xfrm>
          <a:prstGeom prst="rect">
            <a:avLst/>
          </a:prstGeom>
          <a:noFill/>
        </p:spPr>
        <p:txBody>
          <a:bodyPr vert="horz" wrap="square" lIns="0" tIns="0" rIns="0" bIns="0" rtlCol="0">
            <a:noAutofit/>
          </a:bodyPr>
          <a:lstStyle/>
          <a:p>
            <a:pPr algn="ctr"/>
            <a:r>
              <a:rPr lang="ko-KR" altLang="en-US" sz="1600" b="1">
                <a:solidFill>
                  <a:srgbClr val="E8692C"/>
                </a:solidFill>
                <a:latin typeface="Noto Sans KR" panose="020B0200000000000000" pitchFamily="50" charset="-127"/>
                <a:ea typeface="Noto Sans KR" panose="020B0200000000000000" pitchFamily="50" charset="-127"/>
              </a:rPr>
              <a:t>→</a:t>
            </a:r>
          </a:p>
        </p:txBody>
      </p:sp>
      <p:pic>
        <p:nvPicPr>
          <p:cNvPr id="55" name="그림 54">
            <a:extLst>
              <a:ext uri="{FF2B5EF4-FFF2-40B4-BE49-F238E27FC236}">
                <a16:creationId xmlns:a16="http://schemas.microsoft.com/office/drawing/2014/main" id="{0470C7DF-3552-4A15-B7CD-DEBFEDCEAD96}"/>
              </a:ext>
            </a:extLst>
          </p:cNvPr>
          <p:cNvPicPr>
            <a:picLocks/>
          </p:cNvPicPr>
          <p:nvPr/>
        </p:nvPicPr>
        <p:blipFill>
          <a:blip r:embed="rId9"/>
          <a:stretch>
            <a:fillRect/>
          </a:stretch>
        </p:blipFill>
        <p:spPr>
          <a:xfrm>
            <a:off x="9042400" y="4292600"/>
            <a:ext cx="2336800" cy="1460500"/>
          </a:xfrm>
          <a:prstGeom prst="rect">
            <a:avLst/>
          </a:prstGeom>
          <a:ln w="9525">
            <a:solidFill>
              <a:srgbClr val="DCD6C8"/>
            </a:solidFill>
          </a:ln>
        </p:spPr>
      </p:pic>
      <p:sp>
        <p:nvSpPr>
          <p:cNvPr id="56" name="TextBox 55">
            <a:extLst>
              <a:ext uri="{FF2B5EF4-FFF2-40B4-BE49-F238E27FC236}">
                <a16:creationId xmlns:a16="http://schemas.microsoft.com/office/drawing/2014/main" id="{B7D2A827-D953-498F-AA7E-177BF1566B18}"/>
              </a:ext>
            </a:extLst>
          </p:cNvPr>
          <p:cNvSpPr txBox="1"/>
          <p:nvPr/>
        </p:nvSpPr>
        <p:spPr>
          <a:xfrm>
            <a:off x="6299200" y="58039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시안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일러스트</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57" name="TextBox 56">
            <a:extLst>
              <a:ext uri="{FF2B5EF4-FFF2-40B4-BE49-F238E27FC236}">
                <a16:creationId xmlns:a16="http://schemas.microsoft.com/office/drawing/2014/main" id="{BF4E87C7-CE41-41F9-AB89-C8B71C84BF3F}"/>
              </a:ext>
            </a:extLst>
          </p:cNvPr>
          <p:cNvSpPr txBox="1"/>
          <p:nvPr/>
        </p:nvSpPr>
        <p:spPr>
          <a:xfrm>
            <a:off x="9042400" y="5803900"/>
            <a:ext cx="23368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완성 </a:t>
            </a:r>
            <a:r>
              <a:rPr lang="en-US" altLang="ko-KR" sz="1000">
                <a:solidFill>
                  <a:srgbClr val="8A8F98"/>
                </a:solidFill>
                <a:latin typeface="Noto Sans KR" panose="020B0200000000000000" pitchFamily="50" charset="-127"/>
                <a:ea typeface="Noto Sans KR" panose="020B0200000000000000" pitchFamily="50" charset="-127"/>
              </a:rPr>
              <a:t>(</a:t>
            </a:r>
            <a:r>
              <a:rPr lang="ko-KR" altLang="en-US" sz="1000">
                <a:solidFill>
                  <a:srgbClr val="8A8F98"/>
                </a:solidFill>
                <a:latin typeface="Noto Sans KR" panose="020B0200000000000000" pitchFamily="50" charset="-127"/>
                <a:ea typeface="Noto Sans KR" panose="020B0200000000000000" pitchFamily="50" charset="-127"/>
              </a:rPr>
              <a:t>홈페이지</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pic>
        <p:nvPicPr>
          <p:cNvPr id="9" name="그림 8">
            <a:extLst>
              <a:ext uri="{FF2B5EF4-FFF2-40B4-BE49-F238E27FC236}">
                <a16:creationId xmlns:a16="http://schemas.microsoft.com/office/drawing/2014/main" id="{D5B1D749-6617-416A-AEE2-6A345296BD13}"/>
              </a:ext>
            </a:extLst>
          </p:cNvPr>
          <p:cNvPicPr>
            <a:picLocks noChangeAspect="1"/>
          </p:cNvPicPr>
          <p:nvPr/>
        </p:nvPicPr>
        <p:blipFill>
          <a:blip r:embed="rId10"/>
          <a:stretch>
            <a:fillRect/>
          </a:stretch>
        </p:blipFill>
        <p:spPr>
          <a:xfrm>
            <a:off x="3526638" y="2159000"/>
            <a:ext cx="2391561" cy="1474687"/>
          </a:xfrm>
          <a:prstGeom prst="rect">
            <a:avLst/>
          </a:prstGeom>
        </p:spPr>
      </p:pic>
    </p:spTree>
    <p:extLst>
      <p:ext uri="{BB962C8B-B14F-4D97-AF65-F5344CB8AC3E}">
        <p14:creationId xmlns:p14="http://schemas.microsoft.com/office/powerpoint/2010/main" val="658949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그림으로 보여 주기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시안 하나로 배치 </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색 </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문구를 한 번에 전달</a:t>
            </a:r>
            <a:endParaRPr lang="en-US" sz="3200" dirty="0"/>
          </a:p>
        </p:txBody>
      </p:sp>
      <p:pic>
        <p:nvPicPr>
          <p:cNvPr id="27" name="그림 26">
            <a:extLst>
              <a:ext uri="{FF2B5EF4-FFF2-40B4-BE49-F238E27FC236}">
                <a16:creationId xmlns:a16="http://schemas.microsoft.com/office/drawing/2014/main" id="{B3BC6421-A244-405C-869A-4D9D7B9A1DAE}"/>
              </a:ext>
            </a:extLst>
          </p:cNvPr>
          <p:cNvPicPr>
            <a:picLocks/>
          </p:cNvPicPr>
          <p:nvPr/>
        </p:nvPicPr>
        <p:blipFill>
          <a:blip r:embed="rId3"/>
          <a:stretch>
            <a:fillRect/>
          </a:stretch>
        </p:blipFill>
        <p:spPr>
          <a:xfrm>
            <a:off x="812800" y="1905000"/>
            <a:ext cx="5969000" cy="3733800"/>
          </a:xfrm>
          <a:prstGeom prst="rect">
            <a:avLst/>
          </a:prstGeom>
          <a:ln w="9525">
            <a:solidFill>
              <a:srgbClr val="DCD6C8"/>
            </a:solidFill>
          </a:ln>
        </p:spPr>
      </p:pic>
      <p:sp>
        <p:nvSpPr>
          <p:cNvPr id="28" name="TextBox 27">
            <a:extLst>
              <a:ext uri="{FF2B5EF4-FFF2-40B4-BE49-F238E27FC236}">
                <a16:creationId xmlns:a16="http://schemas.microsoft.com/office/drawing/2014/main" id="{A46672E3-0003-40DF-BFC1-98E3C5DA0F15}"/>
              </a:ext>
            </a:extLst>
          </p:cNvPr>
          <p:cNvSpPr txBox="1"/>
          <p:nvPr/>
        </p:nvSpPr>
        <p:spPr>
          <a:xfrm>
            <a:off x="812800" y="5715000"/>
            <a:ext cx="5969000" cy="369332"/>
          </a:xfrm>
          <a:prstGeom prst="rect">
            <a:avLst/>
          </a:prstGeom>
          <a:noFill/>
        </p:spPr>
        <p:txBody>
          <a:bodyPr vert="horz" wrap="square" lIns="0" tIns="0" rIns="0" bIns="0" rtlCol="0">
            <a:noAutofit/>
          </a:bodyPr>
          <a:lstStyle/>
          <a:p>
            <a:r>
              <a:rPr lang="en-US" altLang="ko-KR" sz="1000">
                <a:solidFill>
                  <a:srgbClr val="8A8F98"/>
                </a:solidFill>
                <a:latin typeface="Noto Sans KR" panose="020B0200000000000000" pitchFamily="50" charset="-127"/>
                <a:ea typeface="Noto Sans KR" panose="020B0200000000000000" pitchFamily="50" charset="-127"/>
              </a:rPr>
              <a:t>ABOUT US </a:t>
            </a:r>
            <a:r>
              <a:rPr lang="ko-KR" altLang="en-US" sz="1000">
                <a:solidFill>
                  <a:srgbClr val="8A8F98"/>
                </a:solidFill>
                <a:latin typeface="Noto Sans KR" panose="020B0200000000000000" pitchFamily="50" charset="-127"/>
                <a:ea typeface="Noto Sans KR" panose="020B0200000000000000" pitchFamily="50" charset="-127"/>
              </a:rPr>
              <a:t>일러스트 시안 </a:t>
            </a:r>
            <a:r>
              <a:rPr lang="en-US" altLang="ko-KR" sz="1000">
                <a:solidFill>
                  <a:srgbClr val="8A8F98"/>
                </a:solidFill>
                <a:latin typeface="Noto Sans KR" panose="020B0200000000000000" pitchFamily="50" charset="-127"/>
                <a:ea typeface="Noto Sans KR" panose="020B0200000000000000" pitchFamily="50" charset="-127"/>
              </a:rPr>
              <a:t>· </a:t>
            </a:r>
            <a:r>
              <a:rPr lang="ko-KR" altLang="en-US" sz="1000">
                <a:solidFill>
                  <a:srgbClr val="8A8F98"/>
                </a:solidFill>
                <a:latin typeface="Noto Sans KR" panose="020B0200000000000000" pitchFamily="50" charset="-127"/>
                <a:ea typeface="Noto Sans KR" panose="020B0200000000000000" pitchFamily="50" charset="-127"/>
              </a:rPr>
              <a:t>염혜리 </a:t>
            </a:r>
            <a:r>
              <a:rPr lang="en-US" altLang="ko-KR" sz="1000">
                <a:solidFill>
                  <a:srgbClr val="8A8F98"/>
                </a:solidFill>
                <a:latin typeface="Noto Sans KR" panose="020B0200000000000000" pitchFamily="50" charset="-127"/>
                <a:ea typeface="Noto Sans KR" panose="020B0200000000000000" pitchFamily="50" charset="-127"/>
              </a:rPr>
              <a:t>(10.13 </a:t>
            </a:r>
            <a:r>
              <a:rPr lang="ko-KR" altLang="en-US" sz="1000">
                <a:solidFill>
                  <a:srgbClr val="8A8F98"/>
                </a:solidFill>
                <a:latin typeface="Noto Sans KR" panose="020B0200000000000000" pitchFamily="50" charset="-127"/>
                <a:ea typeface="Noto Sans KR" panose="020B0200000000000000" pitchFamily="50" charset="-127"/>
              </a:rPr>
              <a:t>페이지 이미지화</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29" name="사각형: 둥근 모서리 28">
            <a:extLst>
              <a:ext uri="{FF2B5EF4-FFF2-40B4-BE49-F238E27FC236}">
                <a16:creationId xmlns:a16="http://schemas.microsoft.com/office/drawing/2014/main" id="{840BA044-C235-4FA0-8B30-C4F75876DD02}"/>
              </a:ext>
            </a:extLst>
          </p:cNvPr>
          <p:cNvSpPr/>
          <p:nvPr/>
        </p:nvSpPr>
        <p:spPr>
          <a:xfrm>
            <a:off x="7061200" y="1905000"/>
            <a:ext cx="4318000" cy="37338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0F4B823A-2127-4836-BBF2-CDBBFDAA122F}"/>
              </a:ext>
            </a:extLst>
          </p:cNvPr>
          <p:cNvSpPr/>
          <p:nvPr/>
        </p:nvSpPr>
        <p:spPr>
          <a:xfrm>
            <a:off x="7264400" y="2108200"/>
            <a:ext cx="14859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시안으로 정한 것</a:t>
            </a:r>
          </a:p>
        </p:txBody>
      </p:sp>
      <p:sp>
        <p:nvSpPr>
          <p:cNvPr id="31" name="TextBox 30">
            <a:extLst>
              <a:ext uri="{FF2B5EF4-FFF2-40B4-BE49-F238E27FC236}">
                <a16:creationId xmlns:a16="http://schemas.microsoft.com/office/drawing/2014/main" id="{FD60CD17-5B6D-4177-85A9-676647A5B7ED}"/>
              </a:ext>
            </a:extLst>
          </p:cNvPr>
          <p:cNvSpPr txBox="1"/>
          <p:nvPr/>
        </p:nvSpPr>
        <p:spPr>
          <a:xfrm>
            <a:off x="7264400" y="2540000"/>
            <a:ext cx="3937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메뉴</a:t>
            </a:r>
            <a:r>
              <a:rPr lang="ko-KR" altLang="en-US" sz="1200">
                <a:solidFill>
                  <a:srgbClr val="4A505C"/>
                </a:solidFill>
                <a:latin typeface="Noto Sans KR" panose="020B0200000000000000" pitchFamily="50" charset="-127"/>
                <a:ea typeface="Noto Sans KR" panose="020B0200000000000000" pitchFamily="50" charset="-127"/>
              </a:rPr>
              <a:t>　검은 글자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선택 메뉴 연두색 배경</a:t>
            </a:r>
          </a:p>
        </p:txBody>
      </p:sp>
      <p:sp>
        <p:nvSpPr>
          <p:cNvPr id="32" name="TextBox 31">
            <a:extLst>
              <a:ext uri="{FF2B5EF4-FFF2-40B4-BE49-F238E27FC236}">
                <a16:creationId xmlns:a16="http://schemas.microsoft.com/office/drawing/2014/main" id="{7C29E945-F3A5-41AD-AEDC-784DBFE17144}"/>
              </a:ext>
            </a:extLst>
          </p:cNvPr>
          <p:cNvSpPr txBox="1"/>
          <p:nvPr/>
        </p:nvSpPr>
        <p:spPr>
          <a:xfrm>
            <a:off x="7264400" y="2971800"/>
            <a:ext cx="3937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메인 문구</a:t>
            </a:r>
            <a:r>
              <a:rPr lang="ko-KR" altLang="en-US" sz="1200">
                <a:solidFill>
                  <a:srgbClr val="4A505C"/>
                </a:solidFill>
                <a:latin typeface="Noto Sans KR" panose="020B0200000000000000" pitchFamily="50" charset="-127"/>
                <a:ea typeface="Noto Sans KR" panose="020B0200000000000000" pitchFamily="50" charset="-127"/>
              </a:rPr>
              <a:t>　왼쪽 큰 제목 </a:t>
            </a:r>
            <a:r>
              <a:rPr lang="en-US" altLang="ko-KR" sz="1200">
                <a:solidFill>
                  <a:srgbClr val="4A505C"/>
                </a:solidFill>
                <a:latin typeface="Noto Sans KR" panose="020B0200000000000000" pitchFamily="50" charset="-127"/>
                <a:ea typeface="Noto Sans KR" panose="020B0200000000000000" pitchFamily="50" charset="-127"/>
              </a:rPr>
              <a:t>2</a:t>
            </a:r>
            <a:r>
              <a:rPr lang="ko-KR" altLang="en-US" sz="1200">
                <a:solidFill>
                  <a:srgbClr val="4A505C"/>
                </a:solidFill>
                <a:latin typeface="Noto Sans KR" panose="020B0200000000000000" pitchFamily="50" charset="-127"/>
                <a:ea typeface="Noto Sans KR" panose="020B0200000000000000" pitchFamily="50" charset="-127"/>
              </a:rPr>
              <a:t>줄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부제 </a:t>
            </a:r>
            <a:r>
              <a:rPr lang="en-US" altLang="ko-KR" sz="1200">
                <a:solidFill>
                  <a:srgbClr val="4A505C"/>
                </a:solidFill>
                <a:latin typeface="Noto Sans KR" panose="020B0200000000000000" pitchFamily="50" charset="-127"/>
                <a:ea typeface="Noto Sans KR" panose="020B0200000000000000" pitchFamily="50" charset="-127"/>
              </a:rPr>
              <a:t>2</a:t>
            </a:r>
            <a:r>
              <a:rPr lang="ko-KR" altLang="en-US" sz="1200">
                <a:solidFill>
                  <a:srgbClr val="4A505C"/>
                </a:solidFill>
                <a:latin typeface="Noto Sans KR" panose="020B0200000000000000" pitchFamily="50" charset="-127"/>
                <a:ea typeface="Noto Sans KR" panose="020B0200000000000000" pitchFamily="50" charset="-127"/>
              </a:rPr>
              <a:t>줄</a:t>
            </a:r>
          </a:p>
        </p:txBody>
      </p:sp>
      <p:sp>
        <p:nvSpPr>
          <p:cNvPr id="33" name="TextBox 32">
            <a:extLst>
              <a:ext uri="{FF2B5EF4-FFF2-40B4-BE49-F238E27FC236}">
                <a16:creationId xmlns:a16="http://schemas.microsoft.com/office/drawing/2014/main" id="{594E9B10-F8CC-4A9A-873E-927E6529F556}"/>
              </a:ext>
            </a:extLst>
          </p:cNvPr>
          <p:cNvSpPr txBox="1"/>
          <p:nvPr/>
        </p:nvSpPr>
        <p:spPr>
          <a:xfrm>
            <a:off x="7264400" y="3403600"/>
            <a:ext cx="3937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버튼</a:t>
            </a:r>
            <a:r>
              <a:rPr lang="ko-KR" altLang="en-US" sz="1200">
                <a:solidFill>
                  <a:srgbClr val="4A505C"/>
                </a:solidFill>
                <a:latin typeface="Noto Sans KR" panose="020B0200000000000000" pitchFamily="50" charset="-127"/>
                <a:ea typeface="Noto Sans KR" panose="020B0200000000000000" pitchFamily="50" charset="-127"/>
              </a:rPr>
              <a:t>　연두색 </a:t>
            </a:r>
            <a:r>
              <a:rPr lang="en-US" altLang="ko-KR" sz="1200">
                <a:solidFill>
                  <a:srgbClr val="4A505C"/>
                </a:solidFill>
                <a:latin typeface="Noto Sans KR" panose="020B0200000000000000" pitchFamily="50" charset="-127"/>
                <a:ea typeface="Noto Sans KR" panose="020B0200000000000000" pitchFamily="50" charset="-127"/>
              </a:rPr>
              <a:t>#E0FF4F </a:t>
            </a:r>
            <a:r>
              <a:rPr lang="ko-KR" altLang="en-US" sz="1200">
                <a:solidFill>
                  <a:srgbClr val="4A505C"/>
                </a:solidFill>
                <a:latin typeface="Noto Sans KR" panose="020B0200000000000000" pitchFamily="50" charset="-127"/>
                <a:ea typeface="Noto Sans KR" panose="020B0200000000000000" pitchFamily="50" charset="-127"/>
              </a:rPr>
              <a:t>박스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화살표</a:t>
            </a:r>
          </a:p>
        </p:txBody>
      </p:sp>
      <p:sp>
        <p:nvSpPr>
          <p:cNvPr id="34" name="TextBox 33">
            <a:extLst>
              <a:ext uri="{FF2B5EF4-FFF2-40B4-BE49-F238E27FC236}">
                <a16:creationId xmlns:a16="http://schemas.microsoft.com/office/drawing/2014/main" id="{FA36F211-9070-4936-855C-1D0E18536967}"/>
              </a:ext>
            </a:extLst>
          </p:cNvPr>
          <p:cNvSpPr txBox="1"/>
          <p:nvPr/>
        </p:nvSpPr>
        <p:spPr>
          <a:xfrm>
            <a:off x="7264400" y="3835400"/>
            <a:ext cx="3937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파트너</a:t>
            </a:r>
            <a:r>
              <a:rPr lang="ko-KR" altLang="en-US" sz="1200">
                <a:solidFill>
                  <a:srgbClr val="4A505C"/>
                </a:solidFill>
                <a:latin typeface="Noto Sans KR" panose="020B0200000000000000" pitchFamily="50" charset="-127"/>
                <a:ea typeface="Noto Sans KR" panose="020B0200000000000000" pitchFamily="50" charset="-127"/>
              </a:rPr>
              <a:t>　로고 </a:t>
            </a:r>
            <a:r>
              <a:rPr lang="en-US" altLang="ko-KR" sz="1200">
                <a:solidFill>
                  <a:srgbClr val="4A505C"/>
                </a:solidFill>
                <a:latin typeface="Noto Sans KR" panose="020B0200000000000000" pitchFamily="50" charset="-127"/>
                <a:ea typeface="Noto Sans KR" panose="020B0200000000000000" pitchFamily="50" charset="-127"/>
              </a:rPr>
              <a:t>6</a:t>
            </a:r>
            <a:r>
              <a:rPr lang="ko-KR" altLang="en-US" sz="1200">
                <a:solidFill>
                  <a:srgbClr val="4A505C"/>
                </a:solidFill>
                <a:latin typeface="Noto Sans KR" panose="020B0200000000000000" pitchFamily="50" charset="-127"/>
                <a:ea typeface="Noto Sans KR" panose="020B0200000000000000" pitchFamily="50" charset="-127"/>
              </a:rPr>
              <a:t>개를 한 줄로</a:t>
            </a:r>
          </a:p>
        </p:txBody>
      </p:sp>
      <p:sp>
        <p:nvSpPr>
          <p:cNvPr id="35" name="TextBox 34">
            <a:extLst>
              <a:ext uri="{FF2B5EF4-FFF2-40B4-BE49-F238E27FC236}">
                <a16:creationId xmlns:a16="http://schemas.microsoft.com/office/drawing/2014/main" id="{91F10ADC-B6EB-4125-AB4D-86E748323107}"/>
              </a:ext>
            </a:extLst>
          </p:cNvPr>
          <p:cNvSpPr txBox="1"/>
          <p:nvPr/>
        </p:nvSpPr>
        <p:spPr>
          <a:xfrm>
            <a:off x="7264400" y="4267200"/>
            <a:ext cx="3937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푸터</a:t>
            </a:r>
            <a:r>
              <a:rPr lang="ko-KR" altLang="en-US" sz="1200">
                <a:solidFill>
                  <a:srgbClr val="4A505C"/>
                </a:solidFill>
                <a:latin typeface="Noto Sans KR" panose="020B0200000000000000" pitchFamily="50" charset="-127"/>
                <a:ea typeface="Noto Sans KR" panose="020B0200000000000000" pitchFamily="50" charset="-127"/>
              </a:rPr>
              <a:t>　메뉴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상담 시간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주소 </a:t>
            </a:r>
            <a:r>
              <a:rPr lang="en-US" altLang="ko-KR" sz="1200">
                <a:solidFill>
                  <a:srgbClr val="4A505C"/>
                </a:solidFill>
                <a:latin typeface="Noto Sans KR" panose="020B0200000000000000" pitchFamily="50" charset="-127"/>
                <a:ea typeface="Noto Sans KR" panose="020B0200000000000000" pitchFamily="50" charset="-127"/>
              </a:rPr>
              <a:t>3</a:t>
            </a:r>
            <a:r>
              <a:rPr lang="ko-KR" altLang="en-US" sz="1200">
                <a:solidFill>
                  <a:srgbClr val="4A505C"/>
                </a:solidFill>
                <a:latin typeface="Noto Sans KR" panose="020B0200000000000000" pitchFamily="50" charset="-127"/>
                <a:ea typeface="Noto Sans KR" panose="020B0200000000000000" pitchFamily="50" charset="-127"/>
              </a:rPr>
              <a:t>칸</a:t>
            </a:r>
          </a:p>
        </p:txBody>
      </p:sp>
      <p:sp>
        <p:nvSpPr>
          <p:cNvPr id="36" name="사각형: 둥근 모서리 35">
            <a:extLst>
              <a:ext uri="{FF2B5EF4-FFF2-40B4-BE49-F238E27FC236}">
                <a16:creationId xmlns:a16="http://schemas.microsoft.com/office/drawing/2014/main" id="{690A2900-650C-4089-B951-CA0472FDA159}"/>
              </a:ext>
            </a:extLst>
          </p:cNvPr>
          <p:cNvSpPr/>
          <p:nvPr/>
        </p:nvSpPr>
        <p:spPr>
          <a:xfrm>
            <a:off x="7264400" y="4800600"/>
            <a:ext cx="3937000" cy="6350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100">
                <a:solidFill>
                  <a:srgbClr val="1B2433"/>
                </a:solidFill>
                <a:latin typeface="Noto Sans KR" panose="020B0200000000000000" pitchFamily="50" charset="-127"/>
                <a:ea typeface="Noto Sans KR" panose="020B0200000000000000" pitchFamily="50" charset="-127"/>
              </a:rPr>
              <a:t>GPT</a:t>
            </a:r>
            <a:r>
              <a:rPr lang="ko-KR" altLang="en-US" sz="1100">
                <a:solidFill>
                  <a:srgbClr val="1B2433"/>
                </a:solidFill>
                <a:latin typeface="Noto Sans KR" panose="020B0200000000000000" pitchFamily="50" charset="-127"/>
                <a:ea typeface="Noto Sans KR" panose="020B0200000000000000" pitchFamily="50" charset="-127"/>
              </a:rPr>
              <a:t>에 시안 이미지를 올리고</a:t>
            </a:r>
          </a:p>
          <a:p>
            <a:pPr algn="ctr"/>
            <a:r>
              <a:rPr lang="en-US" altLang="ko-KR" sz="1100">
                <a:solidFill>
                  <a:srgbClr val="1B2433"/>
                </a:solidFill>
                <a:latin typeface="Noto Sans KR" panose="020B0200000000000000" pitchFamily="50" charset="-127"/>
                <a:ea typeface="Noto Sans KR" panose="020B0200000000000000" pitchFamily="50" charset="-127"/>
              </a:rPr>
              <a:t>'</a:t>
            </a:r>
            <a:r>
              <a:rPr lang="ko-KR" altLang="en-US" sz="1100">
                <a:solidFill>
                  <a:srgbClr val="1B2433"/>
                </a:solidFill>
                <a:latin typeface="Noto Sans KR" panose="020B0200000000000000" pitchFamily="50" charset="-127"/>
                <a:ea typeface="Noto Sans KR" panose="020B0200000000000000" pitchFamily="50" charset="-127"/>
              </a:rPr>
              <a:t>이 시안과 똑같은 배치로 만들어줘</a:t>
            </a:r>
            <a:r>
              <a:rPr lang="en-US" altLang="ko-KR" sz="1100">
                <a:solidFill>
                  <a:srgbClr val="1B2433"/>
                </a:solidFill>
                <a:latin typeface="Noto Sans KR" panose="020B0200000000000000" pitchFamily="50" charset="-127"/>
                <a:ea typeface="Noto Sans KR" panose="020B0200000000000000" pitchFamily="50" charset="-127"/>
              </a:rPr>
              <a:t>'</a:t>
            </a:r>
            <a:endParaRPr lang="ko-KR" altLang="en-US" sz="1100">
              <a:solidFill>
                <a:srgbClr val="1B2433"/>
              </a:solidFill>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3279979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숫자로 요청하기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알캡처로 재고</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숫자로 요청했습니다</a:t>
            </a:r>
            <a:endParaRPr lang="en-US" sz="3200" dirty="0"/>
          </a:p>
        </p:txBody>
      </p:sp>
      <p:sp>
        <p:nvSpPr>
          <p:cNvPr id="26" name="사각형: 둥근 모서리 25">
            <a:extLst>
              <a:ext uri="{FF2B5EF4-FFF2-40B4-BE49-F238E27FC236}">
                <a16:creationId xmlns:a16="http://schemas.microsoft.com/office/drawing/2014/main" id="{49FC7F02-F40E-4B24-8008-786AB346183C}"/>
              </a:ext>
            </a:extLst>
          </p:cNvPr>
          <p:cNvSpPr/>
          <p:nvPr/>
        </p:nvSpPr>
        <p:spPr>
          <a:xfrm>
            <a:off x="812800" y="1905000"/>
            <a:ext cx="5969000" cy="40386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F393F3E6-20BA-4B22-9016-3214BA5C94B1}"/>
              </a:ext>
            </a:extLst>
          </p:cNvPr>
          <p:cNvSpPr/>
          <p:nvPr/>
        </p:nvSpPr>
        <p:spPr>
          <a:xfrm>
            <a:off x="812800" y="1905000"/>
            <a:ext cx="5969000" cy="431800"/>
          </a:xfrm>
          <a:prstGeom prst="rect">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4D591B62-6F5C-495F-81E8-A0750438E8FB}"/>
              </a:ext>
            </a:extLst>
          </p:cNvPr>
          <p:cNvSpPr txBox="1"/>
          <p:nvPr/>
        </p:nvSpPr>
        <p:spPr>
          <a:xfrm>
            <a:off x="965200" y="2032000"/>
            <a:ext cx="1524000" cy="369332"/>
          </a:xfrm>
          <a:prstGeom prst="rect">
            <a:avLst/>
          </a:prstGeom>
          <a:noFill/>
        </p:spPr>
        <p:txBody>
          <a:bodyPr vert="horz" wrap="square" lIns="0" tIns="0" rIns="0" bIns="0" rtlCol="0">
            <a:noAutofit/>
          </a:bodyPr>
          <a:lstStyle/>
          <a:p>
            <a:r>
              <a:rPr lang="en-US" altLang="ko-KR" sz="1100" b="1">
                <a:solidFill>
                  <a:srgbClr val="1B2433"/>
                </a:solidFill>
                <a:latin typeface="Noto Sans KR" panose="020B0200000000000000" pitchFamily="50" charset="-127"/>
                <a:ea typeface="Noto Sans KR" panose="020B0200000000000000" pitchFamily="50" charset="-127"/>
              </a:rPr>
              <a:t>STUDIO </a:t>
            </a:r>
            <a:r>
              <a:rPr lang="ko-KR" altLang="en-US" sz="1100" b="1">
                <a:solidFill>
                  <a:srgbClr val="1B2433"/>
                </a:solidFill>
                <a:latin typeface="Noto Sans KR" panose="020B0200000000000000" pitchFamily="50" charset="-127"/>
                <a:ea typeface="Noto Sans KR" panose="020B0200000000000000" pitchFamily="50" charset="-127"/>
              </a:rPr>
              <a:t>상상</a:t>
            </a:r>
          </a:p>
        </p:txBody>
      </p:sp>
      <p:sp>
        <p:nvSpPr>
          <p:cNvPr id="29" name="TextBox 28">
            <a:extLst>
              <a:ext uri="{FF2B5EF4-FFF2-40B4-BE49-F238E27FC236}">
                <a16:creationId xmlns:a16="http://schemas.microsoft.com/office/drawing/2014/main" id="{68111A3B-3809-45C6-A38F-27C9D6D09670}"/>
              </a:ext>
            </a:extLst>
          </p:cNvPr>
          <p:cNvSpPr txBox="1"/>
          <p:nvPr/>
        </p:nvSpPr>
        <p:spPr>
          <a:xfrm>
            <a:off x="4826000" y="2032000"/>
            <a:ext cx="1778000" cy="369332"/>
          </a:xfrm>
          <a:prstGeom prst="rect">
            <a:avLst/>
          </a:prstGeom>
          <a:noFill/>
        </p:spPr>
        <p:txBody>
          <a:bodyPr vert="horz" wrap="square" lIns="0" tIns="0" rIns="0" bIns="0" rtlCol="0">
            <a:noAutofit/>
          </a:bodyPr>
          <a:lstStyle/>
          <a:p>
            <a:pPr algn="r"/>
            <a:r>
              <a:rPr lang="ko-KR" altLang="en-US" sz="1100" b="1">
                <a:solidFill>
                  <a:srgbClr val="E8692C"/>
                </a:solidFill>
                <a:latin typeface="Noto Sans KR" panose="020B0200000000000000" pitchFamily="50" charset="-127"/>
                <a:ea typeface="Noto Sans KR" panose="020B0200000000000000" pitchFamily="50" charset="-127"/>
              </a:rPr>
              <a:t>헤더 </a:t>
            </a:r>
            <a:r>
              <a:rPr lang="en-US" altLang="ko-KR" sz="1100" b="1">
                <a:solidFill>
                  <a:srgbClr val="E8692C"/>
                </a:solidFill>
                <a:latin typeface="Noto Sans KR" panose="020B0200000000000000" pitchFamily="50" charset="-127"/>
                <a:ea typeface="Noto Sans KR" panose="020B0200000000000000" pitchFamily="50" charset="-127"/>
              </a:rPr>
              <a:t>81px</a:t>
            </a:r>
            <a:endParaRPr lang="ko-KR" altLang="en-US" sz="1100" b="1">
              <a:solidFill>
                <a:srgbClr val="E8692C"/>
              </a:solidFill>
              <a:latin typeface="Noto Sans KR" panose="020B0200000000000000" pitchFamily="50" charset="-127"/>
              <a:ea typeface="Noto Sans KR" panose="020B0200000000000000" pitchFamily="50" charset="-127"/>
            </a:endParaRPr>
          </a:p>
        </p:txBody>
      </p:sp>
      <p:sp>
        <p:nvSpPr>
          <p:cNvPr id="30" name="TextBox 29">
            <a:extLst>
              <a:ext uri="{FF2B5EF4-FFF2-40B4-BE49-F238E27FC236}">
                <a16:creationId xmlns:a16="http://schemas.microsoft.com/office/drawing/2014/main" id="{BB44627E-6BA7-4538-970E-A4AFE015BA29}"/>
              </a:ext>
            </a:extLst>
          </p:cNvPr>
          <p:cNvSpPr txBox="1"/>
          <p:nvPr/>
        </p:nvSpPr>
        <p:spPr>
          <a:xfrm>
            <a:off x="812800" y="2768600"/>
            <a:ext cx="5969000" cy="369332"/>
          </a:xfrm>
          <a:prstGeom prst="rect">
            <a:avLst/>
          </a:prstGeom>
          <a:noFill/>
        </p:spPr>
        <p:txBody>
          <a:bodyPr vert="horz" wrap="square" lIns="0" tIns="0" rIns="0" bIns="0" rtlCol="0">
            <a:noAutofit/>
          </a:bodyPr>
          <a:lstStyle/>
          <a:p>
            <a:pPr algn="ctr"/>
            <a:r>
              <a:rPr lang="ko-KR" altLang="en-US" sz="3000" b="1">
                <a:solidFill>
                  <a:srgbClr val="1B2433"/>
                </a:solidFill>
                <a:latin typeface="Noto Sans KR" panose="020B0200000000000000" pitchFamily="50" charset="-127"/>
                <a:ea typeface="Noto Sans KR" panose="020B0200000000000000" pitchFamily="50" charset="-127"/>
              </a:rPr>
              <a:t>상상을 넘어 장면이 되다</a:t>
            </a:r>
          </a:p>
        </p:txBody>
      </p:sp>
      <p:sp>
        <p:nvSpPr>
          <p:cNvPr id="31" name="TextBox 30">
            <a:extLst>
              <a:ext uri="{FF2B5EF4-FFF2-40B4-BE49-F238E27FC236}">
                <a16:creationId xmlns:a16="http://schemas.microsoft.com/office/drawing/2014/main" id="{E7211AB3-F362-4166-A5A6-23A82B2C18E4}"/>
              </a:ext>
            </a:extLst>
          </p:cNvPr>
          <p:cNvSpPr txBox="1"/>
          <p:nvPr/>
        </p:nvSpPr>
        <p:spPr>
          <a:xfrm>
            <a:off x="812800" y="3429000"/>
            <a:ext cx="5969000" cy="369332"/>
          </a:xfrm>
          <a:prstGeom prst="rect">
            <a:avLst/>
          </a:prstGeom>
          <a:noFill/>
        </p:spPr>
        <p:txBody>
          <a:bodyPr vert="horz" wrap="square" lIns="0" tIns="0" rIns="0" bIns="0" rtlCol="0">
            <a:noAutofit/>
          </a:bodyPr>
          <a:lstStyle/>
          <a:p>
            <a:pPr algn="ctr"/>
            <a:r>
              <a:rPr lang="en-US" altLang="ko-KR" sz="1000" b="1">
                <a:solidFill>
                  <a:srgbClr val="E8692C"/>
                </a:solidFill>
                <a:latin typeface="Noto Sans KR" panose="020B0200000000000000" pitchFamily="50" charset="-127"/>
                <a:ea typeface="Noto Sans KR" panose="020B0200000000000000" pitchFamily="50" charset="-127"/>
              </a:rPr>
              <a:t>H1 · 124pt · Heavy · </a:t>
            </a:r>
            <a:r>
              <a:rPr lang="ko-KR" altLang="en-US" sz="1000" b="1">
                <a:solidFill>
                  <a:srgbClr val="E8692C"/>
                </a:solidFill>
                <a:latin typeface="Noto Sans KR" panose="020B0200000000000000" pitchFamily="50" charset="-127"/>
                <a:ea typeface="Noto Sans KR" panose="020B0200000000000000" pitchFamily="50" charset="-127"/>
              </a:rPr>
              <a:t>타자 효과</a:t>
            </a:r>
          </a:p>
        </p:txBody>
      </p:sp>
      <p:sp>
        <p:nvSpPr>
          <p:cNvPr id="32" name="TextBox 31">
            <a:extLst>
              <a:ext uri="{FF2B5EF4-FFF2-40B4-BE49-F238E27FC236}">
                <a16:creationId xmlns:a16="http://schemas.microsoft.com/office/drawing/2014/main" id="{1BEFCE52-BA8E-447F-BCBB-6B839C7E0FE9}"/>
              </a:ext>
            </a:extLst>
          </p:cNvPr>
          <p:cNvSpPr txBox="1"/>
          <p:nvPr/>
        </p:nvSpPr>
        <p:spPr>
          <a:xfrm>
            <a:off x="812800" y="3759200"/>
            <a:ext cx="5969000" cy="369332"/>
          </a:xfrm>
          <a:prstGeom prst="rect">
            <a:avLst/>
          </a:prstGeom>
          <a:noFill/>
        </p:spPr>
        <p:txBody>
          <a:bodyPr vert="horz" wrap="square" lIns="0" tIns="0" rIns="0" bIns="0" rtlCol="0">
            <a:noAutofit/>
          </a:bodyPr>
          <a:lstStyle/>
          <a:p>
            <a:pPr algn="ctr"/>
            <a:r>
              <a:rPr lang="ko-KR" altLang="en-US" sz="1400">
                <a:solidFill>
                  <a:srgbClr val="4A505C"/>
                </a:solidFill>
                <a:latin typeface="Noto Sans KR" panose="020B0200000000000000" pitchFamily="50" charset="-127"/>
                <a:ea typeface="Noto Sans KR" panose="020B0200000000000000" pitchFamily="50" charset="-127"/>
              </a:rPr>
              <a:t>기획부터 </a:t>
            </a:r>
            <a:r>
              <a:rPr lang="en-US" altLang="ko-KR" sz="1400">
                <a:solidFill>
                  <a:srgbClr val="4A505C"/>
                </a:solidFill>
                <a:latin typeface="Noto Sans KR" panose="020B0200000000000000" pitchFamily="50" charset="-127"/>
                <a:ea typeface="Noto Sans KR" panose="020B0200000000000000" pitchFamily="50" charset="-127"/>
              </a:rPr>
              <a:t>AI </a:t>
            </a:r>
            <a:r>
              <a:rPr lang="ko-KR" altLang="en-US" sz="1400">
                <a:solidFill>
                  <a:srgbClr val="4A505C"/>
                </a:solidFill>
                <a:latin typeface="Noto Sans KR" panose="020B0200000000000000" pitchFamily="50" charset="-127"/>
                <a:ea typeface="Noto Sans KR" panose="020B0200000000000000" pitchFamily="50" charset="-127"/>
              </a:rPr>
              <a:t>영상 제작까지</a:t>
            </a:r>
          </a:p>
        </p:txBody>
      </p:sp>
      <p:sp>
        <p:nvSpPr>
          <p:cNvPr id="33" name="TextBox 32">
            <a:extLst>
              <a:ext uri="{FF2B5EF4-FFF2-40B4-BE49-F238E27FC236}">
                <a16:creationId xmlns:a16="http://schemas.microsoft.com/office/drawing/2014/main" id="{4E2FE7DB-7027-4351-88D2-B79D2C2ED501}"/>
              </a:ext>
            </a:extLst>
          </p:cNvPr>
          <p:cNvSpPr txBox="1"/>
          <p:nvPr/>
        </p:nvSpPr>
        <p:spPr>
          <a:xfrm>
            <a:off x="812800" y="4064000"/>
            <a:ext cx="5969000" cy="369332"/>
          </a:xfrm>
          <a:prstGeom prst="rect">
            <a:avLst/>
          </a:prstGeom>
          <a:noFill/>
        </p:spPr>
        <p:txBody>
          <a:bodyPr vert="horz" wrap="square" lIns="0" tIns="0" rIns="0" bIns="0" rtlCol="0">
            <a:noAutofit/>
          </a:bodyPr>
          <a:lstStyle/>
          <a:p>
            <a:pPr algn="ctr"/>
            <a:r>
              <a:rPr lang="en-US" altLang="ko-KR" sz="1000" b="1">
                <a:solidFill>
                  <a:srgbClr val="E8692C"/>
                </a:solidFill>
                <a:latin typeface="Noto Sans KR" panose="020B0200000000000000" pitchFamily="50" charset="-127"/>
                <a:ea typeface="Noto Sans KR" panose="020B0200000000000000" pitchFamily="50" charset="-127"/>
              </a:rPr>
              <a:t>H2 · 52pt · Medium · </a:t>
            </a:r>
            <a:r>
              <a:rPr lang="ko-KR" altLang="en-US" sz="1000" b="1">
                <a:solidFill>
                  <a:srgbClr val="E8692C"/>
                </a:solidFill>
                <a:latin typeface="Noto Sans KR" panose="020B0200000000000000" pitchFamily="50" charset="-127"/>
                <a:ea typeface="Noto Sans KR" panose="020B0200000000000000" pitchFamily="50" charset="-127"/>
              </a:rPr>
              <a:t>왼쪽 → 가운데</a:t>
            </a:r>
          </a:p>
        </p:txBody>
      </p:sp>
      <p:sp>
        <p:nvSpPr>
          <p:cNvPr id="34" name="직사각형 33">
            <a:extLst>
              <a:ext uri="{FF2B5EF4-FFF2-40B4-BE49-F238E27FC236}">
                <a16:creationId xmlns:a16="http://schemas.microsoft.com/office/drawing/2014/main" id="{5164A1EA-C202-42E7-96DD-30AE8E23AC60}"/>
              </a:ext>
            </a:extLst>
          </p:cNvPr>
          <p:cNvSpPr/>
          <p:nvPr/>
        </p:nvSpPr>
        <p:spPr>
          <a:xfrm>
            <a:off x="1498600" y="4521200"/>
            <a:ext cx="2184400" cy="584200"/>
          </a:xfrm>
          <a:prstGeom prst="rect">
            <a:avLst/>
          </a:prstGeom>
          <a:solidFill>
            <a:srgbClr val="E0FF4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300" b="1">
                <a:solidFill>
                  <a:srgbClr val="1B2433"/>
                </a:solidFill>
                <a:latin typeface="Noto Sans KR" panose="020B0200000000000000" pitchFamily="50" charset="-127"/>
                <a:ea typeface="Noto Sans KR" panose="020B0200000000000000" pitchFamily="50" charset="-127"/>
              </a:rPr>
              <a:t>포트폴리오</a:t>
            </a:r>
          </a:p>
        </p:txBody>
      </p:sp>
      <p:sp>
        <p:nvSpPr>
          <p:cNvPr id="35" name="직사각형 34">
            <a:extLst>
              <a:ext uri="{FF2B5EF4-FFF2-40B4-BE49-F238E27FC236}">
                <a16:creationId xmlns:a16="http://schemas.microsoft.com/office/drawing/2014/main" id="{E151C3E8-2C4E-4BA9-A07F-58B20E9EF10A}"/>
              </a:ext>
            </a:extLst>
          </p:cNvPr>
          <p:cNvSpPr/>
          <p:nvPr/>
        </p:nvSpPr>
        <p:spPr>
          <a:xfrm>
            <a:off x="3911600" y="4521200"/>
            <a:ext cx="2184400" cy="584200"/>
          </a:xfrm>
          <a:prstGeom prst="rect">
            <a:avLst/>
          </a:prstGeom>
          <a:solidFill>
            <a:srgbClr val="E0FF4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300" b="1">
                <a:solidFill>
                  <a:srgbClr val="1B2433"/>
                </a:solidFill>
                <a:latin typeface="Noto Sans KR" panose="020B0200000000000000" pitchFamily="50" charset="-127"/>
                <a:ea typeface="Noto Sans KR" panose="020B0200000000000000" pitchFamily="50" charset="-127"/>
              </a:rPr>
              <a:t>제작문의</a:t>
            </a:r>
          </a:p>
        </p:txBody>
      </p:sp>
      <p:sp>
        <p:nvSpPr>
          <p:cNvPr id="36" name="TextBox 35">
            <a:extLst>
              <a:ext uri="{FF2B5EF4-FFF2-40B4-BE49-F238E27FC236}">
                <a16:creationId xmlns:a16="http://schemas.microsoft.com/office/drawing/2014/main" id="{308B71C7-E7C6-4B75-9AA5-136CCB9DA87C}"/>
              </a:ext>
            </a:extLst>
          </p:cNvPr>
          <p:cNvSpPr txBox="1"/>
          <p:nvPr/>
        </p:nvSpPr>
        <p:spPr>
          <a:xfrm>
            <a:off x="812800" y="5207000"/>
            <a:ext cx="5969000" cy="369332"/>
          </a:xfrm>
          <a:prstGeom prst="rect">
            <a:avLst/>
          </a:prstGeom>
          <a:noFill/>
        </p:spPr>
        <p:txBody>
          <a:bodyPr vert="horz" wrap="square" lIns="0" tIns="0" rIns="0" bIns="0" rtlCol="0">
            <a:noAutofit/>
          </a:bodyPr>
          <a:lstStyle/>
          <a:p>
            <a:pPr algn="ctr"/>
            <a:r>
              <a:rPr lang="ko-KR" altLang="en-US" sz="1000" b="1">
                <a:solidFill>
                  <a:srgbClr val="E8692C"/>
                </a:solidFill>
                <a:latin typeface="Noto Sans KR" panose="020B0200000000000000" pitchFamily="50" charset="-127"/>
                <a:ea typeface="Noto Sans KR" panose="020B0200000000000000" pitchFamily="50" charset="-127"/>
              </a:rPr>
              <a:t>버튼 </a:t>
            </a:r>
            <a:r>
              <a:rPr lang="en-US" altLang="ko-KR" sz="1000" b="1">
                <a:solidFill>
                  <a:srgbClr val="E8692C"/>
                </a:solidFill>
                <a:latin typeface="Noto Sans KR" panose="020B0200000000000000" pitchFamily="50" charset="-127"/>
                <a:ea typeface="Noto Sans KR" panose="020B0200000000000000" pitchFamily="50" charset="-127"/>
              </a:rPr>
              <a:t>394 × 80 · #E0FF4F · </a:t>
            </a:r>
            <a:r>
              <a:rPr lang="ko-KR" altLang="en-US" sz="1000" b="1">
                <a:solidFill>
                  <a:srgbClr val="E8692C"/>
                </a:solidFill>
                <a:latin typeface="Noto Sans KR" panose="020B0200000000000000" pitchFamily="50" charset="-127"/>
                <a:ea typeface="Noto Sans KR" panose="020B0200000000000000" pitchFamily="50" charset="-127"/>
              </a:rPr>
              <a:t>글자 </a:t>
            </a:r>
            <a:r>
              <a:rPr lang="en-US" altLang="ko-KR" sz="1000" b="1">
                <a:solidFill>
                  <a:srgbClr val="E8692C"/>
                </a:solidFill>
                <a:latin typeface="Noto Sans KR" panose="020B0200000000000000" pitchFamily="50" charset="-127"/>
                <a:ea typeface="Noto Sans KR" panose="020B0200000000000000" pitchFamily="50" charset="-127"/>
              </a:rPr>
              <a:t>40px · </a:t>
            </a:r>
            <a:r>
              <a:rPr lang="ko-KR" altLang="en-US" sz="1000" b="1">
                <a:solidFill>
                  <a:srgbClr val="E8692C"/>
                </a:solidFill>
                <a:latin typeface="Noto Sans KR" panose="020B0200000000000000" pitchFamily="50" charset="-127"/>
                <a:ea typeface="Noto Sans KR" panose="020B0200000000000000" pitchFamily="50" charset="-127"/>
              </a:rPr>
              <a:t>가운데 정렬</a:t>
            </a:r>
          </a:p>
        </p:txBody>
      </p:sp>
      <p:sp>
        <p:nvSpPr>
          <p:cNvPr id="37" name="TextBox 36">
            <a:extLst>
              <a:ext uri="{FF2B5EF4-FFF2-40B4-BE49-F238E27FC236}">
                <a16:creationId xmlns:a16="http://schemas.microsoft.com/office/drawing/2014/main" id="{D6C09F0E-D313-412F-9369-6D855BCFF1DF}"/>
              </a:ext>
            </a:extLst>
          </p:cNvPr>
          <p:cNvSpPr txBox="1"/>
          <p:nvPr/>
        </p:nvSpPr>
        <p:spPr>
          <a:xfrm>
            <a:off x="812800" y="5588000"/>
            <a:ext cx="5969000" cy="369332"/>
          </a:xfrm>
          <a:prstGeom prst="rect">
            <a:avLst/>
          </a:prstGeom>
          <a:noFill/>
        </p:spPr>
        <p:txBody>
          <a:bodyPr vert="horz" wrap="square" lIns="0" tIns="0" rIns="0" bIns="0" rtlCol="0">
            <a:noAutofit/>
          </a:bodyPr>
          <a:lstStyle/>
          <a:p>
            <a:pPr algn="ctr"/>
            <a:r>
              <a:rPr lang="ko-KR" altLang="en-US" sz="1000" b="1">
                <a:solidFill>
                  <a:srgbClr val="8A8F98"/>
                </a:solidFill>
                <a:latin typeface="Noto Sans KR" panose="020B0200000000000000" pitchFamily="50" charset="-127"/>
                <a:ea typeface="Noto Sans KR" panose="020B0200000000000000" pitchFamily="50" charset="-127"/>
              </a:rPr>
              <a:t>지도 옆 </a:t>
            </a:r>
            <a:r>
              <a:rPr lang="en-US" altLang="ko-KR" sz="1000" b="1">
                <a:solidFill>
                  <a:srgbClr val="8A8F98"/>
                </a:solidFill>
                <a:latin typeface="Noto Sans KR" panose="020B0200000000000000" pitchFamily="50" charset="-127"/>
                <a:ea typeface="Noto Sans KR" panose="020B0200000000000000" pitchFamily="50" charset="-127"/>
              </a:rPr>
              <a:t>58px </a:t>
            </a:r>
            <a:r>
              <a:rPr lang="ko-KR" altLang="en-US" sz="1000" b="1">
                <a:solidFill>
                  <a:srgbClr val="8A8F98"/>
                </a:solidFill>
                <a:latin typeface="Noto Sans KR" panose="020B0200000000000000" pitchFamily="50" charset="-127"/>
                <a:ea typeface="Noto Sans KR" panose="020B0200000000000000" pitchFamily="50" charset="-127"/>
              </a:rPr>
              <a:t>띄우기 </a:t>
            </a:r>
            <a:r>
              <a:rPr lang="en-US" altLang="ko-KR" sz="1000" b="1">
                <a:solidFill>
                  <a:srgbClr val="8A8F98"/>
                </a:solidFill>
                <a:latin typeface="Noto Sans KR" panose="020B0200000000000000" pitchFamily="50" charset="-127"/>
                <a:ea typeface="Noto Sans KR" panose="020B0200000000000000" pitchFamily="50" charset="-127"/>
              </a:rPr>
              <a:t>· PROJECT INQUIRY </a:t>
            </a:r>
            <a:r>
              <a:rPr lang="ko-KR" altLang="en-US" sz="1000" b="1">
                <a:solidFill>
                  <a:srgbClr val="8A8F98"/>
                </a:solidFill>
                <a:latin typeface="Noto Sans KR" panose="020B0200000000000000" pitchFamily="50" charset="-127"/>
                <a:ea typeface="Noto Sans KR" panose="020B0200000000000000" pitchFamily="50" charset="-127"/>
              </a:rPr>
              <a:t>옆 </a:t>
            </a:r>
            <a:r>
              <a:rPr lang="en-US" altLang="ko-KR" sz="1000" b="1">
                <a:solidFill>
                  <a:srgbClr val="8A8F98"/>
                </a:solidFill>
                <a:latin typeface="Noto Sans KR" panose="020B0200000000000000" pitchFamily="50" charset="-127"/>
                <a:ea typeface="Noto Sans KR" panose="020B0200000000000000" pitchFamily="50" charset="-127"/>
              </a:rPr>
              <a:t>311px</a:t>
            </a:r>
            <a:endParaRPr lang="ko-KR" altLang="en-US" sz="1000" b="1">
              <a:solidFill>
                <a:srgbClr val="8A8F98"/>
              </a:solidFill>
              <a:latin typeface="Noto Sans KR" panose="020B0200000000000000" pitchFamily="50" charset="-127"/>
              <a:ea typeface="Noto Sans KR" panose="020B0200000000000000" pitchFamily="50" charset="-127"/>
            </a:endParaRPr>
          </a:p>
        </p:txBody>
      </p:sp>
      <p:sp>
        <p:nvSpPr>
          <p:cNvPr id="38" name="사각형: 둥근 모서리 37">
            <a:extLst>
              <a:ext uri="{FF2B5EF4-FFF2-40B4-BE49-F238E27FC236}">
                <a16:creationId xmlns:a16="http://schemas.microsoft.com/office/drawing/2014/main" id="{694449E6-D2CD-4B2F-BFB3-D07B70A4B959}"/>
              </a:ext>
            </a:extLst>
          </p:cNvPr>
          <p:cNvSpPr/>
          <p:nvPr/>
        </p:nvSpPr>
        <p:spPr>
          <a:xfrm>
            <a:off x="7061200" y="1905000"/>
            <a:ext cx="4318000" cy="40386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사각형: 둥근 모서리 38">
            <a:extLst>
              <a:ext uri="{FF2B5EF4-FFF2-40B4-BE49-F238E27FC236}">
                <a16:creationId xmlns:a16="http://schemas.microsoft.com/office/drawing/2014/main" id="{CB9F7E92-96E7-4321-B4E7-7064B61595DC}"/>
              </a:ext>
            </a:extLst>
          </p:cNvPr>
          <p:cNvSpPr/>
          <p:nvPr/>
        </p:nvSpPr>
        <p:spPr>
          <a:xfrm>
            <a:off x="7264400" y="2108200"/>
            <a:ext cx="24638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실제로 쓴 프롬프트 </a:t>
            </a:r>
            <a:r>
              <a:rPr lang="en-US" altLang="ko-KR" sz="1100" b="1">
                <a:solidFill>
                  <a:srgbClr val="FFFFFF"/>
                </a:solidFill>
                <a:latin typeface="Noto Sans KR" panose="020B0200000000000000" pitchFamily="50" charset="-127"/>
                <a:ea typeface="Noto Sans KR" panose="020B0200000000000000" pitchFamily="50" charset="-127"/>
              </a:rPr>
              <a:t>· </a:t>
            </a:r>
            <a:r>
              <a:rPr lang="ko-KR" altLang="en-US" sz="1100" b="1">
                <a:solidFill>
                  <a:srgbClr val="FFFFFF"/>
                </a:solidFill>
                <a:latin typeface="Noto Sans KR" panose="020B0200000000000000" pitchFamily="50" charset="-127"/>
                <a:ea typeface="Noto Sans KR" panose="020B0200000000000000" pitchFamily="50" charset="-127"/>
              </a:rPr>
              <a:t>염혜리</a:t>
            </a:r>
          </a:p>
        </p:txBody>
      </p:sp>
      <p:sp>
        <p:nvSpPr>
          <p:cNvPr id="40" name="TextBox 39">
            <a:extLst>
              <a:ext uri="{FF2B5EF4-FFF2-40B4-BE49-F238E27FC236}">
                <a16:creationId xmlns:a16="http://schemas.microsoft.com/office/drawing/2014/main" id="{5D8AF5C5-897D-40D7-9360-02F09BE82BD4}"/>
              </a:ext>
            </a:extLst>
          </p:cNvPr>
          <p:cNvSpPr txBox="1"/>
          <p:nvPr/>
        </p:nvSpPr>
        <p:spPr>
          <a:xfrm>
            <a:off x="7264400" y="2540000"/>
            <a:ext cx="39370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“헤더영역 </a:t>
            </a:r>
            <a:r>
              <a:rPr lang="en-US" altLang="ko-KR" sz="1200">
                <a:solidFill>
                  <a:srgbClr val="4A505C"/>
                </a:solidFill>
                <a:latin typeface="Noto Sans KR" panose="020B0200000000000000" pitchFamily="50" charset="-127"/>
                <a:ea typeface="Noto Sans KR" panose="020B0200000000000000" pitchFamily="50" charset="-127"/>
              </a:rPr>
              <a:t>81PX</a:t>
            </a:r>
          </a:p>
          <a:p>
            <a:r>
              <a:rPr lang="ko-KR" altLang="en-US" sz="1200">
                <a:solidFill>
                  <a:srgbClr val="4A505C"/>
                </a:solidFill>
                <a:latin typeface="Noto Sans KR" panose="020B0200000000000000" pitchFamily="50" charset="-127"/>
                <a:ea typeface="Noto Sans KR" panose="020B0200000000000000" pitchFamily="50" charset="-127"/>
              </a:rPr>
              <a:t>상상을 넘어 장면이 되다 </a:t>
            </a:r>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글자 사이즈 </a:t>
            </a:r>
            <a:r>
              <a:rPr lang="en-US" altLang="ko-KR" sz="1200">
                <a:solidFill>
                  <a:srgbClr val="4A505C"/>
                </a:solidFill>
                <a:latin typeface="Noto Sans KR" panose="020B0200000000000000" pitchFamily="50" charset="-127"/>
                <a:ea typeface="Noto Sans KR" panose="020B0200000000000000" pitchFamily="50" charset="-127"/>
              </a:rPr>
              <a:t>124PT, </a:t>
            </a:r>
            <a:r>
              <a:rPr lang="ko-KR" altLang="en-US" sz="1200">
                <a:solidFill>
                  <a:srgbClr val="4A505C"/>
                </a:solidFill>
                <a:latin typeface="Noto Sans KR" panose="020B0200000000000000" pitchFamily="50" charset="-127"/>
                <a:ea typeface="Noto Sans KR" panose="020B0200000000000000" pitchFamily="50" charset="-127"/>
              </a:rPr>
              <a:t>두께 </a:t>
            </a:r>
            <a:r>
              <a:rPr lang="en-US" altLang="ko-KR" sz="1200">
                <a:solidFill>
                  <a:srgbClr val="4A505C"/>
                </a:solidFill>
                <a:latin typeface="Noto Sans KR" panose="020B0200000000000000" pitchFamily="50" charset="-127"/>
                <a:ea typeface="Noto Sans KR" panose="020B0200000000000000" pitchFamily="50" charset="-127"/>
              </a:rPr>
              <a:t>heavy)</a:t>
            </a:r>
          </a:p>
          <a:p>
            <a:r>
              <a:rPr lang="ko-KR" altLang="en-US" sz="1200">
                <a:solidFill>
                  <a:srgbClr val="4A505C"/>
                </a:solidFill>
                <a:latin typeface="Noto Sans KR" panose="020B0200000000000000" pitchFamily="50" charset="-127"/>
                <a:ea typeface="Noto Sans KR" panose="020B0200000000000000" pitchFamily="50" charset="-127"/>
              </a:rPr>
              <a:t>포트폴리오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제작문의 </a:t>
            </a:r>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박스 가로 </a:t>
            </a:r>
            <a:r>
              <a:rPr lang="en-US" altLang="ko-KR" sz="1200">
                <a:solidFill>
                  <a:srgbClr val="4A505C"/>
                </a:solidFill>
                <a:latin typeface="Noto Sans KR" panose="020B0200000000000000" pitchFamily="50" charset="-127"/>
                <a:ea typeface="Noto Sans KR" panose="020B0200000000000000" pitchFamily="50" charset="-127"/>
              </a:rPr>
              <a:t>394, </a:t>
            </a:r>
            <a:r>
              <a:rPr lang="ko-KR" altLang="en-US" sz="1200">
                <a:solidFill>
                  <a:srgbClr val="4A505C"/>
                </a:solidFill>
                <a:latin typeface="Noto Sans KR" panose="020B0200000000000000" pitchFamily="50" charset="-127"/>
                <a:ea typeface="Noto Sans KR" panose="020B0200000000000000" pitchFamily="50" charset="-127"/>
              </a:rPr>
              <a:t>세로 </a:t>
            </a:r>
            <a:r>
              <a:rPr lang="en-US" altLang="ko-KR" sz="1200">
                <a:solidFill>
                  <a:srgbClr val="4A505C"/>
                </a:solidFill>
                <a:latin typeface="Noto Sans KR" panose="020B0200000000000000" pitchFamily="50" charset="-127"/>
                <a:ea typeface="Noto Sans KR" panose="020B0200000000000000" pitchFamily="50" charset="-127"/>
              </a:rPr>
              <a:t>80, </a:t>
            </a:r>
            <a:r>
              <a:rPr lang="ko-KR" altLang="en-US" sz="1200">
                <a:solidFill>
                  <a:srgbClr val="4A505C"/>
                </a:solidFill>
                <a:latin typeface="Noto Sans KR" panose="020B0200000000000000" pitchFamily="50" charset="-127"/>
                <a:ea typeface="Noto Sans KR" panose="020B0200000000000000" pitchFamily="50" charset="-127"/>
              </a:rPr>
              <a:t>박스색 </a:t>
            </a:r>
            <a:r>
              <a:rPr lang="en-US" altLang="ko-KR" sz="1200">
                <a:solidFill>
                  <a:srgbClr val="4A505C"/>
                </a:solidFill>
                <a:latin typeface="Noto Sans KR" panose="020B0200000000000000" pitchFamily="50" charset="-127"/>
                <a:ea typeface="Noto Sans KR" panose="020B0200000000000000" pitchFamily="50" charset="-127"/>
              </a:rPr>
              <a:t>e0ff4f)</a:t>
            </a:r>
          </a:p>
          <a:p>
            <a:r>
              <a:rPr lang="ko-KR" altLang="en-US" sz="1200">
                <a:solidFill>
                  <a:srgbClr val="4A505C"/>
                </a:solidFill>
                <a:latin typeface="Noto Sans KR" panose="020B0200000000000000" pitchFamily="50" charset="-127"/>
                <a:ea typeface="Noto Sans KR" panose="020B0200000000000000" pitchFamily="50" charset="-127"/>
              </a:rPr>
              <a:t>지도 옆에 </a:t>
            </a:r>
            <a:r>
              <a:rPr lang="en-US" altLang="ko-KR" sz="1200">
                <a:solidFill>
                  <a:srgbClr val="4A505C"/>
                </a:solidFill>
                <a:latin typeface="Noto Sans KR" panose="020B0200000000000000" pitchFamily="50" charset="-127"/>
                <a:ea typeface="Noto Sans KR" panose="020B0200000000000000" pitchFamily="50" charset="-127"/>
              </a:rPr>
              <a:t>58px </a:t>
            </a:r>
            <a:r>
              <a:rPr lang="ko-KR" altLang="en-US" sz="1200">
                <a:solidFill>
                  <a:srgbClr val="4A505C"/>
                </a:solidFill>
                <a:latin typeface="Noto Sans KR" panose="020B0200000000000000" pitchFamily="50" charset="-127"/>
                <a:ea typeface="Noto Sans KR" panose="020B0200000000000000" pitchFamily="50" charset="-127"/>
              </a:rPr>
              <a:t>띄고 </a:t>
            </a:r>
            <a:r>
              <a:rPr lang="en-US" altLang="ko-KR" sz="1200">
                <a:solidFill>
                  <a:srgbClr val="4A505C"/>
                </a:solidFill>
                <a:latin typeface="Noto Sans KR" panose="020B0200000000000000" pitchFamily="50" charset="-127"/>
                <a:ea typeface="Noto Sans KR" panose="020B0200000000000000" pitchFamily="50" charset="-127"/>
              </a:rPr>
              <a:t>…”</a:t>
            </a:r>
            <a:endParaRPr lang="ko-KR" altLang="en-US" sz="1200">
              <a:solidFill>
                <a:srgbClr val="4A505C"/>
              </a:solidFill>
              <a:latin typeface="Noto Sans KR" panose="020B0200000000000000" pitchFamily="50" charset="-127"/>
              <a:ea typeface="Noto Sans KR" panose="020B0200000000000000" pitchFamily="50" charset="-127"/>
            </a:endParaRPr>
          </a:p>
        </p:txBody>
      </p:sp>
      <p:sp>
        <p:nvSpPr>
          <p:cNvPr id="41" name="사각형: 둥근 모서리 40">
            <a:extLst>
              <a:ext uri="{FF2B5EF4-FFF2-40B4-BE49-F238E27FC236}">
                <a16:creationId xmlns:a16="http://schemas.microsoft.com/office/drawing/2014/main" id="{4F6179A2-7807-4731-98CF-82D08EA9593E}"/>
              </a:ext>
            </a:extLst>
          </p:cNvPr>
          <p:cNvSpPr/>
          <p:nvPr/>
        </p:nvSpPr>
        <p:spPr>
          <a:xfrm>
            <a:off x="7264400" y="4724400"/>
            <a:ext cx="3937000" cy="10160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152400" tIns="0" rIns="50800" bIns="0" rtlCol="0" anchor="ctr"/>
          <a:lstStyle/>
          <a:p>
            <a:r>
              <a:rPr lang="ko-KR" altLang="en-US" sz="1100">
                <a:solidFill>
                  <a:srgbClr val="1B2433"/>
                </a:solidFill>
                <a:latin typeface="Noto Sans KR" panose="020B0200000000000000" pitchFamily="50" charset="-127"/>
                <a:ea typeface="Noto Sans KR" panose="020B0200000000000000" pitchFamily="50" charset="-127"/>
              </a:rPr>
              <a:t>알캡처로 영역 드래그 → 가로 </a:t>
            </a:r>
            <a:r>
              <a:rPr lang="en-US" altLang="ko-KR" sz="1100">
                <a:solidFill>
                  <a:srgbClr val="1B2433"/>
                </a:solidFill>
                <a:latin typeface="Noto Sans KR" panose="020B0200000000000000" pitchFamily="50" charset="-127"/>
                <a:ea typeface="Noto Sans KR" panose="020B0200000000000000" pitchFamily="50" charset="-127"/>
              </a:rPr>
              <a:t>× </a:t>
            </a:r>
            <a:r>
              <a:rPr lang="ko-KR" altLang="en-US" sz="1100">
                <a:solidFill>
                  <a:srgbClr val="1B2433"/>
                </a:solidFill>
                <a:latin typeface="Noto Sans KR" panose="020B0200000000000000" pitchFamily="50" charset="-127"/>
                <a:ea typeface="Noto Sans KR" panose="020B0200000000000000" pitchFamily="50" charset="-127"/>
              </a:rPr>
              <a:t>세로 </a:t>
            </a:r>
            <a:r>
              <a:rPr lang="en-US" altLang="ko-KR" sz="1100">
                <a:solidFill>
                  <a:srgbClr val="1B2433"/>
                </a:solidFill>
                <a:latin typeface="Noto Sans KR" panose="020B0200000000000000" pitchFamily="50" charset="-127"/>
                <a:ea typeface="Noto Sans KR" panose="020B0200000000000000" pitchFamily="50" charset="-127"/>
              </a:rPr>
              <a:t>px </a:t>
            </a:r>
            <a:r>
              <a:rPr lang="ko-KR" altLang="en-US" sz="1100">
                <a:solidFill>
                  <a:srgbClr val="1B2433"/>
                </a:solidFill>
                <a:latin typeface="Noto Sans KR" panose="020B0200000000000000" pitchFamily="50" charset="-127"/>
                <a:ea typeface="Noto Sans KR" panose="020B0200000000000000" pitchFamily="50" charset="-127"/>
              </a:rPr>
              <a:t>확인</a:t>
            </a:r>
          </a:p>
          <a:p>
            <a:r>
              <a:rPr lang="ko-KR" altLang="en-US" sz="1100">
                <a:solidFill>
                  <a:srgbClr val="1B2433"/>
                </a:solidFill>
                <a:latin typeface="Noto Sans KR" panose="020B0200000000000000" pitchFamily="50" charset="-127"/>
                <a:ea typeface="Noto Sans KR" panose="020B0200000000000000" pitchFamily="50" charset="-127"/>
              </a:rPr>
              <a:t>→ 그 숫자를 프롬프트에 그대로 적기</a:t>
            </a:r>
          </a:p>
        </p:txBody>
      </p:sp>
    </p:spTree>
    <p:extLst>
      <p:ext uri="{BB962C8B-B14F-4D97-AF65-F5344CB8AC3E}">
        <p14:creationId xmlns:p14="http://schemas.microsoft.com/office/powerpoint/2010/main" val="4227713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숫자로 요청하기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수정 요청은 이 공식으로 썼습니다</a:t>
            </a:r>
            <a:endParaRPr lang="en-US" sz="3200" dirty="0"/>
          </a:p>
        </p:txBody>
      </p:sp>
      <p:sp>
        <p:nvSpPr>
          <p:cNvPr id="26" name="사각형: 둥근 모서리 25">
            <a:extLst>
              <a:ext uri="{FF2B5EF4-FFF2-40B4-BE49-F238E27FC236}">
                <a16:creationId xmlns:a16="http://schemas.microsoft.com/office/drawing/2014/main" id="{B54FE7FD-D18C-4F46-9F24-3E411A20A953}"/>
              </a:ext>
            </a:extLst>
          </p:cNvPr>
          <p:cNvSpPr/>
          <p:nvPr/>
        </p:nvSpPr>
        <p:spPr>
          <a:xfrm>
            <a:off x="812800" y="1905000"/>
            <a:ext cx="1879600" cy="685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400" b="1">
                <a:solidFill>
                  <a:srgbClr val="FFFFFF"/>
                </a:solidFill>
                <a:latin typeface="Noto Sans KR" panose="020B0200000000000000" pitchFamily="50" charset="-127"/>
                <a:ea typeface="Noto Sans KR" panose="020B0200000000000000" pitchFamily="50" charset="-127"/>
              </a:rPr>
              <a:t>어디를</a:t>
            </a:r>
          </a:p>
          <a:p>
            <a:pPr algn="ctr"/>
            <a:r>
              <a:rPr lang="ko-KR" altLang="en-US" sz="1000">
                <a:solidFill>
                  <a:srgbClr val="FFFFFF"/>
                </a:solidFill>
                <a:latin typeface="Noto Sans KR" panose="020B0200000000000000" pitchFamily="50" charset="-127"/>
                <a:ea typeface="Noto Sans KR" panose="020B0200000000000000" pitchFamily="50" charset="-127"/>
              </a:rPr>
              <a:t>그림판 표시 </a:t>
            </a:r>
            <a:r>
              <a:rPr lang="en-US" altLang="ko-KR" sz="1000">
                <a:solidFill>
                  <a:srgbClr val="FFFFFF"/>
                </a:solidFill>
                <a:latin typeface="Noto Sans KR" panose="020B0200000000000000" pitchFamily="50" charset="-127"/>
                <a:ea typeface="Noto Sans KR" panose="020B0200000000000000" pitchFamily="50" charset="-127"/>
              </a:rPr>
              <a:t>· </a:t>
            </a:r>
            <a:r>
              <a:rPr lang="ko-KR" altLang="en-US" sz="1000">
                <a:solidFill>
                  <a:srgbClr val="FFFFFF"/>
                </a:solidFill>
                <a:latin typeface="Noto Sans KR" panose="020B0200000000000000" pitchFamily="50" charset="-127"/>
                <a:ea typeface="Noto Sans KR" panose="020B0200000000000000" pitchFamily="50" charset="-127"/>
              </a:rPr>
              <a:t>시안</a:t>
            </a:r>
          </a:p>
        </p:txBody>
      </p:sp>
      <p:sp>
        <p:nvSpPr>
          <p:cNvPr id="27" name="TextBox 26">
            <a:extLst>
              <a:ext uri="{FF2B5EF4-FFF2-40B4-BE49-F238E27FC236}">
                <a16:creationId xmlns:a16="http://schemas.microsoft.com/office/drawing/2014/main" id="{F215C731-CAC0-4E4D-8B0D-A5C07ABDC1EB}"/>
              </a:ext>
            </a:extLst>
          </p:cNvPr>
          <p:cNvSpPr txBox="1"/>
          <p:nvPr/>
        </p:nvSpPr>
        <p:spPr>
          <a:xfrm>
            <a:off x="2717800" y="2082800"/>
            <a:ext cx="2794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28" name="사각형: 둥근 모서리 27">
            <a:extLst>
              <a:ext uri="{FF2B5EF4-FFF2-40B4-BE49-F238E27FC236}">
                <a16:creationId xmlns:a16="http://schemas.microsoft.com/office/drawing/2014/main" id="{CD6C158B-0C48-4FAD-8899-CCB22E280519}"/>
              </a:ext>
            </a:extLst>
          </p:cNvPr>
          <p:cNvSpPr/>
          <p:nvPr/>
        </p:nvSpPr>
        <p:spPr>
          <a:xfrm>
            <a:off x="2997200" y="1905000"/>
            <a:ext cx="1879600" cy="685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400" b="1">
                <a:solidFill>
                  <a:srgbClr val="FFFFFF"/>
                </a:solidFill>
                <a:latin typeface="Noto Sans KR" panose="020B0200000000000000" pitchFamily="50" charset="-127"/>
                <a:ea typeface="Noto Sans KR" panose="020B0200000000000000" pitchFamily="50" charset="-127"/>
              </a:rPr>
              <a:t>얼마나</a:t>
            </a:r>
          </a:p>
          <a:p>
            <a:pPr algn="ctr"/>
            <a:r>
              <a:rPr lang="en-US" altLang="ko-KR" sz="1000">
                <a:solidFill>
                  <a:srgbClr val="FFFFFF"/>
                </a:solidFill>
                <a:latin typeface="Noto Sans KR" panose="020B0200000000000000" pitchFamily="50" charset="-127"/>
                <a:ea typeface="Noto Sans KR" panose="020B0200000000000000" pitchFamily="50" charset="-127"/>
              </a:rPr>
              <a:t>px · pt</a:t>
            </a:r>
            <a:endParaRPr lang="ko-KR" altLang="en-US" sz="1000">
              <a:solidFill>
                <a:srgbClr val="FFFFFF"/>
              </a:solidFill>
              <a:latin typeface="Noto Sans KR" panose="020B0200000000000000" pitchFamily="50" charset="-127"/>
              <a:ea typeface="Noto Sans KR" panose="020B0200000000000000" pitchFamily="50" charset="-127"/>
            </a:endParaRPr>
          </a:p>
        </p:txBody>
      </p:sp>
      <p:sp>
        <p:nvSpPr>
          <p:cNvPr id="29" name="TextBox 28">
            <a:extLst>
              <a:ext uri="{FF2B5EF4-FFF2-40B4-BE49-F238E27FC236}">
                <a16:creationId xmlns:a16="http://schemas.microsoft.com/office/drawing/2014/main" id="{1F18ABC0-672D-494B-967E-B083E1255F5F}"/>
              </a:ext>
            </a:extLst>
          </p:cNvPr>
          <p:cNvSpPr txBox="1"/>
          <p:nvPr/>
        </p:nvSpPr>
        <p:spPr>
          <a:xfrm>
            <a:off x="4902200" y="2082800"/>
            <a:ext cx="2794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30" name="사각형: 둥근 모서리 29">
            <a:extLst>
              <a:ext uri="{FF2B5EF4-FFF2-40B4-BE49-F238E27FC236}">
                <a16:creationId xmlns:a16="http://schemas.microsoft.com/office/drawing/2014/main" id="{E0053FF3-D642-49AB-AA9D-9ED6E3E22498}"/>
              </a:ext>
            </a:extLst>
          </p:cNvPr>
          <p:cNvSpPr/>
          <p:nvPr/>
        </p:nvSpPr>
        <p:spPr>
          <a:xfrm>
            <a:off x="5181600" y="1905000"/>
            <a:ext cx="1879600" cy="685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400" b="1">
                <a:solidFill>
                  <a:srgbClr val="FFFFFF"/>
                </a:solidFill>
                <a:latin typeface="Noto Sans KR" panose="020B0200000000000000" pitchFamily="50" charset="-127"/>
                <a:ea typeface="Noto Sans KR" panose="020B0200000000000000" pitchFamily="50" charset="-127"/>
              </a:rPr>
              <a:t>무슨 색</a:t>
            </a:r>
          </a:p>
          <a:p>
            <a:pPr algn="ctr"/>
            <a:r>
              <a:rPr lang="en-US" altLang="ko-KR" sz="1000">
                <a:solidFill>
                  <a:srgbClr val="FFFFFF"/>
                </a:solidFill>
                <a:latin typeface="Noto Sans KR" panose="020B0200000000000000" pitchFamily="50" charset="-127"/>
                <a:ea typeface="Noto Sans KR" panose="020B0200000000000000" pitchFamily="50" charset="-127"/>
              </a:rPr>
              <a:t>#E0FF4F </a:t>
            </a:r>
            <a:r>
              <a:rPr lang="ko-KR" altLang="en-US" sz="1000">
                <a:solidFill>
                  <a:srgbClr val="FFFFFF"/>
                </a:solidFill>
                <a:latin typeface="Noto Sans KR" panose="020B0200000000000000" pitchFamily="50" charset="-127"/>
                <a:ea typeface="Noto Sans KR" panose="020B0200000000000000" pitchFamily="50" charset="-127"/>
              </a:rPr>
              <a:t>같은 코드</a:t>
            </a:r>
          </a:p>
        </p:txBody>
      </p:sp>
      <p:sp>
        <p:nvSpPr>
          <p:cNvPr id="31" name="TextBox 30">
            <a:extLst>
              <a:ext uri="{FF2B5EF4-FFF2-40B4-BE49-F238E27FC236}">
                <a16:creationId xmlns:a16="http://schemas.microsoft.com/office/drawing/2014/main" id="{C6CDEF06-FB89-4F25-BAE7-101CB6F608A5}"/>
              </a:ext>
            </a:extLst>
          </p:cNvPr>
          <p:cNvSpPr txBox="1"/>
          <p:nvPr/>
        </p:nvSpPr>
        <p:spPr>
          <a:xfrm>
            <a:off x="7086600" y="2082800"/>
            <a:ext cx="2794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32" name="사각형: 둥근 모서리 31">
            <a:extLst>
              <a:ext uri="{FF2B5EF4-FFF2-40B4-BE49-F238E27FC236}">
                <a16:creationId xmlns:a16="http://schemas.microsoft.com/office/drawing/2014/main" id="{70361649-CD59-48FE-9A8A-6942A25A837B}"/>
              </a:ext>
            </a:extLst>
          </p:cNvPr>
          <p:cNvSpPr/>
          <p:nvPr/>
        </p:nvSpPr>
        <p:spPr>
          <a:xfrm>
            <a:off x="7366000" y="1905000"/>
            <a:ext cx="1879600" cy="685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400" b="1">
                <a:solidFill>
                  <a:srgbClr val="FFFFFF"/>
                </a:solidFill>
                <a:latin typeface="Noto Sans KR" panose="020B0200000000000000" pitchFamily="50" charset="-127"/>
                <a:ea typeface="Noto Sans KR" panose="020B0200000000000000" pitchFamily="50" charset="-127"/>
              </a:rPr>
              <a:t>어떻게</a:t>
            </a:r>
          </a:p>
          <a:p>
            <a:pPr algn="ctr"/>
            <a:r>
              <a:rPr lang="ko-KR" altLang="en-US" sz="1000">
                <a:solidFill>
                  <a:srgbClr val="FFFFFF"/>
                </a:solidFill>
                <a:latin typeface="Noto Sans KR" panose="020B0200000000000000" pitchFamily="50" charset="-127"/>
                <a:ea typeface="Noto Sans KR" panose="020B0200000000000000" pitchFamily="50" charset="-127"/>
              </a:rPr>
              <a:t>초 </a:t>
            </a:r>
            <a:r>
              <a:rPr lang="en-US" altLang="ko-KR" sz="1000">
                <a:solidFill>
                  <a:srgbClr val="FFFFFF"/>
                </a:solidFill>
                <a:latin typeface="Noto Sans KR" panose="020B0200000000000000" pitchFamily="50" charset="-127"/>
                <a:ea typeface="Noto Sans KR" panose="020B0200000000000000" pitchFamily="50" charset="-127"/>
              </a:rPr>
              <a:t>· </a:t>
            </a:r>
            <a:r>
              <a:rPr lang="ko-KR" altLang="en-US" sz="1000">
                <a:solidFill>
                  <a:srgbClr val="FFFFFF"/>
                </a:solidFill>
                <a:latin typeface="Noto Sans KR" panose="020B0200000000000000" pitchFamily="50" charset="-127"/>
                <a:ea typeface="Noto Sans KR" panose="020B0200000000000000" pitchFamily="50" charset="-127"/>
              </a:rPr>
              <a:t>순서</a:t>
            </a:r>
          </a:p>
        </p:txBody>
      </p:sp>
      <p:sp>
        <p:nvSpPr>
          <p:cNvPr id="33" name="TextBox 32">
            <a:extLst>
              <a:ext uri="{FF2B5EF4-FFF2-40B4-BE49-F238E27FC236}">
                <a16:creationId xmlns:a16="http://schemas.microsoft.com/office/drawing/2014/main" id="{DB2D19AE-A627-4F6F-8E93-E33449754670}"/>
              </a:ext>
            </a:extLst>
          </p:cNvPr>
          <p:cNvSpPr txBox="1"/>
          <p:nvPr/>
        </p:nvSpPr>
        <p:spPr>
          <a:xfrm>
            <a:off x="9271000" y="2082800"/>
            <a:ext cx="2794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34" name="사각형: 둥근 모서리 33">
            <a:extLst>
              <a:ext uri="{FF2B5EF4-FFF2-40B4-BE49-F238E27FC236}">
                <a16:creationId xmlns:a16="http://schemas.microsoft.com/office/drawing/2014/main" id="{6F9AAC7C-B36A-45A1-A11B-9F2FFA90DE01}"/>
              </a:ext>
            </a:extLst>
          </p:cNvPr>
          <p:cNvSpPr/>
          <p:nvPr/>
        </p:nvSpPr>
        <p:spPr>
          <a:xfrm>
            <a:off x="9550400" y="1905000"/>
            <a:ext cx="1879600" cy="685800"/>
          </a:xfrm>
          <a:prstGeom prst="roundRect">
            <a:avLst>
              <a:gd name="adj" fmla="val 6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400" b="1">
                <a:solidFill>
                  <a:srgbClr val="FFFFFF"/>
                </a:solidFill>
                <a:latin typeface="Noto Sans KR" panose="020B0200000000000000" pitchFamily="50" charset="-127"/>
                <a:ea typeface="Noto Sans KR" panose="020B0200000000000000" pitchFamily="50" charset="-127"/>
              </a:rPr>
              <a:t>그대로 둘 것</a:t>
            </a:r>
          </a:p>
          <a:p>
            <a:pPr algn="ctr"/>
            <a:r>
              <a:rPr lang="ko-KR" altLang="en-US" sz="1000">
                <a:solidFill>
                  <a:srgbClr val="FFFFFF"/>
                </a:solidFill>
                <a:latin typeface="Noto Sans KR" panose="020B0200000000000000" pitchFamily="50" charset="-127"/>
                <a:ea typeface="Noto Sans KR" panose="020B0200000000000000" pitchFamily="50" charset="-127"/>
              </a:rPr>
              <a:t>나머지는 유지</a:t>
            </a:r>
          </a:p>
        </p:txBody>
      </p:sp>
      <p:sp>
        <p:nvSpPr>
          <p:cNvPr id="35" name="사각형: 둥근 모서리 34">
            <a:extLst>
              <a:ext uri="{FF2B5EF4-FFF2-40B4-BE49-F238E27FC236}">
                <a16:creationId xmlns:a16="http://schemas.microsoft.com/office/drawing/2014/main" id="{1F7E604D-59EF-4650-8837-18515EB01375}"/>
              </a:ext>
            </a:extLst>
          </p:cNvPr>
          <p:cNvSpPr/>
          <p:nvPr/>
        </p:nvSpPr>
        <p:spPr>
          <a:xfrm>
            <a:off x="812800" y="2819400"/>
            <a:ext cx="5207000" cy="2489200"/>
          </a:xfrm>
          <a:prstGeom prst="roundRect">
            <a:avLst>
              <a:gd name="adj" fmla="val 6000"/>
            </a:avLst>
          </a:prstGeom>
          <a:solidFill>
            <a:srgbClr val="ECE9E1"/>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사각형: 둥근 모서리 35">
            <a:extLst>
              <a:ext uri="{FF2B5EF4-FFF2-40B4-BE49-F238E27FC236}">
                <a16:creationId xmlns:a16="http://schemas.microsoft.com/office/drawing/2014/main" id="{FEA66FE5-AE1E-4F62-97D9-74114A784A87}"/>
              </a:ext>
            </a:extLst>
          </p:cNvPr>
          <p:cNvSpPr/>
          <p:nvPr/>
        </p:nvSpPr>
        <p:spPr>
          <a:xfrm>
            <a:off x="1016000" y="3022600"/>
            <a:ext cx="1625600" cy="279400"/>
          </a:xfrm>
          <a:prstGeom prst="roundRect">
            <a:avLst>
              <a:gd name="adj" fmla="val 50000"/>
            </a:avLst>
          </a:prstGeom>
          <a:solidFill>
            <a:srgbClr val="DCD6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1B2433"/>
                </a:solidFill>
                <a:latin typeface="Noto Sans KR" panose="020B0200000000000000" pitchFamily="50" charset="-127"/>
                <a:ea typeface="Noto Sans KR" panose="020B0200000000000000" pitchFamily="50" charset="-127"/>
              </a:rPr>
              <a:t>✕  이렇게 말하면</a:t>
            </a:r>
          </a:p>
        </p:txBody>
      </p:sp>
      <p:sp>
        <p:nvSpPr>
          <p:cNvPr id="37" name="TextBox 36">
            <a:extLst>
              <a:ext uri="{FF2B5EF4-FFF2-40B4-BE49-F238E27FC236}">
                <a16:creationId xmlns:a16="http://schemas.microsoft.com/office/drawing/2014/main" id="{EEFCA377-0BBF-4616-BBF2-16D7D57E4E90}"/>
              </a:ext>
            </a:extLst>
          </p:cNvPr>
          <p:cNvSpPr txBox="1"/>
          <p:nvPr/>
        </p:nvSpPr>
        <p:spPr>
          <a:xfrm>
            <a:off x="1016000" y="3454400"/>
            <a:ext cx="48006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“견적 박스 좀 오른쪽으로 옮기고</a:t>
            </a:r>
            <a:r>
              <a:rPr lang="en-US" altLang="ko-KR" sz="1300">
                <a:solidFill>
                  <a:srgbClr val="4A505C"/>
                </a:solidFill>
                <a:latin typeface="Noto Sans KR" panose="020B0200000000000000" pitchFamily="50" charset="-127"/>
                <a:ea typeface="Noto Sans KR" panose="020B0200000000000000" pitchFamily="50" charset="-127"/>
              </a:rPr>
              <a:t>, </a:t>
            </a:r>
            <a:r>
              <a:rPr lang="ko-KR" altLang="en-US" sz="1300">
                <a:solidFill>
                  <a:srgbClr val="4A505C"/>
                </a:solidFill>
                <a:latin typeface="Noto Sans KR" panose="020B0200000000000000" pitchFamily="50" charset="-127"/>
                <a:ea typeface="Noto Sans KR" panose="020B0200000000000000" pitchFamily="50" charset="-127"/>
              </a:rPr>
              <a:t>버튼 눈에 띄게 해 줘”</a:t>
            </a:r>
          </a:p>
        </p:txBody>
      </p:sp>
      <p:sp>
        <p:nvSpPr>
          <p:cNvPr id="38" name="TextBox 37">
            <a:extLst>
              <a:ext uri="{FF2B5EF4-FFF2-40B4-BE49-F238E27FC236}">
                <a16:creationId xmlns:a16="http://schemas.microsoft.com/office/drawing/2014/main" id="{D4973D99-3A2B-46E5-8D45-A8A61D466E49}"/>
              </a:ext>
            </a:extLst>
          </p:cNvPr>
          <p:cNvSpPr txBox="1"/>
          <p:nvPr/>
        </p:nvSpPr>
        <p:spPr>
          <a:xfrm>
            <a:off x="1016000" y="4876800"/>
            <a:ext cx="4800600" cy="369332"/>
          </a:xfrm>
          <a:prstGeom prst="rect">
            <a:avLst/>
          </a:prstGeom>
          <a:noFill/>
        </p:spPr>
        <p:txBody>
          <a:bodyPr vert="horz" wrap="square" lIns="0" tIns="0" rIns="0" bIns="0" rtlCol="0">
            <a:noAutofit/>
          </a:bodyPr>
          <a:lstStyle/>
          <a:p>
            <a:r>
              <a:rPr lang="ko-KR" altLang="en-US" sz="1200" b="1">
                <a:solidFill>
                  <a:srgbClr val="8A8F98"/>
                </a:solidFill>
                <a:latin typeface="Noto Sans KR" panose="020B0200000000000000" pitchFamily="50" charset="-127"/>
                <a:ea typeface="Noto Sans KR" panose="020B0200000000000000" pitchFamily="50" charset="-127"/>
              </a:rPr>
              <a:t>→ 위치 </a:t>
            </a:r>
            <a:r>
              <a:rPr lang="en-US" altLang="ko-KR" sz="1200" b="1">
                <a:solidFill>
                  <a:srgbClr val="8A8F98"/>
                </a:solidFill>
                <a:latin typeface="Noto Sans KR" panose="020B0200000000000000" pitchFamily="50" charset="-127"/>
                <a:ea typeface="Noto Sans KR" panose="020B0200000000000000" pitchFamily="50" charset="-127"/>
              </a:rPr>
              <a:t>· </a:t>
            </a:r>
            <a:r>
              <a:rPr lang="ko-KR" altLang="en-US" sz="1200" b="1">
                <a:solidFill>
                  <a:srgbClr val="8A8F98"/>
                </a:solidFill>
                <a:latin typeface="Noto Sans KR" panose="020B0200000000000000" pitchFamily="50" charset="-127"/>
                <a:ea typeface="Noto Sans KR" panose="020B0200000000000000" pitchFamily="50" charset="-127"/>
              </a:rPr>
              <a:t>크기 </a:t>
            </a:r>
            <a:r>
              <a:rPr lang="en-US" altLang="ko-KR" sz="1200" b="1">
                <a:solidFill>
                  <a:srgbClr val="8A8F98"/>
                </a:solidFill>
                <a:latin typeface="Noto Sans KR" panose="020B0200000000000000" pitchFamily="50" charset="-127"/>
                <a:ea typeface="Noto Sans KR" panose="020B0200000000000000" pitchFamily="50" charset="-127"/>
              </a:rPr>
              <a:t>· </a:t>
            </a:r>
            <a:r>
              <a:rPr lang="ko-KR" altLang="en-US" sz="1200" b="1">
                <a:solidFill>
                  <a:srgbClr val="8A8F98"/>
                </a:solidFill>
                <a:latin typeface="Noto Sans KR" panose="020B0200000000000000" pitchFamily="50" charset="-127"/>
                <a:ea typeface="Noto Sans KR" panose="020B0200000000000000" pitchFamily="50" charset="-127"/>
              </a:rPr>
              <a:t>색을 </a:t>
            </a:r>
            <a:r>
              <a:rPr lang="en-US" altLang="ko-KR" sz="1200" b="1">
                <a:solidFill>
                  <a:srgbClr val="8A8F98"/>
                </a:solidFill>
                <a:latin typeface="Noto Sans KR" panose="020B0200000000000000" pitchFamily="50" charset="-127"/>
                <a:ea typeface="Noto Sans KR" panose="020B0200000000000000" pitchFamily="50" charset="-127"/>
              </a:rPr>
              <a:t>AI</a:t>
            </a:r>
            <a:r>
              <a:rPr lang="ko-KR" altLang="en-US" sz="1200" b="1">
                <a:solidFill>
                  <a:srgbClr val="8A8F98"/>
                </a:solidFill>
                <a:latin typeface="Noto Sans KR" panose="020B0200000000000000" pitchFamily="50" charset="-127"/>
                <a:ea typeface="Noto Sans KR" panose="020B0200000000000000" pitchFamily="50" charset="-127"/>
              </a:rPr>
              <a:t>가 마음대로 정함</a:t>
            </a:r>
          </a:p>
        </p:txBody>
      </p:sp>
      <p:sp>
        <p:nvSpPr>
          <p:cNvPr id="39" name="사각형: 둥근 모서리 38">
            <a:extLst>
              <a:ext uri="{FF2B5EF4-FFF2-40B4-BE49-F238E27FC236}">
                <a16:creationId xmlns:a16="http://schemas.microsoft.com/office/drawing/2014/main" id="{7A7275C1-2746-4244-A3A3-00ADB2EAC9CE}"/>
              </a:ext>
            </a:extLst>
          </p:cNvPr>
          <p:cNvSpPr/>
          <p:nvPr/>
        </p:nvSpPr>
        <p:spPr>
          <a:xfrm>
            <a:off x="6172200" y="2819400"/>
            <a:ext cx="5207000" cy="24892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사각형: 둥근 모서리 39">
            <a:extLst>
              <a:ext uri="{FF2B5EF4-FFF2-40B4-BE49-F238E27FC236}">
                <a16:creationId xmlns:a16="http://schemas.microsoft.com/office/drawing/2014/main" id="{563C1290-5A1A-4EDA-AC3B-25440467D510}"/>
              </a:ext>
            </a:extLst>
          </p:cNvPr>
          <p:cNvSpPr/>
          <p:nvPr/>
        </p:nvSpPr>
        <p:spPr>
          <a:xfrm>
            <a:off x="6375400" y="3022600"/>
            <a:ext cx="1765300" cy="279400"/>
          </a:xfrm>
          <a:prstGeom prst="roundRect">
            <a:avLst>
              <a:gd name="adj" fmla="val 50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  이렇게 말했더니</a:t>
            </a:r>
          </a:p>
        </p:txBody>
      </p:sp>
      <p:sp>
        <p:nvSpPr>
          <p:cNvPr id="41" name="TextBox 40">
            <a:extLst>
              <a:ext uri="{FF2B5EF4-FFF2-40B4-BE49-F238E27FC236}">
                <a16:creationId xmlns:a16="http://schemas.microsoft.com/office/drawing/2014/main" id="{48B4B155-6D34-4560-A348-65842E8993AC}"/>
              </a:ext>
            </a:extLst>
          </p:cNvPr>
          <p:cNvSpPr txBox="1"/>
          <p:nvPr/>
        </p:nvSpPr>
        <p:spPr>
          <a:xfrm>
            <a:off x="6375400" y="3454400"/>
            <a:ext cx="4800600" cy="369332"/>
          </a:xfrm>
          <a:prstGeom prst="rect">
            <a:avLst/>
          </a:prstGeom>
          <a:noFill/>
        </p:spPr>
        <p:txBody>
          <a:bodyPr vert="horz" wrap="square" lIns="0" tIns="0" rIns="0" bIns="0" rtlCol="0">
            <a:noAutofit/>
          </a:bodyPr>
          <a:lstStyle/>
          <a:p>
            <a:r>
              <a:rPr lang="ko-KR" altLang="en-US" sz="1300">
                <a:solidFill>
                  <a:srgbClr val="1B2433"/>
                </a:solidFill>
                <a:latin typeface="Noto Sans KR" panose="020B0200000000000000" pitchFamily="50" charset="-127"/>
                <a:ea typeface="Noto Sans KR" panose="020B0200000000000000" pitchFamily="50" charset="-127"/>
              </a:rPr>
              <a:t>“견적 박스를 지도 오른쪽에 </a:t>
            </a:r>
            <a:r>
              <a:rPr lang="en-US" altLang="ko-KR" sz="1300">
                <a:solidFill>
                  <a:srgbClr val="1B2433"/>
                </a:solidFill>
                <a:latin typeface="Noto Sans KR" panose="020B0200000000000000" pitchFamily="50" charset="-127"/>
                <a:ea typeface="Noto Sans KR" panose="020B0200000000000000" pitchFamily="50" charset="-127"/>
              </a:rPr>
              <a:t>58px </a:t>
            </a:r>
            <a:r>
              <a:rPr lang="ko-KR" altLang="en-US" sz="1300">
                <a:solidFill>
                  <a:srgbClr val="1B2433"/>
                </a:solidFill>
                <a:latin typeface="Noto Sans KR" panose="020B0200000000000000" pitchFamily="50" charset="-127"/>
                <a:ea typeface="Noto Sans KR" panose="020B0200000000000000" pitchFamily="50" charset="-127"/>
              </a:rPr>
              <a:t>띄워 배치해 줘</a:t>
            </a:r>
            <a:r>
              <a:rPr lang="en-US" altLang="ko-KR" sz="1300">
                <a:solidFill>
                  <a:srgbClr val="1B2433"/>
                </a:solidFill>
                <a:latin typeface="Noto Sans KR" panose="020B0200000000000000" pitchFamily="50" charset="-127"/>
                <a:ea typeface="Noto Sans KR" panose="020B0200000000000000" pitchFamily="50" charset="-127"/>
              </a:rPr>
              <a:t>. </a:t>
            </a:r>
            <a:r>
              <a:rPr lang="ko-KR" altLang="en-US" sz="1300">
                <a:solidFill>
                  <a:srgbClr val="1B2433"/>
                </a:solidFill>
                <a:latin typeface="Noto Sans KR" panose="020B0200000000000000" pitchFamily="50" charset="-127"/>
                <a:ea typeface="Noto Sans KR" panose="020B0200000000000000" pitchFamily="50" charset="-127"/>
              </a:rPr>
              <a:t>제목 </a:t>
            </a:r>
            <a:r>
              <a:rPr lang="en-US" altLang="ko-KR" sz="1300">
                <a:solidFill>
                  <a:srgbClr val="1B2433"/>
                </a:solidFill>
                <a:latin typeface="Noto Sans KR" panose="020B0200000000000000" pitchFamily="50" charset="-127"/>
                <a:ea typeface="Noto Sans KR" panose="020B0200000000000000" pitchFamily="50" charset="-127"/>
              </a:rPr>
              <a:t>32pt Bold, </a:t>
            </a:r>
            <a:r>
              <a:rPr lang="ko-KR" altLang="en-US" sz="1300">
                <a:solidFill>
                  <a:srgbClr val="1B2433"/>
                </a:solidFill>
                <a:latin typeface="Noto Sans KR" panose="020B0200000000000000" pitchFamily="50" charset="-127"/>
                <a:ea typeface="Noto Sans KR" panose="020B0200000000000000" pitchFamily="50" charset="-127"/>
              </a:rPr>
              <a:t>버튼 </a:t>
            </a:r>
            <a:r>
              <a:rPr lang="en-US" altLang="ko-KR" sz="1300">
                <a:solidFill>
                  <a:srgbClr val="1B2433"/>
                </a:solidFill>
                <a:latin typeface="Noto Sans KR" panose="020B0200000000000000" pitchFamily="50" charset="-127"/>
                <a:ea typeface="Noto Sans KR" panose="020B0200000000000000" pitchFamily="50" charset="-127"/>
              </a:rPr>
              <a:t>#E0FF4F 394 × 80. </a:t>
            </a:r>
            <a:r>
              <a:rPr lang="ko-KR" altLang="en-US" sz="1300">
                <a:solidFill>
                  <a:srgbClr val="1B2433"/>
                </a:solidFill>
                <a:latin typeface="Noto Sans KR" panose="020B0200000000000000" pitchFamily="50" charset="-127"/>
                <a:ea typeface="Noto Sans KR" panose="020B0200000000000000" pitchFamily="50" charset="-127"/>
              </a:rPr>
              <a:t>첨부한 캡처의 빨간 박스만 고치고 나머지는 그대로 둬”</a:t>
            </a:r>
          </a:p>
        </p:txBody>
      </p:sp>
      <p:sp>
        <p:nvSpPr>
          <p:cNvPr id="42" name="TextBox 41">
            <a:extLst>
              <a:ext uri="{FF2B5EF4-FFF2-40B4-BE49-F238E27FC236}">
                <a16:creationId xmlns:a16="http://schemas.microsoft.com/office/drawing/2014/main" id="{C18BF6CF-8A14-4E8D-B5EF-3D9EE4DACF7E}"/>
              </a:ext>
            </a:extLst>
          </p:cNvPr>
          <p:cNvSpPr txBox="1"/>
          <p:nvPr/>
        </p:nvSpPr>
        <p:spPr>
          <a:xfrm>
            <a:off x="6375400" y="4876800"/>
            <a:ext cx="4800600" cy="369332"/>
          </a:xfrm>
          <a:prstGeom prst="rect">
            <a:avLst/>
          </a:prstGeom>
          <a:noFill/>
        </p:spPr>
        <p:txBody>
          <a:bodyPr vert="horz" wrap="square" lIns="0" tIns="0" rIns="0" bIns="0" rtlCol="0">
            <a:noAutofit/>
          </a:bodyPr>
          <a:lstStyle/>
          <a:p>
            <a:r>
              <a:rPr lang="ko-KR" altLang="en-US" sz="1200" b="1">
                <a:solidFill>
                  <a:srgbClr val="E8692C"/>
                </a:solidFill>
                <a:latin typeface="Noto Sans KR" panose="020B0200000000000000" pitchFamily="50" charset="-127"/>
                <a:ea typeface="Noto Sans KR" panose="020B0200000000000000" pitchFamily="50" charset="-127"/>
              </a:rPr>
              <a:t>→ 한 번에 원하는 화면</a:t>
            </a:r>
          </a:p>
        </p:txBody>
      </p:sp>
      <p:sp>
        <p:nvSpPr>
          <p:cNvPr id="43" name="사각형: 둥근 모서리 42">
            <a:extLst>
              <a:ext uri="{FF2B5EF4-FFF2-40B4-BE49-F238E27FC236}">
                <a16:creationId xmlns:a16="http://schemas.microsoft.com/office/drawing/2014/main" id="{A4742428-C386-44AD-BCAF-975B5349A8D7}"/>
              </a:ext>
            </a:extLst>
          </p:cNvPr>
          <p:cNvSpPr/>
          <p:nvPr/>
        </p:nvSpPr>
        <p:spPr>
          <a:xfrm>
            <a:off x="812800" y="55372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TextBox 43">
            <a:extLst>
              <a:ext uri="{FF2B5EF4-FFF2-40B4-BE49-F238E27FC236}">
                <a16:creationId xmlns:a16="http://schemas.microsoft.com/office/drawing/2014/main" id="{95F016BB-6526-449F-BCFD-49D3439E68A4}"/>
              </a:ext>
            </a:extLst>
          </p:cNvPr>
          <p:cNvSpPr txBox="1"/>
          <p:nvPr/>
        </p:nvSpPr>
        <p:spPr>
          <a:xfrm>
            <a:off x="1066800" y="57023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결과</a:t>
            </a:r>
            <a:r>
              <a:rPr lang="ko-KR" altLang="en-US" sz="1300">
                <a:solidFill>
                  <a:srgbClr val="E8692C"/>
                </a:solidFill>
                <a:latin typeface="Noto Sans KR" panose="020B0200000000000000" pitchFamily="50" charset="-127"/>
                <a:ea typeface="Noto Sans KR" panose="020B0200000000000000" pitchFamily="50" charset="-127"/>
              </a:rPr>
              <a:t>　같은 요청을 반복하는 횟수가 줄고</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기존 디자인이 망가지지 않았습니다</a:t>
            </a:r>
          </a:p>
        </p:txBody>
      </p:sp>
    </p:spTree>
    <p:extLst>
      <p:ext uri="{BB962C8B-B14F-4D97-AF65-F5344CB8AC3E}">
        <p14:creationId xmlns:p14="http://schemas.microsoft.com/office/powerpoint/2010/main" val="3719941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그림으로 보여 주기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고칠 곳은 그림판 </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펜 태블릿으로 표시했습니다</a:t>
            </a:r>
            <a:endParaRPr lang="en-US" sz="3200" dirty="0"/>
          </a:p>
        </p:txBody>
      </p:sp>
      <p:pic>
        <p:nvPicPr>
          <p:cNvPr id="27" name="그림 26">
            <a:extLst>
              <a:ext uri="{FF2B5EF4-FFF2-40B4-BE49-F238E27FC236}">
                <a16:creationId xmlns:a16="http://schemas.microsoft.com/office/drawing/2014/main" id="{716BCDBB-C936-47EC-B8A9-5D53D0156E6F}"/>
              </a:ext>
            </a:extLst>
          </p:cNvPr>
          <p:cNvPicPr>
            <a:picLocks/>
          </p:cNvPicPr>
          <p:nvPr/>
        </p:nvPicPr>
        <p:blipFill>
          <a:blip r:embed="rId3"/>
          <a:stretch>
            <a:fillRect/>
          </a:stretch>
        </p:blipFill>
        <p:spPr>
          <a:xfrm>
            <a:off x="812800" y="1905000"/>
            <a:ext cx="5969000" cy="3733800"/>
          </a:xfrm>
          <a:prstGeom prst="rect">
            <a:avLst/>
          </a:prstGeom>
          <a:ln w="9525">
            <a:solidFill>
              <a:srgbClr val="DCD6C8"/>
            </a:solidFill>
          </a:ln>
        </p:spPr>
      </p:pic>
      <p:sp>
        <p:nvSpPr>
          <p:cNvPr id="28" name="직사각형 27">
            <a:extLst>
              <a:ext uri="{FF2B5EF4-FFF2-40B4-BE49-F238E27FC236}">
                <a16:creationId xmlns:a16="http://schemas.microsoft.com/office/drawing/2014/main" id="{E2B01DC7-12F3-4D50-8C0E-83F78C9C512D}"/>
              </a:ext>
            </a:extLst>
          </p:cNvPr>
          <p:cNvSpPr/>
          <p:nvPr/>
        </p:nvSpPr>
        <p:spPr>
          <a:xfrm>
            <a:off x="1905000" y="4318000"/>
            <a:ext cx="3810000" cy="762000"/>
          </a:xfrm>
          <a:prstGeom prst="rect">
            <a:avLst/>
          </a:prstGeom>
          <a:noFill/>
          <a:ln w="31750" cap="flat" cmpd="sng" algn="ctr">
            <a:solidFill>
              <a:srgbClr val="E52B2B"/>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E00EAF3F-FF17-44C1-832D-592CEAD963D5}"/>
              </a:ext>
            </a:extLst>
          </p:cNvPr>
          <p:cNvSpPr/>
          <p:nvPr/>
        </p:nvSpPr>
        <p:spPr>
          <a:xfrm>
            <a:off x="1828800" y="2946400"/>
            <a:ext cx="3962400" cy="635000"/>
          </a:xfrm>
          <a:prstGeom prst="rect">
            <a:avLst/>
          </a:prstGeom>
          <a:noFill/>
          <a:ln w="31750" cap="flat" cmpd="sng" algn="ctr">
            <a:solidFill>
              <a:srgbClr val="E52B2B"/>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7057D280-7B78-4A15-8ACB-076F62E9829D}"/>
              </a:ext>
            </a:extLst>
          </p:cNvPr>
          <p:cNvSpPr txBox="1"/>
          <p:nvPr/>
        </p:nvSpPr>
        <p:spPr>
          <a:xfrm>
            <a:off x="3810000" y="5143500"/>
            <a:ext cx="2921000" cy="369332"/>
          </a:xfrm>
          <a:prstGeom prst="rect">
            <a:avLst/>
          </a:prstGeom>
          <a:noFill/>
        </p:spPr>
        <p:txBody>
          <a:bodyPr vert="horz" wrap="square" lIns="0" tIns="0" rIns="0" bIns="0" rtlCol="0">
            <a:noAutofit/>
          </a:bodyPr>
          <a:lstStyle/>
          <a:p>
            <a:r>
              <a:rPr lang="ko-KR" altLang="en-US" sz="1200" b="1">
                <a:solidFill>
                  <a:srgbClr val="E52B2B"/>
                </a:solidFill>
                <a:latin typeface="Noto Sans KR" panose="020B0200000000000000" pitchFamily="50" charset="-127"/>
                <a:ea typeface="Noto Sans KR" panose="020B0200000000000000" pitchFamily="50" charset="-127"/>
              </a:rPr>
              <a:t>← 버튼 두 개 간격 넓히기</a:t>
            </a:r>
          </a:p>
        </p:txBody>
      </p:sp>
      <p:sp>
        <p:nvSpPr>
          <p:cNvPr id="31" name="TextBox 30">
            <a:extLst>
              <a:ext uri="{FF2B5EF4-FFF2-40B4-BE49-F238E27FC236}">
                <a16:creationId xmlns:a16="http://schemas.microsoft.com/office/drawing/2014/main" id="{DB3AD889-131E-4FD7-91D7-9AC77AD7B663}"/>
              </a:ext>
            </a:extLst>
          </p:cNvPr>
          <p:cNvSpPr txBox="1"/>
          <p:nvPr/>
        </p:nvSpPr>
        <p:spPr>
          <a:xfrm>
            <a:off x="4191000" y="2489200"/>
            <a:ext cx="2540000" cy="369332"/>
          </a:xfrm>
          <a:prstGeom prst="rect">
            <a:avLst/>
          </a:prstGeom>
          <a:noFill/>
        </p:spPr>
        <p:txBody>
          <a:bodyPr vert="horz" wrap="square" lIns="0" tIns="0" rIns="0" bIns="0" rtlCol="0">
            <a:noAutofit/>
          </a:bodyPr>
          <a:lstStyle/>
          <a:p>
            <a:r>
              <a:rPr lang="ko-KR" altLang="en-US" sz="1200" b="1">
                <a:solidFill>
                  <a:srgbClr val="E52B2B"/>
                </a:solidFill>
                <a:latin typeface="Noto Sans KR" panose="020B0200000000000000" pitchFamily="50" charset="-127"/>
                <a:ea typeface="Noto Sans KR" panose="020B0200000000000000" pitchFamily="50" charset="-127"/>
              </a:rPr>
              <a:t>↓ 제목 글자 더 크게</a:t>
            </a:r>
          </a:p>
        </p:txBody>
      </p:sp>
      <p:sp>
        <p:nvSpPr>
          <p:cNvPr id="32" name="TextBox 31">
            <a:extLst>
              <a:ext uri="{FF2B5EF4-FFF2-40B4-BE49-F238E27FC236}">
                <a16:creationId xmlns:a16="http://schemas.microsoft.com/office/drawing/2014/main" id="{B5919936-2D64-4950-9CD0-64C59FE841AC}"/>
              </a:ext>
            </a:extLst>
          </p:cNvPr>
          <p:cNvSpPr txBox="1"/>
          <p:nvPr/>
        </p:nvSpPr>
        <p:spPr>
          <a:xfrm>
            <a:off x="812800" y="5715000"/>
            <a:ext cx="59690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그림판으로 표시한 수정 요청 예시 </a:t>
            </a:r>
            <a:r>
              <a:rPr lang="en-US" altLang="ko-KR" sz="1000">
                <a:solidFill>
                  <a:srgbClr val="8A8F98"/>
                </a:solidFill>
                <a:latin typeface="Noto Sans KR" panose="020B0200000000000000" pitchFamily="50" charset="-127"/>
                <a:ea typeface="Noto Sans KR" panose="020B0200000000000000" pitchFamily="50" charset="-127"/>
              </a:rPr>
              <a:t>(CONTACT </a:t>
            </a:r>
            <a:r>
              <a:rPr lang="ko-KR" altLang="en-US" sz="1000">
                <a:solidFill>
                  <a:srgbClr val="8A8F98"/>
                </a:solidFill>
                <a:latin typeface="Noto Sans KR" panose="020B0200000000000000" pitchFamily="50" charset="-127"/>
                <a:ea typeface="Noto Sans KR" panose="020B0200000000000000" pitchFamily="50" charset="-127"/>
              </a:rPr>
              <a:t>화면</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
        <p:nvSpPr>
          <p:cNvPr id="33" name="사각형: 둥근 모서리 32">
            <a:extLst>
              <a:ext uri="{FF2B5EF4-FFF2-40B4-BE49-F238E27FC236}">
                <a16:creationId xmlns:a16="http://schemas.microsoft.com/office/drawing/2014/main" id="{98BD27EA-1C85-41A2-9CBE-06683095387D}"/>
              </a:ext>
            </a:extLst>
          </p:cNvPr>
          <p:cNvSpPr/>
          <p:nvPr/>
        </p:nvSpPr>
        <p:spPr>
          <a:xfrm>
            <a:off x="7061200" y="1905000"/>
            <a:ext cx="4318000" cy="37338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사각형: 둥근 모서리 33">
            <a:extLst>
              <a:ext uri="{FF2B5EF4-FFF2-40B4-BE49-F238E27FC236}">
                <a16:creationId xmlns:a16="http://schemas.microsoft.com/office/drawing/2014/main" id="{A448A95C-7260-4A42-999E-06C6AD7362E8}"/>
              </a:ext>
            </a:extLst>
          </p:cNvPr>
          <p:cNvSpPr/>
          <p:nvPr/>
        </p:nvSpPr>
        <p:spPr>
          <a:xfrm>
            <a:off x="7264400" y="2108200"/>
            <a:ext cx="647700" cy="279400"/>
          </a:xfrm>
          <a:prstGeom prst="roundRect">
            <a:avLst>
              <a:gd name="adj" fmla="val 50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그림판</a:t>
            </a:r>
          </a:p>
        </p:txBody>
      </p:sp>
      <p:sp>
        <p:nvSpPr>
          <p:cNvPr id="35" name="TextBox 34">
            <a:extLst>
              <a:ext uri="{FF2B5EF4-FFF2-40B4-BE49-F238E27FC236}">
                <a16:creationId xmlns:a16="http://schemas.microsoft.com/office/drawing/2014/main" id="{60FD0333-2C63-4CA0-95BE-46812C1E99D9}"/>
              </a:ext>
            </a:extLst>
          </p:cNvPr>
          <p:cNvSpPr txBox="1"/>
          <p:nvPr/>
        </p:nvSpPr>
        <p:spPr>
          <a:xfrm>
            <a:off x="7264400" y="2489200"/>
            <a:ext cx="39370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캡처 위에 빨간 박스와 화살표로 고칠 곳만 표시해서 보여 줌</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여기 이 버튼</a:t>
            </a:r>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처럼 말로 설명하기 어려운 위치를 바로 전달</a:t>
            </a:r>
          </a:p>
        </p:txBody>
      </p:sp>
      <p:sp>
        <p:nvSpPr>
          <p:cNvPr id="36" name="사각형: 둥근 모서리 35">
            <a:extLst>
              <a:ext uri="{FF2B5EF4-FFF2-40B4-BE49-F238E27FC236}">
                <a16:creationId xmlns:a16="http://schemas.microsoft.com/office/drawing/2014/main" id="{8E06605E-2B19-4C7F-8D8A-A06471492672}"/>
              </a:ext>
            </a:extLst>
          </p:cNvPr>
          <p:cNvSpPr/>
          <p:nvPr/>
        </p:nvSpPr>
        <p:spPr>
          <a:xfrm>
            <a:off x="7264400" y="3505200"/>
            <a:ext cx="9271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펜 태블릿</a:t>
            </a:r>
          </a:p>
        </p:txBody>
      </p:sp>
      <p:sp>
        <p:nvSpPr>
          <p:cNvPr id="37" name="TextBox 36">
            <a:extLst>
              <a:ext uri="{FF2B5EF4-FFF2-40B4-BE49-F238E27FC236}">
                <a16:creationId xmlns:a16="http://schemas.microsoft.com/office/drawing/2014/main" id="{69F1B925-A23E-455C-AEBB-9B17DE3041A0}"/>
              </a:ext>
            </a:extLst>
          </p:cNvPr>
          <p:cNvSpPr txBox="1"/>
          <p:nvPr/>
        </p:nvSpPr>
        <p:spPr>
          <a:xfrm>
            <a:off x="7264400" y="3886200"/>
            <a:ext cx="39370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새로 넣을 배치나 움직임 방향을 손으로 빠르게 그려서 이미지로 전달</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화살표로 움직이는 순서까지 표시</a:t>
            </a:r>
          </a:p>
        </p:txBody>
      </p:sp>
      <p:sp>
        <p:nvSpPr>
          <p:cNvPr id="38" name="사각형: 둥근 모서리 37">
            <a:extLst>
              <a:ext uri="{FF2B5EF4-FFF2-40B4-BE49-F238E27FC236}">
                <a16:creationId xmlns:a16="http://schemas.microsoft.com/office/drawing/2014/main" id="{D0A1B352-D615-4BD3-A373-A3D0BAF4B3C9}"/>
              </a:ext>
            </a:extLst>
          </p:cNvPr>
          <p:cNvSpPr/>
          <p:nvPr/>
        </p:nvSpPr>
        <p:spPr>
          <a:xfrm>
            <a:off x="7264400" y="4851400"/>
            <a:ext cx="3937000" cy="584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1B2433"/>
                </a:solidFill>
                <a:latin typeface="Noto Sans KR" panose="020B0200000000000000" pitchFamily="50" charset="-127"/>
                <a:ea typeface="Noto Sans KR" panose="020B0200000000000000" pitchFamily="50" charset="-127"/>
              </a:rPr>
              <a:t>말 대신 그림 한 장 → 한 번에 이해하는 수정 요청</a:t>
            </a:r>
          </a:p>
        </p:txBody>
      </p:sp>
    </p:spTree>
    <p:extLst>
      <p:ext uri="{BB962C8B-B14F-4D97-AF65-F5344CB8AC3E}">
        <p14:creationId xmlns:p14="http://schemas.microsoft.com/office/powerpoint/2010/main" val="2903698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AI</a:t>
            </a:r>
            <a:r>
              <a:rPr lang="ko-KR" altLang="en-US" sz="1200" b="1" kern="0" spc="150">
                <a:solidFill>
                  <a:srgbClr val="B0441A"/>
                </a:solidFill>
                <a:latin typeface="JetBrains Mono" pitchFamily="49" charset="0"/>
                <a:ea typeface="JetBrains Mono" pitchFamily="49" charset="-122"/>
                <a:cs typeface="JetBrains Mono" pitchFamily="49" charset="-120"/>
              </a:rPr>
              <a:t>와 맞춰 가기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altLang="ko-KR" sz="3200" b="1" i="0">
                <a:solidFill>
                  <a:srgbClr val="1B2433"/>
                </a:solidFill>
                <a:latin typeface="Noto Sans KR" pitchFamily="34" charset="0"/>
                <a:ea typeface="Noto Sans KR" pitchFamily="34" charset="-122"/>
                <a:cs typeface="Noto Sans KR" pitchFamily="34" charset="-120"/>
              </a:rPr>
              <a:t>AI</a:t>
            </a:r>
            <a:r>
              <a:rPr lang="ko-KR" altLang="en-US" sz="3200" b="1" i="0">
                <a:solidFill>
                  <a:srgbClr val="1B2433"/>
                </a:solidFill>
                <a:latin typeface="Noto Sans KR" pitchFamily="34" charset="0"/>
                <a:ea typeface="Noto Sans KR" pitchFamily="34" charset="-122"/>
                <a:cs typeface="Noto Sans KR" pitchFamily="34" charset="-120"/>
              </a:rPr>
              <a:t>가 자주 어긋난 곳과 해결 방법</a:t>
            </a:r>
            <a:endParaRPr lang="en-US" sz="3200" dirty="0"/>
          </a:p>
        </p:txBody>
      </p:sp>
      <p:graphicFrame>
        <p:nvGraphicFramePr>
          <p:cNvPr id="26" name="표 25">
            <a:extLst>
              <a:ext uri="{FF2B5EF4-FFF2-40B4-BE49-F238E27FC236}">
                <a16:creationId xmlns:a16="http://schemas.microsoft.com/office/drawing/2014/main" id="{0C601443-784A-4326-B451-FBBBED539F68}"/>
              </a:ext>
            </a:extLst>
          </p:cNvPr>
          <p:cNvGraphicFramePr>
            <a:graphicFrameLocks noGrp="1"/>
          </p:cNvGraphicFramePr>
          <p:nvPr>
            <p:extLst>
              <p:ext uri="{D42A27DB-BD31-4B8C-83A1-F6EECF244321}">
                <p14:modId xmlns:p14="http://schemas.microsoft.com/office/powerpoint/2010/main" val="3857693370"/>
              </p:ext>
            </p:extLst>
          </p:nvPr>
        </p:nvGraphicFramePr>
        <p:xfrm>
          <a:off x="812800" y="1905000"/>
          <a:ext cx="10566400" cy="3048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388396208"/>
                    </a:ext>
                  </a:extLst>
                </a:gridCol>
                <a:gridCol w="4318000">
                  <a:extLst>
                    <a:ext uri="{9D8B030D-6E8A-4147-A177-3AD203B41FA5}">
                      <a16:colId xmlns:a16="http://schemas.microsoft.com/office/drawing/2014/main" val="2368749384"/>
                    </a:ext>
                  </a:extLst>
                </a:gridCol>
                <a:gridCol w="4343400">
                  <a:extLst>
                    <a:ext uri="{9D8B030D-6E8A-4147-A177-3AD203B41FA5}">
                      <a16:colId xmlns:a16="http://schemas.microsoft.com/office/drawing/2014/main" val="3680746415"/>
                    </a:ext>
                  </a:extLst>
                </a:gridCol>
              </a:tblGrid>
              <a:tr h="508000">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어긋난 것</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이런 일이 있었음</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이렇게 해결</a:t>
                      </a:r>
                    </a:p>
                  </a:txBody>
                  <a:tcPr marL="127000" marR="101600" anchor="ctr">
                    <a:solidFill>
                      <a:srgbClr val="16202E"/>
                    </a:solidFill>
                  </a:tcPr>
                </a:tc>
                <a:extLst>
                  <a:ext uri="{0D108BD9-81ED-4DB2-BD59-A6C34878D82A}">
                    <a16:rowId xmlns:a16="http://schemas.microsoft.com/office/drawing/2014/main" val="2039121336"/>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간격 </a:t>
                      </a:r>
                      <a:r>
                        <a:rPr lang="en-US" altLang="ko-KR" sz="1200" b="1">
                          <a:solidFill>
                            <a:srgbClr val="1B2433"/>
                          </a:solidFill>
                          <a:latin typeface="Noto Sans KR" panose="020B0200000000000000" pitchFamily="50" charset="-127"/>
                          <a:ea typeface="Noto Sans KR" panose="020B0200000000000000" pitchFamily="50" charset="-127"/>
                        </a:rPr>
                        <a:t>· </a:t>
                      </a:r>
                      <a:r>
                        <a:rPr lang="ko-KR" altLang="en-US" sz="1200" b="1">
                          <a:solidFill>
                            <a:srgbClr val="1B2433"/>
                          </a:solidFill>
                          <a:latin typeface="Noto Sans KR" panose="020B0200000000000000" pitchFamily="50" charset="-127"/>
                          <a:ea typeface="Noto Sans KR" panose="020B0200000000000000" pitchFamily="50" charset="-127"/>
                        </a:rPr>
                        <a:t>크기</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여백과 글자 크기가 요청할 때마다 달라짐</a:t>
                      </a:r>
                    </a:p>
                  </a:txBody>
                  <a:tcPr marL="127000" marR="101600" anchor="ctr">
                    <a:solidFill>
                      <a:srgbClr val="FDFCF9"/>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px · pt </a:t>
                      </a:r>
                      <a:r>
                        <a:rPr lang="ko-KR" altLang="en-US" sz="1200" b="0">
                          <a:solidFill>
                            <a:srgbClr val="E8692C"/>
                          </a:solidFill>
                          <a:latin typeface="Noto Sans KR" panose="020B0200000000000000" pitchFamily="50" charset="-127"/>
                          <a:ea typeface="Noto Sans KR" panose="020B0200000000000000" pitchFamily="50" charset="-127"/>
                        </a:rPr>
                        <a:t>값으로 고정해서 요청</a:t>
                      </a:r>
                    </a:p>
                  </a:txBody>
                  <a:tcPr marL="127000" marR="101600" anchor="ctr">
                    <a:solidFill>
                      <a:srgbClr val="FDFCF9"/>
                    </a:solidFill>
                  </a:tcPr>
                </a:tc>
                <a:extLst>
                  <a:ext uri="{0D108BD9-81ED-4DB2-BD59-A6C34878D82A}">
                    <a16:rowId xmlns:a16="http://schemas.microsoft.com/office/drawing/2014/main" val="1216989200"/>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글꼴</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지정하지 않은 기본 글꼴로 바뀜</a:t>
                      </a:r>
                    </a:p>
                  </a:txBody>
                  <a:tcPr marL="127000" marR="101600" anchor="ctr">
                    <a:solidFill>
                      <a:srgbClr val="ECE9E1"/>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글꼴 이름과 두께까지 적기</a:t>
                      </a:r>
                    </a:p>
                  </a:txBody>
                  <a:tcPr marL="127000" marR="101600" anchor="ctr">
                    <a:solidFill>
                      <a:srgbClr val="ECE9E1"/>
                    </a:solidFill>
                  </a:tcPr>
                </a:tc>
                <a:extLst>
                  <a:ext uri="{0D108BD9-81ED-4DB2-BD59-A6C34878D82A}">
                    <a16:rowId xmlns:a16="http://schemas.microsoft.com/office/drawing/2014/main" val="3525305678"/>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기존 디자인</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한 곳을 고치면 다른 곳도 같이 바뀜</a:t>
                      </a:r>
                    </a:p>
                  </a:txBody>
                  <a:tcPr marL="127000" marR="101600" anchor="ctr">
                    <a:solidFill>
                      <a:srgbClr val="FDFCF9"/>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a:t>
                      </a:r>
                      <a:r>
                        <a:rPr lang="ko-KR" altLang="en-US" sz="1200" b="0">
                          <a:solidFill>
                            <a:srgbClr val="E8692C"/>
                          </a:solidFill>
                          <a:latin typeface="Noto Sans KR" panose="020B0200000000000000" pitchFamily="50" charset="-127"/>
                          <a:ea typeface="Noto Sans KR" panose="020B0200000000000000" pitchFamily="50" charset="-127"/>
                        </a:rPr>
                        <a:t>요청한 부분만 수정</a:t>
                      </a:r>
                      <a:r>
                        <a:rPr lang="en-US" altLang="ko-KR" sz="1200" b="0">
                          <a:solidFill>
                            <a:srgbClr val="E8692C"/>
                          </a:solidFill>
                          <a:latin typeface="Noto Sans KR" panose="020B0200000000000000" pitchFamily="50" charset="-127"/>
                          <a:ea typeface="Noto Sans KR" panose="020B0200000000000000" pitchFamily="50" charset="-127"/>
                        </a:rPr>
                        <a:t>' + </a:t>
                      </a:r>
                      <a:r>
                        <a:rPr lang="ko-KR" altLang="en-US" sz="1200" b="0">
                          <a:solidFill>
                            <a:srgbClr val="E8692C"/>
                          </a:solidFill>
                          <a:latin typeface="Noto Sans KR" panose="020B0200000000000000" pitchFamily="50" charset="-127"/>
                          <a:ea typeface="Noto Sans KR" panose="020B0200000000000000" pitchFamily="50" charset="-127"/>
                        </a:rPr>
                        <a:t>작업 메모 파일</a:t>
                      </a:r>
                    </a:p>
                  </a:txBody>
                  <a:tcPr marL="127000" marR="101600" anchor="ctr">
                    <a:solidFill>
                      <a:srgbClr val="FDFCF9"/>
                    </a:solidFill>
                  </a:tcPr>
                </a:tc>
                <a:extLst>
                  <a:ext uri="{0D108BD9-81ED-4DB2-BD59-A6C34878D82A}">
                    <a16:rowId xmlns:a16="http://schemas.microsoft.com/office/drawing/2014/main" val="2738875745"/>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움직임</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효과가 너무 빠르거나 한꺼번에 나옴</a:t>
                      </a:r>
                    </a:p>
                  </a:txBody>
                  <a:tcPr marL="127000" marR="101600" anchor="ctr">
                    <a:solidFill>
                      <a:srgbClr val="ECE9E1"/>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초 단위와 순서 번호로 요청</a:t>
                      </a:r>
                    </a:p>
                  </a:txBody>
                  <a:tcPr marL="127000" marR="101600" anchor="ctr">
                    <a:solidFill>
                      <a:srgbClr val="ECE9E1"/>
                    </a:solidFill>
                  </a:tcPr>
                </a:tc>
                <a:extLst>
                  <a:ext uri="{0D108BD9-81ED-4DB2-BD59-A6C34878D82A}">
                    <a16:rowId xmlns:a16="http://schemas.microsoft.com/office/drawing/2014/main" val="3657427179"/>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색</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비슷하지만 다른 색이 들어감</a:t>
                      </a:r>
                    </a:p>
                  </a:txBody>
                  <a:tcPr marL="127000" marR="101600" anchor="ctr">
                    <a:solidFill>
                      <a:srgbClr val="FDFCF9"/>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a:t>
                      </a:r>
                      <a:r>
                        <a:rPr lang="ko-KR" altLang="en-US" sz="1200" b="0">
                          <a:solidFill>
                            <a:srgbClr val="E8692C"/>
                          </a:solidFill>
                          <a:latin typeface="Noto Sans KR" panose="020B0200000000000000" pitchFamily="50" charset="-127"/>
                          <a:ea typeface="Noto Sans KR" panose="020B0200000000000000" pitchFamily="50" charset="-127"/>
                        </a:rPr>
                        <a:t>색상 코드로 지정</a:t>
                      </a:r>
                    </a:p>
                  </a:txBody>
                  <a:tcPr marL="127000" marR="101600" anchor="ctr">
                    <a:solidFill>
                      <a:srgbClr val="FDFCF9"/>
                    </a:solidFill>
                  </a:tcPr>
                </a:tc>
                <a:extLst>
                  <a:ext uri="{0D108BD9-81ED-4DB2-BD59-A6C34878D82A}">
                    <a16:rowId xmlns:a16="http://schemas.microsoft.com/office/drawing/2014/main" val="2164777001"/>
                  </a:ext>
                </a:extLst>
              </a:tr>
            </a:tbl>
          </a:graphicData>
        </a:graphic>
      </p:graphicFrame>
      <p:sp>
        <p:nvSpPr>
          <p:cNvPr id="27" name="사각형: 둥근 모서리 26">
            <a:extLst>
              <a:ext uri="{FF2B5EF4-FFF2-40B4-BE49-F238E27FC236}">
                <a16:creationId xmlns:a16="http://schemas.microsoft.com/office/drawing/2014/main" id="{D3E92B95-9B53-4487-B820-DD12EEE98B02}"/>
              </a:ext>
            </a:extLst>
          </p:cNvPr>
          <p:cNvSpPr/>
          <p:nvPr/>
        </p:nvSpPr>
        <p:spPr>
          <a:xfrm>
            <a:off x="812800" y="52324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C4F8B2BD-8336-44FF-8CC5-4971002D2E63}"/>
              </a:ext>
            </a:extLst>
          </p:cNvPr>
          <p:cNvSpPr txBox="1"/>
          <p:nvPr/>
        </p:nvSpPr>
        <p:spPr>
          <a:xfrm>
            <a:off x="1066800" y="53975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규칙</a:t>
            </a:r>
            <a:r>
              <a:rPr lang="ko-KR" altLang="en-US" sz="1300">
                <a:solidFill>
                  <a:srgbClr val="E8692C"/>
                </a:solidFill>
                <a:latin typeface="Noto Sans KR" panose="020B0200000000000000" pitchFamily="50" charset="-127"/>
                <a:ea typeface="Noto Sans KR" panose="020B0200000000000000" pitchFamily="50" charset="-127"/>
              </a:rPr>
              <a:t>　요청 끝에 항상 </a:t>
            </a:r>
            <a:r>
              <a:rPr lang="en-US" altLang="ko-KR" sz="1300">
                <a:solidFill>
                  <a:srgbClr val="E8692C"/>
                </a:solidFill>
                <a:latin typeface="Noto Sans KR" panose="020B0200000000000000" pitchFamily="50" charset="-127"/>
                <a:ea typeface="Noto Sans KR" panose="020B0200000000000000" pitchFamily="50" charset="-127"/>
              </a:rPr>
              <a:t>'</a:t>
            </a:r>
            <a:r>
              <a:rPr lang="ko-KR" altLang="en-US" sz="1300">
                <a:solidFill>
                  <a:srgbClr val="E8692C"/>
                </a:solidFill>
                <a:latin typeface="Noto Sans KR" panose="020B0200000000000000" pitchFamily="50" charset="-127"/>
                <a:ea typeface="Noto Sans KR" panose="020B0200000000000000" pitchFamily="50" charset="-127"/>
              </a:rPr>
              <a:t>나머지는 그대로 둬</a:t>
            </a:r>
            <a:r>
              <a:rPr lang="en-US" altLang="ko-KR" sz="1300">
                <a:solidFill>
                  <a:srgbClr val="E8692C"/>
                </a:solidFill>
                <a:latin typeface="Noto Sans KR" panose="020B0200000000000000" pitchFamily="50" charset="-127"/>
                <a:ea typeface="Noto Sans KR" panose="020B0200000000000000" pitchFamily="50" charset="-127"/>
              </a:rPr>
              <a:t>'</a:t>
            </a:r>
            <a:r>
              <a:rPr lang="ko-KR" altLang="en-US" sz="1300">
                <a:solidFill>
                  <a:srgbClr val="E8692C"/>
                </a:solidFill>
                <a:latin typeface="Noto Sans KR" panose="020B0200000000000000" pitchFamily="50" charset="-127"/>
                <a:ea typeface="Noto Sans KR" panose="020B0200000000000000" pitchFamily="50" charset="-127"/>
              </a:rPr>
              <a:t>를 붙였습니다</a:t>
            </a:r>
          </a:p>
        </p:txBody>
      </p:sp>
    </p:spTree>
    <p:extLst>
      <p:ext uri="{BB962C8B-B14F-4D97-AF65-F5344CB8AC3E}">
        <p14:creationId xmlns:p14="http://schemas.microsoft.com/office/powerpoint/2010/main" val="684882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움직임 다듬기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움직임은 참고 사이트를 보고</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대화로 다듬었습니다</a:t>
            </a:r>
            <a:endParaRPr lang="en-US" sz="3200" dirty="0"/>
          </a:p>
        </p:txBody>
      </p:sp>
      <p:sp>
        <p:nvSpPr>
          <p:cNvPr id="26" name="사각형: 둥근 모서리 25">
            <a:extLst>
              <a:ext uri="{FF2B5EF4-FFF2-40B4-BE49-F238E27FC236}">
                <a16:creationId xmlns:a16="http://schemas.microsoft.com/office/drawing/2014/main" id="{A7E336A5-5511-4DB8-B726-53263FFA1D03}"/>
              </a:ext>
            </a:extLst>
          </p:cNvPr>
          <p:cNvSpPr/>
          <p:nvPr/>
        </p:nvSpPr>
        <p:spPr>
          <a:xfrm>
            <a:off x="812800" y="1905000"/>
            <a:ext cx="3416300" cy="1397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D69D44BC-94E4-4CA2-AA8D-38A04327AA83}"/>
              </a:ext>
            </a:extLst>
          </p:cNvPr>
          <p:cNvSpPr/>
          <p:nvPr/>
        </p:nvSpPr>
        <p:spPr>
          <a:xfrm>
            <a:off x="1016000" y="2108200"/>
            <a:ext cx="330200" cy="330200"/>
          </a:xfrm>
          <a:prstGeom prst="ellipse">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200" b="1">
                <a:solidFill>
                  <a:srgbClr val="FFFFFF"/>
                </a:solidFill>
                <a:latin typeface="Noto Sans KR" panose="020B0200000000000000" pitchFamily="50" charset="-127"/>
                <a:ea typeface="Noto Sans KR" panose="020B0200000000000000" pitchFamily="50" charset="-127"/>
              </a:rPr>
              <a:t>1</a:t>
            </a:r>
            <a:endParaRPr lang="ko-KR" altLang="en-US" sz="1200" b="1">
              <a:solidFill>
                <a:srgbClr val="FFFFFF"/>
              </a:solidFill>
              <a:latin typeface="Noto Sans KR" panose="020B0200000000000000" pitchFamily="50" charset="-127"/>
              <a:ea typeface="Noto Sans KR" panose="020B0200000000000000" pitchFamily="50" charset="-127"/>
            </a:endParaRPr>
          </a:p>
        </p:txBody>
      </p:sp>
      <p:sp>
        <p:nvSpPr>
          <p:cNvPr id="28" name="TextBox 27">
            <a:extLst>
              <a:ext uri="{FF2B5EF4-FFF2-40B4-BE49-F238E27FC236}">
                <a16:creationId xmlns:a16="http://schemas.microsoft.com/office/drawing/2014/main" id="{3323B8D9-8E8B-4BAE-9F0E-043812C04572}"/>
              </a:ext>
            </a:extLst>
          </p:cNvPr>
          <p:cNvSpPr txBox="1"/>
          <p:nvPr/>
        </p:nvSpPr>
        <p:spPr>
          <a:xfrm>
            <a:off x="1447800" y="2146300"/>
            <a:ext cx="26035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참고 사이트에서 찾기</a:t>
            </a:r>
          </a:p>
        </p:txBody>
      </p:sp>
      <p:sp>
        <p:nvSpPr>
          <p:cNvPr id="29" name="TextBox 28">
            <a:extLst>
              <a:ext uri="{FF2B5EF4-FFF2-40B4-BE49-F238E27FC236}">
                <a16:creationId xmlns:a16="http://schemas.microsoft.com/office/drawing/2014/main" id="{6173CAB7-B587-4B8B-B0BD-37F376EC2261}"/>
              </a:ext>
            </a:extLst>
          </p:cNvPr>
          <p:cNvSpPr txBox="1"/>
          <p:nvPr/>
        </p:nvSpPr>
        <p:spPr>
          <a:xfrm>
            <a:off x="1016000" y="2565400"/>
            <a:ext cx="30480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다른 홈페이지에서 마음에 드는 등장 효과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스크롤 효과를 찾아 캡처</a:t>
            </a:r>
          </a:p>
        </p:txBody>
      </p:sp>
      <p:sp>
        <p:nvSpPr>
          <p:cNvPr id="30" name="사각형: 둥근 모서리 29">
            <a:extLst>
              <a:ext uri="{FF2B5EF4-FFF2-40B4-BE49-F238E27FC236}">
                <a16:creationId xmlns:a16="http://schemas.microsoft.com/office/drawing/2014/main" id="{361E596B-442E-4123-BBA7-91475D9712AA}"/>
              </a:ext>
            </a:extLst>
          </p:cNvPr>
          <p:cNvSpPr/>
          <p:nvPr/>
        </p:nvSpPr>
        <p:spPr>
          <a:xfrm>
            <a:off x="4381500" y="1905000"/>
            <a:ext cx="3416300" cy="1397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타원 30">
            <a:extLst>
              <a:ext uri="{FF2B5EF4-FFF2-40B4-BE49-F238E27FC236}">
                <a16:creationId xmlns:a16="http://schemas.microsoft.com/office/drawing/2014/main" id="{3788B9AC-51A6-4C2C-AA6E-5B7D449BBBFE}"/>
              </a:ext>
            </a:extLst>
          </p:cNvPr>
          <p:cNvSpPr/>
          <p:nvPr/>
        </p:nvSpPr>
        <p:spPr>
          <a:xfrm>
            <a:off x="4584700" y="2108200"/>
            <a:ext cx="330200" cy="330200"/>
          </a:xfrm>
          <a:prstGeom prst="ellipse">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200" b="1">
                <a:solidFill>
                  <a:srgbClr val="FFFFFF"/>
                </a:solidFill>
                <a:latin typeface="Noto Sans KR" panose="020B0200000000000000" pitchFamily="50" charset="-127"/>
                <a:ea typeface="Noto Sans KR" panose="020B0200000000000000" pitchFamily="50" charset="-127"/>
              </a:rPr>
              <a:t>2</a:t>
            </a:r>
            <a:endParaRPr lang="ko-KR" altLang="en-US" sz="1200" b="1">
              <a:solidFill>
                <a:srgbClr val="FFFFFF"/>
              </a:solidFill>
              <a:latin typeface="Noto Sans KR" panose="020B0200000000000000" pitchFamily="50" charset="-127"/>
              <a:ea typeface="Noto Sans KR" panose="020B0200000000000000" pitchFamily="50" charset="-127"/>
            </a:endParaRPr>
          </a:p>
        </p:txBody>
      </p:sp>
      <p:sp>
        <p:nvSpPr>
          <p:cNvPr id="32" name="TextBox 31">
            <a:extLst>
              <a:ext uri="{FF2B5EF4-FFF2-40B4-BE49-F238E27FC236}">
                <a16:creationId xmlns:a16="http://schemas.microsoft.com/office/drawing/2014/main" id="{3ED28BF8-5453-4901-A61F-7278710052B4}"/>
              </a:ext>
            </a:extLst>
          </p:cNvPr>
          <p:cNvSpPr txBox="1"/>
          <p:nvPr/>
        </p:nvSpPr>
        <p:spPr>
          <a:xfrm>
            <a:off x="5016500" y="2146300"/>
            <a:ext cx="26035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느낌 </a:t>
            </a:r>
            <a:r>
              <a:rPr lang="en-US" altLang="ko-KR" sz="1500" b="1">
                <a:solidFill>
                  <a:srgbClr val="1B2433"/>
                </a:solidFill>
                <a:latin typeface="Noto Sans KR" panose="020B0200000000000000" pitchFamily="50" charset="-127"/>
                <a:ea typeface="Noto Sans KR" panose="020B0200000000000000" pitchFamily="50" charset="-127"/>
              </a:rPr>
              <a:t>+ </a:t>
            </a:r>
            <a:r>
              <a:rPr lang="ko-KR" altLang="en-US" sz="1500" b="1">
                <a:solidFill>
                  <a:srgbClr val="1B2433"/>
                </a:solidFill>
                <a:latin typeface="Noto Sans KR" panose="020B0200000000000000" pitchFamily="50" charset="-127"/>
                <a:ea typeface="Noto Sans KR" panose="020B0200000000000000" pitchFamily="50" charset="-127"/>
              </a:rPr>
              <a:t>숫자로 설명</a:t>
            </a:r>
          </a:p>
        </p:txBody>
      </p:sp>
      <p:sp>
        <p:nvSpPr>
          <p:cNvPr id="33" name="TextBox 32">
            <a:extLst>
              <a:ext uri="{FF2B5EF4-FFF2-40B4-BE49-F238E27FC236}">
                <a16:creationId xmlns:a16="http://schemas.microsoft.com/office/drawing/2014/main" id="{8C077A2B-425E-43D2-80D9-147EE309F8CD}"/>
              </a:ext>
            </a:extLst>
          </p:cNvPr>
          <p:cNvSpPr txBox="1"/>
          <p:nvPr/>
        </p:nvSpPr>
        <p:spPr>
          <a:xfrm>
            <a:off x="4584700" y="2565400"/>
            <a:ext cx="3048000" cy="369332"/>
          </a:xfrm>
          <a:prstGeom prst="rect">
            <a:avLst/>
          </a:prstGeom>
          <a:noFill/>
        </p:spPr>
        <p:txBody>
          <a:bodyPr vert="horz" wrap="square" lIns="0" tIns="0" rIns="0" bIns="0" rtlCol="0">
            <a:noAutofit/>
          </a:bodyPr>
          <a:lstStyle/>
          <a:p>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이런 느낌으로</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보여 주고</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속도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순서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간격은 숫자로 정해서 요청</a:t>
            </a:r>
          </a:p>
        </p:txBody>
      </p:sp>
      <p:sp>
        <p:nvSpPr>
          <p:cNvPr id="34" name="사각형: 둥근 모서리 33">
            <a:extLst>
              <a:ext uri="{FF2B5EF4-FFF2-40B4-BE49-F238E27FC236}">
                <a16:creationId xmlns:a16="http://schemas.microsoft.com/office/drawing/2014/main" id="{C7B4183D-23FB-4D42-8833-91FE61E8359F}"/>
              </a:ext>
            </a:extLst>
          </p:cNvPr>
          <p:cNvSpPr/>
          <p:nvPr/>
        </p:nvSpPr>
        <p:spPr>
          <a:xfrm>
            <a:off x="7950200" y="1905000"/>
            <a:ext cx="3416300" cy="1397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타원 34">
            <a:extLst>
              <a:ext uri="{FF2B5EF4-FFF2-40B4-BE49-F238E27FC236}">
                <a16:creationId xmlns:a16="http://schemas.microsoft.com/office/drawing/2014/main" id="{F58450AC-5952-4C72-A86C-2A50FBBF1288}"/>
              </a:ext>
            </a:extLst>
          </p:cNvPr>
          <p:cNvSpPr/>
          <p:nvPr/>
        </p:nvSpPr>
        <p:spPr>
          <a:xfrm>
            <a:off x="8153400" y="2108200"/>
            <a:ext cx="330200" cy="330200"/>
          </a:xfrm>
          <a:prstGeom prst="ellipse">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200" b="1">
                <a:solidFill>
                  <a:srgbClr val="FFFFFF"/>
                </a:solidFill>
                <a:latin typeface="Noto Sans KR" panose="020B0200000000000000" pitchFamily="50" charset="-127"/>
                <a:ea typeface="Noto Sans KR" panose="020B0200000000000000" pitchFamily="50" charset="-127"/>
              </a:rPr>
              <a:t>3</a:t>
            </a:r>
            <a:endParaRPr lang="ko-KR" altLang="en-US" sz="1200" b="1">
              <a:solidFill>
                <a:srgbClr val="FFFFFF"/>
              </a:solidFill>
              <a:latin typeface="Noto Sans KR" panose="020B0200000000000000" pitchFamily="50" charset="-127"/>
              <a:ea typeface="Noto Sans KR" panose="020B0200000000000000" pitchFamily="50" charset="-127"/>
            </a:endParaRPr>
          </a:p>
        </p:txBody>
      </p:sp>
      <p:sp>
        <p:nvSpPr>
          <p:cNvPr id="36" name="TextBox 35">
            <a:extLst>
              <a:ext uri="{FF2B5EF4-FFF2-40B4-BE49-F238E27FC236}">
                <a16:creationId xmlns:a16="http://schemas.microsoft.com/office/drawing/2014/main" id="{11F17229-C28B-4B03-9E94-C9DD76E9FABF}"/>
              </a:ext>
            </a:extLst>
          </p:cNvPr>
          <p:cNvSpPr txBox="1"/>
          <p:nvPr/>
        </p:nvSpPr>
        <p:spPr>
          <a:xfrm>
            <a:off x="8585200" y="2146300"/>
            <a:ext cx="26035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보면서 대화로 수정</a:t>
            </a:r>
          </a:p>
        </p:txBody>
      </p:sp>
      <p:sp>
        <p:nvSpPr>
          <p:cNvPr id="37" name="TextBox 36">
            <a:extLst>
              <a:ext uri="{FF2B5EF4-FFF2-40B4-BE49-F238E27FC236}">
                <a16:creationId xmlns:a16="http://schemas.microsoft.com/office/drawing/2014/main" id="{2A103397-4098-4095-81DF-E3D5199C4FA9}"/>
              </a:ext>
            </a:extLst>
          </p:cNvPr>
          <p:cNvSpPr txBox="1"/>
          <p:nvPr/>
        </p:nvSpPr>
        <p:spPr>
          <a:xfrm>
            <a:off x="8153400" y="2565400"/>
            <a:ext cx="30480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화면을 직접 돌려 보고 </a:t>
            </a:r>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조금 더 느리게</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순서 바꿔줘</a:t>
            </a:r>
            <a:r>
              <a:rPr lang="en-US" altLang="ko-KR" sz="1200">
                <a:solidFill>
                  <a:srgbClr val="4A505C"/>
                </a:solidFill>
                <a:latin typeface="Noto Sans KR" panose="020B0200000000000000" pitchFamily="50" charset="-127"/>
                <a:ea typeface="Noto Sans KR" panose="020B0200000000000000" pitchFamily="50" charset="-127"/>
              </a:rPr>
              <a:t>'</a:t>
            </a:r>
            <a:r>
              <a:rPr lang="ko-KR" altLang="en-US" sz="1200">
                <a:solidFill>
                  <a:srgbClr val="4A505C"/>
                </a:solidFill>
                <a:latin typeface="Noto Sans KR" panose="020B0200000000000000" pitchFamily="50" charset="-127"/>
                <a:ea typeface="Noto Sans KR" panose="020B0200000000000000" pitchFamily="50" charset="-127"/>
              </a:rPr>
              <a:t>처럼 한 줄씩 고침</a:t>
            </a:r>
          </a:p>
        </p:txBody>
      </p:sp>
      <p:graphicFrame>
        <p:nvGraphicFramePr>
          <p:cNvPr id="38" name="표 37">
            <a:extLst>
              <a:ext uri="{FF2B5EF4-FFF2-40B4-BE49-F238E27FC236}">
                <a16:creationId xmlns:a16="http://schemas.microsoft.com/office/drawing/2014/main" id="{A065DA1F-43ED-4BA6-8144-6ADAB11FC499}"/>
              </a:ext>
            </a:extLst>
          </p:cNvPr>
          <p:cNvGraphicFramePr>
            <a:graphicFrameLocks noGrp="1"/>
          </p:cNvGraphicFramePr>
          <p:nvPr>
            <p:extLst>
              <p:ext uri="{D42A27DB-BD31-4B8C-83A1-F6EECF244321}">
                <p14:modId xmlns:p14="http://schemas.microsoft.com/office/powerpoint/2010/main" val="2413792077"/>
              </p:ext>
            </p:extLst>
          </p:nvPr>
        </p:nvGraphicFramePr>
        <p:xfrm>
          <a:off x="812800" y="3505200"/>
          <a:ext cx="10566400" cy="243840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477063764"/>
                    </a:ext>
                  </a:extLst>
                </a:gridCol>
                <a:gridCol w="1905000">
                  <a:extLst>
                    <a:ext uri="{9D8B030D-6E8A-4147-A177-3AD203B41FA5}">
                      <a16:colId xmlns:a16="http://schemas.microsoft.com/office/drawing/2014/main" val="1180157012"/>
                    </a:ext>
                  </a:extLst>
                </a:gridCol>
                <a:gridCol w="4470400">
                  <a:extLst>
                    <a:ext uri="{9D8B030D-6E8A-4147-A177-3AD203B41FA5}">
                      <a16:colId xmlns:a16="http://schemas.microsoft.com/office/drawing/2014/main" val="2888993076"/>
                    </a:ext>
                  </a:extLst>
                </a:gridCol>
              </a:tblGrid>
              <a:tr h="406400">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효과</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페이지</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숫자로 정한 값</a:t>
                      </a:r>
                    </a:p>
                  </a:txBody>
                  <a:tcPr marL="127000" marR="101600" anchor="ctr">
                    <a:solidFill>
                      <a:srgbClr val="16202E"/>
                    </a:solidFill>
                  </a:tcPr>
                </a:tc>
                <a:extLst>
                  <a:ext uri="{0D108BD9-81ED-4DB2-BD59-A6C34878D82A}">
                    <a16:rowId xmlns:a16="http://schemas.microsoft.com/office/drawing/2014/main" val="4194996158"/>
                  </a:ext>
                </a:extLst>
              </a:tr>
              <a:tr h="4064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타자 효과 → 부제가 좌우에서 날아옴</a:t>
                      </a:r>
                    </a:p>
                  </a:txBody>
                  <a:tcPr marL="127000" marR="101600" anchor="ctr">
                    <a:solidFill>
                      <a:srgbClr val="FDFCF9"/>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ABOUT US</a:t>
                      </a:r>
                      <a:endParaRPr lang="ko-KR" altLang="en-US" sz="1200" b="0">
                        <a:solidFill>
                          <a:srgbClr val="1B2433"/>
                        </a:solidFill>
                        <a:latin typeface="Noto Sans KR" panose="020B0200000000000000" pitchFamily="50" charset="-127"/>
                        <a:ea typeface="Noto Sans KR" panose="020B0200000000000000" pitchFamily="50" charset="-127"/>
                      </a:endParaRPr>
                    </a:p>
                  </a:txBody>
                  <a:tcPr marL="127000" marR="101600" anchor="ctr">
                    <a:solidFill>
                      <a:srgbClr val="FDFCF9"/>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H1 </a:t>
                      </a:r>
                      <a:r>
                        <a:rPr lang="ko-KR" altLang="en-US" sz="1200" b="0">
                          <a:solidFill>
                            <a:srgbClr val="E8692C"/>
                          </a:solidFill>
                          <a:latin typeface="Noto Sans KR" panose="020B0200000000000000" pitchFamily="50" charset="-127"/>
                          <a:ea typeface="Noto Sans KR" panose="020B0200000000000000" pitchFamily="50" charset="-127"/>
                        </a:rPr>
                        <a:t>다 나온 뒤 </a:t>
                      </a:r>
                      <a:r>
                        <a:rPr lang="en-US" altLang="ko-KR" sz="1200" b="0">
                          <a:solidFill>
                            <a:srgbClr val="E8692C"/>
                          </a:solidFill>
                          <a:latin typeface="Noto Sans KR" panose="020B0200000000000000" pitchFamily="50" charset="-127"/>
                          <a:ea typeface="Noto Sans KR" panose="020B0200000000000000" pitchFamily="50" charset="-127"/>
                        </a:rPr>
                        <a:t>H2 </a:t>
                      </a:r>
                      <a:r>
                        <a:rPr lang="ko-KR" altLang="en-US" sz="1200" b="0">
                          <a:solidFill>
                            <a:srgbClr val="E8692C"/>
                          </a:solidFill>
                          <a:latin typeface="Noto Sans KR" panose="020B0200000000000000" pitchFamily="50" charset="-127"/>
                          <a:ea typeface="Noto Sans KR" panose="020B0200000000000000" pitchFamily="50" charset="-127"/>
                        </a:rPr>
                        <a:t>첫 줄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둘째 줄 차례로</a:t>
                      </a:r>
                    </a:p>
                  </a:txBody>
                  <a:tcPr marL="127000" marR="101600" anchor="ctr">
                    <a:solidFill>
                      <a:srgbClr val="FDFCF9"/>
                    </a:solidFill>
                  </a:tcPr>
                </a:tc>
                <a:extLst>
                  <a:ext uri="{0D108BD9-81ED-4DB2-BD59-A6C34878D82A}">
                    <a16:rowId xmlns:a16="http://schemas.microsoft.com/office/drawing/2014/main" val="2386910601"/>
                  </a:ext>
                </a:extLst>
              </a:tr>
              <a:tr h="4064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네 단어가 차례로 튀어 오름</a:t>
                      </a:r>
                    </a:p>
                  </a:txBody>
                  <a:tcPr marL="127000" marR="101600" anchor="ctr">
                    <a:solidFill>
                      <a:srgbClr val="ECE9E1"/>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ABOUT US</a:t>
                      </a:r>
                      <a:endParaRPr lang="ko-KR" altLang="en-US" sz="1200" b="0">
                        <a:solidFill>
                          <a:srgbClr val="1B2433"/>
                        </a:solidFill>
                        <a:latin typeface="Noto Sans KR" panose="020B0200000000000000" pitchFamily="50" charset="-127"/>
                        <a:ea typeface="Noto Sans KR" panose="020B0200000000000000" pitchFamily="50" charset="-127"/>
                      </a:endParaRPr>
                    </a:p>
                  </a:txBody>
                  <a:tcPr marL="127000" marR="101600" anchor="ctr">
                    <a:solidFill>
                      <a:srgbClr val="ECE9E1"/>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0.14</a:t>
                      </a:r>
                      <a:r>
                        <a:rPr lang="ko-KR" altLang="en-US" sz="1200" b="0">
                          <a:solidFill>
                            <a:srgbClr val="E8692C"/>
                          </a:solidFill>
                          <a:latin typeface="Noto Sans KR" panose="020B0200000000000000" pitchFamily="50" charset="-127"/>
                          <a:ea typeface="Noto Sans KR" panose="020B0200000000000000" pitchFamily="50" charset="-127"/>
                        </a:rPr>
                        <a:t>초 간격</a:t>
                      </a:r>
                    </a:p>
                  </a:txBody>
                  <a:tcPr marL="127000" marR="101600" anchor="ctr">
                    <a:solidFill>
                      <a:srgbClr val="ECE9E1"/>
                    </a:solidFill>
                  </a:tcPr>
                </a:tc>
                <a:extLst>
                  <a:ext uri="{0D108BD9-81ED-4DB2-BD59-A6C34878D82A}">
                    <a16:rowId xmlns:a16="http://schemas.microsoft.com/office/drawing/2014/main" val="2251528220"/>
                  </a:ext>
                </a:extLst>
              </a:tr>
              <a:tr h="4064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파트너 로고 띠 </a:t>
                      </a:r>
                      <a:r>
                        <a:rPr lang="en-US" altLang="ko-KR" sz="1200" b="1">
                          <a:solidFill>
                            <a:srgbClr val="1B2433"/>
                          </a:solidFill>
                          <a:latin typeface="Noto Sans KR" panose="020B0200000000000000" pitchFamily="50" charset="-127"/>
                          <a:ea typeface="Noto Sans KR" panose="020B0200000000000000" pitchFamily="50" charset="-127"/>
                        </a:rPr>
                        <a:t>· </a:t>
                      </a:r>
                      <a:r>
                        <a:rPr lang="ko-KR" altLang="en-US" sz="1200" b="1">
                          <a:solidFill>
                            <a:srgbClr val="1B2433"/>
                          </a:solidFill>
                          <a:latin typeface="Noto Sans KR" panose="020B0200000000000000" pitchFamily="50" charset="-127"/>
                          <a:ea typeface="Noto Sans KR" panose="020B0200000000000000" pitchFamily="50" charset="-127"/>
                        </a:rPr>
                        <a:t>정지 버튼</a:t>
                      </a:r>
                    </a:p>
                  </a:txBody>
                  <a:tcPr marL="127000" marR="101600" anchor="ctr">
                    <a:solidFill>
                      <a:srgbClr val="FDFCF9"/>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ABOUT US</a:t>
                      </a:r>
                      <a:endParaRPr lang="ko-KR" altLang="en-US" sz="1200" b="0">
                        <a:solidFill>
                          <a:srgbClr val="1B2433"/>
                        </a:solidFill>
                        <a:latin typeface="Noto Sans KR" panose="020B0200000000000000" pitchFamily="50" charset="-127"/>
                        <a:ea typeface="Noto Sans KR" panose="020B0200000000000000" pitchFamily="50" charset="-127"/>
                      </a:endParaRPr>
                    </a:p>
                  </a:txBody>
                  <a:tcPr marL="127000" marR="101600" anchor="ctr">
                    <a:solidFill>
                      <a:srgbClr val="FDFCF9"/>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65</a:t>
                      </a:r>
                      <a:r>
                        <a:rPr lang="ko-KR" altLang="en-US" sz="1200" b="0">
                          <a:solidFill>
                            <a:srgbClr val="E8692C"/>
                          </a:solidFill>
                          <a:latin typeface="Noto Sans KR" panose="020B0200000000000000" pitchFamily="50" charset="-127"/>
                          <a:ea typeface="Noto Sans KR" panose="020B0200000000000000" pitchFamily="50" charset="-127"/>
                        </a:rPr>
                        <a:t>초 무한 반복</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두 줄 반대 방향</a:t>
                      </a:r>
                    </a:p>
                  </a:txBody>
                  <a:tcPr marL="127000" marR="101600" anchor="ctr">
                    <a:solidFill>
                      <a:srgbClr val="FDFCF9"/>
                    </a:solidFill>
                  </a:tcPr>
                </a:tc>
                <a:extLst>
                  <a:ext uri="{0D108BD9-81ED-4DB2-BD59-A6C34878D82A}">
                    <a16:rowId xmlns:a16="http://schemas.microsoft.com/office/drawing/2014/main" val="723427232"/>
                  </a:ext>
                </a:extLst>
              </a:tr>
              <a:tr h="4064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제목이 아래에서 위로 진해짐</a:t>
                      </a:r>
                    </a:p>
                  </a:txBody>
                  <a:tcPr marL="127000" marR="101600" anchor="ctr">
                    <a:solidFill>
                      <a:srgbClr val="ECE9E1"/>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AI VIDEO</a:t>
                      </a:r>
                      <a:endParaRPr lang="ko-KR" altLang="en-US" sz="1200" b="0">
                        <a:solidFill>
                          <a:srgbClr val="1B2433"/>
                        </a:solidFill>
                        <a:latin typeface="Noto Sans KR" panose="020B0200000000000000" pitchFamily="50" charset="-127"/>
                        <a:ea typeface="Noto Sans KR" panose="020B0200000000000000" pitchFamily="50" charset="-127"/>
                      </a:endParaRPr>
                    </a:p>
                  </a:txBody>
                  <a:tcPr marL="127000" marR="101600" anchor="ctr">
                    <a:solidFill>
                      <a:srgbClr val="ECE9E1"/>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문장당 </a:t>
                      </a:r>
                      <a:r>
                        <a:rPr lang="en-US" altLang="ko-KR" sz="1200" b="0">
                          <a:solidFill>
                            <a:srgbClr val="E8692C"/>
                          </a:solidFill>
                          <a:latin typeface="Noto Sans KR" panose="020B0200000000000000" pitchFamily="50" charset="-127"/>
                          <a:ea typeface="Noto Sans KR" panose="020B0200000000000000" pitchFamily="50" charset="-127"/>
                        </a:rPr>
                        <a:t>1.2</a:t>
                      </a:r>
                      <a:r>
                        <a:rPr lang="ko-KR" altLang="en-US" sz="1200" b="0">
                          <a:solidFill>
                            <a:srgbClr val="E8692C"/>
                          </a:solidFill>
                          <a:latin typeface="Noto Sans KR" panose="020B0200000000000000" pitchFamily="50" charset="-127"/>
                          <a:ea typeface="Noto Sans KR" panose="020B0200000000000000" pitchFamily="50" charset="-127"/>
                        </a:rPr>
                        <a:t>초</a:t>
                      </a:r>
                    </a:p>
                  </a:txBody>
                  <a:tcPr marL="127000" marR="101600" anchor="ctr">
                    <a:solidFill>
                      <a:srgbClr val="ECE9E1"/>
                    </a:solidFill>
                  </a:tcPr>
                </a:tc>
                <a:extLst>
                  <a:ext uri="{0D108BD9-81ED-4DB2-BD59-A6C34878D82A}">
                    <a16:rowId xmlns:a16="http://schemas.microsoft.com/office/drawing/2014/main" val="362908187"/>
                  </a:ext>
                </a:extLst>
              </a:tr>
              <a:tr h="4064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카드에 마우스 올리면 제목 등장</a:t>
                      </a:r>
                    </a:p>
                  </a:txBody>
                  <a:tcPr marL="127000" marR="101600" anchor="ctr">
                    <a:solidFill>
                      <a:srgbClr val="FDFCF9"/>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PORTFOLIO</a:t>
                      </a:r>
                      <a:endParaRPr lang="ko-KR" altLang="en-US" sz="1200" b="0">
                        <a:solidFill>
                          <a:srgbClr val="1B2433"/>
                        </a:solidFill>
                        <a:latin typeface="Noto Sans KR" panose="020B0200000000000000" pitchFamily="50" charset="-127"/>
                        <a:ea typeface="Noto Sans KR" panose="020B0200000000000000" pitchFamily="50" charset="-127"/>
                      </a:endParaRPr>
                    </a:p>
                  </a:txBody>
                  <a:tcPr marL="127000" marR="101600" anchor="ctr">
                    <a:solidFill>
                      <a:srgbClr val="FDFCF9"/>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어두워지며 제목 표시</a:t>
                      </a:r>
                    </a:p>
                  </a:txBody>
                  <a:tcPr marL="127000" marR="101600" anchor="ctr">
                    <a:solidFill>
                      <a:srgbClr val="FDFCF9"/>
                    </a:solidFill>
                  </a:tcPr>
                </a:tc>
                <a:extLst>
                  <a:ext uri="{0D108BD9-81ED-4DB2-BD59-A6C34878D82A}">
                    <a16:rowId xmlns:a16="http://schemas.microsoft.com/office/drawing/2014/main" val="3793181336"/>
                  </a:ext>
                </a:extLst>
              </a:tr>
            </a:tbl>
          </a:graphicData>
        </a:graphic>
      </p:graphicFrame>
    </p:spTree>
    <p:extLst>
      <p:ext uri="{BB962C8B-B14F-4D97-AF65-F5344CB8AC3E}">
        <p14:creationId xmlns:p14="http://schemas.microsoft.com/office/powerpoint/2010/main" val="113126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07 · </a:t>
            </a:r>
            <a:r>
              <a:rPr lang="ko-KR" altLang="en-US" sz="1200" b="1" kern="0" spc="150">
                <a:solidFill>
                  <a:srgbClr val="B0441A"/>
                </a:solidFill>
                <a:latin typeface="JetBrains Mono" pitchFamily="49" charset="0"/>
                <a:ea typeface="JetBrains Mono" pitchFamily="49" charset="-122"/>
                <a:cs typeface="JetBrains Mono" pitchFamily="49" charset="-120"/>
              </a:rPr>
              <a:t>움직임 다듬기</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이렇게 다듬은 움직임이 실제 화면에 들어갔습니다</a:t>
            </a:r>
            <a:endParaRPr lang="en-US" sz="3200" dirty="0"/>
          </a:p>
        </p:txBody>
      </p:sp>
      <p:pic>
        <p:nvPicPr>
          <p:cNvPr id="27" name="그림 26">
            <a:extLst>
              <a:ext uri="{FF2B5EF4-FFF2-40B4-BE49-F238E27FC236}">
                <a16:creationId xmlns:a16="http://schemas.microsoft.com/office/drawing/2014/main" id="{3C134D2E-BB82-4C08-BE5F-0A7C12B5E9A2}"/>
              </a:ext>
            </a:extLst>
          </p:cNvPr>
          <p:cNvPicPr>
            <a:picLocks/>
          </p:cNvPicPr>
          <p:nvPr/>
        </p:nvPicPr>
        <p:blipFill>
          <a:blip r:embed="rId3"/>
          <a:stretch>
            <a:fillRect/>
          </a:stretch>
        </p:blipFill>
        <p:spPr>
          <a:xfrm>
            <a:off x="812800" y="1905000"/>
            <a:ext cx="3416300" cy="1714500"/>
          </a:xfrm>
          <a:prstGeom prst="rect">
            <a:avLst/>
          </a:prstGeom>
          <a:ln w="9525">
            <a:solidFill>
              <a:srgbClr val="DCD6C8"/>
            </a:solidFill>
          </a:ln>
        </p:spPr>
      </p:pic>
      <p:sp>
        <p:nvSpPr>
          <p:cNvPr id="28" name="TextBox 27">
            <a:extLst>
              <a:ext uri="{FF2B5EF4-FFF2-40B4-BE49-F238E27FC236}">
                <a16:creationId xmlns:a16="http://schemas.microsoft.com/office/drawing/2014/main" id="{B6992144-F3AD-4551-A7C3-26E54CB8CEB3}"/>
              </a:ext>
            </a:extLst>
          </p:cNvPr>
          <p:cNvSpPr txBox="1"/>
          <p:nvPr/>
        </p:nvSpPr>
        <p:spPr>
          <a:xfrm>
            <a:off x="812800" y="3784600"/>
            <a:ext cx="34163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타자 효과 히어로</a:t>
            </a:r>
          </a:p>
        </p:txBody>
      </p:sp>
      <p:sp>
        <p:nvSpPr>
          <p:cNvPr id="29" name="TextBox 28">
            <a:extLst>
              <a:ext uri="{FF2B5EF4-FFF2-40B4-BE49-F238E27FC236}">
                <a16:creationId xmlns:a16="http://schemas.microsoft.com/office/drawing/2014/main" id="{25FA67CC-7678-4526-B567-36C7F206157E}"/>
              </a:ext>
            </a:extLst>
          </p:cNvPr>
          <p:cNvSpPr txBox="1"/>
          <p:nvPr/>
        </p:nvSpPr>
        <p:spPr>
          <a:xfrm>
            <a:off x="812800" y="4140200"/>
            <a:ext cx="34163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제목이 한 글자씩 써진 뒤 부제가 차례로 등장</a:t>
            </a:r>
          </a:p>
        </p:txBody>
      </p:sp>
      <p:sp>
        <p:nvSpPr>
          <p:cNvPr id="30" name="사각형: 둥근 모서리 29">
            <a:extLst>
              <a:ext uri="{FF2B5EF4-FFF2-40B4-BE49-F238E27FC236}">
                <a16:creationId xmlns:a16="http://schemas.microsoft.com/office/drawing/2014/main" id="{D9FD7027-FE0B-4E6D-8DE5-473A7DC802C4}"/>
              </a:ext>
            </a:extLst>
          </p:cNvPr>
          <p:cNvSpPr/>
          <p:nvPr/>
        </p:nvSpPr>
        <p:spPr>
          <a:xfrm>
            <a:off x="812800" y="4724400"/>
            <a:ext cx="34163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100" b="1">
                <a:solidFill>
                  <a:srgbClr val="E8692C"/>
                </a:solidFill>
                <a:latin typeface="Noto Sans KR" panose="020B0200000000000000" pitchFamily="50" charset="-127"/>
                <a:ea typeface="Noto Sans KR" panose="020B0200000000000000" pitchFamily="50" charset="-127"/>
              </a:rPr>
              <a:t>H1 → H2 </a:t>
            </a:r>
            <a:r>
              <a:rPr lang="ko-KR" altLang="en-US" sz="1100" b="1">
                <a:solidFill>
                  <a:srgbClr val="E8692C"/>
                </a:solidFill>
                <a:latin typeface="Noto Sans KR" panose="020B0200000000000000" pitchFamily="50" charset="-127"/>
                <a:ea typeface="Noto Sans KR" panose="020B0200000000000000" pitchFamily="50" charset="-127"/>
              </a:rPr>
              <a:t>순서대로</a:t>
            </a:r>
          </a:p>
        </p:txBody>
      </p:sp>
      <p:pic>
        <p:nvPicPr>
          <p:cNvPr id="32" name="그림 31">
            <a:extLst>
              <a:ext uri="{FF2B5EF4-FFF2-40B4-BE49-F238E27FC236}">
                <a16:creationId xmlns:a16="http://schemas.microsoft.com/office/drawing/2014/main" id="{31BE9B43-A6B6-4485-A0D6-1FDEEEA54EF0}"/>
              </a:ext>
            </a:extLst>
          </p:cNvPr>
          <p:cNvPicPr>
            <a:picLocks/>
          </p:cNvPicPr>
          <p:nvPr/>
        </p:nvPicPr>
        <p:blipFill>
          <a:blip r:embed="rId4"/>
          <a:stretch>
            <a:fillRect/>
          </a:stretch>
        </p:blipFill>
        <p:spPr>
          <a:xfrm>
            <a:off x="4381500" y="1905000"/>
            <a:ext cx="3416300" cy="1714500"/>
          </a:xfrm>
          <a:prstGeom prst="rect">
            <a:avLst/>
          </a:prstGeom>
          <a:ln w="9525">
            <a:solidFill>
              <a:srgbClr val="DCD6C8"/>
            </a:solidFill>
          </a:ln>
        </p:spPr>
      </p:pic>
      <p:sp>
        <p:nvSpPr>
          <p:cNvPr id="33" name="TextBox 32">
            <a:extLst>
              <a:ext uri="{FF2B5EF4-FFF2-40B4-BE49-F238E27FC236}">
                <a16:creationId xmlns:a16="http://schemas.microsoft.com/office/drawing/2014/main" id="{55653C35-B7BC-46EE-B71D-D438E88E8ADA}"/>
              </a:ext>
            </a:extLst>
          </p:cNvPr>
          <p:cNvSpPr txBox="1"/>
          <p:nvPr/>
        </p:nvSpPr>
        <p:spPr>
          <a:xfrm>
            <a:off x="4381500" y="3784600"/>
            <a:ext cx="34163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스크롤 등장 문구</a:t>
            </a:r>
          </a:p>
        </p:txBody>
      </p:sp>
      <p:sp>
        <p:nvSpPr>
          <p:cNvPr id="34" name="TextBox 33">
            <a:extLst>
              <a:ext uri="{FF2B5EF4-FFF2-40B4-BE49-F238E27FC236}">
                <a16:creationId xmlns:a16="http://schemas.microsoft.com/office/drawing/2014/main" id="{0C6DE3DD-8868-42C5-B7EA-C21BC290C09D}"/>
              </a:ext>
            </a:extLst>
          </p:cNvPr>
          <p:cNvSpPr txBox="1"/>
          <p:nvPr/>
        </p:nvSpPr>
        <p:spPr>
          <a:xfrm>
            <a:off x="4381500" y="4140200"/>
            <a:ext cx="34163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스크롤해서 섹션에 닿으면 문구가 나타남</a:t>
            </a:r>
          </a:p>
        </p:txBody>
      </p:sp>
      <p:sp>
        <p:nvSpPr>
          <p:cNvPr id="35" name="사각형: 둥근 모서리 34">
            <a:extLst>
              <a:ext uri="{FF2B5EF4-FFF2-40B4-BE49-F238E27FC236}">
                <a16:creationId xmlns:a16="http://schemas.microsoft.com/office/drawing/2014/main" id="{BB0F40BE-1F2A-4C3A-9D11-996A202C53A6}"/>
              </a:ext>
            </a:extLst>
          </p:cNvPr>
          <p:cNvSpPr/>
          <p:nvPr/>
        </p:nvSpPr>
        <p:spPr>
          <a:xfrm>
            <a:off x="4381500" y="4724400"/>
            <a:ext cx="34163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E8692C"/>
                </a:solidFill>
                <a:latin typeface="Noto Sans KR" panose="020B0200000000000000" pitchFamily="50" charset="-127"/>
                <a:ea typeface="Noto Sans KR" panose="020B0200000000000000" pitchFamily="50" charset="-127"/>
              </a:rPr>
              <a:t>화면에 들어올 때 시작</a:t>
            </a:r>
          </a:p>
        </p:txBody>
      </p:sp>
      <p:pic>
        <p:nvPicPr>
          <p:cNvPr id="37" name="그림 36">
            <a:extLst>
              <a:ext uri="{FF2B5EF4-FFF2-40B4-BE49-F238E27FC236}">
                <a16:creationId xmlns:a16="http://schemas.microsoft.com/office/drawing/2014/main" id="{78EB9ABC-07AF-4F94-9667-64477E60B653}"/>
              </a:ext>
            </a:extLst>
          </p:cNvPr>
          <p:cNvPicPr>
            <a:picLocks/>
          </p:cNvPicPr>
          <p:nvPr/>
        </p:nvPicPr>
        <p:blipFill>
          <a:blip r:embed="rId5"/>
          <a:stretch>
            <a:fillRect/>
          </a:stretch>
        </p:blipFill>
        <p:spPr>
          <a:xfrm>
            <a:off x="7950200" y="1905000"/>
            <a:ext cx="3416300" cy="1714500"/>
          </a:xfrm>
          <a:prstGeom prst="rect">
            <a:avLst/>
          </a:prstGeom>
          <a:ln w="9525">
            <a:solidFill>
              <a:srgbClr val="DCD6C8"/>
            </a:solidFill>
          </a:ln>
        </p:spPr>
      </p:pic>
      <p:sp>
        <p:nvSpPr>
          <p:cNvPr id="38" name="TextBox 37">
            <a:extLst>
              <a:ext uri="{FF2B5EF4-FFF2-40B4-BE49-F238E27FC236}">
                <a16:creationId xmlns:a16="http://schemas.microsoft.com/office/drawing/2014/main" id="{A541D752-0863-4509-81F1-C33D9602DE7B}"/>
              </a:ext>
            </a:extLst>
          </p:cNvPr>
          <p:cNvSpPr txBox="1"/>
          <p:nvPr/>
        </p:nvSpPr>
        <p:spPr>
          <a:xfrm>
            <a:off x="7950200" y="3784600"/>
            <a:ext cx="34163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아래에서 진해지는 제목</a:t>
            </a:r>
          </a:p>
        </p:txBody>
      </p:sp>
      <p:sp>
        <p:nvSpPr>
          <p:cNvPr id="39" name="TextBox 38">
            <a:extLst>
              <a:ext uri="{FF2B5EF4-FFF2-40B4-BE49-F238E27FC236}">
                <a16:creationId xmlns:a16="http://schemas.microsoft.com/office/drawing/2014/main" id="{9DC74343-A5F8-4640-BD5A-3F8F4D728273}"/>
              </a:ext>
            </a:extLst>
          </p:cNvPr>
          <p:cNvSpPr txBox="1"/>
          <p:nvPr/>
        </p:nvSpPr>
        <p:spPr>
          <a:xfrm>
            <a:off x="7950200" y="4140200"/>
            <a:ext cx="34163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글자가 아래에서 위로 채워지며 진해짐</a:t>
            </a:r>
          </a:p>
        </p:txBody>
      </p:sp>
      <p:sp>
        <p:nvSpPr>
          <p:cNvPr id="40" name="사각형: 둥근 모서리 39">
            <a:extLst>
              <a:ext uri="{FF2B5EF4-FFF2-40B4-BE49-F238E27FC236}">
                <a16:creationId xmlns:a16="http://schemas.microsoft.com/office/drawing/2014/main" id="{302CF773-2BFD-4B83-83FC-74CC93F84BE0}"/>
              </a:ext>
            </a:extLst>
          </p:cNvPr>
          <p:cNvSpPr/>
          <p:nvPr/>
        </p:nvSpPr>
        <p:spPr>
          <a:xfrm>
            <a:off x="7950200" y="4724400"/>
            <a:ext cx="3416300" cy="3302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ko-KR" altLang="en-US" sz="1100" b="1">
                <a:solidFill>
                  <a:srgbClr val="E8692C"/>
                </a:solidFill>
                <a:latin typeface="Noto Sans KR" panose="020B0200000000000000" pitchFamily="50" charset="-127"/>
                <a:ea typeface="Noto Sans KR" panose="020B0200000000000000" pitchFamily="50" charset="-127"/>
              </a:rPr>
              <a:t>문장당 </a:t>
            </a:r>
            <a:r>
              <a:rPr lang="en-US" altLang="ko-KR" sz="1100" b="1">
                <a:solidFill>
                  <a:srgbClr val="E8692C"/>
                </a:solidFill>
                <a:latin typeface="Noto Sans KR" panose="020B0200000000000000" pitchFamily="50" charset="-127"/>
                <a:ea typeface="Noto Sans KR" panose="020B0200000000000000" pitchFamily="50" charset="-127"/>
              </a:rPr>
              <a:t>1.2</a:t>
            </a:r>
            <a:r>
              <a:rPr lang="ko-KR" altLang="en-US" sz="1100" b="1">
                <a:solidFill>
                  <a:srgbClr val="E8692C"/>
                </a:solidFill>
                <a:latin typeface="Noto Sans KR" panose="020B0200000000000000" pitchFamily="50" charset="-127"/>
                <a:ea typeface="Noto Sans KR" panose="020B0200000000000000" pitchFamily="50" charset="-127"/>
              </a:rPr>
              <a:t>초</a:t>
            </a:r>
          </a:p>
        </p:txBody>
      </p:sp>
      <p:sp>
        <p:nvSpPr>
          <p:cNvPr id="41" name="사각형: 둥근 모서리 40">
            <a:extLst>
              <a:ext uri="{FF2B5EF4-FFF2-40B4-BE49-F238E27FC236}">
                <a16:creationId xmlns:a16="http://schemas.microsoft.com/office/drawing/2014/main" id="{3DEFF2DC-2CB0-4A46-90CC-33A1DE2EF576}"/>
              </a:ext>
            </a:extLst>
          </p:cNvPr>
          <p:cNvSpPr/>
          <p:nvPr/>
        </p:nvSpPr>
        <p:spPr>
          <a:xfrm>
            <a:off x="812800" y="53594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E9A0D8BA-613A-4F9A-A542-3606D217F509}"/>
              </a:ext>
            </a:extLst>
          </p:cNvPr>
          <p:cNvSpPr txBox="1"/>
          <p:nvPr/>
        </p:nvSpPr>
        <p:spPr>
          <a:xfrm>
            <a:off x="1066800" y="55245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요청 예시</a:t>
            </a:r>
            <a:r>
              <a:rPr lang="ko-KR" altLang="en-US" sz="1300">
                <a:solidFill>
                  <a:srgbClr val="E8692C"/>
                </a:solidFill>
                <a:latin typeface="Noto Sans KR" panose="020B0200000000000000" pitchFamily="50" charset="-127"/>
                <a:ea typeface="Noto Sans KR" panose="020B0200000000000000" pitchFamily="50" charset="-127"/>
              </a:rPr>
              <a:t>　“제목이 한꺼번에 나와요</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한 문장씩 </a:t>
            </a:r>
            <a:r>
              <a:rPr lang="en-US" altLang="ko-KR" sz="1300">
                <a:solidFill>
                  <a:srgbClr val="E8692C"/>
                </a:solidFill>
                <a:latin typeface="Noto Sans KR" panose="020B0200000000000000" pitchFamily="50" charset="-127"/>
                <a:ea typeface="Noto Sans KR" panose="020B0200000000000000" pitchFamily="50" charset="-127"/>
              </a:rPr>
              <a:t>1.2</a:t>
            </a:r>
            <a:r>
              <a:rPr lang="ko-KR" altLang="en-US" sz="1300">
                <a:solidFill>
                  <a:srgbClr val="E8692C"/>
                </a:solidFill>
                <a:latin typeface="Noto Sans KR" panose="020B0200000000000000" pitchFamily="50" charset="-127"/>
                <a:ea typeface="Noto Sans KR" panose="020B0200000000000000" pitchFamily="50" charset="-127"/>
              </a:rPr>
              <a:t>초 간격으로 아래에서 올라오게 해 줘”</a:t>
            </a:r>
          </a:p>
        </p:txBody>
      </p:sp>
    </p:spTree>
    <p:extLst>
      <p:ext uri="{BB962C8B-B14F-4D97-AF65-F5344CB8AC3E}">
        <p14:creationId xmlns:p14="http://schemas.microsoft.com/office/powerpoint/2010/main" val="1869301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08 · </a:t>
            </a:r>
            <a:r>
              <a:rPr lang="ko-KR" altLang="en-US" sz="1200" b="1" kern="0" spc="150">
                <a:solidFill>
                  <a:srgbClr val="B0441A"/>
                </a:solidFill>
                <a:latin typeface="JetBrains Mono" pitchFamily="49" charset="0"/>
                <a:ea typeface="JetBrains Mono" pitchFamily="49" charset="-122"/>
                <a:cs typeface="JetBrains Mono" pitchFamily="49" charset="-120"/>
              </a:rPr>
              <a:t>벤치마킹</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벤치마킹은 이렇게 했습니다</a:t>
            </a:r>
            <a:endParaRPr lang="en-US" sz="3200" dirty="0"/>
          </a:p>
        </p:txBody>
      </p:sp>
      <p:sp>
        <p:nvSpPr>
          <p:cNvPr id="26" name="사각형: 둥근 모서리 25">
            <a:extLst>
              <a:ext uri="{FF2B5EF4-FFF2-40B4-BE49-F238E27FC236}">
                <a16:creationId xmlns:a16="http://schemas.microsoft.com/office/drawing/2014/main" id="{7193BF84-497A-49A4-AE5C-030E4BF90211}"/>
              </a:ext>
            </a:extLst>
          </p:cNvPr>
          <p:cNvSpPr/>
          <p:nvPr/>
        </p:nvSpPr>
        <p:spPr>
          <a:xfrm>
            <a:off x="812800" y="2032000"/>
            <a:ext cx="2540000" cy="2921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40FA9872-7950-4330-81C5-CF6DAC59695B}"/>
              </a:ext>
            </a:extLst>
          </p:cNvPr>
          <p:cNvSpPr/>
          <p:nvPr/>
        </p:nvSpPr>
        <p:spPr>
          <a:xfrm>
            <a:off x="990600" y="2235200"/>
            <a:ext cx="381000" cy="381000"/>
          </a:xfrm>
          <a:prstGeom prst="ellipse">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300" b="1">
                <a:solidFill>
                  <a:srgbClr val="FFFFFF"/>
                </a:solidFill>
                <a:latin typeface="Noto Sans KR" panose="020B0200000000000000" pitchFamily="50" charset="-127"/>
                <a:ea typeface="Noto Sans KR" panose="020B0200000000000000" pitchFamily="50" charset="-127"/>
              </a:rPr>
              <a:t>1</a:t>
            </a:r>
            <a:endParaRPr lang="ko-KR" altLang="en-US" sz="1300" b="1">
              <a:solidFill>
                <a:srgbClr val="FFFFFF"/>
              </a:solidFill>
              <a:latin typeface="Noto Sans KR" panose="020B0200000000000000" pitchFamily="50" charset="-127"/>
              <a:ea typeface="Noto Sans KR" panose="020B0200000000000000" pitchFamily="50" charset="-127"/>
            </a:endParaRPr>
          </a:p>
        </p:txBody>
      </p:sp>
      <p:sp>
        <p:nvSpPr>
          <p:cNvPr id="28" name="TextBox 27">
            <a:extLst>
              <a:ext uri="{FF2B5EF4-FFF2-40B4-BE49-F238E27FC236}">
                <a16:creationId xmlns:a16="http://schemas.microsoft.com/office/drawing/2014/main" id="{46AC7143-53D9-4E12-BF5D-C07C06E95340}"/>
              </a:ext>
            </a:extLst>
          </p:cNvPr>
          <p:cNvSpPr txBox="1"/>
          <p:nvPr/>
        </p:nvSpPr>
        <p:spPr>
          <a:xfrm>
            <a:off x="990600" y="2768600"/>
            <a:ext cx="22352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찾기</a:t>
            </a:r>
          </a:p>
        </p:txBody>
      </p:sp>
      <p:sp>
        <p:nvSpPr>
          <p:cNvPr id="29" name="TextBox 28">
            <a:extLst>
              <a:ext uri="{FF2B5EF4-FFF2-40B4-BE49-F238E27FC236}">
                <a16:creationId xmlns:a16="http://schemas.microsoft.com/office/drawing/2014/main" id="{B1B99DC8-B449-43BE-9159-B82FB5548451}"/>
              </a:ext>
            </a:extLst>
          </p:cNvPr>
          <p:cNvSpPr txBox="1"/>
          <p:nvPr/>
        </p:nvSpPr>
        <p:spPr>
          <a:xfrm>
            <a:off x="990600" y="3200400"/>
            <a:ext cx="2235200" cy="369332"/>
          </a:xfrm>
          <a:prstGeom prst="rect">
            <a:avLst/>
          </a:prstGeom>
          <a:noFill/>
        </p:spPr>
        <p:txBody>
          <a:bodyPr vert="horz" wrap="square" lIns="0" tIns="0" rIns="0" bIns="0" rtlCol="0">
            <a:noAutofit/>
          </a:bodyPr>
          <a:lstStyle/>
          <a:p>
            <a:r>
              <a:rPr lang="en-US" altLang="ko-KR" sz="1200">
                <a:solidFill>
                  <a:srgbClr val="4A505C"/>
                </a:solidFill>
                <a:latin typeface="Noto Sans KR" panose="020B0200000000000000" pitchFamily="50" charset="-127"/>
                <a:ea typeface="Noto Sans KR" panose="020B0200000000000000" pitchFamily="50" charset="-127"/>
              </a:rPr>
              <a:t>AI </a:t>
            </a:r>
            <a:r>
              <a:rPr lang="ko-KR" altLang="en-US" sz="1200">
                <a:solidFill>
                  <a:srgbClr val="4A505C"/>
                </a:solidFill>
                <a:latin typeface="Noto Sans KR" panose="020B0200000000000000" pitchFamily="50" charset="-127"/>
                <a:ea typeface="Noto Sans KR" panose="020B0200000000000000" pitchFamily="50" charset="-127"/>
              </a:rPr>
              <a:t>영상 제작사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영상 프로덕션 홈페이지를 각자 찾아 캡처</a:t>
            </a:r>
          </a:p>
        </p:txBody>
      </p:sp>
      <p:sp>
        <p:nvSpPr>
          <p:cNvPr id="30" name="TextBox 29">
            <a:extLst>
              <a:ext uri="{FF2B5EF4-FFF2-40B4-BE49-F238E27FC236}">
                <a16:creationId xmlns:a16="http://schemas.microsoft.com/office/drawing/2014/main" id="{7EBFD158-C38F-49FC-B0A6-5B44E02AB73C}"/>
              </a:ext>
            </a:extLst>
          </p:cNvPr>
          <p:cNvSpPr txBox="1"/>
          <p:nvPr/>
        </p:nvSpPr>
        <p:spPr>
          <a:xfrm>
            <a:off x="3352800" y="3327400"/>
            <a:ext cx="1397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31" name="사각형: 둥근 모서리 30">
            <a:extLst>
              <a:ext uri="{FF2B5EF4-FFF2-40B4-BE49-F238E27FC236}">
                <a16:creationId xmlns:a16="http://schemas.microsoft.com/office/drawing/2014/main" id="{1AA90A7C-E5EC-450C-8DC5-E4B8ABA95F15}"/>
              </a:ext>
            </a:extLst>
          </p:cNvPr>
          <p:cNvSpPr/>
          <p:nvPr/>
        </p:nvSpPr>
        <p:spPr>
          <a:xfrm>
            <a:off x="3492500" y="2032000"/>
            <a:ext cx="2540000" cy="2921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330184CC-ACA1-4AF6-9FB0-8AFB921CA23D}"/>
              </a:ext>
            </a:extLst>
          </p:cNvPr>
          <p:cNvSpPr/>
          <p:nvPr/>
        </p:nvSpPr>
        <p:spPr>
          <a:xfrm>
            <a:off x="3670300" y="2235200"/>
            <a:ext cx="381000" cy="381000"/>
          </a:xfrm>
          <a:prstGeom prst="ellipse">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300" b="1">
                <a:solidFill>
                  <a:srgbClr val="FFFFFF"/>
                </a:solidFill>
                <a:latin typeface="Noto Sans KR" panose="020B0200000000000000" pitchFamily="50" charset="-127"/>
                <a:ea typeface="Noto Sans KR" panose="020B0200000000000000" pitchFamily="50" charset="-127"/>
              </a:rPr>
              <a:t>2</a:t>
            </a:r>
            <a:endParaRPr lang="ko-KR" altLang="en-US" sz="1300" b="1">
              <a:solidFill>
                <a:srgbClr val="FFFFFF"/>
              </a:solidFill>
              <a:latin typeface="Noto Sans KR" panose="020B0200000000000000" pitchFamily="50" charset="-127"/>
              <a:ea typeface="Noto Sans KR" panose="020B0200000000000000" pitchFamily="50" charset="-127"/>
            </a:endParaRPr>
          </a:p>
        </p:txBody>
      </p:sp>
      <p:sp>
        <p:nvSpPr>
          <p:cNvPr id="33" name="TextBox 32">
            <a:extLst>
              <a:ext uri="{FF2B5EF4-FFF2-40B4-BE49-F238E27FC236}">
                <a16:creationId xmlns:a16="http://schemas.microsoft.com/office/drawing/2014/main" id="{21815F63-6298-46D3-840F-181B598929E3}"/>
              </a:ext>
            </a:extLst>
          </p:cNvPr>
          <p:cNvSpPr txBox="1"/>
          <p:nvPr/>
        </p:nvSpPr>
        <p:spPr>
          <a:xfrm>
            <a:off x="3670300" y="2768600"/>
            <a:ext cx="22352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모으기</a:t>
            </a:r>
          </a:p>
        </p:txBody>
      </p:sp>
      <p:sp>
        <p:nvSpPr>
          <p:cNvPr id="34" name="TextBox 33">
            <a:extLst>
              <a:ext uri="{FF2B5EF4-FFF2-40B4-BE49-F238E27FC236}">
                <a16:creationId xmlns:a16="http://schemas.microsoft.com/office/drawing/2014/main" id="{9DFB28EE-5334-4F1B-9361-90A88D481D26}"/>
              </a:ext>
            </a:extLst>
          </p:cNvPr>
          <p:cNvSpPr txBox="1"/>
          <p:nvPr/>
        </p:nvSpPr>
        <p:spPr>
          <a:xfrm>
            <a:off x="3670300" y="32004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좋은 점 </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아쉬운 점을 메모해 </a:t>
            </a:r>
            <a:r>
              <a:rPr lang="en-US" altLang="ko-KR" sz="1200">
                <a:solidFill>
                  <a:srgbClr val="4A505C"/>
                </a:solidFill>
                <a:latin typeface="Noto Sans KR" panose="020B0200000000000000" pitchFamily="50" charset="-127"/>
                <a:ea typeface="Noto Sans KR" panose="020B0200000000000000" pitchFamily="50" charset="-127"/>
              </a:rPr>
              <a:t>MYBOX · </a:t>
            </a:r>
            <a:r>
              <a:rPr lang="ko-KR" altLang="en-US" sz="1200">
                <a:solidFill>
                  <a:srgbClr val="4A505C"/>
                </a:solidFill>
                <a:latin typeface="Noto Sans KR" panose="020B0200000000000000" pitchFamily="50" charset="-127"/>
                <a:ea typeface="Noto Sans KR" panose="020B0200000000000000" pitchFamily="50" charset="-127"/>
              </a:rPr>
              <a:t>노션에 공유</a:t>
            </a:r>
          </a:p>
        </p:txBody>
      </p:sp>
      <p:sp>
        <p:nvSpPr>
          <p:cNvPr id="35" name="TextBox 34">
            <a:extLst>
              <a:ext uri="{FF2B5EF4-FFF2-40B4-BE49-F238E27FC236}">
                <a16:creationId xmlns:a16="http://schemas.microsoft.com/office/drawing/2014/main" id="{C6FF1FC5-8937-48DB-B919-96C6A79FA818}"/>
              </a:ext>
            </a:extLst>
          </p:cNvPr>
          <p:cNvSpPr txBox="1"/>
          <p:nvPr/>
        </p:nvSpPr>
        <p:spPr>
          <a:xfrm>
            <a:off x="6032500" y="3327400"/>
            <a:ext cx="1397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36" name="사각형: 둥근 모서리 35">
            <a:extLst>
              <a:ext uri="{FF2B5EF4-FFF2-40B4-BE49-F238E27FC236}">
                <a16:creationId xmlns:a16="http://schemas.microsoft.com/office/drawing/2014/main" id="{B0204BA3-3EE7-4C20-83E8-6C6FB0578D34}"/>
              </a:ext>
            </a:extLst>
          </p:cNvPr>
          <p:cNvSpPr/>
          <p:nvPr/>
        </p:nvSpPr>
        <p:spPr>
          <a:xfrm>
            <a:off x="6172200" y="2032000"/>
            <a:ext cx="2540000" cy="2921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a:extLst>
              <a:ext uri="{FF2B5EF4-FFF2-40B4-BE49-F238E27FC236}">
                <a16:creationId xmlns:a16="http://schemas.microsoft.com/office/drawing/2014/main" id="{10D74AC9-5765-485B-9607-C10AD9F31C98}"/>
              </a:ext>
            </a:extLst>
          </p:cNvPr>
          <p:cNvSpPr/>
          <p:nvPr/>
        </p:nvSpPr>
        <p:spPr>
          <a:xfrm>
            <a:off x="6350000" y="2235200"/>
            <a:ext cx="381000" cy="381000"/>
          </a:xfrm>
          <a:prstGeom prst="ellipse">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300" b="1">
                <a:solidFill>
                  <a:srgbClr val="FFFFFF"/>
                </a:solidFill>
                <a:latin typeface="Noto Sans KR" panose="020B0200000000000000" pitchFamily="50" charset="-127"/>
                <a:ea typeface="Noto Sans KR" panose="020B0200000000000000" pitchFamily="50" charset="-127"/>
              </a:rPr>
              <a:t>3</a:t>
            </a:r>
            <a:endParaRPr lang="ko-KR" altLang="en-US" sz="1300" b="1">
              <a:solidFill>
                <a:srgbClr val="FFFFFF"/>
              </a:solidFill>
              <a:latin typeface="Noto Sans KR" panose="020B0200000000000000" pitchFamily="50" charset="-127"/>
              <a:ea typeface="Noto Sans KR" panose="020B0200000000000000" pitchFamily="50" charset="-127"/>
            </a:endParaRPr>
          </a:p>
        </p:txBody>
      </p:sp>
      <p:sp>
        <p:nvSpPr>
          <p:cNvPr id="38" name="TextBox 37">
            <a:extLst>
              <a:ext uri="{FF2B5EF4-FFF2-40B4-BE49-F238E27FC236}">
                <a16:creationId xmlns:a16="http://schemas.microsoft.com/office/drawing/2014/main" id="{26D58CA1-27D9-45D6-AAC5-4137CDCE3797}"/>
              </a:ext>
            </a:extLst>
          </p:cNvPr>
          <p:cNvSpPr txBox="1"/>
          <p:nvPr/>
        </p:nvSpPr>
        <p:spPr>
          <a:xfrm>
            <a:off x="6350000" y="2768600"/>
            <a:ext cx="22352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비교하기</a:t>
            </a:r>
          </a:p>
        </p:txBody>
      </p:sp>
      <p:sp>
        <p:nvSpPr>
          <p:cNvPr id="39" name="TextBox 38">
            <a:extLst>
              <a:ext uri="{FF2B5EF4-FFF2-40B4-BE49-F238E27FC236}">
                <a16:creationId xmlns:a16="http://schemas.microsoft.com/office/drawing/2014/main" id="{25822FEF-647C-417E-975F-4D66A3447DD2}"/>
              </a:ext>
            </a:extLst>
          </p:cNvPr>
          <p:cNvSpPr txBox="1"/>
          <p:nvPr/>
        </p:nvSpPr>
        <p:spPr>
          <a:xfrm>
            <a:off x="6350000" y="32004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첫 화면</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메뉴</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포트폴리오</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제작 과정</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가격 안내를 항목별로 비교</a:t>
            </a:r>
          </a:p>
        </p:txBody>
      </p:sp>
      <p:sp>
        <p:nvSpPr>
          <p:cNvPr id="40" name="TextBox 39">
            <a:extLst>
              <a:ext uri="{FF2B5EF4-FFF2-40B4-BE49-F238E27FC236}">
                <a16:creationId xmlns:a16="http://schemas.microsoft.com/office/drawing/2014/main" id="{5AD46C56-4181-4818-A56E-896E8FC770E4}"/>
              </a:ext>
            </a:extLst>
          </p:cNvPr>
          <p:cNvSpPr txBox="1"/>
          <p:nvPr/>
        </p:nvSpPr>
        <p:spPr>
          <a:xfrm>
            <a:off x="8712200" y="3327400"/>
            <a:ext cx="139700" cy="369332"/>
          </a:xfrm>
          <a:prstGeom prst="rect">
            <a:avLst/>
          </a:prstGeom>
          <a:noFill/>
        </p:spPr>
        <p:txBody>
          <a:bodyPr vert="horz" wrap="square" lIns="0" tIns="0" rIns="0" bIns="0" rtlCol="0">
            <a:noAutofit/>
          </a:bodyPr>
          <a:lstStyle/>
          <a:p>
            <a:pPr algn="ctr"/>
            <a:r>
              <a:rPr lang="en-US" altLang="ko-KR" sz="1600" b="1">
                <a:solidFill>
                  <a:srgbClr val="8A8F98"/>
                </a:solidFill>
                <a:latin typeface="Noto Sans KR" panose="020B0200000000000000" pitchFamily="50" charset="-127"/>
                <a:ea typeface="Noto Sans KR" panose="020B0200000000000000" pitchFamily="50" charset="-127"/>
              </a:rPr>
              <a:t>›</a:t>
            </a:r>
            <a:endParaRPr lang="ko-KR" altLang="en-US" sz="1600" b="1">
              <a:solidFill>
                <a:srgbClr val="8A8F98"/>
              </a:solidFill>
              <a:latin typeface="Noto Sans KR" panose="020B0200000000000000" pitchFamily="50" charset="-127"/>
              <a:ea typeface="Noto Sans KR" panose="020B0200000000000000" pitchFamily="50" charset="-127"/>
            </a:endParaRPr>
          </a:p>
        </p:txBody>
      </p:sp>
      <p:sp>
        <p:nvSpPr>
          <p:cNvPr id="41" name="사각형: 둥근 모서리 40">
            <a:extLst>
              <a:ext uri="{FF2B5EF4-FFF2-40B4-BE49-F238E27FC236}">
                <a16:creationId xmlns:a16="http://schemas.microsoft.com/office/drawing/2014/main" id="{605BB33F-916C-4732-B5AD-E3156860E4F8}"/>
              </a:ext>
            </a:extLst>
          </p:cNvPr>
          <p:cNvSpPr/>
          <p:nvPr/>
        </p:nvSpPr>
        <p:spPr>
          <a:xfrm>
            <a:off x="8851900" y="2032000"/>
            <a:ext cx="2540000" cy="2921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B07C76CB-07D2-4678-9F9D-3001D165230E}"/>
              </a:ext>
            </a:extLst>
          </p:cNvPr>
          <p:cNvSpPr/>
          <p:nvPr/>
        </p:nvSpPr>
        <p:spPr>
          <a:xfrm>
            <a:off x="9029700" y="2235200"/>
            <a:ext cx="381000" cy="381000"/>
          </a:xfrm>
          <a:prstGeom prst="ellipse">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300" b="1">
                <a:solidFill>
                  <a:srgbClr val="FFFFFF"/>
                </a:solidFill>
                <a:latin typeface="Noto Sans KR" panose="020B0200000000000000" pitchFamily="50" charset="-127"/>
                <a:ea typeface="Noto Sans KR" panose="020B0200000000000000" pitchFamily="50" charset="-127"/>
              </a:rPr>
              <a:t>4</a:t>
            </a:r>
            <a:endParaRPr lang="ko-KR" altLang="en-US" sz="1300" b="1">
              <a:solidFill>
                <a:srgbClr val="FFFFFF"/>
              </a:solidFill>
              <a:latin typeface="Noto Sans KR" panose="020B0200000000000000" pitchFamily="50" charset="-127"/>
              <a:ea typeface="Noto Sans KR" panose="020B0200000000000000" pitchFamily="50" charset="-127"/>
            </a:endParaRPr>
          </a:p>
        </p:txBody>
      </p:sp>
      <p:sp>
        <p:nvSpPr>
          <p:cNvPr id="43" name="TextBox 42">
            <a:extLst>
              <a:ext uri="{FF2B5EF4-FFF2-40B4-BE49-F238E27FC236}">
                <a16:creationId xmlns:a16="http://schemas.microsoft.com/office/drawing/2014/main" id="{ABBCCFD5-1A11-406C-8939-714A7F6371E1}"/>
              </a:ext>
            </a:extLst>
          </p:cNvPr>
          <p:cNvSpPr txBox="1"/>
          <p:nvPr/>
        </p:nvSpPr>
        <p:spPr>
          <a:xfrm>
            <a:off x="9029700" y="2768600"/>
            <a:ext cx="22352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적용하기</a:t>
            </a:r>
          </a:p>
        </p:txBody>
      </p:sp>
      <p:sp>
        <p:nvSpPr>
          <p:cNvPr id="44" name="TextBox 43">
            <a:extLst>
              <a:ext uri="{FF2B5EF4-FFF2-40B4-BE49-F238E27FC236}">
                <a16:creationId xmlns:a16="http://schemas.microsoft.com/office/drawing/2014/main" id="{4604A8B2-BF8D-4D05-8C57-6265144BB2EF}"/>
              </a:ext>
            </a:extLst>
          </p:cNvPr>
          <p:cNvSpPr txBox="1"/>
          <p:nvPr/>
        </p:nvSpPr>
        <p:spPr>
          <a:xfrm>
            <a:off x="9029700" y="3200400"/>
            <a:ext cx="22352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그대로 따라 하지 않고 우리 회사에 맞게 바꿔서 시안에 반영</a:t>
            </a:r>
          </a:p>
        </p:txBody>
      </p:sp>
      <p:sp>
        <p:nvSpPr>
          <p:cNvPr id="45" name="사각형: 둥근 모서리 44">
            <a:extLst>
              <a:ext uri="{FF2B5EF4-FFF2-40B4-BE49-F238E27FC236}">
                <a16:creationId xmlns:a16="http://schemas.microsoft.com/office/drawing/2014/main" id="{DC926A71-5E18-4811-9FAA-71E7A9F54511}"/>
              </a:ext>
            </a:extLst>
          </p:cNvPr>
          <p:cNvSpPr/>
          <p:nvPr/>
        </p:nvSpPr>
        <p:spPr>
          <a:xfrm>
            <a:off x="812800" y="52070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TextBox 45">
            <a:extLst>
              <a:ext uri="{FF2B5EF4-FFF2-40B4-BE49-F238E27FC236}">
                <a16:creationId xmlns:a16="http://schemas.microsoft.com/office/drawing/2014/main" id="{65B5DA2E-4FC4-4B9F-A20C-B083EF3EA3D5}"/>
              </a:ext>
            </a:extLst>
          </p:cNvPr>
          <p:cNvSpPr txBox="1"/>
          <p:nvPr/>
        </p:nvSpPr>
        <p:spPr>
          <a:xfrm>
            <a:off x="1066800" y="5372100"/>
            <a:ext cx="1016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원칙</a:t>
            </a:r>
            <a:r>
              <a:rPr lang="ko-KR" altLang="en-US" sz="1300">
                <a:solidFill>
                  <a:srgbClr val="E8692C"/>
                </a:solidFill>
                <a:latin typeface="Noto Sans KR" panose="020B0200000000000000" pitchFamily="50" charset="-127"/>
                <a:ea typeface="Noto Sans KR" panose="020B0200000000000000" pitchFamily="50" charset="-127"/>
              </a:rPr>
              <a:t>　디자인을 베끼지 않고</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구성과 기능 아이디어만 참고했습니다</a:t>
            </a:r>
          </a:p>
        </p:txBody>
      </p:sp>
    </p:spTree>
    <p:extLst>
      <p:ext uri="{BB962C8B-B14F-4D97-AF65-F5344CB8AC3E}">
        <p14:creationId xmlns:p14="http://schemas.microsoft.com/office/powerpoint/2010/main" val="3619128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08 · </a:t>
            </a:r>
            <a:r>
              <a:rPr lang="ko-KR" altLang="en-US" sz="1200" b="1" kern="0" spc="150">
                <a:solidFill>
                  <a:srgbClr val="B0441A"/>
                </a:solidFill>
                <a:latin typeface="JetBrains Mono" pitchFamily="49" charset="0"/>
                <a:ea typeface="JetBrains Mono" pitchFamily="49" charset="-122"/>
                <a:cs typeface="JetBrains Mono" pitchFamily="49" charset="-120"/>
              </a:rPr>
              <a:t>벤치마킹</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벤치마킹 </a:t>
            </a:r>
            <a:r>
              <a:rPr lang="en-US" altLang="ko-KR" sz="3200" b="1" i="0">
                <a:solidFill>
                  <a:srgbClr val="1B2433"/>
                </a:solidFill>
                <a:latin typeface="Noto Sans KR" pitchFamily="34" charset="0"/>
                <a:ea typeface="Noto Sans KR" pitchFamily="34" charset="-122"/>
                <a:cs typeface="Noto Sans KR" pitchFamily="34" charset="-120"/>
              </a:rPr>
              <a:t>— AI </a:t>
            </a:r>
            <a:r>
              <a:rPr lang="ko-KR" altLang="en-US" sz="3200" b="1" i="0">
                <a:solidFill>
                  <a:srgbClr val="1B2433"/>
                </a:solidFill>
                <a:latin typeface="Noto Sans KR" pitchFamily="34" charset="0"/>
                <a:ea typeface="Noto Sans KR" pitchFamily="34" charset="-122"/>
                <a:cs typeface="Noto Sans KR" pitchFamily="34" charset="-120"/>
              </a:rPr>
              <a:t>영상 제작사 홈페이지를 조사했습니다</a:t>
            </a:r>
            <a:endParaRPr lang="en-US" sz="3200" dirty="0"/>
          </a:p>
        </p:txBody>
      </p:sp>
      <p:sp>
        <p:nvSpPr>
          <p:cNvPr id="26" name="TextBox 25">
            <a:extLst>
              <a:ext uri="{FF2B5EF4-FFF2-40B4-BE49-F238E27FC236}">
                <a16:creationId xmlns:a16="http://schemas.microsoft.com/office/drawing/2014/main" id="{F7B8CAEC-66B2-4C87-87A6-25ECB2935DDA}"/>
              </a:ext>
            </a:extLst>
          </p:cNvPr>
          <p:cNvSpPr txBox="1"/>
          <p:nvPr/>
        </p:nvSpPr>
        <p:spPr>
          <a:xfrm>
            <a:off x="812800" y="1778000"/>
            <a:ext cx="105664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벤치마킹</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잘 만든 다른 회사의 사례를 조사해서</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우리 작업에 맞게 응용하는 것</a:t>
            </a:r>
          </a:p>
        </p:txBody>
      </p:sp>
      <p:graphicFrame>
        <p:nvGraphicFramePr>
          <p:cNvPr id="27" name="표 26">
            <a:extLst>
              <a:ext uri="{FF2B5EF4-FFF2-40B4-BE49-F238E27FC236}">
                <a16:creationId xmlns:a16="http://schemas.microsoft.com/office/drawing/2014/main" id="{D34D76C6-7779-4708-AEDB-E01B112E6550}"/>
              </a:ext>
            </a:extLst>
          </p:cNvPr>
          <p:cNvGraphicFramePr>
            <a:graphicFrameLocks noGrp="1"/>
          </p:cNvGraphicFramePr>
          <p:nvPr>
            <p:extLst>
              <p:ext uri="{D42A27DB-BD31-4B8C-83A1-F6EECF244321}">
                <p14:modId xmlns:p14="http://schemas.microsoft.com/office/powerpoint/2010/main" val="1963524361"/>
              </p:ext>
            </p:extLst>
          </p:nvPr>
        </p:nvGraphicFramePr>
        <p:xfrm>
          <a:off x="812800" y="2133600"/>
          <a:ext cx="10566400" cy="3048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573547718"/>
                    </a:ext>
                  </a:extLst>
                </a:gridCol>
                <a:gridCol w="4191000">
                  <a:extLst>
                    <a:ext uri="{9D8B030D-6E8A-4147-A177-3AD203B41FA5}">
                      <a16:colId xmlns:a16="http://schemas.microsoft.com/office/drawing/2014/main" val="734111344"/>
                    </a:ext>
                  </a:extLst>
                </a:gridCol>
                <a:gridCol w="4470400">
                  <a:extLst>
                    <a:ext uri="{9D8B030D-6E8A-4147-A177-3AD203B41FA5}">
                      <a16:colId xmlns:a16="http://schemas.microsoft.com/office/drawing/2014/main" val="1158343431"/>
                    </a:ext>
                  </a:extLst>
                </a:gridCol>
              </a:tblGrid>
              <a:tr h="508000">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살펴본 것</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다른 회사 홈페이지는</a:t>
                      </a:r>
                    </a:p>
                  </a:txBody>
                  <a:tcPr marL="127000" marR="101600" anchor="ctr">
                    <a:solidFill>
                      <a:srgbClr val="16202E"/>
                    </a:solidFill>
                  </a:tcPr>
                </a:tc>
                <a:tc>
                  <a:txBody>
                    <a:bodyPr/>
                    <a:lstStyle/>
                    <a:p>
                      <a:pPr latinLnBrk="1"/>
                      <a:r>
                        <a:rPr lang="ko-KR" altLang="en-US" sz="1200" b="1">
                          <a:solidFill>
                            <a:srgbClr val="FFFFFF"/>
                          </a:solidFill>
                          <a:latin typeface="Noto Sans KR" panose="020B0200000000000000" pitchFamily="50" charset="-127"/>
                          <a:ea typeface="Noto Sans KR" panose="020B0200000000000000" pitchFamily="50" charset="-127"/>
                        </a:rPr>
                        <a:t>우리는 이렇게 적용</a:t>
                      </a:r>
                    </a:p>
                  </a:txBody>
                  <a:tcPr marL="127000" marR="101600" anchor="ctr">
                    <a:solidFill>
                      <a:srgbClr val="16202E"/>
                    </a:solidFill>
                  </a:tcPr>
                </a:tc>
                <a:extLst>
                  <a:ext uri="{0D108BD9-81ED-4DB2-BD59-A6C34878D82A}">
                    <a16:rowId xmlns:a16="http://schemas.microsoft.com/office/drawing/2014/main" val="705968102"/>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첫 화면</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대표 영상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큰 문구로 첫인상</a:t>
                      </a:r>
                    </a:p>
                  </a:txBody>
                  <a:tcPr marL="127000" marR="101600" anchor="ctr">
                    <a:solidFill>
                      <a:srgbClr val="FDFCF9"/>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큰 문구 모션 </a:t>
                      </a:r>
                      <a:r>
                        <a:rPr lang="en-US" altLang="ko-KR" sz="1200" b="0">
                          <a:solidFill>
                            <a:srgbClr val="E8692C"/>
                          </a:solidFill>
                          <a:latin typeface="Noto Sans KR" panose="020B0200000000000000" pitchFamily="50" charset="-127"/>
                          <a:ea typeface="Noto Sans KR" panose="020B0200000000000000" pitchFamily="50" charset="-127"/>
                        </a:rPr>
                        <a:t>+ 5 ~ 10</a:t>
                      </a:r>
                      <a:r>
                        <a:rPr lang="ko-KR" altLang="en-US" sz="1200" b="0">
                          <a:solidFill>
                            <a:srgbClr val="E8692C"/>
                          </a:solidFill>
                          <a:latin typeface="Noto Sans KR" panose="020B0200000000000000" pitchFamily="50" charset="-127"/>
                          <a:ea typeface="Noto Sans KR" panose="020B0200000000000000" pitchFamily="50" charset="-127"/>
                        </a:rPr>
                        <a:t>초 배경 영상</a:t>
                      </a:r>
                    </a:p>
                  </a:txBody>
                  <a:tcPr marL="127000" marR="101600" anchor="ctr">
                    <a:solidFill>
                      <a:srgbClr val="FDFCF9"/>
                    </a:solidFill>
                  </a:tcPr>
                </a:tc>
                <a:extLst>
                  <a:ext uri="{0D108BD9-81ED-4DB2-BD59-A6C34878D82A}">
                    <a16:rowId xmlns:a16="http://schemas.microsoft.com/office/drawing/2014/main" val="1623182396"/>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메뉴 구성</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회사 소개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작업물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문의로 단순하게</a:t>
                      </a:r>
                    </a:p>
                  </a:txBody>
                  <a:tcPr marL="127000" marR="101600" anchor="ctr">
                    <a:solidFill>
                      <a:srgbClr val="ECE9E1"/>
                    </a:solidFill>
                  </a:tcPr>
                </a:tc>
                <a:tc>
                  <a:txBody>
                    <a:bodyPr/>
                    <a:lstStyle/>
                    <a:p>
                      <a:pPr latinLnBrk="1"/>
                      <a:r>
                        <a:rPr lang="it-IT" altLang="ko-KR" sz="1200" b="0">
                          <a:solidFill>
                            <a:srgbClr val="E8692C"/>
                          </a:solidFill>
                          <a:latin typeface="Noto Sans KR" panose="020B0200000000000000" pitchFamily="50" charset="-127"/>
                          <a:ea typeface="Noto Sans KR" panose="020B0200000000000000" pitchFamily="50" charset="-127"/>
                        </a:rPr>
                        <a:t>ABOUT · AI VIDEO · PORTFOLIO · CONTACT</a:t>
                      </a:r>
                      <a:endParaRPr lang="ko-KR" altLang="en-US" sz="1200" b="0">
                        <a:solidFill>
                          <a:srgbClr val="E8692C"/>
                        </a:solidFill>
                        <a:latin typeface="Noto Sans KR" panose="020B0200000000000000" pitchFamily="50" charset="-127"/>
                        <a:ea typeface="Noto Sans KR" panose="020B0200000000000000" pitchFamily="50" charset="-127"/>
                      </a:endParaRPr>
                    </a:p>
                  </a:txBody>
                  <a:tcPr marL="127000" marR="101600" anchor="ctr">
                    <a:solidFill>
                      <a:srgbClr val="ECE9E1"/>
                    </a:solidFill>
                  </a:tcPr>
                </a:tc>
                <a:extLst>
                  <a:ext uri="{0D108BD9-81ED-4DB2-BD59-A6C34878D82A}">
                    <a16:rowId xmlns:a16="http://schemas.microsoft.com/office/drawing/2014/main" val="1766910502"/>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포트폴리오</a:t>
                      </a:r>
                    </a:p>
                  </a:txBody>
                  <a:tcPr marL="127000" marR="101600" anchor="ctr">
                    <a:solidFill>
                      <a:srgbClr val="FDFCF9"/>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업종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용도별 분류</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썸네일 </a:t>
                      </a:r>
                      <a:r>
                        <a:rPr lang="en-US" altLang="ko-KR" sz="1200" b="0">
                          <a:solidFill>
                            <a:srgbClr val="1B2433"/>
                          </a:solidFill>
                          <a:latin typeface="Noto Sans KR" panose="020B0200000000000000" pitchFamily="50" charset="-127"/>
                          <a:ea typeface="Noto Sans KR" panose="020B0200000000000000" pitchFamily="50" charset="-127"/>
                        </a:rPr>
                        <a:t>+ </a:t>
                      </a:r>
                      <a:r>
                        <a:rPr lang="ko-KR" altLang="en-US" sz="1200" b="0">
                          <a:solidFill>
                            <a:srgbClr val="1B2433"/>
                          </a:solidFill>
                          <a:latin typeface="Noto Sans KR" panose="020B0200000000000000" pitchFamily="50" charset="-127"/>
                          <a:ea typeface="Noto Sans KR" panose="020B0200000000000000" pitchFamily="50" charset="-127"/>
                        </a:rPr>
                        <a:t>영상</a:t>
                      </a:r>
                    </a:p>
                  </a:txBody>
                  <a:tcPr marL="127000" marR="101600" anchor="ctr">
                    <a:solidFill>
                      <a:srgbClr val="FDFCF9"/>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개인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기업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지역 필터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영상 </a:t>
                      </a:r>
                      <a:r>
                        <a:rPr lang="en-US" altLang="ko-KR" sz="1200" b="0">
                          <a:solidFill>
                            <a:srgbClr val="E8692C"/>
                          </a:solidFill>
                          <a:latin typeface="Noto Sans KR" panose="020B0200000000000000" pitchFamily="50" charset="-127"/>
                          <a:ea typeface="Noto Sans KR" panose="020B0200000000000000" pitchFamily="50" charset="-127"/>
                        </a:rPr>
                        <a:t>16</a:t>
                      </a:r>
                      <a:r>
                        <a:rPr lang="ko-KR" altLang="en-US" sz="1200" b="0">
                          <a:solidFill>
                            <a:srgbClr val="E8692C"/>
                          </a:solidFill>
                          <a:latin typeface="Noto Sans KR" panose="020B0200000000000000" pitchFamily="50" charset="-127"/>
                          <a:ea typeface="Noto Sans KR" panose="020B0200000000000000" pitchFamily="50" charset="-127"/>
                        </a:rPr>
                        <a:t>편</a:t>
                      </a:r>
                    </a:p>
                  </a:txBody>
                  <a:tcPr marL="127000" marR="101600" anchor="ctr">
                    <a:solidFill>
                      <a:srgbClr val="FDFCF9"/>
                    </a:solidFill>
                  </a:tcPr>
                </a:tc>
                <a:extLst>
                  <a:ext uri="{0D108BD9-81ED-4DB2-BD59-A6C34878D82A}">
                    <a16:rowId xmlns:a16="http://schemas.microsoft.com/office/drawing/2014/main" val="710906307"/>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제작 과정</a:t>
                      </a:r>
                    </a:p>
                  </a:txBody>
                  <a:tcPr marL="127000" marR="101600" anchor="ctr">
                    <a:solidFill>
                      <a:srgbClr val="ECE9E1"/>
                    </a:solidFill>
                  </a:tcPr>
                </a:tc>
                <a:tc>
                  <a:txBody>
                    <a:bodyPr/>
                    <a:lstStyle/>
                    <a:p>
                      <a:pPr latinLnBrk="1"/>
                      <a:r>
                        <a:rPr lang="ko-KR" altLang="en-US" sz="1200" b="0">
                          <a:solidFill>
                            <a:srgbClr val="1B2433"/>
                          </a:solidFill>
                          <a:latin typeface="Noto Sans KR" panose="020B0200000000000000" pitchFamily="50" charset="-127"/>
                          <a:ea typeface="Noto Sans KR" panose="020B0200000000000000" pitchFamily="50" charset="-127"/>
                        </a:rPr>
                        <a:t>상담 → 기획 → 제작 → 납품 단계 소개</a:t>
                      </a:r>
                    </a:p>
                  </a:txBody>
                  <a:tcPr marL="127000" marR="101600" anchor="ctr">
                    <a:solidFill>
                      <a:srgbClr val="ECE9E1"/>
                    </a:solidFill>
                  </a:tcPr>
                </a:tc>
                <a:tc>
                  <a:txBody>
                    <a:bodyPr/>
                    <a:lstStyle/>
                    <a:p>
                      <a:pPr latinLnBrk="1"/>
                      <a:r>
                        <a:rPr lang="en-US" altLang="ko-KR" sz="1200" b="0">
                          <a:solidFill>
                            <a:srgbClr val="E8692C"/>
                          </a:solidFill>
                          <a:latin typeface="Noto Sans KR" panose="020B0200000000000000" pitchFamily="50" charset="-127"/>
                          <a:ea typeface="Noto Sans KR" panose="020B0200000000000000" pitchFamily="50" charset="-127"/>
                        </a:rPr>
                        <a:t>4</a:t>
                      </a:r>
                      <a:r>
                        <a:rPr lang="ko-KR" altLang="en-US" sz="1200" b="0">
                          <a:solidFill>
                            <a:srgbClr val="E8692C"/>
                          </a:solidFill>
                          <a:latin typeface="Noto Sans KR" panose="020B0200000000000000" pitchFamily="50" charset="-127"/>
                          <a:ea typeface="Noto Sans KR" panose="020B0200000000000000" pitchFamily="50" charset="-127"/>
                        </a:rPr>
                        <a:t>단계 카드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상담 준비 안내창</a:t>
                      </a:r>
                    </a:p>
                  </a:txBody>
                  <a:tcPr marL="127000" marR="101600" anchor="ctr">
                    <a:solidFill>
                      <a:srgbClr val="ECE9E1"/>
                    </a:solidFill>
                  </a:tcPr>
                </a:tc>
                <a:extLst>
                  <a:ext uri="{0D108BD9-81ED-4DB2-BD59-A6C34878D82A}">
                    <a16:rowId xmlns:a16="http://schemas.microsoft.com/office/drawing/2014/main" val="2830146102"/>
                  </a:ext>
                </a:extLst>
              </a:tr>
              <a:tr h="508000">
                <a:tc>
                  <a:txBody>
                    <a:bodyPr/>
                    <a:lstStyle/>
                    <a:p>
                      <a:pPr latinLnBrk="1"/>
                      <a:r>
                        <a:rPr lang="ko-KR" altLang="en-US" sz="1200" b="1">
                          <a:solidFill>
                            <a:srgbClr val="1B2433"/>
                          </a:solidFill>
                          <a:latin typeface="Noto Sans KR" panose="020B0200000000000000" pitchFamily="50" charset="-127"/>
                          <a:ea typeface="Noto Sans KR" panose="020B0200000000000000" pitchFamily="50" charset="-127"/>
                        </a:rPr>
                        <a:t>가격 안내</a:t>
                      </a:r>
                    </a:p>
                  </a:txBody>
                  <a:tcPr marL="127000" marR="101600" anchor="ctr">
                    <a:solidFill>
                      <a:srgbClr val="FDFCF9"/>
                    </a:solidFill>
                  </a:tcPr>
                </a:tc>
                <a:tc>
                  <a:txBody>
                    <a:bodyPr/>
                    <a:lstStyle/>
                    <a:p>
                      <a:pPr latinLnBrk="1"/>
                      <a:r>
                        <a:rPr lang="en-US" altLang="ko-KR" sz="1200" b="0">
                          <a:solidFill>
                            <a:srgbClr val="1B2433"/>
                          </a:solidFill>
                          <a:latin typeface="Noto Sans KR" panose="020B0200000000000000" pitchFamily="50" charset="-127"/>
                          <a:ea typeface="Noto Sans KR" panose="020B0200000000000000" pitchFamily="50" charset="-127"/>
                        </a:rPr>
                        <a:t>'</a:t>
                      </a:r>
                      <a:r>
                        <a:rPr lang="ko-KR" altLang="en-US" sz="1200" b="0">
                          <a:solidFill>
                            <a:srgbClr val="1B2433"/>
                          </a:solidFill>
                          <a:latin typeface="Noto Sans KR" panose="020B0200000000000000" pitchFamily="50" charset="-127"/>
                          <a:ea typeface="Noto Sans KR" panose="020B0200000000000000" pitchFamily="50" charset="-127"/>
                        </a:rPr>
                        <a:t>문의 주세요</a:t>
                      </a:r>
                      <a:r>
                        <a:rPr lang="en-US" altLang="ko-KR" sz="1200" b="0">
                          <a:solidFill>
                            <a:srgbClr val="1B2433"/>
                          </a:solidFill>
                          <a:latin typeface="Noto Sans KR" panose="020B0200000000000000" pitchFamily="50" charset="-127"/>
                          <a:ea typeface="Noto Sans KR" panose="020B0200000000000000" pitchFamily="50" charset="-127"/>
                        </a:rPr>
                        <a:t>'</a:t>
                      </a:r>
                      <a:r>
                        <a:rPr lang="ko-KR" altLang="en-US" sz="1200" b="0">
                          <a:solidFill>
                            <a:srgbClr val="1B2433"/>
                          </a:solidFill>
                          <a:latin typeface="Noto Sans KR" panose="020B0200000000000000" pitchFamily="50" charset="-127"/>
                          <a:ea typeface="Noto Sans KR" panose="020B0200000000000000" pitchFamily="50" charset="-127"/>
                        </a:rPr>
                        <a:t>로 가격을 숨긴 곳이 많음</a:t>
                      </a:r>
                    </a:p>
                  </a:txBody>
                  <a:tcPr marL="127000" marR="101600" anchor="ctr">
                    <a:solidFill>
                      <a:srgbClr val="FDFCF9"/>
                    </a:solidFill>
                  </a:tcPr>
                </a:tc>
                <a:tc>
                  <a:txBody>
                    <a:bodyPr/>
                    <a:lstStyle/>
                    <a:p>
                      <a:pPr latinLnBrk="1"/>
                      <a:r>
                        <a:rPr lang="ko-KR" altLang="en-US" sz="1200" b="0">
                          <a:solidFill>
                            <a:srgbClr val="E8692C"/>
                          </a:solidFill>
                          <a:latin typeface="Noto Sans KR" panose="020B0200000000000000" pitchFamily="50" charset="-127"/>
                          <a:ea typeface="Noto Sans KR" panose="020B0200000000000000" pitchFamily="50" charset="-127"/>
                        </a:rPr>
                        <a:t>화질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길이 </a:t>
                      </a:r>
                      <a:r>
                        <a:rPr lang="en-US" altLang="ko-KR" sz="1200" b="0">
                          <a:solidFill>
                            <a:srgbClr val="E8692C"/>
                          </a:solidFill>
                          <a:latin typeface="Noto Sans KR" panose="020B0200000000000000" pitchFamily="50" charset="-127"/>
                          <a:ea typeface="Noto Sans KR" panose="020B0200000000000000" pitchFamily="50" charset="-127"/>
                        </a:rPr>
                        <a:t>· </a:t>
                      </a:r>
                      <a:r>
                        <a:rPr lang="ko-KR" altLang="en-US" sz="1200" b="0">
                          <a:solidFill>
                            <a:srgbClr val="E8692C"/>
                          </a:solidFill>
                          <a:latin typeface="Noto Sans KR" panose="020B0200000000000000" pitchFamily="50" charset="-127"/>
                          <a:ea typeface="Noto Sans KR" panose="020B0200000000000000" pitchFamily="50" charset="-127"/>
                        </a:rPr>
                        <a:t>수량으로 예상 견적 자동 계산</a:t>
                      </a:r>
                    </a:p>
                  </a:txBody>
                  <a:tcPr marL="127000" marR="101600" anchor="ctr">
                    <a:solidFill>
                      <a:srgbClr val="FDFCF9"/>
                    </a:solidFill>
                  </a:tcPr>
                </a:tc>
                <a:extLst>
                  <a:ext uri="{0D108BD9-81ED-4DB2-BD59-A6C34878D82A}">
                    <a16:rowId xmlns:a16="http://schemas.microsoft.com/office/drawing/2014/main" val="2213013991"/>
                  </a:ext>
                </a:extLst>
              </a:tr>
            </a:tbl>
          </a:graphicData>
        </a:graphic>
      </p:graphicFrame>
      <p:sp>
        <p:nvSpPr>
          <p:cNvPr id="28" name="사각형: 둥근 모서리 27">
            <a:extLst>
              <a:ext uri="{FF2B5EF4-FFF2-40B4-BE49-F238E27FC236}">
                <a16:creationId xmlns:a16="http://schemas.microsoft.com/office/drawing/2014/main" id="{B9DED7AB-0043-473D-8E1D-A36134D2F1BB}"/>
              </a:ext>
            </a:extLst>
          </p:cNvPr>
          <p:cNvSpPr/>
          <p:nvPr/>
        </p:nvSpPr>
        <p:spPr>
          <a:xfrm>
            <a:off x="812800" y="5334000"/>
            <a:ext cx="10566400" cy="5588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TextBox 28">
            <a:extLst>
              <a:ext uri="{FF2B5EF4-FFF2-40B4-BE49-F238E27FC236}">
                <a16:creationId xmlns:a16="http://schemas.microsoft.com/office/drawing/2014/main" id="{ECD59FFB-11B7-4EA4-B72E-0D7FAA5141EE}"/>
              </a:ext>
            </a:extLst>
          </p:cNvPr>
          <p:cNvSpPr txBox="1"/>
          <p:nvPr/>
        </p:nvSpPr>
        <p:spPr>
          <a:xfrm>
            <a:off x="1066800" y="5499100"/>
            <a:ext cx="6604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조사한 사이트</a:t>
            </a:r>
            <a:r>
              <a:rPr lang="ko-KR" altLang="en-US" sz="1300">
                <a:solidFill>
                  <a:srgbClr val="E8692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a:t>
            </a:r>
            <a:r>
              <a:rPr lang="ko-KR" altLang="en-US" sz="1300">
                <a:solidFill>
                  <a:srgbClr val="E8692C"/>
                </a:solidFill>
                <a:latin typeface="Noto Sans KR" panose="020B0200000000000000" pitchFamily="50" charset="-127"/>
                <a:ea typeface="Noto Sans KR" panose="020B0200000000000000" pitchFamily="50" charset="-127"/>
              </a:rPr>
              <a:t>사이트 이름 </a:t>
            </a:r>
            <a:r>
              <a:rPr lang="en-US" altLang="ko-KR" sz="1300">
                <a:solidFill>
                  <a:srgbClr val="E8692C"/>
                </a:solidFill>
                <a:latin typeface="Noto Sans KR" panose="020B0200000000000000" pitchFamily="50" charset="-127"/>
                <a:ea typeface="Noto Sans KR" panose="020B0200000000000000" pitchFamily="50" charset="-127"/>
              </a:rPr>
              <a:t>1] · [</a:t>
            </a:r>
            <a:r>
              <a:rPr lang="ko-KR" altLang="en-US" sz="1300">
                <a:solidFill>
                  <a:srgbClr val="E8692C"/>
                </a:solidFill>
                <a:latin typeface="Noto Sans KR" panose="020B0200000000000000" pitchFamily="50" charset="-127"/>
                <a:ea typeface="Noto Sans KR" panose="020B0200000000000000" pitchFamily="50" charset="-127"/>
              </a:rPr>
              <a:t>사이트 이름 </a:t>
            </a:r>
            <a:r>
              <a:rPr lang="en-US" altLang="ko-KR" sz="1300">
                <a:solidFill>
                  <a:srgbClr val="E8692C"/>
                </a:solidFill>
                <a:latin typeface="Noto Sans KR" panose="020B0200000000000000" pitchFamily="50" charset="-127"/>
                <a:ea typeface="Noto Sans KR" panose="020B0200000000000000" pitchFamily="50" charset="-127"/>
              </a:rPr>
              <a:t>2] · [</a:t>
            </a:r>
            <a:r>
              <a:rPr lang="ko-KR" altLang="en-US" sz="1300">
                <a:solidFill>
                  <a:srgbClr val="E8692C"/>
                </a:solidFill>
                <a:latin typeface="Noto Sans KR" panose="020B0200000000000000" pitchFamily="50" charset="-127"/>
                <a:ea typeface="Noto Sans KR" panose="020B0200000000000000" pitchFamily="50" charset="-127"/>
              </a:rPr>
              <a:t>사이트 이름 </a:t>
            </a:r>
            <a:r>
              <a:rPr lang="en-US" altLang="ko-KR" sz="1300">
                <a:solidFill>
                  <a:srgbClr val="E8692C"/>
                </a:solidFill>
                <a:latin typeface="Noto Sans KR" panose="020B0200000000000000" pitchFamily="50" charset="-127"/>
                <a:ea typeface="Noto Sans KR" panose="020B0200000000000000" pitchFamily="50" charset="-127"/>
              </a:rPr>
              <a:t>3]</a:t>
            </a:r>
            <a:endParaRPr lang="ko-KR" altLang="en-US" sz="1300">
              <a:solidFill>
                <a:srgbClr val="E8692C"/>
              </a:solidFill>
              <a:latin typeface="Noto Sans KR" panose="020B0200000000000000" pitchFamily="50" charset="-127"/>
              <a:ea typeface="Noto Sans KR" panose="020B0200000000000000" pitchFamily="50" charset="-127"/>
            </a:endParaRPr>
          </a:p>
        </p:txBody>
      </p:sp>
      <p:sp>
        <p:nvSpPr>
          <p:cNvPr id="30" name="TextBox 29">
            <a:extLst>
              <a:ext uri="{FF2B5EF4-FFF2-40B4-BE49-F238E27FC236}">
                <a16:creationId xmlns:a16="http://schemas.microsoft.com/office/drawing/2014/main" id="{44429BB0-66F7-4BEA-A727-DE125BF6922D}"/>
              </a:ext>
            </a:extLst>
          </p:cNvPr>
          <p:cNvSpPr txBox="1"/>
          <p:nvPr/>
        </p:nvSpPr>
        <p:spPr>
          <a:xfrm>
            <a:off x="7874000" y="5499100"/>
            <a:ext cx="3429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자료 정리</a:t>
            </a:r>
            <a:r>
              <a:rPr lang="ko-KR" altLang="en-US" sz="1300">
                <a:solidFill>
                  <a:srgbClr val="E8692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GitHub 02_</a:t>
            </a:r>
            <a:r>
              <a:rPr lang="ko-KR" altLang="en-US" sz="1300">
                <a:solidFill>
                  <a:srgbClr val="E8692C"/>
                </a:solidFill>
                <a:latin typeface="Noto Sans KR" panose="020B0200000000000000" pitchFamily="50" charset="-127"/>
                <a:ea typeface="Noto Sans KR" panose="020B0200000000000000" pitchFamily="50" charset="-127"/>
              </a:rPr>
              <a:t>참고자료</a:t>
            </a:r>
            <a:r>
              <a:rPr lang="en-US" altLang="ko-KR" sz="1300">
                <a:solidFill>
                  <a:srgbClr val="E8692C"/>
                </a:solidFill>
                <a:latin typeface="Noto Sans KR" panose="020B0200000000000000" pitchFamily="50" charset="-127"/>
                <a:ea typeface="Noto Sans KR" panose="020B0200000000000000" pitchFamily="50" charset="-127"/>
              </a:rPr>
              <a:t>_</a:t>
            </a:r>
            <a:r>
              <a:rPr lang="ko-KR" altLang="en-US" sz="1300">
                <a:solidFill>
                  <a:srgbClr val="E8692C"/>
                </a:solidFill>
                <a:latin typeface="Noto Sans KR" panose="020B0200000000000000" pitchFamily="50" charset="-127"/>
                <a:ea typeface="Noto Sans KR" panose="020B0200000000000000" pitchFamily="50" charset="-127"/>
              </a:rPr>
              <a:t>콘셉트</a:t>
            </a:r>
          </a:p>
        </p:txBody>
      </p:sp>
    </p:spTree>
    <p:extLst>
      <p:ext uri="{BB962C8B-B14F-4D97-AF65-F5344CB8AC3E}">
        <p14:creationId xmlns:p14="http://schemas.microsoft.com/office/powerpoint/2010/main" val="2191240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08 · </a:t>
            </a:r>
            <a:r>
              <a:rPr lang="ko-KR" altLang="en-US" sz="1200" b="1" kern="0" spc="150">
                <a:solidFill>
                  <a:srgbClr val="B0441A"/>
                </a:solidFill>
                <a:latin typeface="JetBrains Mono" pitchFamily="49" charset="0"/>
                <a:ea typeface="JetBrains Mono" pitchFamily="49" charset="-122"/>
                <a:cs typeface="JetBrains Mono" pitchFamily="49" charset="-120"/>
              </a:rPr>
              <a:t>벤치마킹</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벤치마킹한 내용이 이렇게 화면이 됐습니다</a:t>
            </a:r>
            <a:endParaRPr lang="en-US" sz="3200" dirty="0"/>
          </a:p>
        </p:txBody>
      </p:sp>
      <p:sp>
        <p:nvSpPr>
          <p:cNvPr id="26" name="사각형: 둥근 모서리 25">
            <a:extLst>
              <a:ext uri="{FF2B5EF4-FFF2-40B4-BE49-F238E27FC236}">
                <a16:creationId xmlns:a16="http://schemas.microsoft.com/office/drawing/2014/main" id="{3ECDE7BD-05CE-45AE-BAFC-C3C52DC0A7B0}"/>
              </a:ext>
            </a:extLst>
          </p:cNvPr>
          <p:cNvSpPr/>
          <p:nvPr/>
        </p:nvSpPr>
        <p:spPr>
          <a:xfrm>
            <a:off x="812800" y="1854200"/>
            <a:ext cx="5181600" cy="17272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8" name="그림 27">
            <a:extLst>
              <a:ext uri="{FF2B5EF4-FFF2-40B4-BE49-F238E27FC236}">
                <a16:creationId xmlns:a16="http://schemas.microsoft.com/office/drawing/2014/main" id="{1C1B2739-494C-47DF-A014-2E4435737AD6}"/>
              </a:ext>
            </a:extLst>
          </p:cNvPr>
          <p:cNvPicPr>
            <a:picLocks/>
          </p:cNvPicPr>
          <p:nvPr/>
        </p:nvPicPr>
        <p:blipFill>
          <a:blip r:embed="rId3"/>
          <a:stretch>
            <a:fillRect/>
          </a:stretch>
        </p:blipFill>
        <p:spPr>
          <a:xfrm>
            <a:off x="939800" y="2019300"/>
            <a:ext cx="2794000" cy="1397000"/>
          </a:xfrm>
          <a:prstGeom prst="rect">
            <a:avLst/>
          </a:prstGeom>
          <a:ln w="9525">
            <a:solidFill>
              <a:srgbClr val="DCD6C8"/>
            </a:solidFill>
          </a:ln>
        </p:spPr>
      </p:pic>
      <p:sp>
        <p:nvSpPr>
          <p:cNvPr id="29" name="TextBox 28">
            <a:extLst>
              <a:ext uri="{FF2B5EF4-FFF2-40B4-BE49-F238E27FC236}">
                <a16:creationId xmlns:a16="http://schemas.microsoft.com/office/drawing/2014/main" id="{95846AB3-9FEA-477A-889A-A1649F1AEA4B}"/>
              </a:ext>
            </a:extLst>
          </p:cNvPr>
          <p:cNvSpPr txBox="1"/>
          <p:nvPr/>
        </p:nvSpPr>
        <p:spPr>
          <a:xfrm>
            <a:off x="3911600" y="2032000"/>
            <a:ext cx="19558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첫 화면</a:t>
            </a:r>
          </a:p>
        </p:txBody>
      </p:sp>
      <p:sp>
        <p:nvSpPr>
          <p:cNvPr id="30" name="TextBox 29">
            <a:extLst>
              <a:ext uri="{FF2B5EF4-FFF2-40B4-BE49-F238E27FC236}">
                <a16:creationId xmlns:a16="http://schemas.microsoft.com/office/drawing/2014/main" id="{CDAA60CC-ED3D-44B6-8E43-A004533440BA}"/>
              </a:ext>
            </a:extLst>
          </p:cNvPr>
          <p:cNvSpPr txBox="1"/>
          <p:nvPr/>
        </p:nvSpPr>
        <p:spPr>
          <a:xfrm>
            <a:off x="3911600" y="2413000"/>
            <a:ext cx="1955800" cy="369332"/>
          </a:xfrm>
          <a:prstGeom prst="rect">
            <a:avLst/>
          </a:prstGeom>
          <a:noFill/>
        </p:spPr>
        <p:txBody>
          <a:bodyPr vert="horz" wrap="square" lIns="0" tIns="0" rIns="0" bIns="0" rtlCol="0">
            <a:noAutofit/>
          </a:bodyPr>
          <a:lstStyle/>
          <a:p>
            <a:r>
              <a:rPr lang="ko-KR" altLang="en-US" sz="1100" b="1">
                <a:solidFill>
                  <a:srgbClr val="8A8F98"/>
                </a:solidFill>
                <a:latin typeface="Noto Sans KR" panose="020B0200000000000000" pitchFamily="50" charset="-127"/>
                <a:ea typeface="Noto Sans KR" panose="020B0200000000000000" pitchFamily="50" charset="-127"/>
              </a:rPr>
              <a:t>참고</a:t>
            </a:r>
            <a:r>
              <a:rPr lang="ko-KR" altLang="en-US" sz="1100">
                <a:solidFill>
                  <a:srgbClr val="4A505C"/>
                </a:solidFill>
                <a:latin typeface="Noto Sans KR" panose="020B0200000000000000" pitchFamily="50" charset="-127"/>
                <a:ea typeface="Noto Sans KR" panose="020B0200000000000000" pitchFamily="50" charset="-127"/>
              </a:rPr>
              <a:t>　대표 영상 </a:t>
            </a:r>
            <a:r>
              <a:rPr lang="en-US" altLang="ko-KR" sz="1100">
                <a:solidFill>
                  <a:srgbClr val="4A505C"/>
                </a:solidFill>
                <a:latin typeface="Noto Sans KR" panose="020B0200000000000000" pitchFamily="50" charset="-127"/>
                <a:ea typeface="Noto Sans KR" panose="020B0200000000000000" pitchFamily="50" charset="-127"/>
              </a:rPr>
              <a:t>+ </a:t>
            </a:r>
            <a:r>
              <a:rPr lang="ko-KR" altLang="en-US" sz="1100">
                <a:solidFill>
                  <a:srgbClr val="4A505C"/>
                </a:solidFill>
                <a:latin typeface="Noto Sans KR" panose="020B0200000000000000" pitchFamily="50" charset="-127"/>
                <a:ea typeface="Noto Sans KR" panose="020B0200000000000000" pitchFamily="50" charset="-127"/>
              </a:rPr>
              <a:t>큰 문구</a:t>
            </a:r>
          </a:p>
        </p:txBody>
      </p:sp>
      <p:sp>
        <p:nvSpPr>
          <p:cNvPr id="31" name="TextBox 30">
            <a:extLst>
              <a:ext uri="{FF2B5EF4-FFF2-40B4-BE49-F238E27FC236}">
                <a16:creationId xmlns:a16="http://schemas.microsoft.com/office/drawing/2014/main" id="{DDDAE7E4-4520-4CBD-A16F-01BF41A05235}"/>
              </a:ext>
            </a:extLst>
          </p:cNvPr>
          <p:cNvSpPr txBox="1"/>
          <p:nvPr/>
        </p:nvSpPr>
        <p:spPr>
          <a:xfrm>
            <a:off x="3911600" y="2921000"/>
            <a:ext cx="1955800" cy="369332"/>
          </a:xfrm>
          <a:prstGeom prst="rect">
            <a:avLst/>
          </a:prstGeom>
          <a:noFill/>
        </p:spPr>
        <p:txBody>
          <a:bodyPr vert="horz" wrap="square" lIns="0" tIns="0" rIns="0" bIns="0" rtlCol="0">
            <a:noAutofit/>
          </a:bodyPr>
          <a:lstStyle/>
          <a:p>
            <a:r>
              <a:rPr lang="ko-KR" altLang="en-US" sz="1100" b="1">
                <a:solidFill>
                  <a:srgbClr val="1B2433"/>
                </a:solidFill>
                <a:latin typeface="Noto Sans KR" panose="020B0200000000000000" pitchFamily="50" charset="-127"/>
                <a:ea typeface="Noto Sans KR" panose="020B0200000000000000" pitchFamily="50" charset="-127"/>
              </a:rPr>
              <a:t>우리</a:t>
            </a:r>
            <a:r>
              <a:rPr lang="ko-KR" altLang="en-US" sz="1100">
                <a:solidFill>
                  <a:srgbClr val="E8692C"/>
                </a:solidFill>
                <a:latin typeface="Noto Sans KR" panose="020B0200000000000000" pitchFamily="50" charset="-127"/>
                <a:ea typeface="Noto Sans KR" panose="020B0200000000000000" pitchFamily="50" charset="-127"/>
              </a:rPr>
              <a:t>　타자 효과 큰 문구 </a:t>
            </a:r>
            <a:r>
              <a:rPr lang="en-US" altLang="ko-KR" sz="1100">
                <a:solidFill>
                  <a:srgbClr val="E8692C"/>
                </a:solidFill>
                <a:latin typeface="Noto Sans KR" panose="020B0200000000000000" pitchFamily="50" charset="-127"/>
                <a:ea typeface="Noto Sans KR" panose="020B0200000000000000" pitchFamily="50" charset="-127"/>
              </a:rPr>
              <a:t>+ </a:t>
            </a:r>
            <a:r>
              <a:rPr lang="ko-KR" altLang="en-US" sz="1100">
                <a:solidFill>
                  <a:srgbClr val="E8692C"/>
                </a:solidFill>
                <a:latin typeface="Noto Sans KR" panose="020B0200000000000000" pitchFamily="50" charset="-127"/>
                <a:ea typeface="Noto Sans KR" panose="020B0200000000000000" pitchFamily="50" charset="-127"/>
              </a:rPr>
              <a:t>배경 이미지</a:t>
            </a:r>
          </a:p>
        </p:txBody>
      </p:sp>
      <p:sp>
        <p:nvSpPr>
          <p:cNvPr id="32" name="사각형: 둥근 모서리 31">
            <a:extLst>
              <a:ext uri="{FF2B5EF4-FFF2-40B4-BE49-F238E27FC236}">
                <a16:creationId xmlns:a16="http://schemas.microsoft.com/office/drawing/2014/main" id="{AB90B1FE-FA9B-4458-BAAB-94517FD77A0D}"/>
              </a:ext>
            </a:extLst>
          </p:cNvPr>
          <p:cNvSpPr/>
          <p:nvPr/>
        </p:nvSpPr>
        <p:spPr>
          <a:xfrm>
            <a:off x="6197600" y="1854200"/>
            <a:ext cx="5181600" cy="17272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4" name="그림 33">
            <a:extLst>
              <a:ext uri="{FF2B5EF4-FFF2-40B4-BE49-F238E27FC236}">
                <a16:creationId xmlns:a16="http://schemas.microsoft.com/office/drawing/2014/main" id="{CB6F470E-4ACA-4128-BC34-0F5518C5C656}"/>
              </a:ext>
            </a:extLst>
          </p:cNvPr>
          <p:cNvPicPr>
            <a:picLocks/>
          </p:cNvPicPr>
          <p:nvPr/>
        </p:nvPicPr>
        <p:blipFill>
          <a:blip r:embed="rId4"/>
          <a:stretch>
            <a:fillRect/>
          </a:stretch>
        </p:blipFill>
        <p:spPr>
          <a:xfrm>
            <a:off x="6324600" y="2019300"/>
            <a:ext cx="2794000" cy="1397000"/>
          </a:xfrm>
          <a:prstGeom prst="rect">
            <a:avLst/>
          </a:prstGeom>
          <a:ln w="9525">
            <a:solidFill>
              <a:srgbClr val="DCD6C8"/>
            </a:solidFill>
          </a:ln>
        </p:spPr>
      </p:pic>
      <p:sp>
        <p:nvSpPr>
          <p:cNvPr id="35" name="TextBox 34">
            <a:extLst>
              <a:ext uri="{FF2B5EF4-FFF2-40B4-BE49-F238E27FC236}">
                <a16:creationId xmlns:a16="http://schemas.microsoft.com/office/drawing/2014/main" id="{7A3E094B-C065-48B4-8BCB-64E628ADF935}"/>
              </a:ext>
            </a:extLst>
          </p:cNvPr>
          <p:cNvSpPr txBox="1"/>
          <p:nvPr/>
        </p:nvSpPr>
        <p:spPr>
          <a:xfrm>
            <a:off x="9296400" y="2032000"/>
            <a:ext cx="19558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포트폴리오</a:t>
            </a:r>
          </a:p>
        </p:txBody>
      </p:sp>
      <p:sp>
        <p:nvSpPr>
          <p:cNvPr id="36" name="TextBox 35">
            <a:extLst>
              <a:ext uri="{FF2B5EF4-FFF2-40B4-BE49-F238E27FC236}">
                <a16:creationId xmlns:a16="http://schemas.microsoft.com/office/drawing/2014/main" id="{24FC6A92-EF8D-4050-9ED7-ED44BD4FA7CA}"/>
              </a:ext>
            </a:extLst>
          </p:cNvPr>
          <p:cNvSpPr txBox="1"/>
          <p:nvPr/>
        </p:nvSpPr>
        <p:spPr>
          <a:xfrm>
            <a:off x="9296400" y="2413000"/>
            <a:ext cx="1955800" cy="369332"/>
          </a:xfrm>
          <a:prstGeom prst="rect">
            <a:avLst/>
          </a:prstGeom>
          <a:noFill/>
        </p:spPr>
        <p:txBody>
          <a:bodyPr vert="horz" wrap="square" lIns="0" tIns="0" rIns="0" bIns="0" rtlCol="0">
            <a:noAutofit/>
          </a:bodyPr>
          <a:lstStyle/>
          <a:p>
            <a:r>
              <a:rPr lang="ko-KR" altLang="en-US" sz="1100" b="1">
                <a:solidFill>
                  <a:srgbClr val="8A8F98"/>
                </a:solidFill>
                <a:latin typeface="Noto Sans KR" panose="020B0200000000000000" pitchFamily="50" charset="-127"/>
                <a:ea typeface="Noto Sans KR" panose="020B0200000000000000" pitchFamily="50" charset="-127"/>
              </a:rPr>
              <a:t>참고</a:t>
            </a:r>
            <a:r>
              <a:rPr lang="ko-KR" altLang="en-US" sz="1100">
                <a:solidFill>
                  <a:srgbClr val="4A505C"/>
                </a:solidFill>
                <a:latin typeface="Noto Sans KR" panose="020B0200000000000000" pitchFamily="50" charset="-127"/>
                <a:ea typeface="Noto Sans KR" panose="020B0200000000000000" pitchFamily="50" charset="-127"/>
              </a:rPr>
              <a:t>　썸네일 그리드</a:t>
            </a:r>
          </a:p>
        </p:txBody>
      </p:sp>
      <p:sp>
        <p:nvSpPr>
          <p:cNvPr id="37" name="TextBox 36">
            <a:extLst>
              <a:ext uri="{FF2B5EF4-FFF2-40B4-BE49-F238E27FC236}">
                <a16:creationId xmlns:a16="http://schemas.microsoft.com/office/drawing/2014/main" id="{F8EF6F41-00E1-4EB9-97A4-CC050D2C9D6E}"/>
              </a:ext>
            </a:extLst>
          </p:cNvPr>
          <p:cNvSpPr txBox="1"/>
          <p:nvPr/>
        </p:nvSpPr>
        <p:spPr>
          <a:xfrm>
            <a:off x="9296400" y="2921000"/>
            <a:ext cx="1955800" cy="369332"/>
          </a:xfrm>
          <a:prstGeom prst="rect">
            <a:avLst/>
          </a:prstGeom>
          <a:noFill/>
        </p:spPr>
        <p:txBody>
          <a:bodyPr vert="horz" wrap="square" lIns="0" tIns="0" rIns="0" bIns="0" rtlCol="0">
            <a:noAutofit/>
          </a:bodyPr>
          <a:lstStyle/>
          <a:p>
            <a:r>
              <a:rPr lang="ko-KR" altLang="en-US" sz="1100" b="1">
                <a:solidFill>
                  <a:srgbClr val="1B2433"/>
                </a:solidFill>
                <a:latin typeface="Noto Sans KR" panose="020B0200000000000000" pitchFamily="50" charset="-127"/>
                <a:ea typeface="Noto Sans KR" panose="020B0200000000000000" pitchFamily="50" charset="-127"/>
              </a:rPr>
              <a:t>우리</a:t>
            </a:r>
            <a:r>
              <a:rPr lang="ko-KR" altLang="en-US" sz="1100">
                <a:solidFill>
                  <a:srgbClr val="E8692C"/>
                </a:solidFill>
                <a:latin typeface="Noto Sans KR" panose="020B0200000000000000" pitchFamily="50" charset="-127"/>
                <a:ea typeface="Noto Sans KR" panose="020B0200000000000000" pitchFamily="50" charset="-127"/>
              </a:rPr>
              <a:t>　</a:t>
            </a:r>
            <a:r>
              <a:rPr lang="en-US" altLang="ko-KR" sz="1100">
                <a:solidFill>
                  <a:srgbClr val="E8692C"/>
                </a:solidFill>
                <a:latin typeface="Noto Sans KR" panose="020B0200000000000000" pitchFamily="50" charset="-127"/>
                <a:ea typeface="Noto Sans KR" panose="020B0200000000000000" pitchFamily="50" charset="-127"/>
              </a:rPr>
              <a:t>3</a:t>
            </a:r>
            <a:r>
              <a:rPr lang="ko-KR" altLang="en-US" sz="1100">
                <a:solidFill>
                  <a:srgbClr val="E8692C"/>
                </a:solidFill>
                <a:latin typeface="Noto Sans KR" panose="020B0200000000000000" pitchFamily="50" charset="-127"/>
                <a:ea typeface="Noto Sans KR" panose="020B0200000000000000" pitchFamily="50" charset="-127"/>
              </a:rPr>
              <a:t>열 그리드 </a:t>
            </a:r>
            <a:r>
              <a:rPr lang="en-US" altLang="ko-KR" sz="1100">
                <a:solidFill>
                  <a:srgbClr val="E8692C"/>
                </a:solidFill>
                <a:latin typeface="Noto Sans KR" panose="020B0200000000000000" pitchFamily="50" charset="-127"/>
                <a:ea typeface="Noto Sans KR" panose="020B0200000000000000" pitchFamily="50" charset="-127"/>
              </a:rPr>
              <a:t>· </a:t>
            </a:r>
            <a:r>
              <a:rPr lang="ko-KR" altLang="en-US" sz="1100">
                <a:solidFill>
                  <a:srgbClr val="E8692C"/>
                </a:solidFill>
                <a:latin typeface="Noto Sans KR" panose="020B0200000000000000" pitchFamily="50" charset="-127"/>
                <a:ea typeface="Noto Sans KR" panose="020B0200000000000000" pitchFamily="50" charset="-127"/>
              </a:rPr>
              <a:t>필터 </a:t>
            </a:r>
            <a:r>
              <a:rPr lang="en-US" altLang="ko-KR" sz="1100">
                <a:solidFill>
                  <a:srgbClr val="E8692C"/>
                </a:solidFill>
                <a:latin typeface="Noto Sans KR" panose="020B0200000000000000" pitchFamily="50" charset="-127"/>
                <a:ea typeface="Noto Sans KR" panose="020B0200000000000000" pitchFamily="50" charset="-127"/>
              </a:rPr>
              <a:t>· </a:t>
            </a:r>
            <a:r>
              <a:rPr lang="ko-KR" altLang="en-US" sz="1100">
                <a:solidFill>
                  <a:srgbClr val="E8692C"/>
                </a:solidFill>
                <a:latin typeface="Noto Sans KR" panose="020B0200000000000000" pitchFamily="50" charset="-127"/>
                <a:ea typeface="Noto Sans KR" panose="020B0200000000000000" pitchFamily="50" charset="-127"/>
              </a:rPr>
              <a:t>영상 </a:t>
            </a:r>
            <a:r>
              <a:rPr lang="en-US" altLang="ko-KR" sz="1100">
                <a:solidFill>
                  <a:srgbClr val="E8692C"/>
                </a:solidFill>
                <a:latin typeface="Noto Sans KR" panose="020B0200000000000000" pitchFamily="50" charset="-127"/>
                <a:ea typeface="Noto Sans KR" panose="020B0200000000000000" pitchFamily="50" charset="-127"/>
              </a:rPr>
              <a:t>16</a:t>
            </a:r>
            <a:r>
              <a:rPr lang="ko-KR" altLang="en-US" sz="1100">
                <a:solidFill>
                  <a:srgbClr val="E8692C"/>
                </a:solidFill>
                <a:latin typeface="Noto Sans KR" panose="020B0200000000000000" pitchFamily="50" charset="-127"/>
                <a:ea typeface="Noto Sans KR" panose="020B0200000000000000" pitchFamily="50" charset="-127"/>
              </a:rPr>
              <a:t>편</a:t>
            </a:r>
          </a:p>
        </p:txBody>
      </p:sp>
      <p:sp>
        <p:nvSpPr>
          <p:cNvPr id="38" name="사각형: 둥근 모서리 37">
            <a:extLst>
              <a:ext uri="{FF2B5EF4-FFF2-40B4-BE49-F238E27FC236}">
                <a16:creationId xmlns:a16="http://schemas.microsoft.com/office/drawing/2014/main" id="{AA6C42B9-62F8-463F-93C5-226D7D38B812}"/>
              </a:ext>
            </a:extLst>
          </p:cNvPr>
          <p:cNvSpPr/>
          <p:nvPr/>
        </p:nvSpPr>
        <p:spPr>
          <a:xfrm>
            <a:off x="812800" y="3733800"/>
            <a:ext cx="5181600" cy="17272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0" name="그림 39">
            <a:extLst>
              <a:ext uri="{FF2B5EF4-FFF2-40B4-BE49-F238E27FC236}">
                <a16:creationId xmlns:a16="http://schemas.microsoft.com/office/drawing/2014/main" id="{FAD4DABC-8C12-492A-8696-1C8C44B1E167}"/>
              </a:ext>
            </a:extLst>
          </p:cNvPr>
          <p:cNvPicPr>
            <a:picLocks/>
          </p:cNvPicPr>
          <p:nvPr/>
        </p:nvPicPr>
        <p:blipFill>
          <a:blip r:embed="rId5"/>
          <a:stretch>
            <a:fillRect/>
          </a:stretch>
        </p:blipFill>
        <p:spPr>
          <a:xfrm>
            <a:off x="939800" y="3898900"/>
            <a:ext cx="2794000" cy="1397000"/>
          </a:xfrm>
          <a:prstGeom prst="rect">
            <a:avLst/>
          </a:prstGeom>
          <a:ln w="9525">
            <a:solidFill>
              <a:srgbClr val="DCD6C8"/>
            </a:solidFill>
          </a:ln>
        </p:spPr>
      </p:pic>
      <p:sp>
        <p:nvSpPr>
          <p:cNvPr id="41" name="TextBox 40">
            <a:extLst>
              <a:ext uri="{FF2B5EF4-FFF2-40B4-BE49-F238E27FC236}">
                <a16:creationId xmlns:a16="http://schemas.microsoft.com/office/drawing/2014/main" id="{D92099D8-9CE2-4812-870F-0432DE2BBF3E}"/>
              </a:ext>
            </a:extLst>
          </p:cNvPr>
          <p:cNvSpPr txBox="1"/>
          <p:nvPr/>
        </p:nvSpPr>
        <p:spPr>
          <a:xfrm>
            <a:off x="3911600" y="3911600"/>
            <a:ext cx="19558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제작 과정</a:t>
            </a:r>
          </a:p>
        </p:txBody>
      </p:sp>
      <p:sp>
        <p:nvSpPr>
          <p:cNvPr id="42" name="TextBox 41">
            <a:extLst>
              <a:ext uri="{FF2B5EF4-FFF2-40B4-BE49-F238E27FC236}">
                <a16:creationId xmlns:a16="http://schemas.microsoft.com/office/drawing/2014/main" id="{1789AD4B-A174-4EE3-B7EB-AA43C8C82E46}"/>
              </a:ext>
            </a:extLst>
          </p:cNvPr>
          <p:cNvSpPr txBox="1"/>
          <p:nvPr/>
        </p:nvSpPr>
        <p:spPr>
          <a:xfrm>
            <a:off x="3911600" y="4292600"/>
            <a:ext cx="1955800" cy="369332"/>
          </a:xfrm>
          <a:prstGeom prst="rect">
            <a:avLst/>
          </a:prstGeom>
          <a:noFill/>
        </p:spPr>
        <p:txBody>
          <a:bodyPr vert="horz" wrap="square" lIns="0" tIns="0" rIns="0" bIns="0" rtlCol="0">
            <a:noAutofit/>
          </a:bodyPr>
          <a:lstStyle/>
          <a:p>
            <a:r>
              <a:rPr lang="ko-KR" altLang="en-US" sz="1100" b="1">
                <a:solidFill>
                  <a:srgbClr val="8A8F98"/>
                </a:solidFill>
                <a:latin typeface="Noto Sans KR" panose="020B0200000000000000" pitchFamily="50" charset="-127"/>
                <a:ea typeface="Noto Sans KR" panose="020B0200000000000000" pitchFamily="50" charset="-127"/>
              </a:rPr>
              <a:t>참고</a:t>
            </a:r>
            <a:r>
              <a:rPr lang="ko-KR" altLang="en-US" sz="1100">
                <a:solidFill>
                  <a:srgbClr val="4A505C"/>
                </a:solidFill>
                <a:latin typeface="Noto Sans KR" panose="020B0200000000000000" pitchFamily="50" charset="-127"/>
                <a:ea typeface="Noto Sans KR" panose="020B0200000000000000" pitchFamily="50" charset="-127"/>
              </a:rPr>
              <a:t>　단계별 소개</a:t>
            </a:r>
          </a:p>
        </p:txBody>
      </p:sp>
      <p:sp>
        <p:nvSpPr>
          <p:cNvPr id="43" name="TextBox 42">
            <a:extLst>
              <a:ext uri="{FF2B5EF4-FFF2-40B4-BE49-F238E27FC236}">
                <a16:creationId xmlns:a16="http://schemas.microsoft.com/office/drawing/2014/main" id="{AD432ADE-E25E-4FB8-AF66-CD385DB343C7}"/>
              </a:ext>
            </a:extLst>
          </p:cNvPr>
          <p:cNvSpPr txBox="1"/>
          <p:nvPr/>
        </p:nvSpPr>
        <p:spPr>
          <a:xfrm>
            <a:off x="3911600" y="4800600"/>
            <a:ext cx="1955800" cy="369332"/>
          </a:xfrm>
          <a:prstGeom prst="rect">
            <a:avLst/>
          </a:prstGeom>
          <a:noFill/>
        </p:spPr>
        <p:txBody>
          <a:bodyPr vert="horz" wrap="square" lIns="0" tIns="0" rIns="0" bIns="0" rtlCol="0">
            <a:noAutofit/>
          </a:bodyPr>
          <a:lstStyle/>
          <a:p>
            <a:r>
              <a:rPr lang="ko-KR" altLang="en-US" sz="1100" b="1">
                <a:solidFill>
                  <a:srgbClr val="1B2433"/>
                </a:solidFill>
                <a:latin typeface="Noto Sans KR" panose="020B0200000000000000" pitchFamily="50" charset="-127"/>
                <a:ea typeface="Noto Sans KR" panose="020B0200000000000000" pitchFamily="50" charset="-127"/>
              </a:rPr>
              <a:t>우리</a:t>
            </a:r>
            <a:r>
              <a:rPr lang="ko-KR" altLang="en-US" sz="1100">
                <a:solidFill>
                  <a:srgbClr val="E8692C"/>
                </a:solidFill>
                <a:latin typeface="Noto Sans KR" panose="020B0200000000000000" pitchFamily="50" charset="-127"/>
                <a:ea typeface="Noto Sans KR" panose="020B0200000000000000" pitchFamily="50" charset="-127"/>
              </a:rPr>
              <a:t>　</a:t>
            </a:r>
            <a:r>
              <a:rPr lang="en-US" altLang="ko-KR" sz="1100">
                <a:solidFill>
                  <a:srgbClr val="E8692C"/>
                </a:solidFill>
                <a:latin typeface="Noto Sans KR" panose="020B0200000000000000" pitchFamily="50" charset="-127"/>
                <a:ea typeface="Noto Sans KR" panose="020B0200000000000000" pitchFamily="50" charset="-127"/>
              </a:rPr>
              <a:t>4</a:t>
            </a:r>
            <a:r>
              <a:rPr lang="ko-KR" altLang="en-US" sz="1100">
                <a:solidFill>
                  <a:srgbClr val="E8692C"/>
                </a:solidFill>
                <a:latin typeface="Noto Sans KR" panose="020B0200000000000000" pitchFamily="50" charset="-127"/>
                <a:ea typeface="Noto Sans KR" panose="020B0200000000000000" pitchFamily="50" charset="-127"/>
              </a:rPr>
              <a:t>단계 카드 </a:t>
            </a:r>
            <a:r>
              <a:rPr lang="en-US" altLang="ko-KR" sz="1100">
                <a:solidFill>
                  <a:srgbClr val="E8692C"/>
                </a:solidFill>
                <a:latin typeface="Noto Sans KR" panose="020B0200000000000000" pitchFamily="50" charset="-127"/>
                <a:ea typeface="Noto Sans KR" panose="020B0200000000000000" pitchFamily="50" charset="-127"/>
              </a:rPr>
              <a:t>+ </a:t>
            </a:r>
            <a:r>
              <a:rPr lang="ko-KR" altLang="en-US" sz="1100">
                <a:solidFill>
                  <a:srgbClr val="E8692C"/>
                </a:solidFill>
                <a:latin typeface="Noto Sans KR" panose="020B0200000000000000" pitchFamily="50" charset="-127"/>
                <a:ea typeface="Noto Sans KR" panose="020B0200000000000000" pitchFamily="50" charset="-127"/>
              </a:rPr>
              <a:t>상담 버튼</a:t>
            </a:r>
          </a:p>
        </p:txBody>
      </p:sp>
      <p:sp>
        <p:nvSpPr>
          <p:cNvPr id="44" name="사각형: 둥근 모서리 43">
            <a:extLst>
              <a:ext uri="{FF2B5EF4-FFF2-40B4-BE49-F238E27FC236}">
                <a16:creationId xmlns:a16="http://schemas.microsoft.com/office/drawing/2014/main" id="{FB14916F-91A5-4F84-B64A-FCCC24B79659}"/>
              </a:ext>
            </a:extLst>
          </p:cNvPr>
          <p:cNvSpPr/>
          <p:nvPr/>
        </p:nvSpPr>
        <p:spPr>
          <a:xfrm>
            <a:off x="6197600" y="3733800"/>
            <a:ext cx="5181600" cy="17272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6" name="그림 45">
            <a:extLst>
              <a:ext uri="{FF2B5EF4-FFF2-40B4-BE49-F238E27FC236}">
                <a16:creationId xmlns:a16="http://schemas.microsoft.com/office/drawing/2014/main" id="{B1D59A6C-DBB4-4E87-BF41-29CBDFE5303D}"/>
              </a:ext>
            </a:extLst>
          </p:cNvPr>
          <p:cNvPicPr>
            <a:picLocks/>
          </p:cNvPicPr>
          <p:nvPr/>
        </p:nvPicPr>
        <p:blipFill>
          <a:blip r:embed="rId6"/>
          <a:stretch>
            <a:fillRect/>
          </a:stretch>
        </p:blipFill>
        <p:spPr>
          <a:xfrm>
            <a:off x="6324600" y="3898900"/>
            <a:ext cx="2794000" cy="1397000"/>
          </a:xfrm>
          <a:prstGeom prst="rect">
            <a:avLst/>
          </a:prstGeom>
          <a:ln w="9525">
            <a:solidFill>
              <a:srgbClr val="DCD6C8"/>
            </a:solidFill>
          </a:ln>
        </p:spPr>
      </p:pic>
      <p:sp>
        <p:nvSpPr>
          <p:cNvPr id="47" name="TextBox 46">
            <a:extLst>
              <a:ext uri="{FF2B5EF4-FFF2-40B4-BE49-F238E27FC236}">
                <a16:creationId xmlns:a16="http://schemas.microsoft.com/office/drawing/2014/main" id="{CC0BC90B-F0BE-4B83-9B5E-BC5A7F7C5A66}"/>
              </a:ext>
            </a:extLst>
          </p:cNvPr>
          <p:cNvSpPr txBox="1"/>
          <p:nvPr/>
        </p:nvSpPr>
        <p:spPr>
          <a:xfrm>
            <a:off x="9296400" y="3911600"/>
            <a:ext cx="1955800" cy="369332"/>
          </a:xfrm>
          <a:prstGeom prst="rect">
            <a:avLst/>
          </a:prstGeom>
          <a:noFill/>
        </p:spPr>
        <p:txBody>
          <a:bodyPr vert="horz" wrap="square" lIns="0" tIns="0" rIns="0" bIns="0" rtlCol="0">
            <a:noAutofit/>
          </a:bodyPr>
          <a:lstStyle/>
          <a:p>
            <a:r>
              <a:rPr lang="ko-KR" altLang="en-US" sz="1500" b="1">
                <a:solidFill>
                  <a:srgbClr val="1B2433"/>
                </a:solidFill>
                <a:latin typeface="Noto Sans KR" panose="020B0200000000000000" pitchFamily="50" charset="-127"/>
                <a:ea typeface="Noto Sans KR" panose="020B0200000000000000" pitchFamily="50" charset="-127"/>
              </a:rPr>
              <a:t>가격 안내</a:t>
            </a:r>
          </a:p>
        </p:txBody>
      </p:sp>
      <p:sp>
        <p:nvSpPr>
          <p:cNvPr id="48" name="TextBox 47">
            <a:extLst>
              <a:ext uri="{FF2B5EF4-FFF2-40B4-BE49-F238E27FC236}">
                <a16:creationId xmlns:a16="http://schemas.microsoft.com/office/drawing/2014/main" id="{957A1634-2626-4AC3-95B1-85B3AE1C5282}"/>
              </a:ext>
            </a:extLst>
          </p:cNvPr>
          <p:cNvSpPr txBox="1"/>
          <p:nvPr/>
        </p:nvSpPr>
        <p:spPr>
          <a:xfrm>
            <a:off x="9296400" y="4292600"/>
            <a:ext cx="1955800" cy="369332"/>
          </a:xfrm>
          <a:prstGeom prst="rect">
            <a:avLst/>
          </a:prstGeom>
          <a:noFill/>
        </p:spPr>
        <p:txBody>
          <a:bodyPr vert="horz" wrap="square" lIns="0" tIns="0" rIns="0" bIns="0" rtlCol="0">
            <a:noAutofit/>
          </a:bodyPr>
          <a:lstStyle/>
          <a:p>
            <a:r>
              <a:rPr lang="ko-KR" altLang="en-US" sz="1100" b="1">
                <a:solidFill>
                  <a:srgbClr val="8A8F98"/>
                </a:solidFill>
                <a:latin typeface="Noto Sans KR" panose="020B0200000000000000" pitchFamily="50" charset="-127"/>
                <a:ea typeface="Noto Sans KR" panose="020B0200000000000000" pitchFamily="50" charset="-127"/>
              </a:rPr>
              <a:t>참고</a:t>
            </a:r>
            <a:r>
              <a:rPr lang="ko-KR" altLang="en-US" sz="1100">
                <a:solidFill>
                  <a:srgbClr val="4A505C"/>
                </a:solidFill>
                <a:latin typeface="Noto Sans KR" panose="020B0200000000000000" pitchFamily="50" charset="-127"/>
                <a:ea typeface="Noto Sans KR" panose="020B0200000000000000" pitchFamily="50" charset="-127"/>
              </a:rPr>
              <a:t>　</a:t>
            </a:r>
            <a:r>
              <a:rPr lang="en-US" altLang="ko-KR" sz="1100">
                <a:solidFill>
                  <a:srgbClr val="4A505C"/>
                </a:solidFill>
                <a:latin typeface="Noto Sans KR" panose="020B0200000000000000" pitchFamily="50" charset="-127"/>
                <a:ea typeface="Noto Sans KR" panose="020B0200000000000000" pitchFamily="50" charset="-127"/>
              </a:rPr>
              <a:t>'</a:t>
            </a:r>
            <a:r>
              <a:rPr lang="ko-KR" altLang="en-US" sz="1100">
                <a:solidFill>
                  <a:srgbClr val="4A505C"/>
                </a:solidFill>
                <a:latin typeface="Noto Sans KR" panose="020B0200000000000000" pitchFamily="50" charset="-127"/>
                <a:ea typeface="Noto Sans KR" panose="020B0200000000000000" pitchFamily="50" charset="-127"/>
              </a:rPr>
              <a:t>문의 주세요</a:t>
            </a:r>
            <a:r>
              <a:rPr lang="en-US" altLang="ko-KR" sz="1100">
                <a:solidFill>
                  <a:srgbClr val="4A505C"/>
                </a:solidFill>
                <a:latin typeface="Noto Sans KR" panose="020B0200000000000000" pitchFamily="50" charset="-127"/>
                <a:ea typeface="Noto Sans KR" panose="020B0200000000000000" pitchFamily="50" charset="-127"/>
              </a:rPr>
              <a:t>'</a:t>
            </a:r>
            <a:r>
              <a:rPr lang="ko-KR" altLang="en-US" sz="1100">
                <a:solidFill>
                  <a:srgbClr val="4A505C"/>
                </a:solidFill>
                <a:latin typeface="Noto Sans KR" panose="020B0200000000000000" pitchFamily="50" charset="-127"/>
                <a:ea typeface="Noto Sans KR" panose="020B0200000000000000" pitchFamily="50" charset="-127"/>
              </a:rPr>
              <a:t>로 숨김</a:t>
            </a:r>
          </a:p>
        </p:txBody>
      </p:sp>
      <p:sp>
        <p:nvSpPr>
          <p:cNvPr id="49" name="TextBox 48">
            <a:extLst>
              <a:ext uri="{FF2B5EF4-FFF2-40B4-BE49-F238E27FC236}">
                <a16:creationId xmlns:a16="http://schemas.microsoft.com/office/drawing/2014/main" id="{F6F9D29C-A36A-4E9B-8612-BD50FB3BA7D9}"/>
              </a:ext>
            </a:extLst>
          </p:cNvPr>
          <p:cNvSpPr txBox="1"/>
          <p:nvPr/>
        </p:nvSpPr>
        <p:spPr>
          <a:xfrm>
            <a:off x="9296400" y="4800600"/>
            <a:ext cx="1955800" cy="369332"/>
          </a:xfrm>
          <a:prstGeom prst="rect">
            <a:avLst/>
          </a:prstGeom>
          <a:noFill/>
        </p:spPr>
        <p:txBody>
          <a:bodyPr vert="horz" wrap="square" lIns="0" tIns="0" rIns="0" bIns="0" rtlCol="0">
            <a:noAutofit/>
          </a:bodyPr>
          <a:lstStyle/>
          <a:p>
            <a:r>
              <a:rPr lang="ko-KR" altLang="en-US" sz="1100" b="1">
                <a:solidFill>
                  <a:srgbClr val="1B2433"/>
                </a:solidFill>
                <a:latin typeface="Noto Sans KR" panose="020B0200000000000000" pitchFamily="50" charset="-127"/>
                <a:ea typeface="Noto Sans KR" panose="020B0200000000000000" pitchFamily="50" charset="-127"/>
              </a:rPr>
              <a:t>우리</a:t>
            </a:r>
            <a:r>
              <a:rPr lang="ko-KR" altLang="en-US" sz="1100">
                <a:solidFill>
                  <a:srgbClr val="E8692C"/>
                </a:solidFill>
                <a:latin typeface="Noto Sans KR" panose="020B0200000000000000" pitchFamily="50" charset="-127"/>
                <a:ea typeface="Noto Sans KR" panose="020B0200000000000000" pitchFamily="50" charset="-127"/>
              </a:rPr>
              <a:t>　개인 </a:t>
            </a:r>
            <a:r>
              <a:rPr lang="en-US" altLang="ko-KR" sz="1100">
                <a:solidFill>
                  <a:srgbClr val="E8692C"/>
                </a:solidFill>
                <a:latin typeface="Noto Sans KR" panose="020B0200000000000000" pitchFamily="50" charset="-127"/>
                <a:ea typeface="Noto Sans KR" panose="020B0200000000000000" pitchFamily="50" charset="-127"/>
              </a:rPr>
              <a:t>· </a:t>
            </a:r>
            <a:r>
              <a:rPr lang="ko-KR" altLang="en-US" sz="1100">
                <a:solidFill>
                  <a:srgbClr val="E8692C"/>
                </a:solidFill>
                <a:latin typeface="Noto Sans KR" panose="020B0200000000000000" pitchFamily="50" charset="-127"/>
                <a:ea typeface="Noto Sans KR" panose="020B0200000000000000" pitchFamily="50" charset="-127"/>
              </a:rPr>
              <a:t>기업 문의 </a:t>
            </a:r>
            <a:r>
              <a:rPr lang="en-US" altLang="ko-KR" sz="1100">
                <a:solidFill>
                  <a:srgbClr val="E8692C"/>
                </a:solidFill>
                <a:latin typeface="Noto Sans KR" panose="020B0200000000000000" pitchFamily="50" charset="-127"/>
                <a:ea typeface="Noto Sans KR" panose="020B0200000000000000" pitchFamily="50" charset="-127"/>
              </a:rPr>
              <a:t>+ </a:t>
            </a:r>
            <a:r>
              <a:rPr lang="ko-KR" altLang="en-US" sz="1100">
                <a:solidFill>
                  <a:srgbClr val="E8692C"/>
                </a:solidFill>
                <a:latin typeface="Noto Sans KR" panose="020B0200000000000000" pitchFamily="50" charset="-127"/>
                <a:ea typeface="Noto Sans KR" panose="020B0200000000000000" pitchFamily="50" charset="-127"/>
              </a:rPr>
              <a:t>자동 견적</a:t>
            </a:r>
          </a:p>
        </p:txBody>
      </p:sp>
      <p:sp>
        <p:nvSpPr>
          <p:cNvPr id="50" name="TextBox 49">
            <a:extLst>
              <a:ext uri="{FF2B5EF4-FFF2-40B4-BE49-F238E27FC236}">
                <a16:creationId xmlns:a16="http://schemas.microsoft.com/office/drawing/2014/main" id="{30B314EF-01F2-4DDF-B83F-ABDF510E9DEE}"/>
              </a:ext>
            </a:extLst>
          </p:cNvPr>
          <p:cNvSpPr txBox="1"/>
          <p:nvPr/>
        </p:nvSpPr>
        <p:spPr>
          <a:xfrm>
            <a:off x="812800" y="5689600"/>
            <a:ext cx="10566400" cy="369332"/>
          </a:xfrm>
          <a:prstGeom prst="rect">
            <a:avLst/>
          </a:prstGeom>
          <a:noFill/>
        </p:spPr>
        <p:txBody>
          <a:bodyPr vert="horz" wrap="square" lIns="0" tIns="0" rIns="0" bIns="0" rtlCol="0">
            <a:noAutofit/>
          </a:bodyPr>
          <a:lstStyle/>
          <a:p>
            <a:r>
              <a:rPr lang="ko-KR" altLang="en-US" sz="1000">
                <a:solidFill>
                  <a:srgbClr val="8A8F98"/>
                </a:solidFill>
                <a:latin typeface="Noto Sans KR" panose="020B0200000000000000" pitchFamily="50" charset="-127"/>
                <a:ea typeface="Noto Sans KR" panose="020B0200000000000000" pitchFamily="50" charset="-127"/>
              </a:rPr>
              <a:t>벤치마킹 표의 항목이 실제 화면에 들어간 모습 </a:t>
            </a:r>
            <a:r>
              <a:rPr lang="en-US" altLang="ko-KR" sz="1000">
                <a:solidFill>
                  <a:srgbClr val="8A8F98"/>
                </a:solidFill>
                <a:latin typeface="Noto Sans KR" panose="020B0200000000000000" pitchFamily="50" charset="-127"/>
                <a:ea typeface="Noto Sans KR" panose="020B0200000000000000" pitchFamily="50" charset="-127"/>
              </a:rPr>
              <a:t>(STUDIO </a:t>
            </a:r>
            <a:r>
              <a:rPr lang="ko-KR" altLang="en-US" sz="1000">
                <a:solidFill>
                  <a:srgbClr val="8A8F98"/>
                </a:solidFill>
                <a:latin typeface="Noto Sans KR" panose="020B0200000000000000" pitchFamily="50" charset="-127"/>
                <a:ea typeface="Noto Sans KR" panose="020B0200000000000000" pitchFamily="50" charset="-127"/>
              </a:rPr>
              <a:t>상상 홈페이지 캡처</a:t>
            </a:r>
            <a:r>
              <a:rPr lang="en-US" altLang="ko-KR" sz="1000">
                <a:solidFill>
                  <a:srgbClr val="8A8F98"/>
                </a:solidFill>
                <a:latin typeface="Noto Sans KR" panose="020B0200000000000000" pitchFamily="50" charset="-127"/>
                <a:ea typeface="Noto Sans KR" panose="020B0200000000000000" pitchFamily="50" charset="-127"/>
              </a:rPr>
              <a:t>)</a:t>
            </a:r>
            <a:endParaRPr lang="ko-KR" altLang="en-US" sz="1000">
              <a:solidFill>
                <a:srgbClr val="8A8F98"/>
              </a:solidFill>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4189580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08 · </a:t>
            </a:r>
            <a:r>
              <a:rPr lang="ko-KR" altLang="en-US" sz="1200" b="1" kern="0" spc="150">
                <a:solidFill>
                  <a:srgbClr val="B0441A"/>
                </a:solidFill>
                <a:latin typeface="JetBrains Mono" pitchFamily="49" charset="0"/>
                <a:ea typeface="JetBrains Mono" pitchFamily="49" charset="-122"/>
                <a:cs typeface="JetBrains Mono" pitchFamily="49" charset="-120"/>
              </a:rPr>
              <a:t>벤치마킹</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조사해 보니 없던 것</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우리가 더했습니다</a:t>
            </a:r>
            <a:endParaRPr lang="en-US" sz="3200" dirty="0"/>
          </a:p>
        </p:txBody>
      </p:sp>
      <p:sp>
        <p:nvSpPr>
          <p:cNvPr id="26" name="사각형: 둥근 모서리 25">
            <a:extLst>
              <a:ext uri="{FF2B5EF4-FFF2-40B4-BE49-F238E27FC236}">
                <a16:creationId xmlns:a16="http://schemas.microsoft.com/office/drawing/2014/main" id="{60E3814F-1F46-4381-9EB0-75665E4517FF}"/>
              </a:ext>
            </a:extLst>
          </p:cNvPr>
          <p:cNvSpPr/>
          <p:nvPr/>
        </p:nvSpPr>
        <p:spPr>
          <a:xfrm>
            <a:off x="812800" y="1905000"/>
            <a:ext cx="3416300" cy="3429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사각형: 둥근 모서리 26">
            <a:extLst>
              <a:ext uri="{FF2B5EF4-FFF2-40B4-BE49-F238E27FC236}">
                <a16:creationId xmlns:a16="http://schemas.microsoft.com/office/drawing/2014/main" id="{A20B78C0-3278-434A-9647-456166792181}"/>
              </a:ext>
            </a:extLst>
          </p:cNvPr>
          <p:cNvSpPr/>
          <p:nvPr/>
        </p:nvSpPr>
        <p:spPr>
          <a:xfrm>
            <a:off x="1016000" y="2108200"/>
            <a:ext cx="1206500" cy="279400"/>
          </a:xfrm>
          <a:prstGeom prst="roundRect">
            <a:avLst>
              <a:gd name="adj" fmla="val 50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100" b="1">
                <a:solidFill>
                  <a:srgbClr val="FFFFFF"/>
                </a:solidFill>
                <a:latin typeface="Noto Sans KR" panose="020B0200000000000000" pitchFamily="50" charset="-127"/>
                <a:ea typeface="Noto Sans KR" panose="020B0200000000000000" pitchFamily="50" charset="-127"/>
              </a:rPr>
              <a:t>CONTACT</a:t>
            </a:r>
            <a:endParaRPr lang="ko-KR" altLang="en-US" sz="1100" b="1">
              <a:solidFill>
                <a:srgbClr val="FFFFFF"/>
              </a:solidFill>
              <a:latin typeface="Noto Sans KR" panose="020B0200000000000000" pitchFamily="50" charset="-127"/>
              <a:ea typeface="Noto Sans KR" panose="020B0200000000000000" pitchFamily="50" charset="-127"/>
            </a:endParaRPr>
          </a:p>
        </p:txBody>
      </p:sp>
      <p:sp>
        <p:nvSpPr>
          <p:cNvPr id="28" name="TextBox 27">
            <a:extLst>
              <a:ext uri="{FF2B5EF4-FFF2-40B4-BE49-F238E27FC236}">
                <a16:creationId xmlns:a16="http://schemas.microsoft.com/office/drawing/2014/main" id="{5462B801-98EA-45D4-ADBC-A14F80FE9A9B}"/>
              </a:ext>
            </a:extLst>
          </p:cNvPr>
          <p:cNvSpPr txBox="1"/>
          <p:nvPr/>
        </p:nvSpPr>
        <p:spPr>
          <a:xfrm>
            <a:off x="1016000" y="2514600"/>
            <a:ext cx="3048000" cy="369332"/>
          </a:xfrm>
          <a:prstGeom prst="rect">
            <a:avLst/>
          </a:prstGeom>
          <a:noFill/>
        </p:spPr>
        <p:txBody>
          <a:bodyPr vert="horz" wrap="square" lIns="0" tIns="0" rIns="0" bIns="0" rtlCol="0">
            <a:noAutofit/>
          </a:bodyPr>
          <a:lstStyle/>
          <a:p>
            <a:r>
              <a:rPr lang="ko-KR" altLang="en-US" b="1">
                <a:solidFill>
                  <a:srgbClr val="1B2433"/>
                </a:solidFill>
                <a:latin typeface="Noto Sans KR" panose="020B0200000000000000" pitchFamily="50" charset="-127"/>
                <a:ea typeface="Noto Sans KR" panose="020B0200000000000000" pitchFamily="50" charset="-127"/>
              </a:rPr>
              <a:t>자동 견적</a:t>
            </a:r>
          </a:p>
        </p:txBody>
      </p:sp>
      <p:sp>
        <p:nvSpPr>
          <p:cNvPr id="29" name="TextBox 28">
            <a:extLst>
              <a:ext uri="{FF2B5EF4-FFF2-40B4-BE49-F238E27FC236}">
                <a16:creationId xmlns:a16="http://schemas.microsoft.com/office/drawing/2014/main" id="{E4BAB995-4F52-4A41-9787-05688C83964C}"/>
              </a:ext>
            </a:extLst>
          </p:cNvPr>
          <p:cNvSpPr txBox="1"/>
          <p:nvPr/>
        </p:nvSpPr>
        <p:spPr>
          <a:xfrm>
            <a:off x="1016000" y="2997200"/>
            <a:ext cx="3048000" cy="369332"/>
          </a:xfrm>
          <a:prstGeom prst="rect">
            <a:avLst/>
          </a:prstGeom>
          <a:noFill/>
        </p:spPr>
        <p:txBody>
          <a:bodyPr vert="horz" wrap="square" lIns="0" tIns="0" rIns="0" bIns="0" rtlCol="0">
            <a:noAutofit/>
          </a:bodyPr>
          <a:lstStyle/>
          <a:p>
            <a:r>
              <a:rPr lang="ko-KR" altLang="en-US" sz="1200" b="1">
                <a:solidFill>
                  <a:srgbClr val="8A8F98"/>
                </a:solidFill>
                <a:latin typeface="Noto Sans KR" panose="020B0200000000000000" pitchFamily="50" charset="-127"/>
                <a:ea typeface="Noto Sans KR" panose="020B0200000000000000" pitchFamily="50" charset="-127"/>
              </a:rPr>
              <a:t>조사</a:t>
            </a:r>
            <a:r>
              <a:rPr lang="ko-KR" altLang="en-US" sz="1200">
                <a:solidFill>
                  <a:srgbClr val="4A505C"/>
                </a:solidFill>
                <a:latin typeface="Noto Sans KR" panose="020B0200000000000000" pitchFamily="50" charset="-127"/>
                <a:ea typeface="Noto Sans KR" panose="020B0200000000000000" pitchFamily="50" charset="-127"/>
              </a:rPr>
              <a:t>　가격을 숨긴 곳이 많았음</a:t>
            </a:r>
          </a:p>
        </p:txBody>
      </p:sp>
      <p:sp>
        <p:nvSpPr>
          <p:cNvPr id="30" name="TextBox 29">
            <a:extLst>
              <a:ext uri="{FF2B5EF4-FFF2-40B4-BE49-F238E27FC236}">
                <a16:creationId xmlns:a16="http://schemas.microsoft.com/office/drawing/2014/main" id="{34DAA19B-58EF-4A00-92EE-76307EA69C31}"/>
              </a:ext>
            </a:extLst>
          </p:cNvPr>
          <p:cNvSpPr txBox="1"/>
          <p:nvPr/>
        </p:nvSpPr>
        <p:spPr>
          <a:xfrm>
            <a:off x="1016000" y="3632200"/>
            <a:ext cx="3048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우리</a:t>
            </a:r>
            <a:r>
              <a:rPr lang="ko-KR" altLang="en-US" sz="1200">
                <a:solidFill>
                  <a:srgbClr val="E8692C"/>
                </a:solidFill>
                <a:latin typeface="Noto Sans KR" panose="020B0200000000000000" pitchFamily="50" charset="-127"/>
                <a:ea typeface="Noto Sans KR" panose="020B0200000000000000" pitchFamily="50" charset="-127"/>
              </a:rPr>
              <a:t>　화질 </a:t>
            </a:r>
            <a:r>
              <a:rPr lang="en-US" altLang="ko-KR" sz="1200">
                <a:solidFill>
                  <a:srgbClr val="E8692C"/>
                </a:solidFill>
                <a:latin typeface="Noto Sans KR" panose="020B0200000000000000" pitchFamily="50" charset="-127"/>
                <a:ea typeface="Noto Sans KR" panose="020B0200000000000000" pitchFamily="50" charset="-127"/>
              </a:rPr>
              <a:t>· </a:t>
            </a:r>
            <a:r>
              <a:rPr lang="ko-KR" altLang="en-US" sz="1200">
                <a:solidFill>
                  <a:srgbClr val="E8692C"/>
                </a:solidFill>
                <a:latin typeface="Noto Sans KR" panose="020B0200000000000000" pitchFamily="50" charset="-127"/>
                <a:ea typeface="Noto Sans KR" panose="020B0200000000000000" pitchFamily="50" charset="-127"/>
              </a:rPr>
              <a:t>길이 </a:t>
            </a:r>
            <a:r>
              <a:rPr lang="en-US" altLang="ko-KR" sz="1200">
                <a:solidFill>
                  <a:srgbClr val="E8692C"/>
                </a:solidFill>
                <a:latin typeface="Noto Sans KR" panose="020B0200000000000000" pitchFamily="50" charset="-127"/>
                <a:ea typeface="Noto Sans KR" panose="020B0200000000000000" pitchFamily="50" charset="-127"/>
              </a:rPr>
              <a:t>· </a:t>
            </a:r>
            <a:r>
              <a:rPr lang="ko-KR" altLang="en-US" sz="1200">
                <a:solidFill>
                  <a:srgbClr val="E8692C"/>
                </a:solidFill>
                <a:latin typeface="Noto Sans KR" panose="020B0200000000000000" pitchFamily="50" charset="-127"/>
                <a:ea typeface="Noto Sans KR" panose="020B0200000000000000" pitchFamily="50" charset="-127"/>
              </a:rPr>
              <a:t>수량을 고르면 예상 견적이 바로 계산</a:t>
            </a:r>
          </a:p>
        </p:txBody>
      </p:sp>
      <p:sp>
        <p:nvSpPr>
          <p:cNvPr id="31" name="사각형: 둥근 모서리 30">
            <a:extLst>
              <a:ext uri="{FF2B5EF4-FFF2-40B4-BE49-F238E27FC236}">
                <a16:creationId xmlns:a16="http://schemas.microsoft.com/office/drawing/2014/main" id="{F3E47DAA-3D63-4394-85F6-2FF6B996EFA2}"/>
              </a:ext>
            </a:extLst>
          </p:cNvPr>
          <p:cNvSpPr/>
          <p:nvPr/>
        </p:nvSpPr>
        <p:spPr>
          <a:xfrm>
            <a:off x="4381500" y="1905000"/>
            <a:ext cx="3416300" cy="3429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사각형: 둥근 모서리 31">
            <a:extLst>
              <a:ext uri="{FF2B5EF4-FFF2-40B4-BE49-F238E27FC236}">
                <a16:creationId xmlns:a16="http://schemas.microsoft.com/office/drawing/2014/main" id="{82D506C8-ED2B-481F-A341-524FC352A6D3}"/>
              </a:ext>
            </a:extLst>
          </p:cNvPr>
          <p:cNvSpPr/>
          <p:nvPr/>
        </p:nvSpPr>
        <p:spPr>
          <a:xfrm>
            <a:off x="4584700" y="2108200"/>
            <a:ext cx="13462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100" b="1">
                <a:solidFill>
                  <a:srgbClr val="FFFFFF"/>
                </a:solidFill>
                <a:latin typeface="Noto Sans KR" panose="020B0200000000000000" pitchFamily="50" charset="-127"/>
                <a:ea typeface="Noto Sans KR" panose="020B0200000000000000" pitchFamily="50" charset="-127"/>
              </a:rPr>
              <a:t>AI VIDEO</a:t>
            </a:r>
            <a:endParaRPr lang="ko-KR" altLang="en-US" sz="1100" b="1">
              <a:solidFill>
                <a:srgbClr val="FFFFFF"/>
              </a:solidFill>
              <a:latin typeface="Noto Sans KR" panose="020B0200000000000000" pitchFamily="50" charset="-127"/>
              <a:ea typeface="Noto Sans KR" panose="020B0200000000000000" pitchFamily="50" charset="-127"/>
            </a:endParaRPr>
          </a:p>
        </p:txBody>
      </p:sp>
      <p:sp>
        <p:nvSpPr>
          <p:cNvPr id="33" name="TextBox 32">
            <a:extLst>
              <a:ext uri="{FF2B5EF4-FFF2-40B4-BE49-F238E27FC236}">
                <a16:creationId xmlns:a16="http://schemas.microsoft.com/office/drawing/2014/main" id="{4EEB6B94-58BD-4AE9-A056-0481C4EE5F85}"/>
              </a:ext>
            </a:extLst>
          </p:cNvPr>
          <p:cNvSpPr txBox="1"/>
          <p:nvPr/>
        </p:nvSpPr>
        <p:spPr>
          <a:xfrm>
            <a:off x="4584700" y="2514600"/>
            <a:ext cx="3048000" cy="369332"/>
          </a:xfrm>
          <a:prstGeom prst="rect">
            <a:avLst/>
          </a:prstGeom>
          <a:noFill/>
        </p:spPr>
        <p:txBody>
          <a:bodyPr vert="horz" wrap="square" lIns="0" tIns="0" rIns="0" bIns="0" rtlCol="0">
            <a:noAutofit/>
          </a:bodyPr>
          <a:lstStyle/>
          <a:p>
            <a:r>
              <a:rPr lang="ko-KR" altLang="en-US" b="1">
                <a:solidFill>
                  <a:srgbClr val="1B2433"/>
                </a:solidFill>
                <a:latin typeface="Noto Sans KR" panose="020B0200000000000000" pitchFamily="50" charset="-127"/>
                <a:ea typeface="Noto Sans KR" panose="020B0200000000000000" pitchFamily="50" charset="-127"/>
              </a:rPr>
              <a:t>상담 준비 안내</a:t>
            </a:r>
          </a:p>
        </p:txBody>
      </p:sp>
      <p:sp>
        <p:nvSpPr>
          <p:cNvPr id="34" name="TextBox 33">
            <a:extLst>
              <a:ext uri="{FF2B5EF4-FFF2-40B4-BE49-F238E27FC236}">
                <a16:creationId xmlns:a16="http://schemas.microsoft.com/office/drawing/2014/main" id="{6F3A8853-BD2F-4977-8DD6-4B71382D181E}"/>
              </a:ext>
            </a:extLst>
          </p:cNvPr>
          <p:cNvSpPr txBox="1"/>
          <p:nvPr/>
        </p:nvSpPr>
        <p:spPr>
          <a:xfrm>
            <a:off x="4584700" y="2997200"/>
            <a:ext cx="3048000" cy="369332"/>
          </a:xfrm>
          <a:prstGeom prst="rect">
            <a:avLst/>
          </a:prstGeom>
          <a:noFill/>
        </p:spPr>
        <p:txBody>
          <a:bodyPr vert="horz" wrap="square" lIns="0" tIns="0" rIns="0" bIns="0" rtlCol="0">
            <a:noAutofit/>
          </a:bodyPr>
          <a:lstStyle/>
          <a:p>
            <a:r>
              <a:rPr lang="ko-KR" altLang="en-US" sz="1200" b="1">
                <a:solidFill>
                  <a:srgbClr val="8A8F98"/>
                </a:solidFill>
                <a:latin typeface="Noto Sans KR" panose="020B0200000000000000" pitchFamily="50" charset="-127"/>
                <a:ea typeface="Noto Sans KR" panose="020B0200000000000000" pitchFamily="50" charset="-127"/>
              </a:rPr>
              <a:t>조사</a:t>
            </a:r>
            <a:r>
              <a:rPr lang="ko-KR" altLang="en-US" sz="1200">
                <a:solidFill>
                  <a:srgbClr val="4A505C"/>
                </a:solidFill>
                <a:latin typeface="Noto Sans KR" panose="020B0200000000000000" pitchFamily="50" charset="-127"/>
                <a:ea typeface="Noto Sans KR" panose="020B0200000000000000" pitchFamily="50" charset="-127"/>
              </a:rPr>
              <a:t>　문의 폼만 있는 곳이 많았음</a:t>
            </a:r>
          </a:p>
        </p:txBody>
      </p:sp>
      <p:sp>
        <p:nvSpPr>
          <p:cNvPr id="35" name="TextBox 34">
            <a:extLst>
              <a:ext uri="{FF2B5EF4-FFF2-40B4-BE49-F238E27FC236}">
                <a16:creationId xmlns:a16="http://schemas.microsoft.com/office/drawing/2014/main" id="{BF889354-36BB-4D80-85C2-2A7D95AD1804}"/>
              </a:ext>
            </a:extLst>
          </p:cNvPr>
          <p:cNvSpPr txBox="1"/>
          <p:nvPr/>
        </p:nvSpPr>
        <p:spPr>
          <a:xfrm>
            <a:off x="4584700" y="3632200"/>
            <a:ext cx="3048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우리</a:t>
            </a:r>
            <a:r>
              <a:rPr lang="ko-KR" altLang="en-US" sz="1200">
                <a:solidFill>
                  <a:srgbClr val="E8692C"/>
                </a:solidFill>
                <a:latin typeface="Noto Sans KR" panose="020B0200000000000000" pitchFamily="50" charset="-127"/>
                <a:ea typeface="Noto Sans KR" panose="020B0200000000000000" pitchFamily="50" charset="-127"/>
              </a:rPr>
              <a:t>　상담 전에 준비할 </a:t>
            </a:r>
            <a:r>
              <a:rPr lang="en-US" altLang="ko-KR" sz="1200">
                <a:solidFill>
                  <a:srgbClr val="E8692C"/>
                </a:solidFill>
                <a:latin typeface="Noto Sans KR" panose="020B0200000000000000" pitchFamily="50" charset="-127"/>
                <a:ea typeface="Noto Sans KR" panose="020B0200000000000000" pitchFamily="50" charset="-127"/>
              </a:rPr>
              <a:t>4</a:t>
            </a:r>
            <a:r>
              <a:rPr lang="ko-KR" altLang="en-US" sz="1200">
                <a:solidFill>
                  <a:srgbClr val="E8692C"/>
                </a:solidFill>
                <a:latin typeface="Noto Sans KR" panose="020B0200000000000000" pitchFamily="50" charset="-127"/>
                <a:ea typeface="Noto Sans KR" panose="020B0200000000000000" pitchFamily="50" charset="-127"/>
              </a:rPr>
              <a:t>가지를 안내창으로 정리</a:t>
            </a:r>
            <a:r>
              <a:rPr lang="en-US" altLang="ko-KR" sz="1200">
                <a:solidFill>
                  <a:srgbClr val="E8692C"/>
                </a:solidFill>
                <a:latin typeface="Noto Sans KR" panose="020B0200000000000000" pitchFamily="50" charset="-127"/>
                <a:ea typeface="Noto Sans KR" panose="020B0200000000000000" pitchFamily="50" charset="-127"/>
              </a:rPr>
              <a:t>, </a:t>
            </a:r>
            <a:r>
              <a:rPr lang="ko-KR" altLang="en-US" sz="1200">
                <a:solidFill>
                  <a:srgbClr val="E8692C"/>
                </a:solidFill>
                <a:latin typeface="Noto Sans KR" panose="020B0200000000000000" pitchFamily="50" charset="-127"/>
                <a:ea typeface="Noto Sans KR" panose="020B0200000000000000" pitchFamily="50" charset="-127"/>
              </a:rPr>
              <a:t>양식 복사</a:t>
            </a:r>
          </a:p>
        </p:txBody>
      </p:sp>
      <p:sp>
        <p:nvSpPr>
          <p:cNvPr id="36" name="사각형: 둥근 모서리 35">
            <a:extLst>
              <a:ext uri="{FF2B5EF4-FFF2-40B4-BE49-F238E27FC236}">
                <a16:creationId xmlns:a16="http://schemas.microsoft.com/office/drawing/2014/main" id="{6DDBF212-AE66-41BF-9280-B39F9218BE74}"/>
              </a:ext>
            </a:extLst>
          </p:cNvPr>
          <p:cNvSpPr/>
          <p:nvPr/>
        </p:nvSpPr>
        <p:spPr>
          <a:xfrm>
            <a:off x="7950200" y="1905000"/>
            <a:ext cx="3416300" cy="3429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사각형: 둥근 모서리 36">
            <a:extLst>
              <a:ext uri="{FF2B5EF4-FFF2-40B4-BE49-F238E27FC236}">
                <a16:creationId xmlns:a16="http://schemas.microsoft.com/office/drawing/2014/main" id="{DE37DD1C-C54C-448D-BF15-0ACC4641C965}"/>
              </a:ext>
            </a:extLst>
          </p:cNvPr>
          <p:cNvSpPr/>
          <p:nvPr/>
        </p:nvSpPr>
        <p:spPr>
          <a:xfrm>
            <a:off x="8153400" y="2108200"/>
            <a:ext cx="1485900" cy="279400"/>
          </a:xfrm>
          <a:prstGeom prst="roundRect">
            <a:avLst>
              <a:gd name="adj" fmla="val 50000"/>
            </a:avLst>
          </a:prstGeom>
          <a:solidFill>
            <a:srgbClr val="DCD6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50800" tIns="0" rIns="50800" bIns="0" rtlCol="0" anchor="ctr"/>
          <a:lstStyle/>
          <a:p>
            <a:pPr algn="ctr"/>
            <a:r>
              <a:rPr lang="en-US" altLang="ko-KR" sz="1100" b="1">
                <a:solidFill>
                  <a:srgbClr val="1B2433"/>
                </a:solidFill>
                <a:latin typeface="Noto Sans KR" panose="020B0200000000000000" pitchFamily="50" charset="-127"/>
                <a:ea typeface="Noto Sans KR" panose="020B0200000000000000" pitchFamily="50" charset="-127"/>
              </a:rPr>
              <a:t>PORTFOLIO</a:t>
            </a:r>
            <a:endParaRPr lang="ko-KR" altLang="en-US" sz="1100" b="1">
              <a:solidFill>
                <a:srgbClr val="1B2433"/>
              </a:solidFill>
              <a:latin typeface="Noto Sans KR" panose="020B0200000000000000" pitchFamily="50" charset="-127"/>
              <a:ea typeface="Noto Sans KR" panose="020B0200000000000000" pitchFamily="50" charset="-127"/>
            </a:endParaRPr>
          </a:p>
        </p:txBody>
      </p:sp>
      <p:sp>
        <p:nvSpPr>
          <p:cNvPr id="38" name="TextBox 37">
            <a:extLst>
              <a:ext uri="{FF2B5EF4-FFF2-40B4-BE49-F238E27FC236}">
                <a16:creationId xmlns:a16="http://schemas.microsoft.com/office/drawing/2014/main" id="{B151D1E6-B836-4EFC-9473-BAA589E85F36}"/>
              </a:ext>
            </a:extLst>
          </p:cNvPr>
          <p:cNvSpPr txBox="1"/>
          <p:nvPr/>
        </p:nvSpPr>
        <p:spPr>
          <a:xfrm>
            <a:off x="8153400" y="2514600"/>
            <a:ext cx="3048000" cy="369332"/>
          </a:xfrm>
          <a:prstGeom prst="rect">
            <a:avLst/>
          </a:prstGeom>
          <a:noFill/>
        </p:spPr>
        <p:txBody>
          <a:bodyPr vert="horz" wrap="square" lIns="0" tIns="0" rIns="0" bIns="0" rtlCol="0">
            <a:noAutofit/>
          </a:bodyPr>
          <a:lstStyle/>
          <a:p>
            <a:r>
              <a:rPr lang="ko-KR" altLang="en-US" b="1">
                <a:solidFill>
                  <a:srgbClr val="1B2433"/>
                </a:solidFill>
                <a:latin typeface="Noto Sans KR" panose="020B0200000000000000" pitchFamily="50" charset="-127"/>
                <a:ea typeface="Noto Sans KR" panose="020B0200000000000000" pitchFamily="50" charset="-127"/>
              </a:rPr>
              <a:t>팀원이 만든 영상</a:t>
            </a:r>
          </a:p>
        </p:txBody>
      </p:sp>
      <p:sp>
        <p:nvSpPr>
          <p:cNvPr id="39" name="TextBox 38">
            <a:extLst>
              <a:ext uri="{FF2B5EF4-FFF2-40B4-BE49-F238E27FC236}">
                <a16:creationId xmlns:a16="http://schemas.microsoft.com/office/drawing/2014/main" id="{CC13106A-7043-41E3-9073-1768EC1BC94C}"/>
              </a:ext>
            </a:extLst>
          </p:cNvPr>
          <p:cNvSpPr txBox="1"/>
          <p:nvPr/>
        </p:nvSpPr>
        <p:spPr>
          <a:xfrm>
            <a:off x="8153400" y="2997200"/>
            <a:ext cx="3048000" cy="369332"/>
          </a:xfrm>
          <a:prstGeom prst="rect">
            <a:avLst/>
          </a:prstGeom>
          <a:noFill/>
        </p:spPr>
        <p:txBody>
          <a:bodyPr vert="horz" wrap="square" lIns="0" tIns="0" rIns="0" bIns="0" rtlCol="0">
            <a:noAutofit/>
          </a:bodyPr>
          <a:lstStyle/>
          <a:p>
            <a:r>
              <a:rPr lang="ko-KR" altLang="en-US" sz="1200" b="1">
                <a:solidFill>
                  <a:srgbClr val="8A8F98"/>
                </a:solidFill>
                <a:latin typeface="Noto Sans KR" panose="020B0200000000000000" pitchFamily="50" charset="-127"/>
                <a:ea typeface="Noto Sans KR" panose="020B0200000000000000" pitchFamily="50" charset="-127"/>
              </a:rPr>
              <a:t>조사</a:t>
            </a:r>
            <a:r>
              <a:rPr lang="ko-KR" altLang="en-US" sz="1200">
                <a:solidFill>
                  <a:srgbClr val="4A505C"/>
                </a:solidFill>
                <a:latin typeface="Noto Sans KR" panose="020B0200000000000000" pitchFamily="50" charset="-127"/>
                <a:ea typeface="Noto Sans KR" panose="020B0200000000000000" pitchFamily="50" charset="-127"/>
              </a:rPr>
              <a:t>　샘플 영상이 적거나 오래됨</a:t>
            </a:r>
          </a:p>
        </p:txBody>
      </p:sp>
      <p:sp>
        <p:nvSpPr>
          <p:cNvPr id="40" name="TextBox 39">
            <a:extLst>
              <a:ext uri="{FF2B5EF4-FFF2-40B4-BE49-F238E27FC236}">
                <a16:creationId xmlns:a16="http://schemas.microsoft.com/office/drawing/2014/main" id="{42BD2057-308D-4270-9BAD-80D9F680E4B2}"/>
              </a:ext>
            </a:extLst>
          </p:cNvPr>
          <p:cNvSpPr txBox="1"/>
          <p:nvPr/>
        </p:nvSpPr>
        <p:spPr>
          <a:xfrm>
            <a:off x="8153400" y="3632200"/>
            <a:ext cx="30480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우리</a:t>
            </a:r>
            <a:r>
              <a:rPr lang="ko-KR" altLang="en-US" sz="1200">
                <a:solidFill>
                  <a:srgbClr val="E8692C"/>
                </a:solidFill>
                <a:latin typeface="Noto Sans KR" panose="020B0200000000000000" pitchFamily="50" charset="-127"/>
                <a:ea typeface="Noto Sans KR" panose="020B0200000000000000" pitchFamily="50" charset="-127"/>
              </a:rPr>
              <a:t>　팀원 </a:t>
            </a:r>
            <a:r>
              <a:rPr lang="en-US" altLang="ko-KR" sz="1200">
                <a:solidFill>
                  <a:srgbClr val="E8692C"/>
                </a:solidFill>
                <a:latin typeface="Noto Sans KR" panose="020B0200000000000000" pitchFamily="50" charset="-127"/>
                <a:ea typeface="Noto Sans KR" panose="020B0200000000000000" pitchFamily="50" charset="-127"/>
              </a:rPr>
              <a:t>4</a:t>
            </a:r>
            <a:r>
              <a:rPr lang="ko-KR" altLang="en-US" sz="1200">
                <a:solidFill>
                  <a:srgbClr val="E8692C"/>
                </a:solidFill>
                <a:latin typeface="Noto Sans KR" panose="020B0200000000000000" pitchFamily="50" charset="-127"/>
                <a:ea typeface="Noto Sans KR" panose="020B0200000000000000" pitchFamily="50" charset="-127"/>
              </a:rPr>
              <a:t>명이 직접 만든 영상 </a:t>
            </a:r>
            <a:r>
              <a:rPr lang="en-US" altLang="ko-KR" sz="1200">
                <a:solidFill>
                  <a:srgbClr val="E8692C"/>
                </a:solidFill>
                <a:latin typeface="Noto Sans KR" panose="020B0200000000000000" pitchFamily="50" charset="-127"/>
                <a:ea typeface="Noto Sans KR" panose="020B0200000000000000" pitchFamily="50" charset="-127"/>
              </a:rPr>
              <a:t>16</a:t>
            </a:r>
            <a:r>
              <a:rPr lang="ko-KR" altLang="en-US" sz="1200">
                <a:solidFill>
                  <a:srgbClr val="E8692C"/>
                </a:solidFill>
                <a:latin typeface="Noto Sans KR" panose="020B0200000000000000" pitchFamily="50" charset="-127"/>
                <a:ea typeface="Noto Sans KR" panose="020B0200000000000000" pitchFamily="50" charset="-127"/>
              </a:rPr>
              <a:t>편을 분류해서 공개</a:t>
            </a:r>
          </a:p>
        </p:txBody>
      </p:sp>
      <p:sp>
        <p:nvSpPr>
          <p:cNvPr id="41" name="TextBox 40">
            <a:extLst>
              <a:ext uri="{FF2B5EF4-FFF2-40B4-BE49-F238E27FC236}">
                <a16:creationId xmlns:a16="http://schemas.microsoft.com/office/drawing/2014/main" id="{C254F5DA-9097-41EF-B3AD-74571ECB2DB1}"/>
              </a:ext>
            </a:extLst>
          </p:cNvPr>
          <p:cNvSpPr txBox="1"/>
          <p:nvPr/>
        </p:nvSpPr>
        <p:spPr>
          <a:xfrm>
            <a:off x="812800" y="5562600"/>
            <a:ext cx="105664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벤치마킹으로 기본을 갖추고</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조사에서 비어 있던 부분을 우리만의 기능으로 채웠습니다</a:t>
            </a:r>
            <a:r>
              <a:rPr lang="en-US" altLang="ko-KR" sz="1200">
                <a:solidFill>
                  <a:srgbClr val="4A505C"/>
                </a:solidFill>
                <a:latin typeface="Noto Sans KR" panose="020B0200000000000000" pitchFamily="50" charset="-127"/>
                <a:ea typeface="Noto Sans KR" panose="020B0200000000000000" pitchFamily="50" charset="-127"/>
              </a:rPr>
              <a:t>.</a:t>
            </a:r>
            <a:endParaRPr lang="ko-KR" altLang="en-US" sz="1200">
              <a:solidFill>
                <a:srgbClr val="4A505C"/>
              </a:solidFill>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2228121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08 · </a:t>
            </a:r>
            <a:r>
              <a:rPr lang="ko-KR" altLang="en-US" sz="1200" b="1" kern="0" spc="150">
                <a:solidFill>
                  <a:srgbClr val="B0441A"/>
                </a:solidFill>
                <a:latin typeface="JetBrains Mono" pitchFamily="49" charset="0"/>
                <a:ea typeface="JetBrains Mono" pitchFamily="49" charset="-122"/>
                <a:cs typeface="JetBrains Mono" pitchFamily="49" charset="-120"/>
              </a:rPr>
              <a:t>정리</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altLang="ko-KR" sz="3200" b="1" i="0">
                <a:solidFill>
                  <a:srgbClr val="1B2433"/>
                </a:solidFill>
                <a:latin typeface="Noto Sans KR" pitchFamily="34" charset="0"/>
                <a:ea typeface="Noto Sans KR" pitchFamily="34" charset="-122"/>
                <a:cs typeface="Noto Sans KR" pitchFamily="34" charset="-120"/>
              </a:rPr>
              <a:t>AI</a:t>
            </a:r>
            <a:r>
              <a:rPr lang="ko-KR" altLang="en-US" sz="3200" b="1" i="0">
                <a:solidFill>
                  <a:srgbClr val="1B2433"/>
                </a:solidFill>
                <a:latin typeface="Noto Sans KR" pitchFamily="34" charset="0"/>
                <a:ea typeface="Noto Sans KR" pitchFamily="34" charset="-122"/>
                <a:cs typeface="Noto Sans KR" pitchFamily="34" charset="-120"/>
              </a:rPr>
              <a:t>와 함께 만들며 배운 것</a:t>
            </a:r>
            <a:endParaRPr lang="en-US" sz="3200" dirty="0"/>
          </a:p>
        </p:txBody>
      </p:sp>
      <p:sp>
        <p:nvSpPr>
          <p:cNvPr id="26" name="사각형: 둥근 모서리 25">
            <a:extLst>
              <a:ext uri="{FF2B5EF4-FFF2-40B4-BE49-F238E27FC236}">
                <a16:creationId xmlns:a16="http://schemas.microsoft.com/office/drawing/2014/main" id="{E02AA63A-4D83-48C6-98EE-25042EF21762}"/>
              </a:ext>
            </a:extLst>
          </p:cNvPr>
          <p:cNvSpPr/>
          <p:nvPr/>
        </p:nvSpPr>
        <p:spPr>
          <a:xfrm>
            <a:off x="812800" y="1905000"/>
            <a:ext cx="10566400" cy="10668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6D9ACB26-F9F2-4A9F-8317-3FEC6FFA1215}"/>
              </a:ext>
            </a:extLst>
          </p:cNvPr>
          <p:cNvSpPr txBox="1"/>
          <p:nvPr/>
        </p:nvSpPr>
        <p:spPr>
          <a:xfrm>
            <a:off x="1117600" y="2184400"/>
            <a:ext cx="762000" cy="369332"/>
          </a:xfrm>
          <a:prstGeom prst="rect">
            <a:avLst/>
          </a:prstGeom>
          <a:noFill/>
        </p:spPr>
        <p:txBody>
          <a:bodyPr vert="horz" wrap="square" lIns="0" tIns="0" rIns="0" bIns="0" rtlCol="0">
            <a:noAutofit/>
          </a:bodyPr>
          <a:lstStyle/>
          <a:p>
            <a:r>
              <a:rPr lang="en-US" altLang="ko-KR" sz="2600" b="1">
                <a:solidFill>
                  <a:srgbClr val="E8692C"/>
                </a:solidFill>
                <a:latin typeface="Noto Sans KR" panose="020B0200000000000000" pitchFamily="50" charset="-127"/>
                <a:ea typeface="Noto Sans KR" panose="020B0200000000000000" pitchFamily="50" charset="-127"/>
              </a:rPr>
              <a:t>01</a:t>
            </a:r>
            <a:endParaRPr lang="ko-KR" altLang="en-US" sz="2600" b="1">
              <a:solidFill>
                <a:srgbClr val="E8692C"/>
              </a:solidFill>
              <a:latin typeface="Noto Sans KR" panose="020B0200000000000000" pitchFamily="50" charset="-127"/>
              <a:ea typeface="Noto Sans KR" panose="020B0200000000000000" pitchFamily="50" charset="-127"/>
            </a:endParaRPr>
          </a:p>
        </p:txBody>
      </p:sp>
      <p:sp>
        <p:nvSpPr>
          <p:cNvPr id="28" name="TextBox 27">
            <a:extLst>
              <a:ext uri="{FF2B5EF4-FFF2-40B4-BE49-F238E27FC236}">
                <a16:creationId xmlns:a16="http://schemas.microsoft.com/office/drawing/2014/main" id="{AD937183-C113-4818-AEDD-9D3B557E9179}"/>
              </a:ext>
            </a:extLst>
          </p:cNvPr>
          <p:cNvSpPr txBox="1"/>
          <p:nvPr/>
        </p:nvSpPr>
        <p:spPr>
          <a:xfrm>
            <a:off x="2032000" y="2108200"/>
            <a:ext cx="88900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보여 주면 빠르다</a:t>
            </a:r>
          </a:p>
        </p:txBody>
      </p:sp>
      <p:sp>
        <p:nvSpPr>
          <p:cNvPr id="29" name="TextBox 28">
            <a:extLst>
              <a:ext uri="{FF2B5EF4-FFF2-40B4-BE49-F238E27FC236}">
                <a16:creationId xmlns:a16="http://schemas.microsoft.com/office/drawing/2014/main" id="{1C4D5C63-3DF7-4BD1-B3A7-95498304E092}"/>
              </a:ext>
            </a:extLst>
          </p:cNvPr>
          <p:cNvSpPr txBox="1"/>
          <p:nvPr/>
        </p:nvSpPr>
        <p:spPr>
          <a:xfrm>
            <a:off x="2032000" y="2489200"/>
            <a:ext cx="88900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말보다 시안 </a:t>
            </a:r>
            <a:r>
              <a:rPr lang="en-US" altLang="ko-KR" sz="1300">
                <a:solidFill>
                  <a:srgbClr val="4A505C"/>
                </a:solidFill>
                <a:latin typeface="Noto Sans KR" panose="020B0200000000000000" pitchFamily="50" charset="-127"/>
                <a:ea typeface="Noto Sans KR" panose="020B0200000000000000" pitchFamily="50" charset="-127"/>
              </a:rPr>
              <a:t>· </a:t>
            </a:r>
            <a:r>
              <a:rPr lang="ko-KR" altLang="en-US" sz="1300">
                <a:solidFill>
                  <a:srgbClr val="4A505C"/>
                </a:solidFill>
                <a:latin typeface="Noto Sans KR" panose="020B0200000000000000" pitchFamily="50" charset="-127"/>
                <a:ea typeface="Noto Sans KR" panose="020B0200000000000000" pitchFamily="50" charset="-127"/>
              </a:rPr>
              <a:t>캡처 </a:t>
            </a:r>
            <a:r>
              <a:rPr lang="en-US" altLang="ko-KR" sz="1300">
                <a:solidFill>
                  <a:srgbClr val="4A505C"/>
                </a:solidFill>
                <a:latin typeface="Noto Sans KR" panose="020B0200000000000000" pitchFamily="50" charset="-127"/>
                <a:ea typeface="Noto Sans KR" panose="020B0200000000000000" pitchFamily="50" charset="-127"/>
              </a:rPr>
              <a:t>· </a:t>
            </a:r>
            <a:r>
              <a:rPr lang="ko-KR" altLang="en-US" sz="1300">
                <a:solidFill>
                  <a:srgbClr val="4A505C"/>
                </a:solidFill>
                <a:latin typeface="Noto Sans KR" panose="020B0200000000000000" pitchFamily="50" charset="-127"/>
                <a:ea typeface="Noto Sans KR" panose="020B0200000000000000" pitchFamily="50" charset="-127"/>
              </a:rPr>
              <a:t>손그림 한 장이 수정 횟수를 줄였습니다</a:t>
            </a:r>
          </a:p>
        </p:txBody>
      </p:sp>
      <p:sp>
        <p:nvSpPr>
          <p:cNvPr id="30" name="사각형: 둥근 모서리 29">
            <a:extLst>
              <a:ext uri="{FF2B5EF4-FFF2-40B4-BE49-F238E27FC236}">
                <a16:creationId xmlns:a16="http://schemas.microsoft.com/office/drawing/2014/main" id="{6759D6C8-302D-4A77-9A00-08B5345A6988}"/>
              </a:ext>
            </a:extLst>
          </p:cNvPr>
          <p:cNvSpPr/>
          <p:nvPr/>
        </p:nvSpPr>
        <p:spPr>
          <a:xfrm>
            <a:off x="812800" y="3124200"/>
            <a:ext cx="10566400" cy="10668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a:extLst>
              <a:ext uri="{FF2B5EF4-FFF2-40B4-BE49-F238E27FC236}">
                <a16:creationId xmlns:a16="http://schemas.microsoft.com/office/drawing/2014/main" id="{A7394A08-8C61-47B7-B8CF-615B70931584}"/>
              </a:ext>
            </a:extLst>
          </p:cNvPr>
          <p:cNvSpPr txBox="1"/>
          <p:nvPr/>
        </p:nvSpPr>
        <p:spPr>
          <a:xfrm>
            <a:off x="1117600" y="3403600"/>
            <a:ext cx="762000" cy="369332"/>
          </a:xfrm>
          <a:prstGeom prst="rect">
            <a:avLst/>
          </a:prstGeom>
          <a:noFill/>
        </p:spPr>
        <p:txBody>
          <a:bodyPr vert="horz" wrap="square" lIns="0" tIns="0" rIns="0" bIns="0" rtlCol="0">
            <a:noAutofit/>
          </a:bodyPr>
          <a:lstStyle/>
          <a:p>
            <a:r>
              <a:rPr lang="en-US" altLang="ko-KR" sz="2600" b="1">
                <a:solidFill>
                  <a:srgbClr val="E8692C"/>
                </a:solidFill>
                <a:latin typeface="Noto Sans KR" panose="020B0200000000000000" pitchFamily="50" charset="-127"/>
                <a:ea typeface="Noto Sans KR" panose="020B0200000000000000" pitchFamily="50" charset="-127"/>
              </a:rPr>
              <a:t>02</a:t>
            </a:r>
            <a:endParaRPr lang="ko-KR" altLang="en-US" sz="2600" b="1">
              <a:solidFill>
                <a:srgbClr val="E8692C"/>
              </a:solidFill>
              <a:latin typeface="Noto Sans KR" panose="020B0200000000000000" pitchFamily="50" charset="-127"/>
              <a:ea typeface="Noto Sans KR" panose="020B0200000000000000" pitchFamily="50" charset="-127"/>
            </a:endParaRPr>
          </a:p>
        </p:txBody>
      </p:sp>
      <p:sp>
        <p:nvSpPr>
          <p:cNvPr id="32" name="TextBox 31">
            <a:extLst>
              <a:ext uri="{FF2B5EF4-FFF2-40B4-BE49-F238E27FC236}">
                <a16:creationId xmlns:a16="http://schemas.microsoft.com/office/drawing/2014/main" id="{56ECBF38-A1C8-4E81-9583-257B24DE3066}"/>
              </a:ext>
            </a:extLst>
          </p:cNvPr>
          <p:cNvSpPr txBox="1"/>
          <p:nvPr/>
        </p:nvSpPr>
        <p:spPr>
          <a:xfrm>
            <a:off x="2032000" y="3327400"/>
            <a:ext cx="88900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숫자로 말하면 정확하다</a:t>
            </a:r>
          </a:p>
        </p:txBody>
      </p:sp>
      <p:sp>
        <p:nvSpPr>
          <p:cNvPr id="33" name="TextBox 32">
            <a:extLst>
              <a:ext uri="{FF2B5EF4-FFF2-40B4-BE49-F238E27FC236}">
                <a16:creationId xmlns:a16="http://schemas.microsoft.com/office/drawing/2014/main" id="{5D5D85CC-6F9B-471B-8B69-25499499FA3A}"/>
              </a:ext>
            </a:extLst>
          </p:cNvPr>
          <p:cNvSpPr txBox="1"/>
          <p:nvPr/>
        </p:nvSpPr>
        <p:spPr>
          <a:xfrm>
            <a:off x="2032000" y="3708400"/>
            <a:ext cx="8890000" cy="369332"/>
          </a:xfrm>
          <a:prstGeom prst="rect">
            <a:avLst/>
          </a:prstGeom>
          <a:noFill/>
        </p:spPr>
        <p:txBody>
          <a:bodyPr vert="horz" wrap="square" lIns="0" tIns="0" rIns="0" bIns="0" rtlCol="0">
            <a:noAutofit/>
          </a:bodyPr>
          <a:lstStyle/>
          <a:p>
            <a:r>
              <a:rPr lang="en-US" altLang="ko-KR" sz="1300">
                <a:solidFill>
                  <a:srgbClr val="4A505C"/>
                </a:solidFill>
                <a:latin typeface="Noto Sans KR" panose="020B0200000000000000" pitchFamily="50" charset="-127"/>
                <a:ea typeface="Noto Sans KR" panose="020B0200000000000000" pitchFamily="50" charset="-127"/>
              </a:rPr>
              <a:t>px · pt · </a:t>
            </a:r>
            <a:r>
              <a:rPr lang="ko-KR" altLang="en-US" sz="1300">
                <a:solidFill>
                  <a:srgbClr val="4A505C"/>
                </a:solidFill>
                <a:latin typeface="Noto Sans KR" panose="020B0200000000000000" pitchFamily="50" charset="-127"/>
                <a:ea typeface="Noto Sans KR" panose="020B0200000000000000" pitchFamily="50" charset="-127"/>
              </a:rPr>
              <a:t>초 </a:t>
            </a:r>
            <a:r>
              <a:rPr lang="en-US" altLang="ko-KR" sz="1300">
                <a:solidFill>
                  <a:srgbClr val="4A505C"/>
                </a:solidFill>
                <a:latin typeface="Noto Sans KR" panose="020B0200000000000000" pitchFamily="50" charset="-127"/>
                <a:ea typeface="Noto Sans KR" panose="020B0200000000000000" pitchFamily="50" charset="-127"/>
              </a:rPr>
              <a:t>· </a:t>
            </a:r>
            <a:r>
              <a:rPr lang="ko-KR" altLang="en-US" sz="1300">
                <a:solidFill>
                  <a:srgbClr val="4A505C"/>
                </a:solidFill>
                <a:latin typeface="Noto Sans KR" panose="020B0200000000000000" pitchFamily="50" charset="-127"/>
                <a:ea typeface="Noto Sans KR" panose="020B0200000000000000" pitchFamily="50" charset="-127"/>
              </a:rPr>
              <a:t>색상 코드로 요청하면 한 번에 원하는 크기와 속도가 나왔습니다</a:t>
            </a:r>
          </a:p>
        </p:txBody>
      </p:sp>
      <p:sp>
        <p:nvSpPr>
          <p:cNvPr id="34" name="사각형: 둥근 모서리 33">
            <a:extLst>
              <a:ext uri="{FF2B5EF4-FFF2-40B4-BE49-F238E27FC236}">
                <a16:creationId xmlns:a16="http://schemas.microsoft.com/office/drawing/2014/main" id="{CB374EF6-F061-4589-B55D-4C648E7D4F84}"/>
              </a:ext>
            </a:extLst>
          </p:cNvPr>
          <p:cNvSpPr/>
          <p:nvPr/>
        </p:nvSpPr>
        <p:spPr>
          <a:xfrm>
            <a:off x="812800" y="4343400"/>
            <a:ext cx="10566400" cy="10668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a:extLst>
              <a:ext uri="{FF2B5EF4-FFF2-40B4-BE49-F238E27FC236}">
                <a16:creationId xmlns:a16="http://schemas.microsoft.com/office/drawing/2014/main" id="{647E3B55-16C6-4959-AD49-B42C4C7ED3AD}"/>
              </a:ext>
            </a:extLst>
          </p:cNvPr>
          <p:cNvSpPr txBox="1"/>
          <p:nvPr/>
        </p:nvSpPr>
        <p:spPr>
          <a:xfrm>
            <a:off x="1117600" y="4622800"/>
            <a:ext cx="762000" cy="369332"/>
          </a:xfrm>
          <a:prstGeom prst="rect">
            <a:avLst/>
          </a:prstGeom>
          <a:noFill/>
        </p:spPr>
        <p:txBody>
          <a:bodyPr vert="horz" wrap="square" lIns="0" tIns="0" rIns="0" bIns="0" rtlCol="0">
            <a:noAutofit/>
          </a:bodyPr>
          <a:lstStyle/>
          <a:p>
            <a:r>
              <a:rPr lang="en-US" altLang="ko-KR" sz="2600" b="1">
                <a:solidFill>
                  <a:srgbClr val="E8692C"/>
                </a:solidFill>
                <a:latin typeface="Noto Sans KR" panose="020B0200000000000000" pitchFamily="50" charset="-127"/>
                <a:ea typeface="Noto Sans KR" panose="020B0200000000000000" pitchFamily="50" charset="-127"/>
              </a:rPr>
              <a:t>03</a:t>
            </a:r>
            <a:endParaRPr lang="ko-KR" altLang="en-US" sz="2600" b="1">
              <a:solidFill>
                <a:srgbClr val="E8692C"/>
              </a:solidFill>
              <a:latin typeface="Noto Sans KR" panose="020B0200000000000000" pitchFamily="50" charset="-127"/>
              <a:ea typeface="Noto Sans KR" panose="020B0200000000000000" pitchFamily="50" charset="-127"/>
            </a:endParaRPr>
          </a:p>
        </p:txBody>
      </p:sp>
      <p:sp>
        <p:nvSpPr>
          <p:cNvPr id="36" name="TextBox 35">
            <a:extLst>
              <a:ext uri="{FF2B5EF4-FFF2-40B4-BE49-F238E27FC236}">
                <a16:creationId xmlns:a16="http://schemas.microsoft.com/office/drawing/2014/main" id="{C51AB54D-CC5C-4B2C-A230-B7606B797856}"/>
              </a:ext>
            </a:extLst>
          </p:cNvPr>
          <p:cNvSpPr txBox="1"/>
          <p:nvPr/>
        </p:nvSpPr>
        <p:spPr>
          <a:xfrm>
            <a:off x="2032000" y="4546600"/>
            <a:ext cx="8890000" cy="369332"/>
          </a:xfrm>
          <a:prstGeom prst="rect">
            <a:avLst/>
          </a:prstGeom>
          <a:noFill/>
        </p:spPr>
        <p:txBody>
          <a:bodyPr vert="horz" wrap="square" lIns="0" tIns="0" rIns="0" bIns="0" rtlCol="0">
            <a:noAutofit/>
          </a:bodyPr>
          <a:lstStyle/>
          <a:p>
            <a:r>
              <a:rPr lang="ko-KR" altLang="en-US" sz="1700" b="1">
                <a:solidFill>
                  <a:srgbClr val="1B2433"/>
                </a:solidFill>
                <a:latin typeface="Noto Sans KR" panose="020B0200000000000000" pitchFamily="50" charset="-127"/>
                <a:ea typeface="Noto Sans KR" panose="020B0200000000000000" pitchFamily="50" charset="-127"/>
              </a:rPr>
              <a:t>참고하되 우리 것으로</a:t>
            </a:r>
          </a:p>
        </p:txBody>
      </p:sp>
      <p:sp>
        <p:nvSpPr>
          <p:cNvPr id="37" name="TextBox 36">
            <a:extLst>
              <a:ext uri="{FF2B5EF4-FFF2-40B4-BE49-F238E27FC236}">
                <a16:creationId xmlns:a16="http://schemas.microsoft.com/office/drawing/2014/main" id="{46208E14-5198-4524-BA84-88B9E25AFB82}"/>
              </a:ext>
            </a:extLst>
          </p:cNvPr>
          <p:cNvSpPr txBox="1"/>
          <p:nvPr/>
        </p:nvSpPr>
        <p:spPr>
          <a:xfrm>
            <a:off x="2032000" y="4927600"/>
            <a:ext cx="88900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벤치마킹으로 기본을 잡고</a:t>
            </a:r>
            <a:r>
              <a:rPr lang="en-US" altLang="ko-KR" sz="1300">
                <a:solidFill>
                  <a:srgbClr val="4A505C"/>
                </a:solidFill>
                <a:latin typeface="Noto Sans KR" panose="020B0200000000000000" pitchFamily="50" charset="-127"/>
                <a:ea typeface="Noto Sans KR" panose="020B0200000000000000" pitchFamily="50" charset="-127"/>
              </a:rPr>
              <a:t>, </a:t>
            </a:r>
            <a:r>
              <a:rPr lang="ko-KR" altLang="en-US" sz="1300">
                <a:solidFill>
                  <a:srgbClr val="4A505C"/>
                </a:solidFill>
                <a:latin typeface="Noto Sans KR" panose="020B0200000000000000" pitchFamily="50" charset="-127"/>
                <a:ea typeface="Noto Sans KR" panose="020B0200000000000000" pitchFamily="50" charset="-127"/>
              </a:rPr>
              <a:t>비어 있던 기능을 우리 아이디어로 채웠습니다</a:t>
            </a:r>
          </a:p>
        </p:txBody>
      </p:sp>
    </p:spTree>
    <p:extLst>
      <p:ext uri="{BB962C8B-B14F-4D97-AF65-F5344CB8AC3E}">
        <p14:creationId xmlns:p14="http://schemas.microsoft.com/office/powerpoint/2010/main" val="3281189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09 · COLLABORATION</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Notion에서 계획하고, GitHub에서 합쳤습니다</a:t>
            </a:r>
            <a:endParaRPr lang="en-US" sz="3200" dirty="0"/>
          </a:p>
        </p:txBody>
      </p:sp>
      <p:sp>
        <p:nvSpPr>
          <p:cNvPr id="4" name="Shape 2"/>
          <p:cNvSpPr/>
          <p:nvPr/>
        </p:nvSpPr>
        <p:spPr>
          <a:xfrm>
            <a:off x="815975" y="1974155"/>
            <a:ext cx="2257425" cy="1984970"/>
          </a:xfrm>
          <a:prstGeom prst="roundRect">
            <a:avLst>
              <a:gd name="adj" fmla="val 4959"/>
            </a:avLst>
          </a:prstGeom>
          <a:solidFill>
            <a:srgbClr val="FDFCF9"/>
          </a:solidFill>
          <a:ln w="6350">
            <a:solidFill>
              <a:srgbClr val="DCD6C8"/>
            </a:solidFill>
            <a:prstDash val="solid"/>
          </a:ln>
        </p:spPr>
      </p:sp>
      <p:sp>
        <p:nvSpPr>
          <p:cNvPr id="5" name="Text 3"/>
          <p:cNvSpPr/>
          <p:nvPr/>
        </p:nvSpPr>
        <p:spPr>
          <a:xfrm>
            <a:off x="1047750" y="2205930"/>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JetBrains Mono" pitchFamily="49" charset="0"/>
                <a:ea typeface="JetBrains Mono" pitchFamily="49" charset="-122"/>
                <a:cs typeface="JetBrains Mono" pitchFamily="49" charset="-120"/>
              </a:rPr>
              <a:t>STEP 01</a:t>
            </a:r>
            <a:endParaRPr lang="en-US" sz="1200" dirty="0"/>
          </a:p>
        </p:txBody>
      </p:sp>
      <p:sp>
        <p:nvSpPr>
          <p:cNvPr id="6" name="Text 4"/>
          <p:cNvSpPr/>
          <p:nvPr/>
        </p:nvSpPr>
        <p:spPr>
          <a:xfrm>
            <a:off x="1047750" y="2520851"/>
            <a:ext cx="184769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Notion</a:t>
            </a:r>
            <a:endParaRPr lang="en-US" sz="2000" dirty="0"/>
          </a:p>
        </p:txBody>
      </p:sp>
      <p:sp>
        <p:nvSpPr>
          <p:cNvPr id="7" name="Text 5"/>
          <p:cNvSpPr/>
          <p:nvPr/>
        </p:nvSpPr>
        <p:spPr>
          <a:xfrm>
            <a:off x="1047750" y="2927251"/>
            <a:ext cx="1847691"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할 일 · 일정 · 역할을 정하고 회의록과 프롬프트를 기록</a:t>
            </a:r>
            <a:endParaRPr lang="en-US" sz="1400" dirty="0"/>
          </a:p>
        </p:txBody>
      </p:sp>
      <p:pic>
        <p:nvPicPr>
          <p:cNvPr id="8" name="Image 0" descr="arrow-right"/>
          <p:cNvPicPr>
            <a:picLocks noChangeAspect="1"/>
          </p:cNvPicPr>
          <p:nvPr/>
        </p:nvPicPr>
        <p:blipFill>
          <a:blip r:embed="rId3"/>
          <a:srcRect/>
          <a:stretch/>
        </p:blipFill>
        <p:spPr>
          <a:xfrm>
            <a:off x="3178175" y="2877741"/>
            <a:ext cx="304800" cy="177800"/>
          </a:xfrm>
          <a:prstGeom prst="rect">
            <a:avLst/>
          </a:prstGeom>
        </p:spPr>
      </p:pic>
      <p:sp>
        <p:nvSpPr>
          <p:cNvPr id="9" name="Shape 6"/>
          <p:cNvSpPr/>
          <p:nvPr/>
        </p:nvSpPr>
        <p:spPr>
          <a:xfrm>
            <a:off x="3587750" y="1974155"/>
            <a:ext cx="2257425" cy="1984970"/>
          </a:xfrm>
          <a:prstGeom prst="roundRect">
            <a:avLst>
              <a:gd name="adj" fmla="val 4959"/>
            </a:avLst>
          </a:prstGeom>
          <a:solidFill>
            <a:srgbClr val="FDFCF9"/>
          </a:solidFill>
          <a:ln w="6350">
            <a:solidFill>
              <a:srgbClr val="DCD6C8"/>
            </a:solidFill>
            <a:prstDash val="solid"/>
          </a:ln>
        </p:spPr>
      </p:sp>
      <p:sp>
        <p:nvSpPr>
          <p:cNvPr id="10" name="Text 7"/>
          <p:cNvSpPr/>
          <p:nvPr/>
        </p:nvSpPr>
        <p:spPr>
          <a:xfrm>
            <a:off x="3819525" y="2205930"/>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JetBrains Mono" pitchFamily="49" charset="0"/>
                <a:ea typeface="JetBrains Mono" pitchFamily="49" charset="-122"/>
                <a:cs typeface="JetBrains Mono" pitchFamily="49" charset="-120"/>
              </a:rPr>
              <a:t>STEP 02</a:t>
            </a:r>
            <a:endParaRPr lang="en-US" sz="1200" dirty="0"/>
          </a:p>
        </p:txBody>
      </p:sp>
      <p:sp>
        <p:nvSpPr>
          <p:cNvPr id="11" name="Text 8"/>
          <p:cNvSpPr/>
          <p:nvPr/>
        </p:nvSpPr>
        <p:spPr>
          <a:xfrm>
            <a:off x="3819525" y="2520851"/>
            <a:ext cx="184769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개인 작업</a:t>
            </a:r>
            <a:endParaRPr lang="en-US" sz="2000" dirty="0"/>
          </a:p>
        </p:txBody>
      </p:sp>
      <p:sp>
        <p:nvSpPr>
          <p:cNvPr id="12" name="Text 9"/>
          <p:cNvSpPr/>
          <p:nvPr/>
        </p:nvSpPr>
        <p:spPr>
          <a:xfrm>
            <a:off x="3819525" y="2927251"/>
            <a:ext cx="1847691"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각자 브랜치에서 Codex · Claude Code로 페이지 제작</a:t>
            </a:r>
            <a:endParaRPr lang="en-US" sz="1400" dirty="0"/>
          </a:p>
        </p:txBody>
      </p:sp>
      <p:pic>
        <p:nvPicPr>
          <p:cNvPr id="13" name="Image 1" descr="arrow-right"/>
          <p:cNvPicPr>
            <a:picLocks noChangeAspect="1"/>
          </p:cNvPicPr>
          <p:nvPr/>
        </p:nvPicPr>
        <p:blipFill>
          <a:blip r:embed="rId3"/>
          <a:srcRect/>
          <a:stretch/>
        </p:blipFill>
        <p:spPr>
          <a:xfrm>
            <a:off x="5949950" y="2877741"/>
            <a:ext cx="304800" cy="177800"/>
          </a:xfrm>
          <a:prstGeom prst="rect">
            <a:avLst/>
          </a:prstGeom>
        </p:spPr>
      </p:pic>
      <p:sp>
        <p:nvSpPr>
          <p:cNvPr id="14" name="Shape 10"/>
          <p:cNvSpPr/>
          <p:nvPr/>
        </p:nvSpPr>
        <p:spPr>
          <a:xfrm>
            <a:off x="6359525" y="1974155"/>
            <a:ext cx="2257425" cy="1984970"/>
          </a:xfrm>
          <a:prstGeom prst="roundRect">
            <a:avLst>
              <a:gd name="adj" fmla="val 4959"/>
            </a:avLst>
          </a:prstGeom>
          <a:solidFill>
            <a:srgbClr val="FDFCF9"/>
          </a:solidFill>
          <a:ln w="6350">
            <a:solidFill>
              <a:srgbClr val="DCD6C8"/>
            </a:solidFill>
            <a:prstDash val="solid"/>
          </a:ln>
        </p:spPr>
      </p:sp>
      <p:sp>
        <p:nvSpPr>
          <p:cNvPr id="15" name="Text 11"/>
          <p:cNvSpPr/>
          <p:nvPr/>
        </p:nvSpPr>
        <p:spPr>
          <a:xfrm>
            <a:off x="6591300" y="2205930"/>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JetBrains Mono" pitchFamily="49" charset="0"/>
                <a:ea typeface="JetBrains Mono" pitchFamily="49" charset="-122"/>
                <a:cs typeface="JetBrains Mono" pitchFamily="49" charset="-120"/>
              </a:rPr>
              <a:t>STEP 03</a:t>
            </a:r>
            <a:endParaRPr lang="en-US" sz="1200" dirty="0"/>
          </a:p>
        </p:txBody>
      </p:sp>
      <p:sp>
        <p:nvSpPr>
          <p:cNvPr id="16" name="Text 12"/>
          <p:cNvSpPr/>
          <p:nvPr/>
        </p:nvSpPr>
        <p:spPr>
          <a:xfrm>
            <a:off x="6591300" y="2520851"/>
            <a:ext cx="184769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GitHub</a:t>
            </a:r>
            <a:endParaRPr lang="en-US" sz="2000" dirty="0"/>
          </a:p>
        </p:txBody>
      </p:sp>
      <p:sp>
        <p:nvSpPr>
          <p:cNvPr id="17" name="Text 13"/>
          <p:cNvSpPr/>
          <p:nvPr/>
        </p:nvSpPr>
        <p:spPr>
          <a:xfrm>
            <a:off x="6591300" y="2927251"/>
            <a:ext cx="1847691"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263"/>
                </a:solidFill>
                <a:latin typeface="Noto Sans KR" pitchFamily="34" charset="0"/>
                <a:ea typeface="Noto Sans KR" pitchFamily="34" charset="-122"/>
                <a:cs typeface="Noto Sans KR" pitchFamily="34" charset="-120"/>
              </a:rPr>
              <a:t>Pull Request로 올리고 서로 확인한 뒤 main에 합치기</a:t>
            </a:r>
            <a:endParaRPr lang="en-US" sz="1400" dirty="0"/>
          </a:p>
        </p:txBody>
      </p:sp>
      <p:pic>
        <p:nvPicPr>
          <p:cNvPr id="18" name="Image 2" descr="arrow-right"/>
          <p:cNvPicPr>
            <a:picLocks noChangeAspect="1"/>
          </p:cNvPicPr>
          <p:nvPr/>
        </p:nvPicPr>
        <p:blipFill>
          <a:blip r:embed="rId3"/>
          <a:srcRect/>
          <a:stretch/>
        </p:blipFill>
        <p:spPr>
          <a:xfrm>
            <a:off x="8721725" y="2877741"/>
            <a:ext cx="304800" cy="177800"/>
          </a:xfrm>
          <a:prstGeom prst="rect">
            <a:avLst/>
          </a:prstGeom>
        </p:spPr>
      </p:pic>
      <p:sp>
        <p:nvSpPr>
          <p:cNvPr id="19" name="Shape 14"/>
          <p:cNvSpPr/>
          <p:nvPr/>
        </p:nvSpPr>
        <p:spPr>
          <a:xfrm>
            <a:off x="9128125" y="1970980"/>
            <a:ext cx="2251075" cy="1991320"/>
          </a:xfrm>
          <a:prstGeom prst="roundRect">
            <a:avLst>
              <a:gd name="adj" fmla="val 5102"/>
            </a:avLst>
          </a:prstGeom>
          <a:solidFill>
            <a:srgbClr val="16202E"/>
          </a:solidFill>
          <a:ln/>
        </p:spPr>
      </p:sp>
      <p:sp>
        <p:nvSpPr>
          <p:cNvPr id="20" name="Text 15"/>
          <p:cNvSpPr/>
          <p:nvPr/>
        </p:nvSpPr>
        <p:spPr>
          <a:xfrm>
            <a:off x="9356725" y="2199580"/>
            <a:ext cx="184769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692C"/>
                </a:solidFill>
                <a:latin typeface="JetBrains Mono" pitchFamily="49" charset="0"/>
                <a:ea typeface="JetBrains Mono" pitchFamily="49" charset="-122"/>
                <a:cs typeface="JetBrains Mono" pitchFamily="49" charset="-120"/>
              </a:rPr>
              <a:t>STEP 04</a:t>
            </a:r>
            <a:endParaRPr lang="en-US" sz="1200" dirty="0"/>
          </a:p>
        </p:txBody>
      </p:sp>
      <p:sp>
        <p:nvSpPr>
          <p:cNvPr id="21" name="Text 16"/>
          <p:cNvSpPr/>
          <p:nvPr/>
        </p:nvSpPr>
        <p:spPr>
          <a:xfrm>
            <a:off x="9356725" y="2514501"/>
            <a:ext cx="184769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3F1EC"/>
                </a:solidFill>
                <a:latin typeface="Noto Sans KR" pitchFamily="34" charset="0"/>
                <a:ea typeface="Noto Sans KR" pitchFamily="34" charset="-122"/>
                <a:cs typeface="Noto Sans KR" pitchFamily="34" charset="-120"/>
              </a:rPr>
              <a:t>배포</a:t>
            </a:r>
            <a:endParaRPr lang="en-US" sz="2000" dirty="0"/>
          </a:p>
        </p:txBody>
      </p:sp>
      <p:sp>
        <p:nvSpPr>
          <p:cNvPr id="22" name="Text 17"/>
          <p:cNvSpPr/>
          <p:nvPr/>
        </p:nvSpPr>
        <p:spPr>
          <a:xfrm>
            <a:off x="9356725" y="2920901"/>
            <a:ext cx="1847691"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C9CED8"/>
                </a:solidFill>
                <a:latin typeface="Noto Sans KR" pitchFamily="34" charset="0"/>
                <a:ea typeface="Noto Sans KR" pitchFamily="34" charset="-122"/>
                <a:cs typeface="Noto Sans KR" pitchFamily="34" charset="-120"/>
              </a:rPr>
              <a:t>완성된 사이트를 공개하고 주소를 팀원과 공유</a:t>
            </a:r>
            <a:endParaRPr lang="en-US" sz="1400" dirty="0"/>
          </a:p>
        </p:txBody>
      </p:sp>
      <p:sp>
        <p:nvSpPr>
          <p:cNvPr id="23" name="Shape 18"/>
          <p:cNvSpPr/>
          <p:nvPr/>
        </p:nvSpPr>
        <p:spPr>
          <a:xfrm>
            <a:off x="838200" y="4317901"/>
            <a:ext cx="0" cy="387350"/>
          </a:xfrm>
          <a:prstGeom prst="line">
            <a:avLst/>
          </a:prstGeom>
          <a:noFill/>
          <a:ln w="50800">
            <a:solidFill>
              <a:srgbClr val="D9531E"/>
            </a:solidFill>
            <a:prstDash val="solid"/>
          </a:ln>
        </p:spPr>
      </p:sp>
      <p:sp>
        <p:nvSpPr>
          <p:cNvPr id="24" name="Text 19"/>
          <p:cNvSpPr/>
          <p:nvPr/>
        </p:nvSpPr>
        <p:spPr>
          <a:xfrm>
            <a:off x="1066800" y="4368701"/>
            <a:ext cx="10621772" cy="311150"/>
          </a:xfrm>
          <a:prstGeom prst="rect">
            <a:avLst/>
          </a:prstGeom>
          <a:noFill/>
          <a:ln/>
        </p:spPr>
        <p:txBody>
          <a:bodyPr wrap="square" lIns="0" tIns="0" rIns="0" bIns="0" rtlCol="0" anchor="t">
            <a:normAutofit/>
          </a:bodyPr>
          <a:lstStyle/>
          <a:p>
            <a:pPr marL="0" indent="0" algn="l">
              <a:lnSpc>
                <a:spcPts val="2250"/>
              </a:lnSpc>
              <a:buNone/>
            </a:pPr>
            <a:r>
              <a:rPr lang="en-US" sz="1500" b="1" dirty="0">
                <a:solidFill>
                  <a:srgbClr val="1B2433"/>
                </a:solidFill>
                <a:latin typeface="Noto Sans KR" pitchFamily="34" charset="0"/>
                <a:ea typeface="Noto Sans KR" pitchFamily="34" charset="-122"/>
                <a:cs typeface="Noto Sans KR" pitchFamily="34" charset="-120"/>
              </a:rPr>
              <a:t>커밋 · PR · 회의록이 모두 남아, 누가 무엇을 했는지 기록으로 확인할 수 있습니다.</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10 · GITHUB</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GitHub 작업 규칙</a:t>
            </a:r>
            <a:endParaRPr lang="en-US" sz="3200" dirty="0"/>
          </a:p>
        </p:txBody>
      </p:sp>
      <p:sp>
        <p:nvSpPr>
          <p:cNvPr id="4" name="Text 2"/>
          <p:cNvSpPr/>
          <p:nvPr/>
        </p:nvSpPr>
        <p:spPr>
          <a:xfrm>
            <a:off x="812800" y="1920180"/>
            <a:ext cx="554634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Noto Sans KR" pitchFamily="34" charset="0"/>
                <a:ea typeface="Noto Sans KR" pitchFamily="34" charset="-122"/>
                <a:cs typeface="Noto Sans KR" pitchFamily="34" charset="-120"/>
              </a:rPr>
              <a:t>브랜치 · 한 사람당 하나</a:t>
            </a:r>
            <a:endParaRPr lang="en-US" sz="1200" dirty="0"/>
          </a:p>
        </p:txBody>
      </p:sp>
      <p:sp>
        <p:nvSpPr>
          <p:cNvPr id="5" name="Text 3"/>
          <p:cNvSpPr/>
          <p:nvPr/>
        </p:nvSpPr>
        <p:spPr>
          <a:xfrm>
            <a:off x="812800" y="2184301"/>
            <a:ext cx="5546344"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1B2433"/>
                </a:solidFill>
                <a:latin typeface="JetBrains Mono" pitchFamily="49" charset="0"/>
                <a:ea typeface="JetBrains Mono" pitchFamily="49" charset="-122"/>
                <a:cs typeface="JetBrains Mono" pitchFamily="49" charset="-120"/>
              </a:rPr>
              <a:t>page/about　page/ai-video</a:t>
            </a:r>
            <a:endParaRPr lang="en-US" sz="1300" dirty="0"/>
          </a:p>
          <a:p>
            <a:pPr marL="0" indent="0" algn="l">
              <a:lnSpc>
                <a:spcPts val="2080"/>
              </a:lnSpc>
              <a:buNone/>
            </a:pPr>
            <a:r>
              <a:rPr lang="en-US" sz="1300" dirty="0">
                <a:solidFill>
                  <a:srgbClr val="1B2433"/>
                </a:solidFill>
                <a:latin typeface="JetBrains Mono" pitchFamily="49" charset="0"/>
                <a:ea typeface="JetBrains Mono" pitchFamily="49" charset="-122"/>
                <a:cs typeface="JetBrains Mono" pitchFamily="49" charset="-120"/>
              </a:rPr>
              <a:t>page/portfolio　page/contact</a:t>
            </a:r>
            <a:endParaRPr lang="en-US" sz="1300" dirty="0"/>
          </a:p>
        </p:txBody>
      </p:sp>
      <p:sp>
        <p:nvSpPr>
          <p:cNvPr id="6" name="Text 4"/>
          <p:cNvSpPr/>
          <p:nvPr/>
        </p:nvSpPr>
        <p:spPr>
          <a:xfrm>
            <a:off x="812800" y="2915741"/>
            <a:ext cx="554634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Noto Sans KR" pitchFamily="34" charset="0"/>
                <a:ea typeface="Noto Sans KR" pitchFamily="34" charset="-122"/>
                <a:cs typeface="Noto Sans KR" pitchFamily="34" charset="-120"/>
              </a:rPr>
              <a:t>커밋 메시지 · 무엇을 했는지 한 줄로</a:t>
            </a:r>
            <a:endParaRPr lang="en-US" sz="1200" dirty="0"/>
          </a:p>
        </p:txBody>
      </p:sp>
      <p:sp>
        <p:nvSpPr>
          <p:cNvPr id="7" name="Text 5"/>
          <p:cNvSpPr/>
          <p:nvPr/>
        </p:nvSpPr>
        <p:spPr>
          <a:xfrm>
            <a:off x="812800" y="3179862"/>
            <a:ext cx="5546344" cy="55364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1B2433"/>
                </a:solidFill>
                <a:latin typeface="JetBrains Mono" pitchFamily="49" charset="0"/>
                <a:ea typeface="JetBrains Mono" pitchFamily="49" charset="-122"/>
                <a:cs typeface="JetBrains Mono" pitchFamily="49" charset="-120"/>
              </a:rPr>
              <a:t>feat: 포트폴리오 필터 추가</a:t>
            </a:r>
            <a:endParaRPr lang="en-US" sz="1300" dirty="0"/>
          </a:p>
          <a:p>
            <a:pPr marL="0" indent="0" algn="l">
              <a:lnSpc>
                <a:spcPts val="2080"/>
              </a:lnSpc>
              <a:buNone/>
            </a:pPr>
            <a:r>
              <a:rPr lang="en-US" sz="1300" dirty="0">
                <a:solidFill>
                  <a:srgbClr val="1B2433"/>
                </a:solidFill>
                <a:latin typeface="JetBrains Mono" pitchFamily="49" charset="0"/>
                <a:ea typeface="JetBrains Mono" pitchFamily="49" charset="-122"/>
                <a:cs typeface="JetBrains Mono" pitchFamily="49" charset="-120"/>
              </a:rPr>
              <a:t>fix: 모바일 메뉴 겹침 수정</a:t>
            </a:r>
            <a:endParaRPr lang="en-US" sz="1300" dirty="0"/>
          </a:p>
        </p:txBody>
      </p:sp>
      <p:sp>
        <p:nvSpPr>
          <p:cNvPr id="8" name="Text 6"/>
          <p:cNvSpPr/>
          <p:nvPr/>
        </p:nvSpPr>
        <p:spPr>
          <a:xfrm>
            <a:off x="812800" y="3911302"/>
            <a:ext cx="554634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Noto Sans KR" pitchFamily="34" charset="0"/>
                <a:ea typeface="Noto Sans KR" pitchFamily="34" charset="-122"/>
                <a:cs typeface="Noto Sans KR" pitchFamily="34" charset="-120"/>
              </a:rPr>
              <a:t>Pull Request · 확인 후 합치기</a:t>
            </a:r>
            <a:endParaRPr lang="en-US" sz="1200" dirty="0"/>
          </a:p>
        </p:txBody>
      </p:sp>
      <p:sp>
        <p:nvSpPr>
          <p:cNvPr id="9" name="Text 7"/>
          <p:cNvSpPr/>
          <p:nvPr/>
        </p:nvSpPr>
        <p:spPr>
          <a:xfrm>
            <a:off x="812800" y="4175423"/>
            <a:ext cx="554634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B2433"/>
                </a:solidFill>
                <a:latin typeface="Noto Sans KR" pitchFamily="34" charset="0"/>
                <a:ea typeface="Noto Sans KR" pitchFamily="34" charset="-122"/>
                <a:cs typeface="Noto Sans KR" pitchFamily="34" charset="-120"/>
              </a:rPr>
              <a:t>PR 올리기 → 팀원 1명 이상 확인 → main에 합치기</a:t>
            </a:r>
            <a:endParaRPr lang="en-US" sz="1400" dirty="0"/>
          </a:p>
        </p:txBody>
      </p:sp>
      <p:sp>
        <p:nvSpPr>
          <p:cNvPr id="10" name="Shape 8"/>
          <p:cNvSpPr/>
          <p:nvPr/>
        </p:nvSpPr>
        <p:spPr>
          <a:xfrm>
            <a:off x="812800" y="4648498"/>
            <a:ext cx="5384800" cy="0"/>
          </a:xfrm>
          <a:prstGeom prst="line">
            <a:avLst/>
          </a:prstGeom>
          <a:noFill/>
          <a:ln w="6350">
            <a:solidFill>
              <a:srgbClr val="DCD6C8"/>
            </a:solidFill>
            <a:prstDash val="solid"/>
          </a:ln>
        </p:spPr>
      </p:sp>
      <p:sp>
        <p:nvSpPr>
          <p:cNvPr id="11" name="Text 9"/>
          <p:cNvSpPr/>
          <p:nvPr/>
        </p:nvSpPr>
        <p:spPr>
          <a:xfrm>
            <a:off x="812800" y="4829473"/>
            <a:ext cx="829628"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0441A"/>
                </a:solidFill>
                <a:latin typeface="Noto Sans KR" pitchFamily="34" charset="0"/>
                <a:ea typeface="Noto Sans KR" pitchFamily="34" charset="-122"/>
                <a:cs typeface="Noto Sans KR" pitchFamily="34" charset="-120"/>
              </a:rPr>
              <a:t>518</a:t>
            </a:r>
            <a:endParaRPr lang="en-US" sz="2800" dirty="0"/>
          </a:p>
        </p:txBody>
      </p:sp>
      <p:sp>
        <p:nvSpPr>
          <p:cNvPr id="12" name="Text 10"/>
          <p:cNvSpPr/>
          <p:nvPr/>
        </p:nvSpPr>
        <p:spPr>
          <a:xfrm>
            <a:off x="812800" y="5352653"/>
            <a:ext cx="742156" cy="238720"/>
          </a:xfrm>
          <a:prstGeom prst="rect">
            <a:avLst/>
          </a:prstGeom>
          <a:noFill/>
          <a:ln/>
        </p:spPr>
        <p:txBody>
          <a:bodyPr wrap="square" lIns="0" tIns="0" rIns="0" bIns="0" rtlCol="0" anchor="t">
            <a:normAutofit/>
          </a:bodyPr>
          <a:lstStyle/>
          <a:p>
            <a:pPr marL="0" indent="0" algn="l">
              <a:lnSpc>
                <a:spcPts val="1680"/>
              </a:lnSpc>
              <a:buNone/>
            </a:pPr>
            <a:r>
              <a:rPr lang="ko-KR" altLang="en-US" sz="1200">
                <a:solidFill>
                  <a:srgbClr val="5A6170"/>
                </a:solidFill>
                <a:latin typeface="Noto Sans KR" pitchFamily="34" charset="0"/>
                <a:ea typeface="Noto Sans KR" pitchFamily="34" charset="-122"/>
                <a:cs typeface="Noto Sans KR" pitchFamily="34" charset="-120"/>
              </a:rPr>
              <a:t>업로드 파일</a:t>
            </a:r>
            <a:endParaRPr lang="en-US" sz="1200" dirty="0"/>
          </a:p>
        </p:txBody>
      </p:sp>
      <p:sp>
        <p:nvSpPr>
          <p:cNvPr id="13" name="Text 11"/>
          <p:cNvSpPr/>
          <p:nvPr/>
        </p:nvSpPr>
        <p:spPr>
          <a:xfrm>
            <a:off x="1808956" y="4829473"/>
            <a:ext cx="935930" cy="523180"/>
          </a:xfrm>
          <a:prstGeom prst="rect">
            <a:avLst/>
          </a:prstGeom>
          <a:noFill/>
          <a:ln/>
        </p:spPr>
        <p:txBody>
          <a:bodyPr wrap="square" lIns="0" tIns="0" rIns="0" bIns="0" rtlCol="0" anchor="t">
            <a:normAutofit/>
          </a:bodyPr>
          <a:lstStyle/>
          <a:p>
            <a:pPr marL="0" indent="0" algn="l">
              <a:lnSpc>
                <a:spcPts val="3920"/>
              </a:lnSpc>
              <a:buNone/>
            </a:pPr>
            <a:r>
              <a:rPr lang="en-US" sz="2800" b="1">
                <a:solidFill>
                  <a:srgbClr val="B0441A"/>
                </a:solidFill>
                <a:latin typeface="Noto Sans KR" pitchFamily="34" charset="0"/>
                <a:ea typeface="Noto Sans KR" pitchFamily="34" charset="-122"/>
                <a:cs typeface="Noto Sans KR" pitchFamily="34" charset="-120"/>
              </a:rPr>
              <a:t>10</a:t>
            </a:r>
            <a:endParaRPr lang="en-US" sz="2800" dirty="0"/>
          </a:p>
        </p:txBody>
      </p:sp>
      <p:sp>
        <p:nvSpPr>
          <p:cNvPr id="14" name="Text 12"/>
          <p:cNvSpPr/>
          <p:nvPr/>
        </p:nvSpPr>
        <p:spPr>
          <a:xfrm>
            <a:off x="1808956" y="5352653"/>
            <a:ext cx="1062157" cy="238720"/>
          </a:xfrm>
          <a:prstGeom prst="rect">
            <a:avLst/>
          </a:prstGeom>
          <a:noFill/>
          <a:ln/>
        </p:spPr>
        <p:txBody>
          <a:bodyPr wrap="square" lIns="0" tIns="0" rIns="0" bIns="0" rtlCol="0" anchor="t">
            <a:normAutofit/>
          </a:bodyPr>
          <a:lstStyle/>
          <a:p>
            <a:pPr marL="0" indent="0" algn="l">
              <a:lnSpc>
                <a:spcPts val="1680"/>
              </a:lnSpc>
              <a:buNone/>
            </a:pPr>
            <a:r>
              <a:rPr lang="ko-KR" altLang="en-US" sz="1200">
                <a:solidFill>
                  <a:srgbClr val="5A6170"/>
                </a:solidFill>
                <a:latin typeface="Noto Sans KR" pitchFamily="34" charset="0"/>
                <a:ea typeface="Noto Sans KR" pitchFamily="34" charset="-122"/>
                <a:cs typeface="Noto Sans KR" pitchFamily="34" charset="-120"/>
              </a:rPr>
              <a:t>정리 폴더</a:t>
            </a:r>
            <a:endParaRPr lang="en-US" sz="1200" dirty="0"/>
          </a:p>
        </p:txBody>
      </p:sp>
      <p:sp>
        <p:nvSpPr>
          <p:cNvPr id="15" name="Text 13"/>
          <p:cNvSpPr/>
          <p:nvPr/>
        </p:nvSpPr>
        <p:spPr>
          <a:xfrm>
            <a:off x="2998887" y="4829473"/>
            <a:ext cx="829628" cy="523180"/>
          </a:xfrm>
          <a:prstGeom prst="rect">
            <a:avLst/>
          </a:prstGeom>
          <a:noFill/>
          <a:ln/>
        </p:spPr>
        <p:txBody>
          <a:bodyPr wrap="square" lIns="0" tIns="0" rIns="0" bIns="0" rtlCol="0" anchor="t">
            <a:normAutofit/>
          </a:bodyPr>
          <a:lstStyle/>
          <a:p>
            <a:pPr marL="0" indent="0" algn="l">
              <a:lnSpc>
                <a:spcPts val="3920"/>
              </a:lnSpc>
              <a:buNone/>
            </a:pPr>
            <a:r>
              <a:rPr lang="en-US" sz="2800" b="1">
                <a:solidFill>
                  <a:srgbClr val="B0441A"/>
                </a:solidFill>
                <a:latin typeface="Noto Sans KR" pitchFamily="34" charset="0"/>
                <a:ea typeface="Noto Sans KR" pitchFamily="34" charset="-122"/>
                <a:cs typeface="Noto Sans KR" pitchFamily="34" charset="-120"/>
              </a:rPr>
              <a:t>4</a:t>
            </a:r>
            <a:endParaRPr lang="en-US" sz="2800" dirty="0"/>
          </a:p>
        </p:txBody>
      </p:sp>
      <p:sp>
        <p:nvSpPr>
          <p:cNvPr id="16" name="Text 14"/>
          <p:cNvSpPr/>
          <p:nvPr/>
        </p:nvSpPr>
        <p:spPr>
          <a:xfrm>
            <a:off x="2998887" y="5352653"/>
            <a:ext cx="742156" cy="238720"/>
          </a:xfrm>
          <a:prstGeom prst="rect">
            <a:avLst/>
          </a:prstGeom>
          <a:noFill/>
          <a:ln/>
        </p:spPr>
        <p:txBody>
          <a:bodyPr wrap="square" lIns="0" tIns="0" rIns="0" bIns="0" rtlCol="0" anchor="t">
            <a:normAutofit/>
          </a:bodyPr>
          <a:lstStyle/>
          <a:p>
            <a:pPr marL="0" indent="0" algn="l">
              <a:lnSpc>
                <a:spcPts val="1680"/>
              </a:lnSpc>
              <a:buNone/>
            </a:pPr>
            <a:r>
              <a:rPr lang="ko-KR" altLang="en-US" sz="1200">
                <a:solidFill>
                  <a:srgbClr val="5A6170"/>
                </a:solidFill>
                <a:latin typeface="Noto Sans KR" pitchFamily="34" charset="0"/>
                <a:ea typeface="Noto Sans KR" pitchFamily="34" charset="-122"/>
                <a:cs typeface="Noto Sans KR" pitchFamily="34" charset="-120"/>
              </a:rPr>
              <a:t>참여 팀원</a:t>
            </a:r>
            <a:endParaRPr lang="en-US" sz="1200" dirty="0"/>
          </a:p>
        </p:txBody>
      </p:sp>
      <p:sp>
        <p:nvSpPr>
          <p:cNvPr id="17" name="Shape 15"/>
          <p:cNvSpPr/>
          <p:nvPr/>
        </p:nvSpPr>
        <p:spPr>
          <a:xfrm>
            <a:off x="6559550" y="1926530"/>
            <a:ext cx="4813300" cy="4112320"/>
          </a:xfrm>
          <a:prstGeom prst="roundRect">
            <a:avLst>
              <a:gd name="adj" fmla="val 2316"/>
            </a:avLst>
          </a:prstGeom>
          <a:solidFill>
            <a:srgbClr val="E4E0D6"/>
          </a:solidFill>
          <a:ln w="12700">
            <a:solidFill>
              <a:srgbClr val="A39C8C"/>
            </a:solidFill>
            <a:prstDash val="dash"/>
          </a:ln>
        </p:spPr>
      </p:sp>
      <p:pic>
        <p:nvPicPr>
          <p:cNvPr id="21" name="그림 20">
            <a:extLst>
              <a:ext uri="{FF2B5EF4-FFF2-40B4-BE49-F238E27FC236}">
                <a16:creationId xmlns:a16="http://schemas.microsoft.com/office/drawing/2014/main" id="{DD9A287A-38CE-4044-8A17-AAFFAA2FB28A}"/>
              </a:ext>
            </a:extLst>
          </p:cNvPr>
          <p:cNvPicPr>
            <a:picLocks/>
          </p:cNvPicPr>
          <p:nvPr/>
        </p:nvPicPr>
        <p:blipFill>
          <a:blip r:embed="rId3"/>
          <a:stretch>
            <a:fillRect/>
          </a:stretch>
        </p:blipFill>
        <p:spPr>
          <a:xfrm>
            <a:off x="6559550" y="1926530"/>
            <a:ext cx="4813300" cy="4112320"/>
          </a:xfrm>
          <a:prstGeom prst="rect">
            <a:avLst/>
          </a:prstGeom>
          <a:ln w="9525">
            <a:solidFill>
              <a:srgbClr val="D9D4CA"/>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10 · GITHUB</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날짜 </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이름 폴더로 남긴 작업 기록</a:t>
            </a:r>
            <a:endParaRPr lang="en-US" sz="3200" dirty="0"/>
          </a:p>
        </p:txBody>
      </p:sp>
      <p:sp>
        <p:nvSpPr>
          <p:cNvPr id="4" name="Text 2"/>
          <p:cNvSpPr/>
          <p:nvPr/>
        </p:nvSpPr>
        <p:spPr>
          <a:xfrm>
            <a:off x="812800" y="1920180"/>
            <a:ext cx="5546344" cy="238720"/>
          </a:xfrm>
          <a:prstGeom prst="rect">
            <a:avLst/>
          </a:prstGeom>
          <a:noFill/>
          <a:ln/>
        </p:spPr>
        <p:txBody>
          <a:bodyPr wrap="square" lIns="0" tIns="0" rIns="0" bIns="0" rtlCol="0" anchor="t">
            <a:normAutofit/>
          </a:bodyPr>
          <a:lstStyle/>
          <a:p>
            <a:pPr marL="0" indent="0" algn="l">
              <a:lnSpc>
                <a:spcPts val="1680"/>
              </a:lnSpc>
              <a:buNone/>
            </a:pPr>
            <a:r>
              <a:rPr lang="ko-KR" altLang="en-US" sz="1200" b="1">
                <a:solidFill>
                  <a:srgbClr val="B0441A"/>
                </a:solidFill>
                <a:latin typeface="Noto Sans KR" pitchFamily="34" charset="0"/>
                <a:ea typeface="Noto Sans KR" pitchFamily="34" charset="-122"/>
                <a:cs typeface="Noto Sans KR" pitchFamily="34" charset="-120"/>
              </a:rPr>
              <a:t>폴더 구성 </a:t>
            </a:r>
            <a:r>
              <a:rPr lang="en-US" altLang="ko-KR" sz="1200" b="1">
                <a:solidFill>
                  <a:srgbClr val="B0441A"/>
                </a:solidFill>
                <a:latin typeface="Noto Sans KR" pitchFamily="34" charset="0"/>
                <a:ea typeface="Noto Sans KR" pitchFamily="34" charset="-122"/>
                <a:cs typeface="Noto Sans KR" pitchFamily="34" charset="-120"/>
              </a:rPr>
              <a:t>· 00 ~ 08 + </a:t>
            </a:r>
            <a:r>
              <a:rPr lang="ko-KR" altLang="en-US" sz="1200" b="1">
                <a:solidFill>
                  <a:srgbClr val="B0441A"/>
                </a:solidFill>
                <a:latin typeface="Noto Sans KR" pitchFamily="34" charset="0"/>
                <a:ea typeface="Noto Sans KR" pitchFamily="34" charset="-122"/>
                <a:cs typeface="Noto Sans KR" pitchFamily="34" charset="-120"/>
              </a:rPr>
              <a:t>통합 홈페이지</a:t>
            </a:r>
            <a:endParaRPr lang="en-US" sz="1200" dirty="0"/>
          </a:p>
        </p:txBody>
      </p:sp>
      <p:sp>
        <p:nvSpPr>
          <p:cNvPr id="5" name="Text 3"/>
          <p:cNvSpPr/>
          <p:nvPr/>
        </p:nvSpPr>
        <p:spPr>
          <a:xfrm>
            <a:off x="812800" y="2184301"/>
            <a:ext cx="5546344" cy="553641"/>
          </a:xfrm>
          <a:prstGeom prst="rect">
            <a:avLst/>
          </a:prstGeom>
          <a:noFill/>
          <a:ln/>
        </p:spPr>
        <p:txBody>
          <a:bodyPr wrap="square" lIns="0" tIns="0" rIns="0" bIns="0" rtlCol="0" anchor="t">
            <a:normAutofit/>
          </a:bodyPr>
          <a:lstStyle/>
          <a:p>
            <a:pPr marL="0" indent="0" algn="l">
              <a:lnSpc>
                <a:spcPts val="2080"/>
              </a:lnSpc>
              <a:buNone/>
            </a:pPr>
            <a:r>
              <a:rPr lang="ko-KR" altLang="en-US" sz="1300">
                <a:solidFill>
                  <a:srgbClr val="1B2433"/>
                </a:solidFill>
                <a:latin typeface="JetBrains Mono" pitchFamily="49" charset="0"/>
                <a:ea typeface="JetBrains Mono" pitchFamily="49" charset="-122"/>
                <a:cs typeface="JetBrains Mono" pitchFamily="49" charset="-120"/>
              </a:rPr>
              <a:t>기획서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디자인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개발소스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검수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발표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최종제출</a:t>
            </a:r>
          </a:p>
          <a:p>
            <a:pPr marL="0" indent="0" algn="l">
              <a:lnSpc>
                <a:spcPts val="2080"/>
              </a:lnSpc>
              <a:buNone/>
            </a:pPr>
            <a:r>
              <a:rPr lang="ko-KR" altLang="en-US" sz="1300">
                <a:solidFill>
                  <a:srgbClr val="1B2433"/>
                </a:solidFill>
                <a:latin typeface="JetBrains Mono" pitchFamily="49" charset="0"/>
                <a:ea typeface="JetBrains Mono" pitchFamily="49" charset="-122"/>
                <a:cs typeface="JetBrains Mono" pitchFamily="49" charset="-120"/>
              </a:rPr>
              <a:t>날짜</a:t>
            </a:r>
            <a:r>
              <a:rPr lang="en-US" altLang="ko-KR" sz="1300">
                <a:solidFill>
                  <a:srgbClr val="1B2433"/>
                </a:solidFill>
                <a:latin typeface="JetBrains Mono" pitchFamily="49" charset="0"/>
                <a:ea typeface="JetBrains Mono" pitchFamily="49" charset="-122"/>
                <a:cs typeface="JetBrains Mono" pitchFamily="49" charset="-120"/>
              </a:rPr>
              <a:t>_</a:t>
            </a:r>
            <a:r>
              <a:rPr lang="ko-KR" altLang="en-US" sz="1300">
                <a:solidFill>
                  <a:srgbClr val="1B2433"/>
                </a:solidFill>
                <a:latin typeface="JetBrains Mono" pitchFamily="49" charset="0"/>
                <a:ea typeface="JetBrains Mono" pitchFamily="49" charset="-122"/>
                <a:cs typeface="JetBrains Mono" pitchFamily="49" charset="-120"/>
              </a:rPr>
              <a:t>이름 폴더로 누가 언제 올렸는지 바로 확인</a:t>
            </a:r>
            <a:endParaRPr lang="en-US" sz="1300" dirty="0"/>
          </a:p>
        </p:txBody>
      </p:sp>
      <p:sp>
        <p:nvSpPr>
          <p:cNvPr id="6" name="Text 4"/>
          <p:cNvSpPr/>
          <p:nvPr/>
        </p:nvSpPr>
        <p:spPr>
          <a:xfrm>
            <a:off x="812800" y="2915741"/>
            <a:ext cx="5546344" cy="238720"/>
          </a:xfrm>
          <a:prstGeom prst="rect">
            <a:avLst/>
          </a:prstGeom>
          <a:noFill/>
          <a:ln/>
        </p:spPr>
        <p:txBody>
          <a:bodyPr wrap="square" lIns="0" tIns="0" rIns="0" bIns="0" rtlCol="0" anchor="t">
            <a:normAutofit/>
          </a:bodyPr>
          <a:lstStyle/>
          <a:p>
            <a:pPr marL="0" indent="0" algn="l">
              <a:lnSpc>
                <a:spcPts val="1680"/>
              </a:lnSpc>
              <a:buNone/>
            </a:pPr>
            <a:r>
              <a:rPr lang="ko-KR" altLang="en-US" sz="1200" b="1">
                <a:solidFill>
                  <a:srgbClr val="B0441A"/>
                </a:solidFill>
                <a:latin typeface="Noto Sans KR" pitchFamily="34" charset="0"/>
                <a:ea typeface="Noto Sans KR" pitchFamily="34" charset="-122"/>
                <a:cs typeface="Noto Sans KR" pitchFamily="34" charset="-120"/>
              </a:rPr>
              <a:t>큰 파일 </a:t>
            </a:r>
            <a:r>
              <a:rPr lang="en-US" altLang="ko-KR" sz="1200" b="1">
                <a:solidFill>
                  <a:srgbClr val="B0441A"/>
                </a:solidFill>
                <a:latin typeface="Noto Sans KR" pitchFamily="34" charset="0"/>
                <a:ea typeface="Noto Sans KR" pitchFamily="34" charset="-122"/>
                <a:cs typeface="Noto Sans KR" pitchFamily="34" charset="-120"/>
              </a:rPr>
              <a:t>· Git LFS</a:t>
            </a:r>
            <a:r>
              <a:rPr lang="ko-KR" altLang="en-US" sz="1200" b="1">
                <a:solidFill>
                  <a:srgbClr val="B0441A"/>
                </a:solidFill>
                <a:latin typeface="Noto Sans KR" pitchFamily="34" charset="0"/>
                <a:ea typeface="Noto Sans KR" pitchFamily="34" charset="-122"/>
                <a:cs typeface="Noto Sans KR" pitchFamily="34" charset="-120"/>
              </a:rPr>
              <a:t>로 관리</a:t>
            </a:r>
            <a:endParaRPr lang="en-US" sz="1200" dirty="0"/>
          </a:p>
        </p:txBody>
      </p:sp>
      <p:sp>
        <p:nvSpPr>
          <p:cNvPr id="7" name="Text 5"/>
          <p:cNvSpPr/>
          <p:nvPr/>
        </p:nvSpPr>
        <p:spPr>
          <a:xfrm>
            <a:off x="812800" y="3179862"/>
            <a:ext cx="5546344" cy="553641"/>
          </a:xfrm>
          <a:prstGeom prst="rect">
            <a:avLst/>
          </a:prstGeom>
          <a:noFill/>
          <a:ln/>
        </p:spPr>
        <p:txBody>
          <a:bodyPr wrap="square" lIns="0" tIns="0" rIns="0" bIns="0" rtlCol="0" anchor="t">
            <a:normAutofit/>
          </a:bodyPr>
          <a:lstStyle/>
          <a:p>
            <a:pPr marL="0" indent="0" algn="l">
              <a:lnSpc>
                <a:spcPts val="2080"/>
              </a:lnSpc>
              <a:buNone/>
            </a:pPr>
            <a:r>
              <a:rPr lang="ko-KR" altLang="en-US" sz="1300">
                <a:solidFill>
                  <a:srgbClr val="1B2433"/>
                </a:solidFill>
                <a:latin typeface="JetBrains Mono" pitchFamily="49" charset="0"/>
                <a:ea typeface="JetBrains Mono" pitchFamily="49" charset="-122"/>
                <a:cs typeface="JetBrains Mono" pitchFamily="49" charset="-120"/>
              </a:rPr>
              <a:t>영상 </a:t>
            </a:r>
            <a:r>
              <a:rPr lang="en-US" altLang="ko-KR" sz="1300">
                <a:solidFill>
                  <a:srgbClr val="1B2433"/>
                </a:solidFill>
                <a:latin typeface="JetBrains Mono" pitchFamily="49" charset="0"/>
                <a:ea typeface="JetBrains Mono" pitchFamily="49" charset="-122"/>
                <a:cs typeface="JetBrains Mono" pitchFamily="49" charset="-120"/>
              </a:rPr>
              <a:t>54</a:t>
            </a:r>
            <a:r>
              <a:rPr lang="ko-KR" altLang="en-US" sz="1300">
                <a:solidFill>
                  <a:srgbClr val="1B2433"/>
                </a:solidFill>
                <a:latin typeface="JetBrains Mono" pitchFamily="49" charset="0"/>
                <a:ea typeface="JetBrains Mono" pitchFamily="49" charset="-122"/>
                <a:cs typeface="JetBrains Mono" pitchFamily="49" charset="-120"/>
              </a:rPr>
              <a:t>개와 </a:t>
            </a:r>
            <a:r>
              <a:rPr lang="en-US" altLang="ko-KR" sz="1300">
                <a:solidFill>
                  <a:srgbClr val="1B2433"/>
                </a:solidFill>
                <a:latin typeface="JetBrains Mono" pitchFamily="49" charset="0"/>
                <a:ea typeface="JetBrains Mono" pitchFamily="49" charset="-122"/>
                <a:cs typeface="JetBrains Mono" pitchFamily="49" charset="-120"/>
              </a:rPr>
              <a:t>100MB </a:t>
            </a:r>
            <a:r>
              <a:rPr lang="ko-KR" altLang="en-US" sz="1300">
                <a:solidFill>
                  <a:srgbClr val="1B2433"/>
                </a:solidFill>
                <a:latin typeface="JetBrains Mono" pitchFamily="49" charset="0"/>
                <a:ea typeface="JetBrains Mono" pitchFamily="49" charset="-122"/>
                <a:cs typeface="JetBrains Mono" pitchFamily="49" charset="-120"/>
              </a:rPr>
              <a:t>넘는 </a:t>
            </a:r>
            <a:r>
              <a:rPr lang="en-US" altLang="ko-KR" sz="1300">
                <a:solidFill>
                  <a:srgbClr val="1B2433"/>
                </a:solidFill>
                <a:latin typeface="JetBrains Mono" pitchFamily="49" charset="0"/>
                <a:ea typeface="JetBrains Mono" pitchFamily="49" charset="-122"/>
                <a:cs typeface="JetBrains Mono" pitchFamily="49" charset="-120"/>
              </a:rPr>
              <a:t>HTML</a:t>
            </a:r>
            <a:r>
              <a:rPr lang="ko-KR" altLang="en-US" sz="1300">
                <a:solidFill>
                  <a:srgbClr val="1B2433"/>
                </a:solidFill>
                <a:latin typeface="JetBrains Mono" pitchFamily="49" charset="0"/>
                <a:ea typeface="JetBrains Mono" pitchFamily="49" charset="-122"/>
                <a:cs typeface="JetBrains Mono" pitchFamily="49" charset="-120"/>
              </a:rPr>
              <a:t>도 그대로 보관</a:t>
            </a:r>
          </a:p>
          <a:p>
            <a:pPr marL="0" indent="0" algn="l">
              <a:lnSpc>
                <a:spcPts val="2080"/>
              </a:lnSpc>
              <a:buNone/>
            </a:pPr>
            <a:r>
              <a:rPr lang="ko-KR" altLang="en-US" sz="1300">
                <a:solidFill>
                  <a:srgbClr val="1B2433"/>
                </a:solidFill>
                <a:latin typeface="JetBrains Mono" pitchFamily="49" charset="0"/>
                <a:ea typeface="JetBrains Mono" pitchFamily="49" charset="-122"/>
                <a:cs typeface="JetBrains Mono" pitchFamily="49" charset="-120"/>
              </a:rPr>
              <a:t>원본은 </a:t>
            </a:r>
            <a:r>
              <a:rPr lang="en-US" altLang="ko-KR" sz="1300">
                <a:solidFill>
                  <a:srgbClr val="1B2433"/>
                </a:solidFill>
                <a:latin typeface="JetBrains Mono" pitchFamily="49" charset="0"/>
                <a:ea typeface="JetBrains Mono" pitchFamily="49" charset="-122"/>
                <a:cs typeface="JetBrains Mono" pitchFamily="49" charset="-120"/>
              </a:rPr>
              <a:t>MYBOX, </a:t>
            </a:r>
            <a:r>
              <a:rPr lang="ko-KR" altLang="en-US" sz="1300">
                <a:solidFill>
                  <a:srgbClr val="1B2433"/>
                </a:solidFill>
                <a:latin typeface="JetBrains Mono" pitchFamily="49" charset="0"/>
                <a:ea typeface="JetBrains Mono" pitchFamily="49" charset="-122"/>
                <a:cs typeface="JetBrains Mono" pitchFamily="49" charset="-120"/>
              </a:rPr>
              <a:t>정리본은 </a:t>
            </a:r>
            <a:r>
              <a:rPr lang="en-US" altLang="ko-KR" sz="1300">
                <a:solidFill>
                  <a:srgbClr val="1B2433"/>
                </a:solidFill>
                <a:latin typeface="JetBrains Mono" pitchFamily="49" charset="0"/>
                <a:ea typeface="JetBrains Mono" pitchFamily="49" charset="-122"/>
                <a:cs typeface="JetBrains Mono" pitchFamily="49" charset="-120"/>
              </a:rPr>
              <a:t>GitHub</a:t>
            </a:r>
            <a:endParaRPr lang="en-US" sz="1300" dirty="0"/>
          </a:p>
        </p:txBody>
      </p:sp>
      <p:sp>
        <p:nvSpPr>
          <p:cNvPr id="8" name="Text 6"/>
          <p:cNvSpPr/>
          <p:nvPr/>
        </p:nvSpPr>
        <p:spPr>
          <a:xfrm>
            <a:off x="812800" y="3911302"/>
            <a:ext cx="5546344" cy="238720"/>
          </a:xfrm>
          <a:prstGeom prst="rect">
            <a:avLst/>
          </a:prstGeom>
          <a:noFill/>
          <a:ln/>
        </p:spPr>
        <p:txBody>
          <a:bodyPr wrap="square" lIns="0" tIns="0" rIns="0" bIns="0" rtlCol="0" anchor="t">
            <a:normAutofit/>
          </a:bodyPr>
          <a:lstStyle/>
          <a:p>
            <a:pPr marL="0" indent="0" algn="l">
              <a:lnSpc>
                <a:spcPts val="1680"/>
              </a:lnSpc>
              <a:buNone/>
            </a:pPr>
            <a:r>
              <a:rPr lang="ko-KR" altLang="en-US" sz="1200" b="1">
                <a:solidFill>
                  <a:srgbClr val="B0441A"/>
                </a:solidFill>
                <a:latin typeface="Noto Sans KR" pitchFamily="34" charset="0"/>
                <a:ea typeface="Noto Sans KR" pitchFamily="34" charset="-122"/>
                <a:cs typeface="Noto Sans KR" pitchFamily="34" charset="-120"/>
              </a:rPr>
              <a:t>공유 </a:t>
            </a:r>
            <a:r>
              <a:rPr lang="en-US" altLang="ko-KR" sz="1200" b="1">
                <a:solidFill>
                  <a:srgbClr val="B0441A"/>
                </a:solidFill>
                <a:latin typeface="Noto Sans KR" pitchFamily="34" charset="0"/>
                <a:ea typeface="Noto Sans KR" pitchFamily="34" charset="-122"/>
                <a:cs typeface="Noto Sans KR" pitchFamily="34" charset="-120"/>
              </a:rPr>
              <a:t>· </a:t>
            </a:r>
            <a:r>
              <a:rPr lang="ko-KR" altLang="en-US" sz="1200" b="1">
                <a:solidFill>
                  <a:srgbClr val="B0441A"/>
                </a:solidFill>
                <a:latin typeface="Noto Sans KR" pitchFamily="34" charset="0"/>
                <a:ea typeface="Noto Sans KR" pitchFamily="34" charset="-122"/>
                <a:cs typeface="Noto Sans KR" pitchFamily="34" charset="-120"/>
              </a:rPr>
              <a:t>비공개 저장소 </a:t>
            </a:r>
            <a:r>
              <a:rPr lang="en-US" altLang="ko-KR" sz="1200" b="1">
                <a:solidFill>
                  <a:srgbClr val="B0441A"/>
                </a:solidFill>
                <a:latin typeface="Noto Sans KR" pitchFamily="34" charset="0"/>
                <a:ea typeface="Noto Sans KR" pitchFamily="34" charset="-122"/>
                <a:cs typeface="Noto Sans KR" pitchFamily="34" charset="-120"/>
              </a:rPr>
              <a:t>+ </a:t>
            </a:r>
            <a:r>
              <a:rPr lang="ko-KR" altLang="en-US" sz="1200" b="1">
                <a:solidFill>
                  <a:srgbClr val="B0441A"/>
                </a:solidFill>
                <a:latin typeface="Noto Sans KR" pitchFamily="34" charset="0"/>
                <a:ea typeface="Noto Sans KR" pitchFamily="34" charset="-122"/>
                <a:cs typeface="Noto Sans KR" pitchFamily="34" charset="-120"/>
              </a:rPr>
              <a:t>팀원 초대</a:t>
            </a:r>
            <a:endParaRPr lang="en-US" sz="1200" dirty="0"/>
          </a:p>
        </p:txBody>
      </p:sp>
      <p:sp>
        <p:nvSpPr>
          <p:cNvPr id="9" name="Text 7"/>
          <p:cNvSpPr/>
          <p:nvPr/>
        </p:nvSpPr>
        <p:spPr>
          <a:xfrm>
            <a:off x="812800" y="4175423"/>
            <a:ext cx="5546344" cy="292100"/>
          </a:xfrm>
          <a:prstGeom prst="rect">
            <a:avLst/>
          </a:prstGeom>
          <a:noFill/>
          <a:ln/>
        </p:spPr>
        <p:txBody>
          <a:bodyPr wrap="square" lIns="0" tIns="0" rIns="0" bIns="0" rtlCol="0" anchor="t">
            <a:normAutofit/>
          </a:bodyPr>
          <a:lstStyle/>
          <a:p>
            <a:pPr marL="0" indent="0" algn="l">
              <a:lnSpc>
                <a:spcPts val="2100"/>
              </a:lnSpc>
              <a:buNone/>
            </a:pPr>
            <a:r>
              <a:rPr lang="en-US" altLang="ko-KR" sz="1400">
                <a:solidFill>
                  <a:srgbClr val="1B2433"/>
                </a:solidFill>
                <a:latin typeface="Noto Sans KR" pitchFamily="34" charset="0"/>
                <a:ea typeface="Noto Sans KR" pitchFamily="34" charset="-122"/>
                <a:cs typeface="Noto Sans KR" pitchFamily="34" charset="-120"/>
              </a:rPr>
              <a:t>4</a:t>
            </a:r>
            <a:r>
              <a:rPr lang="ko-KR" altLang="en-US" sz="1400">
                <a:solidFill>
                  <a:srgbClr val="1B2433"/>
                </a:solidFill>
                <a:latin typeface="Noto Sans KR" pitchFamily="34" charset="0"/>
                <a:ea typeface="Noto Sans KR" pitchFamily="34" charset="-122"/>
                <a:cs typeface="Noto Sans KR" pitchFamily="34" charset="-120"/>
              </a:rPr>
              <a:t>명 모두 쓰기 권한 </a:t>
            </a:r>
            <a:r>
              <a:rPr lang="en-US" altLang="ko-KR" sz="1400">
                <a:solidFill>
                  <a:srgbClr val="1B2433"/>
                </a:solidFill>
                <a:latin typeface="Noto Sans KR" pitchFamily="34" charset="0"/>
                <a:ea typeface="Noto Sans KR" pitchFamily="34" charset="-122"/>
                <a:cs typeface="Noto Sans KR" pitchFamily="34" charset="-120"/>
              </a:rPr>
              <a:t>· </a:t>
            </a:r>
            <a:r>
              <a:rPr lang="ko-KR" altLang="en-US" sz="1400">
                <a:solidFill>
                  <a:srgbClr val="1B2433"/>
                </a:solidFill>
                <a:latin typeface="Noto Sans KR" pitchFamily="34" charset="0"/>
                <a:ea typeface="Noto Sans KR" pitchFamily="34" charset="-122"/>
                <a:cs typeface="Noto Sans KR" pitchFamily="34" charset="-120"/>
              </a:rPr>
              <a:t>노션에 폴더 링크 연결</a:t>
            </a:r>
            <a:endParaRPr lang="en-US" sz="1400" dirty="0"/>
          </a:p>
        </p:txBody>
      </p:sp>
      <p:sp>
        <p:nvSpPr>
          <p:cNvPr id="10" name="Shape 8"/>
          <p:cNvSpPr/>
          <p:nvPr/>
        </p:nvSpPr>
        <p:spPr>
          <a:xfrm>
            <a:off x="812800" y="4648498"/>
            <a:ext cx="5384800" cy="0"/>
          </a:xfrm>
          <a:prstGeom prst="line">
            <a:avLst/>
          </a:prstGeom>
          <a:noFill/>
          <a:ln w="6350">
            <a:solidFill>
              <a:srgbClr val="DCD6C8"/>
            </a:solidFill>
            <a:prstDash val="solid"/>
          </a:ln>
        </p:spPr>
      </p:sp>
      <p:sp>
        <p:nvSpPr>
          <p:cNvPr id="11" name="Text 9"/>
          <p:cNvSpPr/>
          <p:nvPr/>
        </p:nvSpPr>
        <p:spPr>
          <a:xfrm>
            <a:off x="812800" y="4829473"/>
            <a:ext cx="829628" cy="523180"/>
          </a:xfrm>
          <a:prstGeom prst="rect">
            <a:avLst/>
          </a:prstGeom>
          <a:noFill/>
          <a:ln/>
        </p:spPr>
        <p:txBody>
          <a:bodyPr wrap="square" lIns="0" tIns="0" rIns="0" bIns="0" rtlCol="0" anchor="t">
            <a:normAutofit/>
          </a:bodyPr>
          <a:lstStyle/>
          <a:p>
            <a:pPr marL="0" indent="0" algn="l">
              <a:lnSpc>
                <a:spcPts val="3920"/>
              </a:lnSpc>
              <a:buNone/>
            </a:pPr>
            <a:r>
              <a:rPr lang="en-US" sz="2800" b="1">
                <a:solidFill>
                  <a:srgbClr val="B0441A"/>
                </a:solidFill>
                <a:latin typeface="Noto Sans KR" pitchFamily="34" charset="0"/>
                <a:ea typeface="Noto Sans KR" pitchFamily="34" charset="-122"/>
                <a:cs typeface="Noto Sans KR" pitchFamily="34" charset="-120"/>
              </a:rPr>
              <a:t>36</a:t>
            </a:r>
            <a:endParaRPr lang="en-US" sz="2800" dirty="0"/>
          </a:p>
        </p:txBody>
      </p:sp>
      <p:sp>
        <p:nvSpPr>
          <p:cNvPr id="12" name="Text 10"/>
          <p:cNvSpPr/>
          <p:nvPr/>
        </p:nvSpPr>
        <p:spPr>
          <a:xfrm>
            <a:off x="812800" y="5352653"/>
            <a:ext cx="1397000" cy="238720"/>
          </a:xfrm>
          <a:prstGeom prst="rect">
            <a:avLst/>
          </a:prstGeom>
          <a:noFill/>
          <a:ln/>
        </p:spPr>
        <p:txBody>
          <a:bodyPr wrap="square" lIns="0" tIns="0" rIns="0" bIns="0" rtlCol="0" anchor="t">
            <a:normAutofit/>
          </a:bodyPr>
          <a:lstStyle/>
          <a:p>
            <a:pPr marL="0" indent="0" algn="l">
              <a:lnSpc>
                <a:spcPts val="1680"/>
              </a:lnSpc>
              <a:buNone/>
            </a:pPr>
            <a:r>
              <a:rPr lang="ko-KR" altLang="en-US" sz="1200">
                <a:solidFill>
                  <a:srgbClr val="5A6170"/>
                </a:solidFill>
                <a:latin typeface="Noto Sans KR" pitchFamily="34" charset="0"/>
                <a:ea typeface="Noto Sans KR" pitchFamily="34" charset="-122"/>
                <a:cs typeface="Noto Sans KR" pitchFamily="34" charset="-120"/>
              </a:rPr>
              <a:t>날짜</a:t>
            </a:r>
            <a:r>
              <a:rPr lang="en-US" altLang="ko-KR" sz="1200">
                <a:solidFill>
                  <a:srgbClr val="5A6170"/>
                </a:solidFill>
                <a:latin typeface="Noto Sans KR" pitchFamily="34" charset="0"/>
                <a:ea typeface="Noto Sans KR" pitchFamily="34" charset="-122"/>
                <a:cs typeface="Noto Sans KR" pitchFamily="34" charset="-120"/>
              </a:rPr>
              <a:t>·</a:t>
            </a:r>
            <a:r>
              <a:rPr lang="ko-KR" altLang="en-US" sz="1200">
                <a:solidFill>
                  <a:srgbClr val="5A6170"/>
                </a:solidFill>
                <a:latin typeface="Noto Sans KR" pitchFamily="34" charset="0"/>
                <a:ea typeface="Noto Sans KR" pitchFamily="34" charset="-122"/>
                <a:cs typeface="Noto Sans KR" pitchFamily="34" charset="-120"/>
              </a:rPr>
              <a:t>이름 폴더</a:t>
            </a:r>
            <a:endParaRPr lang="en-US" sz="1200" dirty="0"/>
          </a:p>
        </p:txBody>
      </p:sp>
      <p:sp>
        <p:nvSpPr>
          <p:cNvPr id="13" name="Text 11"/>
          <p:cNvSpPr/>
          <p:nvPr/>
        </p:nvSpPr>
        <p:spPr>
          <a:xfrm>
            <a:off x="1808956" y="4829473"/>
            <a:ext cx="935930" cy="523180"/>
          </a:xfrm>
          <a:prstGeom prst="rect">
            <a:avLst/>
          </a:prstGeom>
          <a:noFill/>
          <a:ln/>
        </p:spPr>
        <p:txBody>
          <a:bodyPr wrap="square" lIns="0" tIns="0" rIns="0" bIns="0" rtlCol="0" anchor="t">
            <a:normAutofit/>
          </a:bodyPr>
          <a:lstStyle/>
          <a:p>
            <a:pPr marL="0" indent="0" algn="l">
              <a:lnSpc>
                <a:spcPts val="3920"/>
              </a:lnSpc>
              <a:buNone/>
            </a:pPr>
            <a:r>
              <a:rPr lang="en-US" sz="2800" b="1">
                <a:solidFill>
                  <a:srgbClr val="B0441A"/>
                </a:solidFill>
                <a:latin typeface="Noto Sans KR" pitchFamily="34" charset="0"/>
                <a:ea typeface="Noto Sans KR" pitchFamily="34" charset="-122"/>
                <a:cs typeface="Noto Sans KR" pitchFamily="34" charset="-120"/>
              </a:rPr>
              <a:t>54</a:t>
            </a:r>
            <a:endParaRPr lang="en-US" sz="2800" dirty="0"/>
          </a:p>
        </p:txBody>
      </p:sp>
      <p:sp>
        <p:nvSpPr>
          <p:cNvPr id="14" name="Text 12"/>
          <p:cNvSpPr/>
          <p:nvPr/>
        </p:nvSpPr>
        <p:spPr>
          <a:xfrm>
            <a:off x="1808956" y="5352653"/>
            <a:ext cx="1062157" cy="238720"/>
          </a:xfrm>
          <a:prstGeom prst="rect">
            <a:avLst/>
          </a:prstGeom>
          <a:noFill/>
          <a:ln/>
        </p:spPr>
        <p:txBody>
          <a:bodyPr wrap="square" lIns="0" tIns="0" rIns="0" bIns="0" rtlCol="0" anchor="t">
            <a:normAutofit/>
          </a:bodyPr>
          <a:lstStyle/>
          <a:p>
            <a:pPr marL="0" indent="0" algn="l">
              <a:lnSpc>
                <a:spcPts val="1680"/>
              </a:lnSpc>
              <a:buNone/>
            </a:pPr>
            <a:r>
              <a:rPr lang="en-US" sz="1200">
                <a:solidFill>
                  <a:srgbClr val="5A6170"/>
                </a:solidFill>
                <a:latin typeface="Noto Sans KR" pitchFamily="34" charset="0"/>
                <a:ea typeface="Noto Sans KR" pitchFamily="34" charset="-122"/>
                <a:cs typeface="Noto Sans KR" pitchFamily="34" charset="-120"/>
              </a:rPr>
              <a:t>LFS </a:t>
            </a:r>
            <a:r>
              <a:rPr lang="ko-KR" altLang="en-US" sz="1200">
                <a:solidFill>
                  <a:srgbClr val="5A6170"/>
                </a:solidFill>
                <a:latin typeface="Noto Sans KR" pitchFamily="34" charset="0"/>
                <a:ea typeface="Noto Sans KR" pitchFamily="34" charset="-122"/>
                <a:cs typeface="Noto Sans KR" pitchFamily="34" charset="-120"/>
              </a:rPr>
              <a:t>영상</a:t>
            </a:r>
            <a:endParaRPr lang="en-US" sz="1200" dirty="0"/>
          </a:p>
        </p:txBody>
      </p:sp>
      <p:sp>
        <p:nvSpPr>
          <p:cNvPr id="15" name="Text 13"/>
          <p:cNvSpPr/>
          <p:nvPr/>
        </p:nvSpPr>
        <p:spPr>
          <a:xfrm>
            <a:off x="2998887" y="4829473"/>
            <a:ext cx="1397000" cy="523180"/>
          </a:xfrm>
          <a:prstGeom prst="rect">
            <a:avLst/>
          </a:prstGeom>
          <a:noFill/>
          <a:ln/>
        </p:spPr>
        <p:txBody>
          <a:bodyPr wrap="square" lIns="0" tIns="0" rIns="0" bIns="0" rtlCol="0" anchor="t">
            <a:normAutofit/>
          </a:bodyPr>
          <a:lstStyle/>
          <a:p>
            <a:pPr marL="0" indent="0" algn="l">
              <a:lnSpc>
                <a:spcPts val="3920"/>
              </a:lnSpc>
              <a:buNone/>
            </a:pPr>
            <a:r>
              <a:rPr lang="en-US" sz="2800" b="1">
                <a:solidFill>
                  <a:srgbClr val="B0441A"/>
                </a:solidFill>
                <a:latin typeface="Noto Sans KR" pitchFamily="34" charset="0"/>
                <a:ea typeface="Noto Sans KR" pitchFamily="34" charset="-122"/>
                <a:cs typeface="Noto Sans KR" pitchFamily="34" charset="-120"/>
              </a:rPr>
              <a:t>1.8GB</a:t>
            </a:r>
            <a:endParaRPr lang="en-US" sz="2800" dirty="0"/>
          </a:p>
        </p:txBody>
      </p:sp>
      <p:sp>
        <p:nvSpPr>
          <p:cNvPr id="16" name="Text 14"/>
          <p:cNvSpPr/>
          <p:nvPr/>
        </p:nvSpPr>
        <p:spPr>
          <a:xfrm>
            <a:off x="2998887" y="5352653"/>
            <a:ext cx="1143000" cy="238720"/>
          </a:xfrm>
          <a:prstGeom prst="rect">
            <a:avLst/>
          </a:prstGeom>
          <a:noFill/>
          <a:ln/>
        </p:spPr>
        <p:txBody>
          <a:bodyPr wrap="square" lIns="0" tIns="0" rIns="0" bIns="0" rtlCol="0" anchor="t">
            <a:normAutofit/>
          </a:bodyPr>
          <a:lstStyle/>
          <a:p>
            <a:pPr marL="0" indent="0" algn="l">
              <a:lnSpc>
                <a:spcPts val="1680"/>
              </a:lnSpc>
              <a:buNone/>
            </a:pPr>
            <a:r>
              <a:rPr lang="ko-KR" altLang="en-US" sz="1200">
                <a:solidFill>
                  <a:srgbClr val="5A6170"/>
                </a:solidFill>
                <a:latin typeface="Noto Sans KR" pitchFamily="34" charset="0"/>
                <a:ea typeface="Noto Sans KR" pitchFamily="34" charset="-122"/>
                <a:cs typeface="Noto Sans KR" pitchFamily="34" charset="-120"/>
              </a:rPr>
              <a:t>영상 용량</a:t>
            </a:r>
            <a:endParaRPr lang="en-US" sz="1200" dirty="0"/>
          </a:p>
        </p:txBody>
      </p:sp>
      <p:sp>
        <p:nvSpPr>
          <p:cNvPr id="17" name="Shape 15"/>
          <p:cNvSpPr/>
          <p:nvPr/>
        </p:nvSpPr>
        <p:spPr>
          <a:xfrm>
            <a:off x="6559550" y="1926530"/>
            <a:ext cx="4813300" cy="4112320"/>
          </a:xfrm>
          <a:prstGeom prst="roundRect">
            <a:avLst>
              <a:gd name="adj" fmla="val 2316"/>
            </a:avLst>
          </a:prstGeom>
          <a:solidFill>
            <a:srgbClr val="E4E0D6"/>
          </a:solidFill>
          <a:ln w="12700">
            <a:solidFill>
              <a:srgbClr val="A39C8C"/>
            </a:solidFill>
            <a:prstDash val="dash"/>
          </a:ln>
        </p:spPr>
      </p:sp>
      <p:pic>
        <p:nvPicPr>
          <p:cNvPr id="21" name="그림 20">
            <a:extLst>
              <a:ext uri="{FF2B5EF4-FFF2-40B4-BE49-F238E27FC236}">
                <a16:creationId xmlns:a16="http://schemas.microsoft.com/office/drawing/2014/main" id="{C08EFBB3-7F13-4D98-A595-1F5A3DC5215C}"/>
              </a:ext>
            </a:extLst>
          </p:cNvPr>
          <p:cNvPicPr>
            <a:picLocks/>
          </p:cNvPicPr>
          <p:nvPr/>
        </p:nvPicPr>
        <p:blipFill>
          <a:blip r:embed="rId3"/>
          <a:stretch>
            <a:fillRect/>
          </a:stretch>
        </p:blipFill>
        <p:spPr>
          <a:xfrm>
            <a:off x="6559550" y="1926530"/>
            <a:ext cx="4813300" cy="4112320"/>
          </a:xfrm>
          <a:prstGeom prst="rect">
            <a:avLst/>
          </a:prstGeom>
          <a:ln w="9525">
            <a:solidFill>
              <a:srgbClr val="D9D4CA"/>
            </a:solidFill>
          </a:ln>
        </p:spPr>
      </p:pic>
    </p:spTree>
    <p:extLst>
      <p:ext uri="{BB962C8B-B14F-4D97-AF65-F5344CB8AC3E}">
        <p14:creationId xmlns:p14="http://schemas.microsoft.com/office/powerpoint/2010/main" val="2683336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11 · NOTION</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Notion으로 정리한 것들</a:t>
            </a:r>
            <a:endParaRPr lang="en-US" sz="3200" dirty="0"/>
          </a:p>
        </p:txBody>
      </p:sp>
      <p:sp>
        <p:nvSpPr>
          <p:cNvPr id="4" name="Shape 2"/>
          <p:cNvSpPr/>
          <p:nvPr/>
        </p:nvSpPr>
        <p:spPr>
          <a:xfrm>
            <a:off x="815975" y="1923355"/>
            <a:ext cx="2800350" cy="1979910"/>
          </a:xfrm>
          <a:prstGeom prst="roundRect">
            <a:avLst>
              <a:gd name="adj" fmla="val 4971"/>
            </a:avLst>
          </a:prstGeom>
          <a:solidFill>
            <a:srgbClr val="FDFCF9"/>
          </a:solidFill>
          <a:ln w="6350">
            <a:solidFill>
              <a:srgbClr val="DCD6C8"/>
            </a:solidFill>
            <a:prstDash val="solid"/>
          </a:ln>
        </p:spPr>
      </p:sp>
      <p:pic>
        <p:nvPicPr>
          <p:cNvPr id="5" name="Image 0" descr="Check"/>
          <p:cNvPicPr>
            <a:picLocks noChangeAspect="1"/>
          </p:cNvPicPr>
          <p:nvPr/>
        </p:nvPicPr>
        <p:blipFill>
          <a:blip r:embed="rId3"/>
          <a:srcRect/>
          <a:stretch/>
        </p:blipFill>
        <p:spPr>
          <a:xfrm>
            <a:off x="1047750" y="2155130"/>
            <a:ext cx="279400" cy="279400"/>
          </a:xfrm>
          <a:prstGeom prst="rect">
            <a:avLst/>
          </a:prstGeom>
        </p:spPr>
      </p:pic>
      <p:sp>
        <p:nvSpPr>
          <p:cNvPr id="6" name="Text 3"/>
          <p:cNvSpPr/>
          <p:nvPr/>
        </p:nvSpPr>
        <p:spPr>
          <a:xfrm>
            <a:off x="1047750" y="2510730"/>
            <a:ext cx="24069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433"/>
                </a:solidFill>
                <a:latin typeface="Noto Sans KR" pitchFamily="34" charset="0"/>
                <a:ea typeface="Noto Sans KR" pitchFamily="34" charset="-122"/>
                <a:cs typeface="Noto Sans KR" pitchFamily="34" charset="-120"/>
              </a:rPr>
              <a:t>할 일 보드</a:t>
            </a:r>
            <a:endParaRPr lang="en-US" sz="1700" dirty="0"/>
          </a:p>
        </p:txBody>
      </p:sp>
      <p:sp>
        <p:nvSpPr>
          <p:cNvPr id="7" name="Text 4"/>
          <p:cNvSpPr/>
          <p:nvPr/>
        </p:nvSpPr>
        <p:spPr>
          <a:xfrm>
            <a:off x="1047750" y="2845991"/>
            <a:ext cx="2406904"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263"/>
                </a:solidFill>
                <a:latin typeface="Noto Sans KR" pitchFamily="34" charset="0"/>
                <a:ea typeface="Noto Sans KR" pitchFamily="34" charset="-122"/>
                <a:cs typeface="Noto Sans KR" pitchFamily="34" charset="-120"/>
              </a:rPr>
              <a:t>페이지별 진행 상황을 할 일 · 진행 중 · 완료로 관리</a:t>
            </a:r>
            <a:endParaRPr lang="en-US" sz="1300" dirty="0"/>
          </a:p>
        </p:txBody>
      </p:sp>
      <p:sp>
        <p:nvSpPr>
          <p:cNvPr id="8" name="Shape 5"/>
          <p:cNvSpPr/>
          <p:nvPr/>
        </p:nvSpPr>
        <p:spPr>
          <a:xfrm>
            <a:off x="3775075" y="1923355"/>
            <a:ext cx="2800350" cy="1979910"/>
          </a:xfrm>
          <a:prstGeom prst="roundRect">
            <a:avLst>
              <a:gd name="adj" fmla="val 4971"/>
            </a:avLst>
          </a:prstGeom>
          <a:solidFill>
            <a:srgbClr val="FDFCF9"/>
          </a:solidFill>
          <a:ln w="6350">
            <a:solidFill>
              <a:srgbClr val="DCD6C8"/>
            </a:solidFill>
            <a:prstDash val="solid"/>
          </a:ln>
        </p:spPr>
      </p:sp>
      <p:pic>
        <p:nvPicPr>
          <p:cNvPr id="9" name="Image 1" descr="Chat"/>
          <p:cNvPicPr>
            <a:picLocks noChangeAspect="1"/>
          </p:cNvPicPr>
          <p:nvPr/>
        </p:nvPicPr>
        <p:blipFill>
          <a:blip r:embed="rId4"/>
          <a:srcRect/>
          <a:stretch/>
        </p:blipFill>
        <p:spPr>
          <a:xfrm>
            <a:off x="4006850" y="2155130"/>
            <a:ext cx="279400" cy="279400"/>
          </a:xfrm>
          <a:prstGeom prst="rect">
            <a:avLst/>
          </a:prstGeom>
        </p:spPr>
      </p:pic>
      <p:sp>
        <p:nvSpPr>
          <p:cNvPr id="10" name="Text 6"/>
          <p:cNvSpPr/>
          <p:nvPr/>
        </p:nvSpPr>
        <p:spPr>
          <a:xfrm>
            <a:off x="4006850" y="2510730"/>
            <a:ext cx="24069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433"/>
                </a:solidFill>
                <a:latin typeface="Noto Sans KR" pitchFamily="34" charset="0"/>
                <a:ea typeface="Noto Sans KR" pitchFamily="34" charset="-122"/>
                <a:cs typeface="Noto Sans KR" pitchFamily="34" charset="-120"/>
              </a:rPr>
              <a:t>회의록</a:t>
            </a:r>
            <a:endParaRPr lang="en-US" sz="1700" dirty="0"/>
          </a:p>
        </p:txBody>
      </p:sp>
      <p:sp>
        <p:nvSpPr>
          <p:cNvPr id="11" name="Text 7"/>
          <p:cNvSpPr/>
          <p:nvPr/>
        </p:nvSpPr>
        <p:spPr>
          <a:xfrm>
            <a:off x="4006850" y="2845991"/>
            <a:ext cx="2406904"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263"/>
                </a:solidFill>
                <a:latin typeface="Noto Sans KR" pitchFamily="34" charset="0"/>
                <a:ea typeface="Noto Sans KR" pitchFamily="34" charset="-122"/>
                <a:cs typeface="Noto Sans KR" pitchFamily="34" charset="-120"/>
              </a:rPr>
              <a:t>회의 날짜 · 결정한 것 · 다음 할 일 기록</a:t>
            </a:r>
            <a:endParaRPr lang="en-US" sz="1300" dirty="0"/>
          </a:p>
        </p:txBody>
      </p:sp>
      <p:sp>
        <p:nvSpPr>
          <p:cNvPr id="12" name="Shape 8"/>
          <p:cNvSpPr/>
          <p:nvPr/>
        </p:nvSpPr>
        <p:spPr>
          <a:xfrm>
            <a:off x="815975" y="4062016"/>
            <a:ext cx="2800350" cy="1980009"/>
          </a:xfrm>
          <a:prstGeom prst="roundRect">
            <a:avLst>
              <a:gd name="adj" fmla="val 4971"/>
            </a:avLst>
          </a:prstGeom>
          <a:solidFill>
            <a:srgbClr val="FDFCF9"/>
          </a:solidFill>
          <a:ln w="6350">
            <a:solidFill>
              <a:srgbClr val="DCD6C8"/>
            </a:solidFill>
            <a:prstDash val="solid"/>
          </a:ln>
        </p:spPr>
      </p:sp>
      <p:pic>
        <p:nvPicPr>
          <p:cNvPr id="13" name="Image 2" descr="Lightbulb"/>
          <p:cNvPicPr>
            <a:picLocks noChangeAspect="1"/>
          </p:cNvPicPr>
          <p:nvPr/>
        </p:nvPicPr>
        <p:blipFill>
          <a:blip r:embed="rId5"/>
          <a:srcRect/>
          <a:stretch/>
        </p:blipFill>
        <p:spPr>
          <a:xfrm>
            <a:off x="1047750" y="4293791"/>
            <a:ext cx="279400" cy="279400"/>
          </a:xfrm>
          <a:prstGeom prst="rect">
            <a:avLst/>
          </a:prstGeom>
        </p:spPr>
      </p:pic>
      <p:sp>
        <p:nvSpPr>
          <p:cNvPr id="14" name="Text 9"/>
          <p:cNvSpPr/>
          <p:nvPr/>
        </p:nvSpPr>
        <p:spPr>
          <a:xfrm>
            <a:off x="1047750" y="4649391"/>
            <a:ext cx="24069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433"/>
                </a:solidFill>
                <a:latin typeface="Noto Sans KR" pitchFamily="34" charset="0"/>
                <a:ea typeface="Noto Sans KR" pitchFamily="34" charset="-122"/>
                <a:cs typeface="Noto Sans KR" pitchFamily="34" charset="-120"/>
              </a:rPr>
              <a:t>프롬프트 기록</a:t>
            </a:r>
            <a:endParaRPr lang="en-US" sz="1700" dirty="0"/>
          </a:p>
        </p:txBody>
      </p:sp>
      <p:sp>
        <p:nvSpPr>
          <p:cNvPr id="15" name="Text 10"/>
          <p:cNvSpPr/>
          <p:nvPr/>
        </p:nvSpPr>
        <p:spPr>
          <a:xfrm>
            <a:off x="1047750" y="4984651"/>
            <a:ext cx="2406904"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263"/>
                </a:solidFill>
                <a:latin typeface="Noto Sans KR" pitchFamily="34" charset="0"/>
                <a:ea typeface="Noto Sans KR" pitchFamily="34" charset="-122"/>
                <a:cs typeface="Noto Sans KR" pitchFamily="34" charset="-120"/>
              </a:rPr>
              <a:t>잘 된 프롬프트와 실패한 프롬프트를 모아 공유</a:t>
            </a:r>
            <a:endParaRPr lang="en-US" sz="1300" dirty="0"/>
          </a:p>
        </p:txBody>
      </p:sp>
      <p:sp>
        <p:nvSpPr>
          <p:cNvPr id="16" name="Shape 11"/>
          <p:cNvSpPr/>
          <p:nvPr/>
        </p:nvSpPr>
        <p:spPr>
          <a:xfrm>
            <a:off x="3775075" y="4062016"/>
            <a:ext cx="2800350" cy="1980009"/>
          </a:xfrm>
          <a:prstGeom prst="roundRect">
            <a:avLst>
              <a:gd name="adj" fmla="val 4971"/>
            </a:avLst>
          </a:prstGeom>
          <a:solidFill>
            <a:srgbClr val="FDFCF9"/>
          </a:solidFill>
          <a:ln w="6350">
            <a:solidFill>
              <a:srgbClr val="DCD6C8"/>
            </a:solidFill>
            <a:prstDash val="solid"/>
          </a:ln>
        </p:spPr>
      </p:sp>
      <p:pic>
        <p:nvPicPr>
          <p:cNvPr id="17" name="Image 3" descr="Clock"/>
          <p:cNvPicPr>
            <a:picLocks noChangeAspect="1"/>
          </p:cNvPicPr>
          <p:nvPr/>
        </p:nvPicPr>
        <p:blipFill>
          <a:blip r:embed="rId6"/>
          <a:srcRect/>
          <a:stretch/>
        </p:blipFill>
        <p:spPr>
          <a:xfrm>
            <a:off x="4006850" y="4293791"/>
            <a:ext cx="279400" cy="279400"/>
          </a:xfrm>
          <a:prstGeom prst="rect">
            <a:avLst/>
          </a:prstGeom>
        </p:spPr>
      </p:pic>
      <p:sp>
        <p:nvSpPr>
          <p:cNvPr id="18" name="Text 12"/>
          <p:cNvSpPr/>
          <p:nvPr/>
        </p:nvSpPr>
        <p:spPr>
          <a:xfrm>
            <a:off x="4006850" y="4649391"/>
            <a:ext cx="240690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433"/>
                </a:solidFill>
                <a:latin typeface="Noto Sans KR" pitchFamily="34" charset="0"/>
                <a:ea typeface="Noto Sans KR" pitchFamily="34" charset="-122"/>
                <a:cs typeface="Noto Sans KR" pitchFamily="34" charset="-120"/>
              </a:rPr>
              <a:t>역할 · 일정표</a:t>
            </a:r>
            <a:endParaRPr lang="en-US" sz="1700" dirty="0"/>
          </a:p>
        </p:txBody>
      </p:sp>
      <p:sp>
        <p:nvSpPr>
          <p:cNvPr id="19" name="Text 13"/>
          <p:cNvSpPr/>
          <p:nvPr/>
        </p:nvSpPr>
        <p:spPr>
          <a:xfrm>
            <a:off x="4006850" y="4984651"/>
            <a:ext cx="2406904" cy="2730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263"/>
                </a:solidFill>
                <a:latin typeface="Noto Sans KR" pitchFamily="34" charset="0"/>
                <a:ea typeface="Noto Sans KR" pitchFamily="34" charset="-122"/>
                <a:cs typeface="Noto Sans KR" pitchFamily="34" charset="-120"/>
              </a:rPr>
              <a:t>담당자와 마감일을 한눈에 정리</a:t>
            </a:r>
            <a:endParaRPr lang="en-US" sz="1300" dirty="0"/>
          </a:p>
        </p:txBody>
      </p:sp>
      <p:sp>
        <p:nvSpPr>
          <p:cNvPr id="20" name="Shape 14"/>
          <p:cNvSpPr/>
          <p:nvPr/>
        </p:nvSpPr>
        <p:spPr>
          <a:xfrm>
            <a:off x="6940550" y="1926530"/>
            <a:ext cx="4432300" cy="4112320"/>
          </a:xfrm>
          <a:prstGeom prst="roundRect">
            <a:avLst>
              <a:gd name="adj" fmla="val 2316"/>
            </a:avLst>
          </a:prstGeom>
          <a:solidFill>
            <a:srgbClr val="E4E0D6"/>
          </a:solidFill>
          <a:ln w="12700">
            <a:solidFill>
              <a:srgbClr val="A39C8C"/>
            </a:solidFill>
            <a:prstDash val="dash"/>
          </a:ln>
        </p:spPr>
      </p:sp>
      <p:pic>
        <p:nvPicPr>
          <p:cNvPr id="24" name="그림 23">
            <a:extLst>
              <a:ext uri="{FF2B5EF4-FFF2-40B4-BE49-F238E27FC236}">
                <a16:creationId xmlns:a16="http://schemas.microsoft.com/office/drawing/2014/main" id="{B131E1D3-7286-449B-B144-8879AE0151DE}"/>
              </a:ext>
            </a:extLst>
          </p:cNvPr>
          <p:cNvPicPr>
            <a:picLocks/>
          </p:cNvPicPr>
          <p:nvPr/>
        </p:nvPicPr>
        <p:blipFill>
          <a:blip r:embed="rId7"/>
          <a:stretch>
            <a:fillRect/>
          </a:stretch>
        </p:blipFill>
        <p:spPr>
          <a:xfrm>
            <a:off x="6940550" y="1926530"/>
            <a:ext cx="4432300" cy="4112320"/>
          </a:xfrm>
          <a:prstGeom prst="rect">
            <a:avLst/>
          </a:prstGeom>
          <a:ln w="9525">
            <a:solidFill>
              <a:srgbClr val="D9D4CA"/>
            </a:solid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11 · NOTION</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수업 양식에 맞춘 프로젝트 기록</a:t>
            </a:r>
            <a:endParaRPr lang="en-US" sz="3200" dirty="0"/>
          </a:p>
        </p:txBody>
      </p:sp>
      <p:sp>
        <p:nvSpPr>
          <p:cNvPr id="4" name="Text 2"/>
          <p:cNvSpPr/>
          <p:nvPr/>
        </p:nvSpPr>
        <p:spPr>
          <a:xfrm>
            <a:off x="812800" y="1920180"/>
            <a:ext cx="5546344" cy="238720"/>
          </a:xfrm>
          <a:prstGeom prst="rect">
            <a:avLst/>
          </a:prstGeom>
          <a:noFill/>
          <a:ln/>
        </p:spPr>
        <p:txBody>
          <a:bodyPr wrap="square" lIns="0" tIns="0" rIns="0" bIns="0" rtlCol="0" anchor="t">
            <a:normAutofit/>
          </a:bodyPr>
          <a:lstStyle/>
          <a:p>
            <a:pPr marL="0" indent="0" algn="l">
              <a:lnSpc>
                <a:spcPts val="1680"/>
              </a:lnSpc>
              <a:buNone/>
            </a:pPr>
            <a:r>
              <a:rPr lang="ko-KR" altLang="en-US" sz="1200" b="1">
                <a:solidFill>
                  <a:srgbClr val="B0441A"/>
                </a:solidFill>
                <a:latin typeface="Noto Sans KR" pitchFamily="34" charset="0"/>
                <a:ea typeface="Noto Sans KR" pitchFamily="34" charset="-122"/>
                <a:cs typeface="Noto Sans KR" pitchFamily="34" charset="-120"/>
              </a:rPr>
              <a:t>선생님 양식 </a:t>
            </a:r>
            <a:r>
              <a:rPr lang="en-US" altLang="ko-KR" sz="1200" b="1">
                <a:solidFill>
                  <a:srgbClr val="B0441A"/>
                </a:solidFill>
                <a:latin typeface="Noto Sans KR" pitchFamily="34" charset="0"/>
                <a:ea typeface="Noto Sans KR" pitchFamily="34" charset="-122"/>
                <a:cs typeface="Noto Sans KR" pitchFamily="34" charset="-120"/>
              </a:rPr>
              <a:t>· 2</a:t>
            </a:r>
            <a:r>
              <a:rPr lang="ko-KR" altLang="en-US" sz="1200" b="1">
                <a:solidFill>
                  <a:srgbClr val="B0441A"/>
                </a:solidFill>
                <a:latin typeface="Noto Sans KR" pitchFamily="34" charset="0"/>
                <a:ea typeface="Noto Sans KR" pitchFamily="34" charset="-122"/>
                <a:cs typeface="Noto Sans KR" pitchFamily="34" charset="-120"/>
              </a:rPr>
              <a:t>차 팀프로젝트 페이지</a:t>
            </a:r>
            <a:endParaRPr lang="en-US" sz="1200" dirty="0"/>
          </a:p>
        </p:txBody>
      </p:sp>
      <p:sp>
        <p:nvSpPr>
          <p:cNvPr id="5" name="Text 3"/>
          <p:cNvSpPr/>
          <p:nvPr/>
        </p:nvSpPr>
        <p:spPr>
          <a:xfrm>
            <a:off x="812800" y="2184301"/>
            <a:ext cx="5546344" cy="553641"/>
          </a:xfrm>
          <a:prstGeom prst="rect">
            <a:avLst/>
          </a:prstGeom>
          <a:noFill/>
          <a:ln/>
        </p:spPr>
        <p:txBody>
          <a:bodyPr wrap="square" lIns="0" tIns="0" rIns="0" bIns="0" rtlCol="0" anchor="t">
            <a:normAutofit/>
          </a:bodyPr>
          <a:lstStyle/>
          <a:p>
            <a:pPr marL="0" indent="0" algn="l">
              <a:lnSpc>
                <a:spcPts val="2080"/>
              </a:lnSpc>
              <a:buNone/>
            </a:pPr>
            <a:r>
              <a:rPr lang="ko-KR" altLang="en-US" sz="1300">
                <a:solidFill>
                  <a:srgbClr val="1B2433"/>
                </a:solidFill>
                <a:latin typeface="JetBrains Mono" pitchFamily="49" charset="0"/>
                <a:ea typeface="JetBrains Mono" pitchFamily="49" charset="-122"/>
                <a:cs typeface="JetBrains Mono" pitchFamily="49" charset="-120"/>
              </a:rPr>
              <a:t>팀 소개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기획서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핵심 기능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작업 현황</a:t>
            </a:r>
          </a:p>
          <a:p>
            <a:pPr marL="0" indent="0" algn="l">
              <a:lnSpc>
                <a:spcPts val="2080"/>
              </a:lnSpc>
              <a:buNone/>
            </a:pPr>
            <a:r>
              <a:rPr lang="en-US" altLang="ko-KR" sz="1300">
                <a:solidFill>
                  <a:srgbClr val="1B2433"/>
                </a:solidFill>
                <a:latin typeface="JetBrains Mono" pitchFamily="49" charset="0"/>
                <a:ea typeface="JetBrains Mono" pitchFamily="49" charset="-122"/>
                <a:cs typeface="JetBrains Mono" pitchFamily="49" charset="-120"/>
              </a:rPr>
              <a:t>LLM </a:t>
            </a:r>
            <a:r>
              <a:rPr lang="ko-KR" altLang="en-US" sz="1300">
                <a:solidFill>
                  <a:srgbClr val="1B2433"/>
                </a:solidFill>
                <a:latin typeface="JetBrains Mono" pitchFamily="49" charset="0"/>
                <a:ea typeface="JetBrains Mono" pitchFamily="49" charset="-122"/>
                <a:cs typeface="JetBrains Mono" pitchFamily="49" charset="-120"/>
              </a:rPr>
              <a:t>활용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테스트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회의록 </a:t>
            </a:r>
            <a:r>
              <a:rPr lang="en-US" altLang="ko-KR" sz="1300">
                <a:solidFill>
                  <a:srgbClr val="1B2433"/>
                </a:solidFill>
                <a:latin typeface="JetBrains Mono" pitchFamily="49" charset="0"/>
                <a:ea typeface="JetBrains Mono" pitchFamily="49" charset="-122"/>
                <a:cs typeface="JetBrains Mono" pitchFamily="49" charset="-120"/>
              </a:rPr>
              <a:t>· </a:t>
            </a:r>
            <a:r>
              <a:rPr lang="ko-KR" altLang="en-US" sz="1300">
                <a:solidFill>
                  <a:srgbClr val="1B2433"/>
                </a:solidFill>
                <a:latin typeface="JetBrains Mono" pitchFamily="49" charset="0"/>
                <a:ea typeface="JetBrains Mono" pitchFamily="49" charset="-122"/>
                <a:cs typeface="JetBrains Mono" pitchFamily="49" charset="-120"/>
              </a:rPr>
              <a:t>회고까지 한 페이지에</a:t>
            </a:r>
            <a:endParaRPr lang="en-US" sz="1300" dirty="0"/>
          </a:p>
        </p:txBody>
      </p:sp>
      <p:sp>
        <p:nvSpPr>
          <p:cNvPr id="6" name="Text 4"/>
          <p:cNvSpPr/>
          <p:nvPr/>
        </p:nvSpPr>
        <p:spPr>
          <a:xfrm>
            <a:off x="812800" y="2915741"/>
            <a:ext cx="5546344" cy="238720"/>
          </a:xfrm>
          <a:prstGeom prst="rect">
            <a:avLst/>
          </a:prstGeom>
          <a:noFill/>
          <a:ln/>
        </p:spPr>
        <p:txBody>
          <a:bodyPr wrap="square" lIns="0" tIns="0" rIns="0" bIns="0" rtlCol="0" anchor="t">
            <a:normAutofit/>
          </a:bodyPr>
          <a:lstStyle/>
          <a:p>
            <a:pPr marL="0" indent="0" algn="l">
              <a:lnSpc>
                <a:spcPts val="1680"/>
              </a:lnSpc>
              <a:buNone/>
            </a:pPr>
            <a:r>
              <a:rPr lang="ko-KR" altLang="en-US" sz="1200" b="1">
                <a:solidFill>
                  <a:srgbClr val="B0441A"/>
                </a:solidFill>
                <a:latin typeface="Noto Sans KR" pitchFamily="34" charset="0"/>
                <a:ea typeface="Noto Sans KR" pitchFamily="34" charset="-122"/>
                <a:cs typeface="Noto Sans KR" pitchFamily="34" charset="-120"/>
              </a:rPr>
              <a:t>날짜별 작업 기록 </a:t>
            </a:r>
            <a:r>
              <a:rPr lang="en-US" altLang="ko-KR" sz="1200" b="1">
                <a:solidFill>
                  <a:srgbClr val="B0441A"/>
                </a:solidFill>
                <a:latin typeface="Noto Sans KR" pitchFamily="34" charset="0"/>
                <a:ea typeface="Noto Sans KR" pitchFamily="34" charset="-122"/>
                <a:cs typeface="Noto Sans KR" pitchFamily="34" charset="-120"/>
              </a:rPr>
              <a:t>· GitHub </a:t>
            </a:r>
            <a:r>
              <a:rPr lang="ko-KR" altLang="en-US" sz="1200" b="1">
                <a:solidFill>
                  <a:srgbClr val="B0441A"/>
                </a:solidFill>
                <a:latin typeface="Noto Sans KR" pitchFamily="34" charset="0"/>
                <a:ea typeface="Noto Sans KR" pitchFamily="34" charset="-122"/>
                <a:cs typeface="Noto Sans KR" pitchFamily="34" charset="-120"/>
              </a:rPr>
              <a:t>링크 연결</a:t>
            </a:r>
            <a:endParaRPr lang="en-US" sz="1200" dirty="0"/>
          </a:p>
        </p:txBody>
      </p:sp>
      <p:sp>
        <p:nvSpPr>
          <p:cNvPr id="7" name="Text 5"/>
          <p:cNvSpPr/>
          <p:nvPr/>
        </p:nvSpPr>
        <p:spPr>
          <a:xfrm>
            <a:off x="812800" y="3179862"/>
            <a:ext cx="5546344" cy="553641"/>
          </a:xfrm>
          <a:prstGeom prst="rect">
            <a:avLst/>
          </a:prstGeom>
          <a:noFill/>
          <a:ln/>
        </p:spPr>
        <p:txBody>
          <a:bodyPr wrap="square" lIns="0" tIns="0" rIns="0" bIns="0" rtlCol="0" anchor="t">
            <a:normAutofit/>
          </a:bodyPr>
          <a:lstStyle/>
          <a:p>
            <a:pPr marL="0" indent="0" algn="l">
              <a:lnSpc>
                <a:spcPts val="2080"/>
              </a:lnSpc>
              <a:buNone/>
            </a:pPr>
            <a:r>
              <a:rPr lang="ko-KR" altLang="en-US" sz="1300">
                <a:solidFill>
                  <a:srgbClr val="1B2433"/>
                </a:solidFill>
                <a:latin typeface="JetBrains Mono" pitchFamily="49" charset="0"/>
                <a:ea typeface="JetBrains Mono" pitchFamily="49" charset="-122"/>
                <a:cs typeface="JetBrains Mono" pitchFamily="49" charset="-120"/>
              </a:rPr>
              <a:t>이름 옆 </a:t>
            </a:r>
            <a:r>
              <a:rPr lang="en-US" altLang="ko-KR" sz="1300">
                <a:solidFill>
                  <a:srgbClr val="1B2433"/>
                </a:solidFill>
                <a:latin typeface="JetBrains Mono" pitchFamily="49" charset="0"/>
                <a:ea typeface="JetBrains Mono" pitchFamily="49" charset="-122"/>
                <a:cs typeface="JetBrains Mono" pitchFamily="49" charset="-120"/>
              </a:rPr>
              <a:t>GitHub </a:t>
            </a:r>
            <a:r>
              <a:rPr lang="ko-KR" altLang="en-US" sz="1300">
                <a:solidFill>
                  <a:srgbClr val="1B2433"/>
                </a:solidFill>
                <a:latin typeface="JetBrains Mono" pitchFamily="49" charset="0"/>
                <a:ea typeface="JetBrains Mono" pitchFamily="49" charset="-122"/>
                <a:cs typeface="JetBrains Mono" pitchFamily="49" charset="-120"/>
              </a:rPr>
              <a:t>링크로 그날 올린 폴더로 이동</a:t>
            </a:r>
          </a:p>
          <a:p>
            <a:pPr marL="0" indent="0" algn="l">
              <a:lnSpc>
                <a:spcPts val="2080"/>
              </a:lnSpc>
              <a:buNone/>
            </a:pPr>
            <a:r>
              <a:rPr lang="en-US" altLang="ko-KR" sz="1300">
                <a:solidFill>
                  <a:srgbClr val="1B2433"/>
                </a:solidFill>
                <a:latin typeface="JetBrains Mono" pitchFamily="49" charset="0"/>
                <a:ea typeface="JetBrains Mono" pitchFamily="49" charset="-122"/>
                <a:cs typeface="JetBrains Mono" pitchFamily="49" charset="-120"/>
              </a:rPr>
              <a:t>10.13 ~ 10.22 </a:t>
            </a:r>
            <a:r>
              <a:rPr lang="ko-KR" altLang="en-US" sz="1300">
                <a:solidFill>
                  <a:srgbClr val="1B2433"/>
                </a:solidFill>
                <a:latin typeface="JetBrains Mono" pitchFamily="49" charset="0"/>
                <a:ea typeface="JetBrains Mono" pitchFamily="49" charset="-122"/>
                <a:cs typeface="JetBrains Mono" pitchFamily="49" charset="-120"/>
              </a:rPr>
              <a:t>작업을 토글로 정리</a:t>
            </a:r>
            <a:endParaRPr lang="en-US" sz="1300" dirty="0"/>
          </a:p>
        </p:txBody>
      </p:sp>
      <p:sp>
        <p:nvSpPr>
          <p:cNvPr id="8" name="Text 6"/>
          <p:cNvSpPr/>
          <p:nvPr/>
        </p:nvSpPr>
        <p:spPr>
          <a:xfrm>
            <a:off x="812800" y="3911302"/>
            <a:ext cx="5546344" cy="238720"/>
          </a:xfrm>
          <a:prstGeom prst="rect">
            <a:avLst/>
          </a:prstGeom>
          <a:noFill/>
          <a:ln/>
        </p:spPr>
        <p:txBody>
          <a:bodyPr wrap="square" lIns="0" tIns="0" rIns="0" bIns="0" rtlCol="0" anchor="t">
            <a:normAutofit/>
          </a:bodyPr>
          <a:lstStyle/>
          <a:p>
            <a:pPr marL="0" indent="0" algn="l">
              <a:lnSpc>
                <a:spcPts val="1680"/>
              </a:lnSpc>
              <a:buNone/>
            </a:pPr>
            <a:r>
              <a:rPr lang="ko-KR" altLang="en-US" sz="1200" b="1">
                <a:solidFill>
                  <a:srgbClr val="B0441A"/>
                </a:solidFill>
                <a:latin typeface="Noto Sans KR" pitchFamily="34" charset="0"/>
                <a:ea typeface="Noto Sans KR" pitchFamily="34" charset="-122"/>
                <a:cs typeface="Noto Sans KR" pitchFamily="34" charset="-120"/>
              </a:rPr>
              <a:t>공유 </a:t>
            </a:r>
            <a:r>
              <a:rPr lang="en-US" altLang="ko-KR" sz="1200" b="1">
                <a:solidFill>
                  <a:srgbClr val="B0441A"/>
                </a:solidFill>
                <a:latin typeface="Noto Sans KR" pitchFamily="34" charset="0"/>
                <a:ea typeface="Noto Sans KR" pitchFamily="34" charset="-122"/>
                <a:cs typeface="Noto Sans KR" pitchFamily="34" charset="-120"/>
              </a:rPr>
              <a:t>· </a:t>
            </a:r>
            <a:r>
              <a:rPr lang="ko-KR" altLang="en-US" sz="1200" b="1">
                <a:solidFill>
                  <a:srgbClr val="B0441A"/>
                </a:solidFill>
                <a:latin typeface="Noto Sans KR" pitchFamily="34" charset="0"/>
                <a:ea typeface="Noto Sans KR" pitchFamily="34" charset="-122"/>
                <a:cs typeface="Noto Sans KR" pitchFamily="34" charset="-120"/>
              </a:rPr>
              <a:t>팀원과 선생님에게</a:t>
            </a:r>
            <a:endParaRPr lang="en-US" sz="1200" dirty="0"/>
          </a:p>
        </p:txBody>
      </p:sp>
      <p:sp>
        <p:nvSpPr>
          <p:cNvPr id="9" name="Text 7"/>
          <p:cNvSpPr/>
          <p:nvPr/>
        </p:nvSpPr>
        <p:spPr>
          <a:xfrm>
            <a:off x="812800" y="4175423"/>
            <a:ext cx="5546344"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1B2433"/>
                </a:solidFill>
                <a:latin typeface="Noto Sans KR" pitchFamily="34" charset="0"/>
                <a:ea typeface="Noto Sans KR" pitchFamily="34" charset="-122"/>
                <a:cs typeface="Noto Sans KR" pitchFamily="34" charset="-120"/>
              </a:rPr>
              <a:t>개인 워크스페이스 페이지를 초대 </a:t>
            </a:r>
            <a:r>
              <a:rPr lang="en-US" altLang="ko-KR" sz="1400">
                <a:solidFill>
                  <a:srgbClr val="1B2433"/>
                </a:solidFill>
                <a:latin typeface="Noto Sans KR" pitchFamily="34" charset="0"/>
                <a:ea typeface="Noto Sans KR" pitchFamily="34" charset="-122"/>
                <a:cs typeface="Noto Sans KR" pitchFamily="34" charset="-120"/>
              </a:rPr>
              <a:t>· </a:t>
            </a:r>
            <a:r>
              <a:rPr lang="ko-KR" altLang="en-US" sz="1400">
                <a:solidFill>
                  <a:srgbClr val="1B2433"/>
                </a:solidFill>
                <a:latin typeface="Noto Sans KR" pitchFamily="34" charset="0"/>
                <a:ea typeface="Noto Sans KR" pitchFamily="34" charset="-122"/>
                <a:cs typeface="Noto Sans KR" pitchFamily="34" charset="-120"/>
              </a:rPr>
              <a:t>게시로 공유</a:t>
            </a:r>
            <a:endParaRPr lang="en-US" sz="1400" dirty="0"/>
          </a:p>
        </p:txBody>
      </p:sp>
      <p:sp>
        <p:nvSpPr>
          <p:cNvPr id="17" name="Shape 15"/>
          <p:cNvSpPr/>
          <p:nvPr/>
        </p:nvSpPr>
        <p:spPr>
          <a:xfrm>
            <a:off x="6559550" y="1926530"/>
            <a:ext cx="4813300" cy="4112320"/>
          </a:xfrm>
          <a:prstGeom prst="roundRect">
            <a:avLst>
              <a:gd name="adj" fmla="val 2316"/>
            </a:avLst>
          </a:prstGeom>
          <a:solidFill>
            <a:srgbClr val="E4E0D6"/>
          </a:solidFill>
          <a:ln w="12700">
            <a:solidFill>
              <a:srgbClr val="A39C8C"/>
            </a:solidFill>
            <a:prstDash val="dash"/>
          </a:ln>
        </p:spPr>
      </p:sp>
      <p:pic>
        <p:nvPicPr>
          <p:cNvPr id="21" name="그림 20">
            <a:extLst>
              <a:ext uri="{FF2B5EF4-FFF2-40B4-BE49-F238E27FC236}">
                <a16:creationId xmlns:a16="http://schemas.microsoft.com/office/drawing/2014/main" id="{390BED5A-9A22-40A4-A826-95DDA64543AF}"/>
              </a:ext>
            </a:extLst>
          </p:cNvPr>
          <p:cNvPicPr>
            <a:picLocks/>
          </p:cNvPicPr>
          <p:nvPr/>
        </p:nvPicPr>
        <p:blipFill>
          <a:blip r:embed="rId3"/>
          <a:stretch>
            <a:fillRect/>
          </a:stretch>
        </p:blipFill>
        <p:spPr>
          <a:xfrm>
            <a:off x="6559550" y="1926530"/>
            <a:ext cx="4813300" cy="4112320"/>
          </a:xfrm>
          <a:prstGeom prst="rect">
            <a:avLst/>
          </a:prstGeom>
          <a:ln w="9525">
            <a:solidFill>
              <a:srgbClr val="D9D4CA"/>
            </a:solidFill>
          </a:ln>
        </p:spPr>
      </p:pic>
    </p:spTree>
    <p:extLst>
      <p:ext uri="{BB962C8B-B14F-4D97-AF65-F5344CB8AC3E}">
        <p14:creationId xmlns:p14="http://schemas.microsoft.com/office/powerpoint/2010/main" val="1841764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12 · PAGE 01 · main/</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ABOUT US — 회사를 소개하는 첫 화면</a:t>
            </a:r>
            <a:endParaRPr lang="en-US" sz="3200" dirty="0"/>
          </a:p>
        </p:txBody>
      </p:sp>
      <p:sp>
        <p:nvSpPr>
          <p:cNvPr id="4" name="Text 2"/>
          <p:cNvSpPr/>
          <p:nvPr/>
        </p:nvSpPr>
        <p:spPr>
          <a:xfrm>
            <a:off x="812800" y="1920180"/>
            <a:ext cx="1202333" cy="358080"/>
          </a:xfrm>
          <a:prstGeom prst="roundRect">
            <a:avLst>
              <a:gd name="adj" fmla="val 50000"/>
            </a:avLst>
          </a:prstGeom>
          <a:solidFill>
            <a:srgbClr val="16202E"/>
          </a:solidFill>
          <a:ln/>
        </p:spPr>
        <p:txBody>
          <a:bodyPr wrap="none" lIns="0" tIns="0" rIns="0" bIns="0" rtlCol="0" anchor="ctr">
            <a:normAutofit/>
          </a:bodyPr>
          <a:lstStyle/>
          <a:p>
            <a:pPr marL="0" indent="0" algn="ctr">
              <a:lnSpc>
                <a:spcPts val="1820"/>
              </a:lnSpc>
              <a:buNone/>
            </a:pPr>
            <a:r>
              <a:rPr lang="en-US" sz="1300" b="1">
                <a:solidFill>
                  <a:srgbClr val="F3F1EC"/>
                </a:solidFill>
                <a:latin typeface="Noto Sans KR" pitchFamily="34" charset="0"/>
                <a:ea typeface="Noto Sans KR" pitchFamily="34" charset="-122"/>
                <a:cs typeface="Noto Sans KR" pitchFamily="34" charset="-120"/>
              </a:rPr>
              <a:t>담당　</a:t>
            </a:r>
            <a:r>
              <a:rPr lang="ko-KR" altLang="en-US" sz="1300" b="1">
                <a:solidFill>
                  <a:srgbClr val="E8692C"/>
                </a:solidFill>
                <a:latin typeface="Noto Sans KR" pitchFamily="34" charset="0"/>
                <a:ea typeface="Noto Sans KR" pitchFamily="34" charset="-122"/>
                <a:cs typeface="Noto Sans KR" pitchFamily="34" charset="-120"/>
              </a:rPr>
              <a:t>염혜리</a:t>
            </a:r>
            <a:endParaRPr lang="en-US" sz="1300" dirty="0"/>
          </a:p>
        </p:txBody>
      </p:sp>
      <p:sp>
        <p:nvSpPr>
          <p:cNvPr id="5" name="Text 3"/>
          <p:cNvSpPr/>
          <p:nvPr/>
        </p:nvSpPr>
        <p:spPr>
          <a:xfrm>
            <a:off x="878332" y="2456061"/>
            <a:ext cx="5080762" cy="1234281"/>
          </a:xfrm>
          <a:prstGeom prst="rect">
            <a:avLst/>
          </a:prstGeom>
          <a:noFill/>
          <a:ln/>
        </p:spPr>
        <p:txBody>
          <a:bodyPr wrap="square" lIns="0" tIns="0" rIns="0" bIns="0" rtlCol="0" anchor="t">
            <a:normAutofit/>
          </a:bodyPr>
          <a:lstStyle/>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메인 배너 “상상을 넘어 장면이 되다”</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파트너 기업 로고가 흐르는 띠, 정지 버튼</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서비스 4종: 제작 · AI 하이브리드 · 사운드 · 드론</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포트폴리오 미리보기, 회사 위치 지도 연결</a:t>
            </a:r>
            <a:endParaRPr lang="en-US" sz="1400" dirty="0"/>
          </a:p>
        </p:txBody>
      </p:sp>
      <p:sp>
        <p:nvSpPr>
          <p:cNvPr id="6" name="Shape 4"/>
          <p:cNvSpPr/>
          <p:nvPr/>
        </p:nvSpPr>
        <p:spPr>
          <a:xfrm>
            <a:off x="812800" y="3842742"/>
            <a:ext cx="5003800" cy="1201241"/>
          </a:xfrm>
          <a:prstGeom prst="roundRect">
            <a:avLst>
              <a:gd name="adj" fmla="val 8458"/>
            </a:avLst>
          </a:prstGeom>
          <a:solidFill>
            <a:srgbClr val="ECE9E1"/>
          </a:solidFill>
          <a:ln/>
        </p:spPr>
      </p:sp>
      <p:sp>
        <p:nvSpPr>
          <p:cNvPr id="7" name="Text 5"/>
          <p:cNvSpPr/>
          <p:nvPr/>
        </p:nvSpPr>
        <p:spPr>
          <a:xfrm>
            <a:off x="1016000" y="4020542"/>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사용한 </a:t>
            </a:r>
            <a:r>
              <a:rPr lang="en-US" sz="1300" b="1">
                <a:solidFill>
                  <a:srgbClr val="1B2433"/>
                </a:solidFill>
                <a:latin typeface="Noto Sans KR" pitchFamily="34" charset="0"/>
                <a:ea typeface="Noto Sans KR" pitchFamily="34" charset="-122"/>
                <a:cs typeface="Noto Sans KR" pitchFamily="34" charset="-120"/>
              </a:rPr>
              <a:t>AI</a:t>
            </a:r>
            <a:r>
              <a:rPr lang="en-US" sz="1300">
                <a:solidFill>
                  <a:srgbClr val="1B2433"/>
                </a:solidFill>
                <a:latin typeface="Noto Sans KR" pitchFamily="34" charset="0"/>
                <a:ea typeface="Noto Sans KR" pitchFamily="34" charset="-122"/>
                <a:cs typeface="Noto Sans KR" pitchFamily="34" charset="-120"/>
              </a:rPr>
              <a:t>　</a:t>
            </a:r>
            <a:r>
              <a:rPr lang="en-US" sz="1300">
                <a:solidFill>
                  <a:srgbClr val="B0441A"/>
                </a:solidFill>
                <a:latin typeface="Noto Sans KR" pitchFamily="34" charset="0"/>
                <a:ea typeface="Noto Sans KR" pitchFamily="34" charset="-122"/>
                <a:cs typeface="Noto Sans KR" pitchFamily="34" charset="-120"/>
              </a:rPr>
              <a:t>Codex</a:t>
            </a:r>
            <a:endParaRPr lang="en-US" sz="1300" dirty="0"/>
          </a:p>
        </p:txBody>
      </p:sp>
      <p:sp>
        <p:nvSpPr>
          <p:cNvPr id="8" name="Text 6"/>
          <p:cNvSpPr/>
          <p:nvPr/>
        </p:nvSpPr>
        <p:spPr>
          <a:xfrm>
            <a:off x="1016000" y="432782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대표 </a:t>
            </a:r>
            <a:r>
              <a:rPr lang="en-US" sz="1300" b="1">
                <a:solidFill>
                  <a:srgbClr val="1B2433"/>
                </a:solidFill>
                <a:latin typeface="Noto Sans KR" pitchFamily="34" charset="0"/>
                <a:ea typeface="Noto Sans KR" pitchFamily="34" charset="-122"/>
                <a:cs typeface="Noto Sans KR" pitchFamily="34" charset="-120"/>
              </a:rPr>
              <a:t>프롬프트</a:t>
            </a:r>
            <a:r>
              <a:rPr lang="en-US" sz="1300">
                <a:solidFill>
                  <a:srgbClr val="1B2433"/>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타자 효과 </a:t>
            </a:r>
            <a:r>
              <a:rPr lang="en-US" altLang="ko-KR" sz="1300">
                <a:solidFill>
                  <a:srgbClr val="B0441A"/>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좌우에서 날아오는 부제</a:t>
            </a:r>
            <a:endParaRPr lang="en-US" sz="1300" dirty="0"/>
          </a:p>
        </p:txBody>
      </p:sp>
      <p:sp>
        <p:nvSpPr>
          <p:cNvPr id="9" name="Text 7"/>
          <p:cNvSpPr/>
          <p:nvPr/>
        </p:nvSpPr>
        <p:spPr>
          <a:xfrm>
            <a:off x="1016000" y="463510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어려웠던 </a:t>
            </a:r>
            <a:r>
              <a:rPr lang="en-US" sz="1300" b="1">
                <a:solidFill>
                  <a:srgbClr val="1B2433"/>
                </a:solidFill>
                <a:latin typeface="Noto Sans KR" pitchFamily="34" charset="0"/>
                <a:ea typeface="Noto Sans KR" pitchFamily="34" charset="-122"/>
                <a:cs typeface="Noto Sans KR" pitchFamily="34" charset="-120"/>
              </a:rPr>
              <a:t>점</a:t>
            </a:r>
            <a:r>
              <a:rPr lang="en-US" sz="1300">
                <a:solidFill>
                  <a:srgbClr val="1B2433"/>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로고 띠 속도와 모션 순서 맞추기</a:t>
            </a:r>
            <a:endParaRPr lang="en-US" sz="1300" dirty="0"/>
          </a:p>
        </p:txBody>
      </p:sp>
      <p:sp>
        <p:nvSpPr>
          <p:cNvPr id="10" name="Shape 8"/>
          <p:cNvSpPr/>
          <p:nvPr/>
        </p:nvSpPr>
        <p:spPr>
          <a:xfrm>
            <a:off x="6178550" y="1926530"/>
            <a:ext cx="5194300" cy="4112320"/>
          </a:xfrm>
          <a:prstGeom prst="roundRect">
            <a:avLst>
              <a:gd name="adj" fmla="val 2316"/>
            </a:avLst>
          </a:prstGeom>
          <a:solidFill>
            <a:srgbClr val="E4E0D6"/>
          </a:solidFill>
          <a:ln w="12700">
            <a:solidFill>
              <a:srgbClr val="A39C8C"/>
            </a:solidFill>
            <a:prstDash val="dash"/>
          </a:ln>
        </p:spPr>
      </p:sp>
      <p:pic>
        <p:nvPicPr>
          <p:cNvPr id="14" name="그림 13">
            <a:extLst>
              <a:ext uri="{FF2B5EF4-FFF2-40B4-BE49-F238E27FC236}">
                <a16:creationId xmlns:a16="http://schemas.microsoft.com/office/drawing/2014/main" id="{CD880DC4-101B-45A7-987C-C4607F368722}"/>
              </a:ext>
            </a:extLst>
          </p:cNvPr>
          <p:cNvPicPr>
            <a:picLocks noChangeAspect="1"/>
          </p:cNvPicPr>
          <p:nvPr/>
        </p:nvPicPr>
        <p:blipFill>
          <a:blip r:embed="rId3"/>
          <a:stretch>
            <a:fillRect/>
          </a:stretch>
        </p:blipFill>
        <p:spPr>
          <a:xfrm>
            <a:off x="6305550" y="2438846"/>
            <a:ext cx="4940300" cy="3087688"/>
          </a:xfrm>
          <a:prstGeom prst="rect">
            <a:avLst/>
          </a:prstGeom>
          <a:ln w="9525">
            <a:solidFill>
              <a:srgbClr val="D9D4CA"/>
            </a:solid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12 · PAGE 01 · </a:t>
            </a:r>
            <a:r>
              <a:rPr lang="ko-KR" altLang="en-US" sz="1200" b="1" kern="0" spc="150">
                <a:solidFill>
                  <a:srgbClr val="B0441A"/>
                </a:solidFill>
                <a:latin typeface="JetBrains Mono" pitchFamily="49" charset="0"/>
                <a:ea typeface="JetBrains Mono" pitchFamily="49" charset="-122"/>
                <a:cs typeface="JetBrains Mono" pitchFamily="49" charset="-120"/>
              </a:rPr>
              <a:t>화면 동작</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ABOUT US — 버튼과 움직임</a:t>
            </a:r>
            <a:endParaRPr lang="en-US" sz="3200" dirty="0"/>
          </a:p>
        </p:txBody>
      </p:sp>
      <p:sp>
        <p:nvSpPr>
          <p:cNvPr id="4" name="Shape 2"/>
          <p:cNvSpPr/>
          <p:nvPr/>
        </p:nvSpPr>
        <p:spPr>
          <a:xfrm>
            <a:off x="815975" y="1847155"/>
            <a:ext cx="3414117" cy="2811066"/>
          </a:xfrm>
          <a:prstGeom prst="roundRect">
            <a:avLst>
              <a:gd name="adj" fmla="val 3501"/>
            </a:avLst>
          </a:prstGeom>
          <a:solidFill>
            <a:srgbClr val="FDFCF9"/>
          </a:solidFill>
          <a:ln w="6350">
            <a:solidFill>
              <a:srgbClr val="DCD6C8"/>
            </a:solidFill>
            <a:prstDash val="solid"/>
          </a:ln>
        </p:spPr>
      </p:sp>
      <p:sp>
        <p:nvSpPr>
          <p:cNvPr id="5" name="Text 3"/>
          <p:cNvSpPr/>
          <p:nvPr/>
        </p:nvSpPr>
        <p:spPr>
          <a:xfrm>
            <a:off x="1022350"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16202E"/>
          </a:solidFill>
          <a:ln/>
        </p:spPr>
        <p:txBody>
          <a:bodyPr wrap="none" lIns="0" tIns="0" rIns="0" bIns="0" rtlCol="0" anchor="ctr">
            <a:normAutofit/>
          </a:bodyPr>
          <a:lstStyle/>
          <a:p>
            <a:pPr marL="0" indent="0" algn="ctr">
              <a:lnSpc>
                <a:spcPts val="1680"/>
              </a:lnSpc>
              <a:buNone/>
            </a:pPr>
            <a:r>
              <a:rPr lang="en-US" sz="1200" b="1" dirty="0">
                <a:solidFill>
                  <a:srgbClr val="F3F1EC"/>
                </a:solidFill>
                <a:latin typeface="Noto Sans KR" pitchFamily="34" charset="0"/>
                <a:ea typeface="Noto Sans KR" pitchFamily="34" charset="-122"/>
                <a:cs typeface="Noto Sans KR" pitchFamily="34" charset="-120"/>
              </a:rPr>
              <a:t>알림창</a:t>
            </a:r>
            <a:endParaRPr lang="en-US" sz="1200" dirty="0"/>
          </a:p>
        </p:txBody>
      </p:sp>
      <p:sp>
        <p:nvSpPr>
          <p:cNvPr id="6" name="Text 4"/>
          <p:cNvSpPr/>
          <p:nvPr/>
        </p:nvSpPr>
        <p:spPr>
          <a:xfrm>
            <a:off x="1022350" y="2431951"/>
            <a:ext cx="3091408"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제작 문의 안내창</a:t>
            </a:r>
            <a:endParaRPr lang="en-US" sz="1700" dirty="0"/>
          </a:p>
        </p:txBody>
      </p:sp>
      <p:sp>
        <p:nvSpPr>
          <p:cNvPr id="7" name="Text 5"/>
          <p:cNvSpPr/>
          <p:nvPr/>
        </p:nvSpPr>
        <p:spPr>
          <a:xfrm>
            <a:off x="1022350" y="2790726"/>
            <a:ext cx="3091408"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제작문의 버튼을 누르면</a:t>
            </a:r>
            <a:endParaRPr lang="en-US" sz="1300" dirty="0"/>
          </a:p>
        </p:txBody>
      </p:sp>
      <p:sp>
        <p:nvSpPr>
          <p:cNvPr id="8" name="Text 6"/>
          <p:cNvSpPr/>
          <p:nvPr/>
        </p:nvSpPr>
        <p:spPr>
          <a:xfrm>
            <a:off x="1022350" y="3127276"/>
            <a:ext cx="3091408"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상담 시간 · 전화 · 이메일 안내창이 뜨고, 확인 · ×로 닫힘</a:t>
            </a:r>
            <a:endParaRPr lang="en-US" sz="1300" dirty="0"/>
          </a:p>
        </p:txBody>
      </p:sp>
      <p:sp>
        <p:nvSpPr>
          <p:cNvPr id="9" name="Text 7"/>
          <p:cNvSpPr/>
          <p:nvPr/>
        </p:nvSpPr>
        <p:spPr>
          <a:xfrm>
            <a:off x="1022350" y="3711476"/>
            <a:ext cx="3091408"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B0441A"/>
                </a:solidFill>
                <a:latin typeface="Noto Sans KR" pitchFamily="34" charset="0"/>
                <a:ea typeface="Noto Sans KR" pitchFamily="34" charset="-122"/>
                <a:cs typeface="Noto Sans KR" pitchFamily="34" charset="-120"/>
              </a:rPr>
              <a:t>통합 후</a:t>
            </a:r>
            <a:r>
              <a:rPr lang="en-US" sz="1300" dirty="0">
                <a:solidFill>
                  <a:srgbClr val="B0441A"/>
                </a:solidFill>
                <a:latin typeface="Noto Sans KR" pitchFamily="34" charset="0"/>
                <a:ea typeface="Noto Sans KR" pitchFamily="34" charset="-122"/>
                <a:cs typeface="Noto Sans KR" pitchFamily="34" charset="-120"/>
              </a:rPr>
              <a:t>　CONTACT 페이지로 바로 이동</a:t>
            </a:r>
            <a:endParaRPr lang="en-US" sz="1300" dirty="0"/>
          </a:p>
        </p:txBody>
      </p:sp>
      <p:sp>
        <p:nvSpPr>
          <p:cNvPr id="10" name="Text 8"/>
          <p:cNvSpPr/>
          <p:nvPr/>
        </p:nvSpPr>
        <p:spPr>
          <a:xfrm>
            <a:off x="1022350" y="4136926"/>
            <a:ext cx="3001367" cy="314920"/>
          </a:xfrm>
          <a:prstGeom prst="roundRect">
            <a:avLst>
              <a:gd name="adj" fmla="val 16131"/>
            </a:avLst>
          </a:prstGeom>
          <a:solidFill>
            <a:srgbClr val="ECE9E1"/>
          </a:solidFill>
          <a:ln/>
        </p:spPr>
        <p:txBody>
          <a:bodyPr wrap="square" lIns="86721" tIns="35921" rIns="2776"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&lt;dialog&gt; · showModal()</a:t>
            </a:r>
            <a:endParaRPr lang="en-US" sz="1200" dirty="0"/>
          </a:p>
        </p:txBody>
      </p:sp>
      <p:sp>
        <p:nvSpPr>
          <p:cNvPr id="11" name="Shape 9"/>
          <p:cNvSpPr/>
          <p:nvPr/>
        </p:nvSpPr>
        <p:spPr>
          <a:xfrm>
            <a:off x="4388842" y="1847155"/>
            <a:ext cx="3414216" cy="2811066"/>
          </a:xfrm>
          <a:prstGeom prst="roundRect">
            <a:avLst>
              <a:gd name="adj" fmla="val 3501"/>
            </a:avLst>
          </a:prstGeom>
          <a:solidFill>
            <a:srgbClr val="FDFCF9"/>
          </a:solidFill>
          <a:ln w="6350">
            <a:solidFill>
              <a:srgbClr val="DCD6C8"/>
            </a:solidFill>
            <a:prstDash val="solid"/>
          </a:ln>
        </p:spPr>
      </p:sp>
      <p:sp>
        <p:nvSpPr>
          <p:cNvPr id="12" name="Text 10"/>
          <p:cNvSpPr/>
          <p:nvPr/>
        </p:nvSpPr>
        <p:spPr>
          <a:xfrm>
            <a:off x="4595217" y="2053530"/>
            <a:ext cx="824111" cy="289520"/>
          </a:xfrm>
          <a:custGeom>
            <a:avLst/>
            <a:gdLst/>
            <a:ahLst/>
            <a:cxnLst/>
            <a:rect l="l" t="t" r="r" b="b"/>
            <a:pathLst>
              <a:path w="824111" h="289520">
                <a:moveTo>
                  <a:pt x="144760" y="0"/>
                </a:moveTo>
                <a:lnTo>
                  <a:pt x="679351" y="0"/>
                </a:lnTo>
                <a:arcTo wR="144760" hR="144760" stAng="16200000" swAng="5400000"/>
                <a:lnTo>
                  <a:pt x="824111" y="144760"/>
                </a:lnTo>
                <a:arcTo wR="144760" hR="144760" stAng="0" swAng="5400000"/>
                <a:lnTo>
                  <a:pt x="144760" y="289520"/>
                </a:lnTo>
                <a:arcTo wR="144760" hR="144760" stAng="5400000" swAng="5400000"/>
                <a:lnTo>
                  <a:pt x="0" y="144760"/>
                </a:lnTo>
                <a:arcTo wR="144760" hR="144760" stAng="10800000" swAng="5400000"/>
                <a:close/>
              </a:path>
            </a:pathLst>
          </a:custGeom>
          <a:solidFill>
            <a:srgbClr val="E8692C"/>
          </a:solidFill>
          <a:ln/>
        </p:spPr>
        <p:txBody>
          <a:bodyPr wrap="none" lIns="0" tIns="0" rIns="0" bIns="0" rtlCol="0" anchor="ctr">
            <a:normAutofit/>
          </a:bodyPr>
          <a:lstStyle/>
          <a:p>
            <a:pPr marL="0" indent="0" algn="ctr">
              <a:lnSpc>
                <a:spcPts val="1680"/>
              </a:lnSpc>
              <a:buNone/>
            </a:pPr>
            <a:r>
              <a:rPr lang="en-US" sz="1200" b="1" dirty="0">
                <a:solidFill>
                  <a:srgbClr val="16202E"/>
                </a:solidFill>
                <a:latin typeface="Noto Sans KR" pitchFamily="34" charset="0"/>
                <a:ea typeface="Noto Sans KR" pitchFamily="34" charset="-122"/>
                <a:cs typeface="Noto Sans KR" pitchFamily="34" charset="-120"/>
              </a:rPr>
              <a:t>글자 효과</a:t>
            </a:r>
            <a:endParaRPr lang="en-US" sz="1200" dirty="0"/>
          </a:p>
        </p:txBody>
      </p:sp>
      <p:sp>
        <p:nvSpPr>
          <p:cNvPr id="13" name="Text 11"/>
          <p:cNvSpPr/>
          <p:nvPr/>
        </p:nvSpPr>
        <p:spPr>
          <a:xfrm>
            <a:off x="4595217"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튀어 오르는 문장</a:t>
            </a:r>
            <a:endParaRPr lang="en-US" sz="1700" dirty="0"/>
          </a:p>
        </p:txBody>
      </p:sp>
      <p:sp>
        <p:nvSpPr>
          <p:cNvPr id="14" name="Text 12"/>
          <p:cNvSpPr/>
          <p:nvPr/>
        </p:nvSpPr>
        <p:spPr>
          <a:xfrm>
            <a:off x="4595217"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스크롤해서 문장이 화면에 보이면</a:t>
            </a:r>
            <a:endParaRPr lang="en-US" sz="1300" dirty="0"/>
          </a:p>
        </p:txBody>
      </p:sp>
      <p:sp>
        <p:nvSpPr>
          <p:cNvPr id="15" name="Text 13"/>
          <p:cNvSpPr/>
          <p:nvPr/>
        </p:nvSpPr>
        <p:spPr>
          <a:xfrm>
            <a:off x="4595217" y="312727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“당신이 상상한 모든것을 현실로” 네 단어가 0.14초 간격으로 차례로 등장</a:t>
            </a:r>
            <a:endParaRPr lang="en-US" sz="1300" dirty="0"/>
          </a:p>
        </p:txBody>
      </p:sp>
      <p:sp>
        <p:nvSpPr>
          <p:cNvPr id="16" name="Text 14"/>
          <p:cNvSpPr/>
          <p:nvPr/>
        </p:nvSpPr>
        <p:spPr>
          <a:xfrm>
            <a:off x="4595217" y="3923605"/>
            <a:ext cx="3001466" cy="528241"/>
          </a:xfrm>
          <a:prstGeom prst="roundRect">
            <a:avLst>
              <a:gd name="adj" fmla="val 9617"/>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IntersectionObserver · @keyframes</a:t>
            </a:r>
            <a:endParaRPr lang="en-US" sz="1200" dirty="0"/>
          </a:p>
        </p:txBody>
      </p:sp>
      <p:sp>
        <p:nvSpPr>
          <p:cNvPr id="17" name="Shape 15"/>
          <p:cNvSpPr/>
          <p:nvPr/>
        </p:nvSpPr>
        <p:spPr>
          <a:xfrm>
            <a:off x="7961809" y="1847155"/>
            <a:ext cx="3414216" cy="2811066"/>
          </a:xfrm>
          <a:prstGeom prst="roundRect">
            <a:avLst>
              <a:gd name="adj" fmla="val 3501"/>
            </a:avLst>
          </a:prstGeom>
          <a:solidFill>
            <a:srgbClr val="FDFCF9"/>
          </a:solidFill>
          <a:ln w="6350">
            <a:solidFill>
              <a:srgbClr val="DCD6C8"/>
            </a:solidFill>
            <a:prstDash val="solid"/>
          </a:ln>
        </p:spPr>
      </p:sp>
      <p:sp>
        <p:nvSpPr>
          <p:cNvPr id="18" name="Text 16"/>
          <p:cNvSpPr/>
          <p:nvPr/>
        </p:nvSpPr>
        <p:spPr>
          <a:xfrm>
            <a:off x="8168184"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DCD6C8"/>
          </a:solidFill>
          <a:ln/>
        </p:spPr>
        <p:txBody>
          <a:bodyPr wrap="none" lIns="0" tIns="0" rIns="0" bIns="0" rtlCol="0" anchor="ctr">
            <a:normAutofit/>
          </a:bodyPr>
          <a:lstStyle/>
          <a:p>
            <a:pPr marL="0" indent="0" algn="ctr">
              <a:lnSpc>
                <a:spcPts val="1680"/>
              </a:lnSpc>
              <a:buNone/>
            </a:pPr>
            <a:r>
              <a:rPr lang="en-US" sz="1200" b="1" dirty="0">
                <a:solidFill>
                  <a:srgbClr val="1B2433"/>
                </a:solidFill>
                <a:latin typeface="Noto Sans KR" pitchFamily="34" charset="0"/>
                <a:ea typeface="Noto Sans KR" pitchFamily="34" charset="-122"/>
                <a:cs typeface="Noto Sans KR" pitchFamily="34" charset="-120"/>
              </a:rPr>
              <a:t>움직임</a:t>
            </a:r>
            <a:endParaRPr lang="en-US" sz="1200" dirty="0"/>
          </a:p>
        </p:txBody>
      </p:sp>
      <p:sp>
        <p:nvSpPr>
          <p:cNvPr id="19" name="Text 17"/>
          <p:cNvSpPr/>
          <p:nvPr/>
        </p:nvSpPr>
        <p:spPr>
          <a:xfrm>
            <a:off x="8168184"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흐르는 파트너 로고</a:t>
            </a:r>
            <a:endParaRPr lang="en-US" sz="1700" dirty="0"/>
          </a:p>
        </p:txBody>
      </p:sp>
      <p:sp>
        <p:nvSpPr>
          <p:cNvPr id="20" name="Text 18"/>
          <p:cNvSpPr/>
          <p:nvPr/>
        </p:nvSpPr>
        <p:spPr>
          <a:xfrm>
            <a:off x="8168184"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페이지에 있는 동안 계속</a:t>
            </a:r>
            <a:endParaRPr lang="en-US" sz="1300" dirty="0"/>
          </a:p>
        </p:txBody>
      </p:sp>
      <p:sp>
        <p:nvSpPr>
          <p:cNvPr id="21" name="Text 19"/>
          <p:cNvSpPr/>
          <p:nvPr/>
        </p:nvSpPr>
        <p:spPr>
          <a:xfrm>
            <a:off x="8168184" y="312727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로고 두 줄이 서로 반대 방향으로 흐르고, ‘움직임 멈추기’ 버튼으로 정지</a:t>
            </a:r>
            <a:endParaRPr lang="en-US" sz="1300" dirty="0"/>
          </a:p>
        </p:txBody>
      </p:sp>
      <p:sp>
        <p:nvSpPr>
          <p:cNvPr id="22" name="Text 20"/>
          <p:cNvSpPr/>
          <p:nvPr/>
        </p:nvSpPr>
        <p:spPr>
          <a:xfrm>
            <a:off x="8168184" y="4136926"/>
            <a:ext cx="3001466" cy="314920"/>
          </a:xfrm>
          <a:prstGeom prst="roundRect">
            <a:avLst>
              <a:gd name="adj" fmla="val 16131"/>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@keyframes · 65초 무한 반복</a:t>
            </a:r>
            <a:endParaRPr lang="en-US" sz="1200" dirty="0"/>
          </a:p>
        </p:txBody>
      </p:sp>
      <p:sp>
        <p:nvSpPr>
          <p:cNvPr id="23" name="Shape 21"/>
          <p:cNvSpPr/>
          <p:nvPr/>
        </p:nvSpPr>
        <p:spPr>
          <a:xfrm>
            <a:off x="812800" y="4889996"/>
            <a:ext cx="10566400" cy="535880"/>
          </a:xfrm>
          <a:prstGeom prst="roundRect">
            <a:avLst>
              <a:gd name="adj" fmla="val 18959"/>
            </a:avLst>
          </a:prstGeom>
          <a:solidFill>
            <a:srgbClr val="16202E"/>
          </a:solidFill>
          <a:ln/>
        </p:spPr>
      </p:sp>
      <p:sp>
        <p:nvSpPr>
          <p:cNvPr id="24" name="Text 22"/>
          <p:cNvSpPr/>
          <p:nvPr/>
        </p:nvSpPr>
        <p:spPr>
          <a:xfrm>
            <a:off x="1041399" y="5042396"/>
            <a:ext cx="7112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9CED8"/>
                </a:solidFill>
                <a:latin typeface="Noto Sans KR" pitchFamily="34" charset="0"/>
                <a:ea typeface="Noto Sans KR" pitchFamily="34" charset="-122"/>
                <a:cs typeface="Noto Sans KR" pitchFamily="34" charset="-120"/>
              </a:rPr>
              <a:t>AI에게 한 </a:t>
            </a:r>
            <a:r>
              <a:rPr lang="en-US" sz="1300" b="1">
                <a:solidFill>
                  <a:srgbClr val="C9CED8"/>
                </a:solidFill>
                <a:latin typeface="Noto Sans KR" pitchFamily="34" charset="0"/>
                <a:ea typeface="Noto Sans KR" pitchFamily="34" charset="-122"/>
                <a:cs typeface="Noto Sans KR" pitchFamily="34" charset="-120"/>
              </a:rPr>
              <a:t>요청</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버튼은 안내창</a:t>
            </a:r>
            <a:r>
              <a:rPr lang="en-US" altLang="ko-KR" sz="1300">
                <a:solidFill>
                  <a:srgbClr val="E8692C"/>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문장은 한 단어씩</a:t>
            </a:r>
            <a:r>
              <a:rPr lang="en-US" altLang="ko-KR" sz="1300">
                <a:solidFill>
                  <a:srgbClr val="E8692C"/>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로고는 계속 흐르게 해줘</a:t>
            </a:r>
            <a:endParaRPr lang="en-US" sz="1300" dirty="0"/>
          </a:p>
        </p:txBody>
      </p:sp>
      <p:sp>
        <p:nvSpPr>
          <p:cNvPr id="25" name="Text 23"/>
          <p:cNvSpPr/>
          <p:nvPr/>
        </p:nvSpPr>
        <p:spPr>
          <a:xfrm>
            <a:off x="8381999" y="5042396"/>
            <a:ext cx="2921000" cy="25648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C9CED8"/>
                </a:solidFill>
                <a:latin typeface="Noto Sans KR" pitchFamily="34" charset="0"/>
                <a:ea typeface="Noto Sans KR" pitchFamily="34" charset="-122"/>
                <a:cs typeface="Noto Sans KR" pitchFamily="34" charset="-120"/>
              </a:rPr>
              <a:t>시연</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발표 때 사이트 직접 시연</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13 · PAGE 02 · ai-video/</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AI VIDEO — 제작 방식을 보여 주는 화면</a:t>
            </a:r>
            <a:endParaRPr lang="en-US" sz="3200" dirty="0"/>
          </a:p>
        </p:txBody>
      </p:sp>
      <p:sp>
        <p:nvSpPr>
          <p:cNvPr id="4" name="Text 2"/>
          <p:cNvSpPr/>
          <p:nvPr/>
        </p:nvSpPr>
        <p:spPr>
          <a:xfrm>
            <a:off x="812800" y="1920180"/>
            <a:ext cx="1202333" cy="358080"/>
          </a:xfrm>
          <a:prstGeom prst="roundRect">
            <a:avLst>
              <a:gd name="adj" fmla="val 50000"/>
            </a:avLst>
          </a:prstGeom>
          <a:solidFill>
            <a:srgbClr val="16202E"/>
          </a:solidFill>
          <a:ln/>
        </p:spPr>
        <p:txBody>
          <a:bodyPr wrap="none" lIns="0" tIns="0" rIns="0" bIns="0" rtlCol="0" anchor="ctr">
            <a:normAutofit/>
          </a:bodyPr>
          <a:lstStyle/>
          <a:p>
            <a:pPr marL="0" indent="0" algn="ctr">
              <a:lnSpc>
                <a:spcPts val="1820"/>
              </a:lnSpc>
              <a:buNone/>
            </a:pPr>
            <a:r>
              <a:rPr lang="en-US" sz="1300" b="1">
                <a:solidFill>
                  <a:srgbClr val="F3F1EC"/>
                </a:solidFill>
                <a:latin typeface="Noto Sans KR" pitchFamily="34" charset="0"/>
                <a:ea typeface="Noto Sans KR" pitchFamily="34" charset="-122"/>
                <a:cs typeface="Noto Sans KR" pitchFamily="34" charset="-120"/>
              </a:rPr>
              <a:t>담당　</a:t>
            </a:r>
            <a:r>
              <a:rPr lang="ko-KR" altLang="en-US" sz="1300" b="1">
                <a:solidFill>
                  <a:srgbClr val="E8692C"/>
                </a:solidFill>
                <a:latin typeface="Noto Sans KR" pitchFamily="34" charset="0"/>
                <a:ea typeface="Noto Sans KR" pitchFamily="34" charset="-122"/>
                <a:cs typeface="Noto Sans KR" pitchFamily="34" charset="-120"/>
              </a:rPr>
              <a:t>이애리</a:t>
            </a:r>
            <a:endParaRPr lang="en-US" sz="1300" dirty="0"/>
          </a:p>
        </p:txBody>
      </p:sp>
      <p:sp>
        <p:nvSpPr>
          <p:cNvPr id="5" name="Text 3"/>
          <p:cNvSpPr/>
          <p:nvPr/>
        </p:nvSpPr>
        <p:spPr>
          <a:xfrm>
            <a:off x="878332" y="2456061"/>
            <a:ext cx="5080762" cy="1536502"/>
          </a:xfrm>
          <a:prstGeom prst="rect">
            <a:avLst/>
          </a:prstGeom>
          <a:noFill/>
          <a:ln/>
        </p:spPr>
        <p:txBody>
          <a:bodyPr wrap="square" lIns="0" tIns="0" rIns="0" bIns="0" rtlCol="0" anchor="t">
            <a:normAutofit/>
          </a:bodyPr>
          <a:lstStyle/>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배경 영상과 “당신의 상상이 영상이 되다”</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하는 일 3단계: PLAN · CREATE · FINISH</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제작 과정 4단계: 상담 → 기획 → AI 제작 → 편집</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상담 준비 안내 팝업, 양식 복사 버튼</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제목이 아래에서 위로 진해지는 등장 효과</a:t>
            </a:r>
            <a:endParaRPr lang="en-US" sz="1400" dirty="0"/>
          </a:p>
        </p:txBody>
      </p:sp>
      <p:sp>
        <p:nvSpPr>
          <p:cNvPr id="6" name="Shape 4"/>
          <p:cNvSpPr/>
          <p:nvPr/>
        </p:nvSpPr>
        <p:spPr>
          <a:xfrm>
            <a:off x="812800" y="4144962"/>
            <a:ext cx="5003800" cy="1201241"/>
          </a:xfrm>
          <a:prstGeom prst="roundRect">
            <a:avLst>
              <a:gd name="adj" fmla="val 8458"/>
            </a:avLst>
          </a:prstGeom>
          <a:solidFill>
            <a:srgbClr val="ECE9E1"/>
          </a:solidFill>
          <a:ln/>
        </p:spPr>
      </p:sp>
      <p:sp>
        <p:nvSpPr>
          <p:cNvPr id="7" name="Text 5"/>
          <p:cNvSpPr/>
          <p:nvPr/>
        </p:nvSpPr>
        <p:spPr>
          <a:xfrm>
            <a:off x="1016000" y="432276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사용한 </a:t>
            </a:r>
            <a:r>
              <a:rPr lang="en-US" sz="1300" b="1">
                <a:solidFill>
                  <a:srgbClr val="1B2433"/>
                </a:solidFill>
                <a:latin typeface="Noto Sans KR" pitchFamily="34" charset="0"/>
                <a:ea typeface="Noto Sans KR" pitchFamily="34" charset="-122"/>
                <a:cs typeface="Noto Sans KR" pitchFamily="34" charset="-120"/>
              </a:rPr>
              <a:t>AI</a:t>
            </a:r>
            <a:r>
              <a:rPr lang="en-US" sz="1300">
                <a:solidFill>
                  <a:srgbClr val="1B2433"/>
                </a:solidFill>
                <a:latin typeface="Noto Sans KR" pitchFamily="34" charset="0"/>
                <a:ea typeface="Noto Sans KR" pitchFamily="34" charset="-122"/>
                <a:cs typeface="Noto Sans KR" pitchFamily="34" charset="-120"/>
              </a:rPr>
              <a:t>　</a:t>
            </a:r>
            <a:r>
              <a:rPr lang="en-US" sz="1300">
                <a:solidFill>
                  <a:srgbClr val="B0441A"/>
                </a:solidFill>
                <a:latin typeface="Noto Sans KR" pitchFamily="34" charset="0"/>
                <a:ea typeface="Noto Sans KR" pitchFamily="34" charset="-122"/>
                <a:cs typeface="Noto Sans KR" pitchFamily="34" charset="-120"/>
              </a:rPr>
              <a:t>Codex</a:t>
            </a:r>
            <a:endParaRPr lang="en-US" sz="1300" dirty="0"/>
          </a:p>
        </p:txBody>
      </p:sp>
      <p:sp>
        <p:nvSpPr>
          <p:cNvPr id="8" name="Text 6"/>
          <p:cNvSpPr/>
          <p:nvPr/>
        </p:nvSpPr>
        <p:spPr>
          <a:xfrm>
            <a:off x="1016000" y="463004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대표 </a:t>
            </a:r>
            <a:r>
              <a:rPr lang="en-US" sz="1300" b="1">
                <a:solidFill>
                  <a:srgbClr val="1B2433"/>
                </a:solidFill>
                <a:latin typeface="Noto Sans KR" pitchFamily="34" charset="0"/>
                <a:ea typeface="Noto Sans KR" pitchFamily="34" charset="-122"/>
                <a:cs typeface="Noto Sans KR" pitchFamily="34" charset="-120"/>
              </a:rPr>
              <a:t>프롬프트</a:t>
            </a:r>
            <a:r>
              <a:rPr lang="en-US" sz="1300">
                <a:solidFill>
                  <a:srgbClr val="1B2433"/>
                </a:solidFill>
                <a:latin typeface="Noto Sans KR" pitchFamily="34" charset="0"/>
                <a:ea typeface="Noto Sans KR" pitchFamily="34" charset="-122"/>
                <a:cs typeface="Noto Sans KR" pitchFamily="34" charset="-120"/>
              </a:rPr>
              <a:t>　</a:t>
            </a:r>
            <a:r>
              <a:rPr lang="en-US" altLang="ko-KR" sz="1300">
                <a:solidFill>
                  <a:srgbClr val="B0441A"/>
                </a:solidFill>
                <a:latin typeface="Noto Sans KR" pitchFamily="34" charset="0"/>
                <a:ea typeface="Noto Sans KR" pitchFamily="34" charset="-122"/>
                <a:cs typeface="Noto Sans KR" pitchFamily="34" charset="-120"/>
              </a:rPr>
              <a:t>4</a:t>
            </a:r>
            <a:r>
              <a:rPr lang="ko-KR" altLang="en-US" sz="1300">
                <a:solidFill>
                  <a:srgbClr val="B0441A"/>
                </a:solidFill>
                <a:latin typeface="Noto Sans KR" pitchFamily="34" charset="0"/>
                <a:ea typeface="Noto Sans KR" pitchFamily="34" charset="-122"/>
                <a:cs typeface="Noto Sans KR" pitchFamily="34" charset="-120"/>
              </a:rPr>
              <a:t>단계 카드</a:t>
            </a:r>
            <a:r>
              <a:rPr lang="en-US" altLang="ko-KR" sz="1300">
                <a:solidFill>
                  <a:srgbClr val="B0441A"/>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제목은 아래에서 위로</a:t>
            </a:r>
            <a:endParaRPr lang="en-US" sz="1300" dirty="0"/>
          </a:p>
        </p:txBody>
      </p:sp>
      <p:sp>
        <p:nvSpPr>
          <p:cNvPr id="9" name="Text 7"/>
          <p:cNvSpPr/>
          <p:nvPr/>
        </p:nvSpPr>
        <p:spPr>
          <a:xfrm>
            <a:off x="1016000" y="493732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어려웠던 </a:t>
            </a:r>
            <a:r>
              <a:rPr lang="en-US" sz="1300" b="1">
                <a:solidFill>
                  <a:srgbClr val="1B2433"/>
                </a:solidFill>
                <a:latin typeface="Noto Sans KR" pitchFamily="34" charset="0"/>
                <a:ea typeface="Noto Sans KR" pitchFamily="34" charset="-122"/>
                <a:cs typeface="Noto Sans KR" pitchFamily="34" charset="-120"/>
              </a:rPr>
              <a:t>점</a:t>
            </a:r>
            <a:r>
              <a:rPr lang="en-US" sz="1300">
                <a:solidFill>
                  <a:srgbClr val="1B2433"/>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배경 영상 위 글자 가독성</a:t>
            </a:r>
            <a:endParaRPr lang="en-US" sz="1300" dirty="0"/>
          </a:p>
        </p:txBody>
      </p:sp>
      <p:sp>
        <p:nvSpPr>
          <p:cNvPr id="10" name="Shape 8"/>
          <p:cNvSpPr/>
          <p:nvPr/>
        </p:nvSpPr>
        <p:spPr>
          <a:xfrm>
            <a:off x="6178550" y="1926530"/>
            <a:ext cx="5194300" cy="4112320"/>
          </a:xfrm>
          <a:prstGeom prst="roundRect">
            <a:avLst>
              <a:gd name="adj" fmla="val 2316"/>
            </a:avLst>
          </a:prstGeom>
          <a:solidFill>
            <a:srgbClr val="E4E0D6"/>
          </a:solidFill>
          <a:ln w="12700">
            <a:solidFill>
              <a:srgbClr val="A39C8C"/>
            </a:solidFill>
            <a:prstDash val="dash"/>
          </a:ln>
        </p:spPr>
      </p:sp>
      <p:pic>
        <p:nvPicPr>
          <p:cNvPr id="14" name="그림 13">
            <a:extLst>
              <a:ext uri="{FF2B5EF4-FFF2-40B4-BE49-F238E27FC236}">
                <a16:creationId xmlns:a16="http://schemas.microsoft.com/office/drawing/2014/main" id="{8FE2BE5E-04F1-4DDF-834F-8B7197124884}"/>
              </a:ext>
            </a:extLst>
          </p:cNvPr>
          <p:cNvPicPr>
            <a:picLocks noChangeAspect="1"/>
          </p:cNvPicPr>
          <p:nvPr/>
        </p:nvPicPr>
        <p:blipFill>
          <a:blip r:embed="rId3"/>
          <a:stretch>
            <a:fillRect/>
          </a:stretch>
        </p:blipFill>
        <p:spPr>
          <a:xfrm>
            <a:off x="6305550" y="2438846"/>
            <a:ext cx="4940300" cy="3087688"/>
          </a:xfrm>
          <a:prstGeom prst="rect">
            <a:avLst/>
          </a:prstGeom>
          <a:ln w="9525">
            <a:solidFill>
              <a:srgbClr val="D9D4CA"/>
            </a:solid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3">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13 · PAGE 02 · </a:t>
            </a:r>
            <a:r>
              <a:rPr lang="ko-KR" altLang="en-US" sz="1200" b="1" kern="0" spc="150">
                <a:solidFill>
                  <a:srgbClr val="B0441A"/>
                </a:solidFill>
                <a:latin typeface="JetBrains Mono" pitchFamily="49" charset="0"/>
                <a:ea typeface="JetBrains Mono" pitchFamily="49" charset="-122"/>
                <a:cs typeface="JetBrains Mono" pitchFamily="49" charset="-120"/>
              </a:rPr>
              <a:t>화면 동작</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AI VIDEO — 버튼과 움직임</a:t>
            </a:r>
            <a:endParaRPr lang="en-US" sz="3200" dirty="0"/>
          </a:p>
        </p:txBody>
      </p:sp>
      <p:sp>
        <p:nvSpPr>
          <p:cNvPr id="4" name="Shape 2"/>
          <p:cNvSpPr/>
          <p:nvPr/>
        </p:nvSpPr>
        <p:spPr>
          <a:xfrm>
            <a:off x="815975" y="1847155"/>
            <a:ext cx="3414117" cy="2811066"/>
          </a:xfrm>
          <a:prstGeom prst="roundRect">
            <a:avLst>
              <a:gd name="adj" fmla="val 3501"/>
            </a:avLst>
          </a:prstGeom>
          <a:solidFill>
            <a:srgbClr val="FDFCF9"/>
          </a:solidFill>
          <a:ln w="6350">
            <a:solidFill>
              <a:srgbClr val="DCD6C8"/>
            </a:solidFill>
            <a:prstDash val="solid"/>
          </a:ln>
        </p:spPr>
      </p:sp>
      <p:sp>
        <p:nvSpPr>
          <p:cNvPr id="5" name="Text 3"/>
          <p:cNvSpPr/>
          <p:nvPr/>
        </p:nvSpPr>
        <p:spPr>
          <a:xfrm>
            <a:off x="1022350"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16202E"/>
          </a:solidFill>
          <a:ln/>
        </p:spPr>
        <p:txBody>
          <a:bodyPr wrap="none" lIns="0" tIns="0" rIns="0" bIns="0" rtlCol="0" anchor="ctr">
            <a:normAutofit/>
          </a:bodyPr>
          <a:lstStyle/>
          <a:p>
            <a:pPr marL="0" indent="0" algn="ctr">
              <a:lnSpc>
                <a:spcPts val="1680"/>
              </a:lnSpc>
              <a:buNone/>
            </a:pPr>
            <a:r>
              <a:rPr lang="en-US" sz="1200" b="1" dirty="0">
                <a:solidFill>
                  <a:srgbClr val="F3F1EC"/>
                </a:solidFill>
                <a:latin typeface="Noto Sans KR" pitchFamily="34" charset="0"/>
                <a:ea typeface="Noto Sans KR" pitchFamily="34" charset="-122"/>
                <a:cs typeface="Noto Sans KR" pitchFamily="34" charset="-120"/>
              </a:rPr>
              <a:t>알림창</a:t>
            </a:r>
            <a:endParaRPr lang="en-US" sz="1200" dirty="0"/>
          </a:p>
        </p:txBody>
      </p:sp>
      <p:sp>
        <p:nvSpPr>
          <p:cNvPr id="6" name="Text 4"/>
          <p:cNvSpPr/>
          <p:nvPr/>
        </p:nvSpPr>
        <p:spPr>
          <a:xfrm>
            <a:off x="1022350" y="2431951"/>
            <a:ext cx="3091408"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상담 준비 안내창</a:t>
            </a:r>
            <a:endParaRPr lang="en-US" sz="1700" dirty="0"/>
          </a:p>
        </p:txBody>
      </p:sp>
      <p:sp>
        <p:nvSpPr>
          <p:cNvPr id="7" name="Text 5"/>
          <p:cNvSpPr/>
          <p:nvPr/>
        </p:nvSpPr>
        <p:spPr>
          <a:xfrm>
            <a:off x="1022350" y="2790726"/>
            <a:ext cx="3091408"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프로젝트 상담하기를 누르면</a:t>
            </a:r>
            <a:endParaRPr lang="en-US" sz="1300" dirty="0"/>
          </a:p>
        </p:txBody>
      </p:sp>
      <p:sp>
        <p:nvSpPr>
          <p:cNvPr id="8" name="Text 6"/>
          <p:cNvSpPr/>
          <p:nvPr/>
        </p:nvSpPr>
        <p:spPr>
          <a:xfrm>
            <a:off x="1022350" y="3127276"/>
            <a:ext cx="3091408"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준비할 내용 4가지 안내, 바깥을 누르면 닫힘, 양식 복사 버튼</a:t>
            </a:r>
            <a:endParaRPr lang="en-US" sz="1300" dirty="0"/>
          </a:p>
        </p:txBody>
      </p:sp>
      <p:sp>
        <p:nvSpPr>
          <p:cNvPr id="9" name="Text 7"/>
          <p:cNvSpPr/>
          <p:nvPr/>
        </p:nvSpPr>
        <p:spPr>
          <a:xfrm>
            <a:off x="1022350" y="3711476"/>
            <a:ext cx="3091408"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B0441A"/>
                </a:solidFill>
                <a:latin typeface="Noto Sans KR" pitchFamily="34" charset="0"/>
                <a:ea typeface="Noto Sans KR" pitchFamily="34" charset="-122"/>
                <a:cs typeface="Noto Sans KR" pitchFamily="34" charset="-120"/>
              </a:rPr>
              <a:t>통합 후</a:t>
            </a:r>
            <a:r>
              <a:rPr lang="en-US" sz="1300" dirty="0">
                <a:solidFill>
                  <a:srgbClr val="B0441A"/>
                </a:solidFill>
                <a:latin typeface="Noto Sans KR" pitchFamily="34" charset="0"/>
                <a:ea typeface="Noto Sans KR" pitchFamily="34" charset="-122"/>
                <a:cs typeface="Noto Sans KR" pitchFamily="34" charset="-120"/>
              </a:rPr>
              <a:t>　CONTACT 페이지로 바로 이동</a:t>
            </a:r>
            <a:endParaRPr lang="en-US" sz="1300" dirty="0"/>
          </a:p>
        </p:txBody>
      </p:sp>
      <p:sp>
        <p:nvSpPr>
          <p:cNvPr id="10" name="Text 8"/>
          <p:cNvSpPr/>
          <p:nvPr/>
        </p:nvSpPr>
        <p:spPr>
          <a:xfrm>
            <a:off x="1022350" y="4136926"/>
            <a:ext cx="3001367" cy="314920"/>
          </a:xfrm>
          <a:prstGeom prst="roundRect">
            <a:avLst>
              <a:gd name="adj" fmla="val 16131"/>
            </a:avLst>
          </a:prstGeom>
          <a:solidFill>
            <a:srgbClr val="ECE9E1"/>
          </a:solidFill>
          <a:ln/>
        </p:spPr>
        <p:txBody>
          <a:bodyPr wrap="square" lIns="86721" tIns="35921" rIns="2776"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&lt;dialog&gt; · clipboard</a:t>
            </a:r>
            <a:endParaRPr lang="en-US" sz="1200" dirty="0"/>
          </a:p>
        </p:txBody>
      </p:sp>
      <p:sp>
        <p:nvSpPr>
          <p:cNvPr id="11" name="Shape 9"/>
          <p:cNvSpPr/>
          <p:nvPr/>
        </p:nvSpPr>
        <p:spPr>
          <a:xfrm>
            <a:off x="4388842" y="1847155"/>
            <a:ext cx="3414216" cy="2811066"/>
          </a:xfrm>
          <a:prstGeom prst="roundRect">
            <a:avLst>
              <a:gd name="adj" fmla="val 3501"/>
            </a:avLst>
          </a:prstGeom>
          <a:solidFill>
            <a:srgbClr val="FDFCF9"/>
          </a:solidFill>
          <a:ln w="6350">
            <a:solidFill>
              <a:srgbClr val="DCD6C8"/>
            </a:solidFill>
            <a:prstDash val="solid"/>
          </a:ln>
        </p:spPr>
      </p:sp>
      <p:sp>
        <p:nvSpPr>
          <p:cNvPr id="12" name="Text 10"/>
          <p:cNvSpPr/>
          <p:nvPr/>
        </p:nvSpPr>
        <p:spPr>
          <a:xfrm>
            <a:off x="4595217" y="2053530"/>
            <a:ext cx="824111" cy="289520"/>
          </a:xfrm>
          <a:custGeom>
            <a:avLst/>
            <a:gdLst/>
            <a:ahLst/>
            <a:cxnLst/>
            <a:rect l="l" t="t" r="r" b="b"/>
            <a:pathLst>
              <a:path w="824111" h="289520">
                <a:moveTo>
                  <a:pt x="144760" y="0"/>
                </a:moveTo>
                <a:lnTo>
                  <a:pt x="679351" y="0"/>
                </a:lnTo>
                <a:arcTo wR="144760" hR="144760" stAng="16200000" swAng="5400000"/>
                <a:lnTo>
                  <a:pt x="824111" y="144760"/>
                </a:lnTo>
                <a:arcTo wR="144760" hR="144760" stAng="0" swAng="5400000"/>
                <a:lnTo>
                  <a:pt x="144760" y="289520"/>
                </a:lnTo>
                <a:arcTo wR="144760" hR="144760" stAng="5400000" swAng="5400000"/>
                <a:lnTo>
                  <a:pt x="0" y="144760"/>
                </a:lnTo>
                <a:arcTo wR="144760" hR="144760" stAng="10800000" swAng="5400000"/>
                <a:close/>
              </a:path>
            </a:pathLst>
          </a:custGeom>
          <a:solidFill>
            <a:srgbClr val="E8692C"/>
          </a:solidFill>
          <a:ln/>
        </p:spPr>
        <p:txBody>
          <a:bodyPr wrap="none" lIns="0" tIns="0" rIns="0" bIns="0" rtlCol="0" anchor="ctr">
            <a:normAutofit/>
          </a:bodyPr>
          <a:lstStyle/>
          <a:p>
            <a:pPr marL="0" indent="0" algn="ctr">
              <a:lnSpc>
                <a:spcPts val="1680"/>
              </a:lnSpc>
              <a:buNone/>
            </a:pPr>
            <a:r>
              <a:rPr lang="en-US" sz="1200" b="1" dirty="0">
                <a:solidFill>
                  <a:srgbClr val="16202E"/>
                </a:solidFill>
                <a:latin typeface="Noto Sans KR" pitchFamily="34" charset="0"/>
                <a:ea typeface="Noto Sans KR" pitchFamily="34" charset="-122"/>
                <a:cs typeface="Noto Sans KR" pitchFamily="34" charset="-120"/>
              </a:rPr>
              <a:t>글자 효과</a:t>
            </a:r>
            <a:endParaRPr lang="en-US" sz="1200" dirty="0"/>
          </a:p>
        </p:txBody>
      </p:sp>
      <p:sp>
        <p:nvSpPr>
          <p:cNvPr id="13" name="Text 11"/>
          <p:cNvSpPr/>
          <p:nvPr/>
        </p:nvSpPr>
        <p:spPr>
          <a:xfrm>
            <a:off x="4595217"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진해지는 메인 제목</a:t>
            </a:r>
            <a:endParaRPr lang="en-US" sz="1700" dirty="0"/>
          </a:p>
        </p:txBody>
      </p:sp>
      <p:sp>
        <p:nvSpPr>
          <p:cNvPr id="14" name="Text 12"/>
          <p:cNvSpPr/>
          <p:nvPr/>
        </p:nvSpPr>
        <p:spPr>
          <a:xfrm>
            <a:off x="4595217"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페이지를 처음 열면</a:t>
            </a:r>
            <a:endParaRPr lang="en-US" sz="1300" dirty="0"/>
          </a:p>
        </p:txBody>
      </p:sp>
      <p:sp>
        <p:nvSpPr>
          <p:cNvPr id="15" name="Text 13"/>
          <p:cNvSpPr/>
          <p:nvPr/>
        </p:nvSpPr>
        <p:spPr>
          <a:xfrm>
            <a:off x="4595217" y="312727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한글 제목 → 영어 문장 순서로, 아래에서 위로 진해짐 (문장당 1.2초)</a:t>
            </a:r>
            <a:endParaRPr lang="en-US" sz="1300" dirty="0"/>
          </a:p>
        </p:txBody>
      </p:sp>
      <p:sp>
        <p:nvSpPr>
          <p:cNvPr id="16" name="Text 14"/>
          <p:cNvSpPr/>
          <p:nvPr/>
        </p:nvSpPr>
        <p:spPr>
          <a:xfrm>
            <a:off x="4595217" y="4136926"/>
            <a:ext cx="3001466" cy="314920"/>
          </a:xfrm>
          <a:prstGeom prst="roundRect">
            <a:avLst>
              <a:gd name="adj" fmla="val 16131"/>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@keyframes · animationend</a:t>
            </a:r>
            <a:endParaRPr lang="en-US" sz="1200" dirty="0"/>
          </a:p>
        </p:txBody>
      </p:sp>
      <p:sp>
        <p:nvSpPr>
          <p:cNvPr id="17" name="Shape 15"/>
          <p:cNvSpPr/>
          <p:nvPr/>
        </p:nvSpPr>
        <p:spPr>
          <a:xfrm>
            <a:off x="7961809" y="1847155"/>
            <a:ext cx="3414216" cy="2811066"/>
          </a:xfrm>
          <a:prstGeom prst="roundRect">
            <a:avLst>
              <a:gd name="adj" fmla="val 3501"/>
            </a:avLst>
          </a:prstGeom>
          <a:solidFill>
            <a:srgbClr val="FDFCF9"/>
          </a:solidFill>
          <a:ln w="6350">
            <a:solidFill>
              <a:srgbClr val="DCD6C8"/>
            </a:solidFill>
            <a:prstDash val="solid"/>
          </a:ln>
        </p:spPr>
      </p:sp>
      <p:sp>
        <p:nvSpPr>
          <p:cNvPr id="18" name="Text 16"/>
          <p:cNvSpPr/>
          <p:nvPr/>
        </p:nvSpPr>
        <p:spPr>
          <a:xfrm>
            <a:off x="8168184" y="2053530"/>
            <a:ext cx="964307" cy="289520"/>
          </a:xfrm>
          <a:custGeom>
            <a:avLst/>
            <a:gdLst/>
            <a:ahLst/>
            <a:cxnLst/>
            <a:rect l="l" t="t" r="r" b="b"/>
            <a:pathLst>
              <a:path w="964307" h="289520">
                <a:moveTo>
                  <a:pt x="144760" y="0"/>
                </a:moveTo>
                <a:lnTo>
                  <a:pt x="819547" y="0"/>
                </a:lnTo>
                <a:arcTo wR="144760" hR="144760" stAng="16200000" swAng="5400000"/>
                <a:lnTo>
                  <a:pt x="964307" y="144760"/>
                </a:lnTo>
                <a:arcTo wR="144760" hR="144760" stAng="0" swAng="5400000"/>
                <a:lnTo>
                  <a:pt x="144760" y="289520"/>
                </a:lnTo>
                <a:arcTo wR="144760" hR="144760" stAng="5400000" swAng="5400000"/>
                <a:lnTo>
                  <a:pt x="0" y="144760"/>
                </a:lnTo>
                <a:arcTo wR="144760" hR="144760" stAng="10800000" swAng="5400000"/>
                <a:close/>
              </a:path>
            </a:pathLst>
          </a:custGeom>
          <a:solidFill>
            <a:srgbClr val="DCD6C8"/>
          </a:solidFill>
          <a:ln/>
        </p:spPr>
        <p:txBody>
          <a:bodyPr wrap="none" lIns="0" tIns="0" rIns="0" bIns="0" rtlCol="0" anchor="ctr">
            <a:normAutofit/>
          </a:bodyPr>
          <a:lstStyle/>
          <a:p>
            <a:pPr marL="0" indent="0" algn="ctr">
              <a:lnSpc>
                <a:spcPts val="1680"/>
              </a:lnSpc>
              <a:buNone/>
            </a:pPr>
            <a:r>
              <a:rPr lang="en-US" sz="1200" b="1" dirty="0">
                <a:solidFill>
                  <a:srgbClr val="1B2433"/>
                </a:solidFill>
                <a:latin typeface="Noto Sans KR" pitchFamily="34" charset="0"/>
                <a:ea typeface="Noto Sans KR" pitchFamily="34" charset="-122"/>
                <a:cs typeface="Noto Sans KR" pitchFamily="34" charset="-120"/>
              </a:rPr>
              <a:t>스크롤 효과</a:t>
            </a:r>
            <a:endParaRPr lang="en-US" sz="1200" dirty="0"/>
          </a:p>
        </p:txBody>
      </p:sp>
      <p:sp>
        <p:nvSpPr>
          <p:cNvPr id="19" name="Text 17"/>
          <p:cNvSpPr/>
          <p:nvPr/>
        </p:nvSpPr>
        <p:spPr>
          <a:xfrm>
            <a:off x="8168184"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빛나는 제목 · 패럴랙스</a:t>
            </a:r>
            <a:endParaRPr lang="en-US" sz="1700" dirty="0"/>
          </a:p>
        </p:txBody>
      </p:sp>
      <p:sp>
        <p:nvSpPr>
          <p:cNvPr id="20" name="Text 18"/>
          <p:cNvSpPr/>
          <p:nvPr/>
        </p:nvSpPr>
        <p:spPr>
          <a:xfrm>
            <a:off x="8168184"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WHAT WE DO가 화면에 들어오면</a:t>
            </a:r>
            <a:endParaRPr lang="en-US" sz="1300" dirty="0"/>
          </a:p>
        </p:txBody>
      </p:sp>
      <p:sp>
        <p:nvSpPr>
          <p:cNvPr id="21" name="Text 19"/>
          <p:cNvSpPr/>
          <p:nvPr/>
        </p:nvSpPr>
        <p:spPr>
          <a:xfrm>
            <a:off x="8168184" y="312727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파란 제목 위로 빛이 반복해 지나가고, 이미지는 스크롤보다 천천히 움직임</a:t>
            </a:r>
            <a:endParaRPr lang="en-US" sz="1300" dirty="0"/>
          </a:p>
        </p:txBody>
      </p:sp>
      <p:sp>
        <p:nvSpPr>
          <p:cNvPr id="22" name="Text 20"/>
          <p:cNvSpPr/>
          <p:nvPr/>
        </p:nvSpPr>
        <p:spPr>
          <a:xfrm>
            <a:off x="8168184" y="3923605"/>
            <a:ext cx="3001466" cy="528241"/>
          </a:xfrm>
          <a:prstGeom prst="roundRect">
            <a:avLst>
              <a:gd name="adj" fmla="val 9617"/>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IntersectionObserver · transform</a:t>
            </a:r>
            <a:endParaRPr lang="en-US" sz="1200" dirty="0"/>
          </a:p>
        </p:txBody>
      </p:sp>
      <p:sp>
        <p:nvSpPr>
          <p:cNvPr id="23" name="Shape 21"/>
          <p:cNvSpPr/>
          <p:nvPr/>
        </p:nvSpPr>
        <p:spPr>
          <a:xfrm>
            <a:off x="812800" y="4889996"/>
            <a:ext cx="10566400" cy="535880"/>
          </a:xfrm>
          <a:prstGeom prst="roundRect">
            <a:avLst>
              <a:gd name="adj" fmla="val 18959"/>
            </a:avLst>
          </a:prstGeom>
          <a:solidFill>
            <a:srgbClr val="16202E"/>
          </a:solidFill>
          <a:ln/>
        </p:spPr>
      </p:sp>
      <p:sp>
        <p:nvSpPr>
          <p:cNvPr id="24" name="Text 22"/>
          <p:cNvSpPr/>
          <p:nvPr/>
        </p:nvSpPr>
        <p:spPr>
          <a:xfrm>
            <a:off x="1041399" y="5042396"/>
            <a:ext cx="7112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9CED8"/>
                </a:solidFill>
                <a:latin typeface="Noto Sans KR" pitchFamily="34" charset="0"/>
                <a:ea typeface="Noto Sans KR" pitchFamily="34" charset="-122"/>
                <a:cs typeface="Noto Sans KR" pitchFamily="34" charset="-120"/>
              </a:rPr>
              <a:t>AI에게 한 </a:t>
            </a:r>
            <a:r>
              <a:rPr lang="en-US" sz="1300" b="1">
                <a:solidFill>
                  <a:srgbClr val="C9CED8"/>
                </a:solidFill>
                <a:latin typeface="Noto Sans KR" pitchFamily="34" charset="0"/>
                <a:ea typeface="Noto Sans KR" pitchFamily="34" charset="-122"/>
                <a:cs typeface="Noto Sans KR" pitchFamily="34" charset="-120"/>
              </a:rPr>
              <a:t>요청</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상담 버튼을 누르면 준비 안내창과 양식 복사 버튼을 띄워줘</a:t>
            </a:r>
            <a:endParaRPr lang="en-US" sz="1300" dirty="0"/>
          </a:p>
        </p:txBody>
      </p:sp>
      <p:sp>
        <p:nvSpPr>
          <p:cNvPr id="25" name="Text 23"/>
          <p:cNvSpPr/>
          <p:nvPr/>
        </p:nvSpPr>
        <p:spPr>
          <a:xfrm>
            <a:off x="8381999" y="5042396"/>
            <a:ext cx="2921000" cy="25648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C9CED8"/>
                </a:solidFill>
                <a:latin typeface="Noto Sans KR" pitchFamily="34" charset="0"/>
                <a:ea typeface="Noto Sans KR" pitchFamily="34" charset="-122"/>
                <a:cs typeface="Noto Sans KR" pitchFamily="34" charset="-120"/>
              </a:rPr>
              <a:t>시연</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발표 때 사이트 직접 시연</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14 · PAGE 03 · portfolio/</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PORTFOLIO — 작업물을 모아 보여 주는 화면</a:t>
            </a:r>
            <a:endParaRPr lang="en-US" sz="3200" dirty="0"/>
          </a:p>
        </p:txBody>
      </p:sp>
      <p:sp>
        <p:nvSpPr>
          <p:cNvPr id="4" name="Text 2"/>
          <p:cNvSpPr/>
          <p:nvPr/>
        </p:nvSpPr>
        <p:spPr>
          <a:xfrm>
            <a:off x="812800" y="1920180"/>
            <a:ext cx="1202333" cy="358080"/>
          </a:xfrm>
          <a:prstGeom prst="roundRect">
            <a:avLst>
              <a:gd name="adj" fmla="val 50000"/>
            </a:avLst>
          </a:prstGeom>
          <a:solidFill>
            <a:srgbClr val="16202E"/>
          </a:solidFill>
          <a:ln/>
        </p:spPr>
        <p:txBody>
          <a:bodyPr wrap="none" lIns="0" tIns="0" rIns="0" bIns="0" rtlCol="0" anchor="ctr">
            <a:normAutofit/>
          </a:bodyPr>
          <a:lstStyle/>
          <a:p>
            <a:pPr marL="0" indent="0" algn="ctr">
              <a:lnSpc>
                <a:spcPts val="1820"/>
              </a:lnSpc>
              <a:buNone/>
            </a:pPr>
            <a:r>
              <a:rPr lang="en-US" sz="1300" b="1">
                <a:solidFill>
                  <a:srgbClr val="F3F1EC"/>
                </a:solidFill>
                <a:latin typeface="Noto Sans KR" pitchFamily="34" charset="0"/>
                <a:ea typeface="Noto Sans KR" pitchFamily="34" charset="-122"/>
                <a:cs typeface="Noto Sans KR" pitchFamily="34" charset="-120"/>
              </a:rPr>
              <a:t>담당　</a:t>
            </a:r>
            <a:r>
              <a:rPr lang="ko-KR" altLang="en-US" sz="1300" b="1">
                <a:solidFill>
                  <a:srgbClr val="E8692C"/>
                </a:solidFill>
                <a:latin typeface="Noto Sans KR" pitchFamily="34" charset="0"/>
                <a:ea typeface="Noto Sans KR" pitchFamily="34" charset="-122"/>
                <a:cs typeface="Noto Sans KR" pitchFamily="34" charset="-120"/>
              </a:rPr>
              <a:t>유호원</a:t>
            </a:r>
            <a:endParaRPr lang="en-US" sz="1300" dirty="0"/>
          </a:p>
        </p:txBody>
      </p:sp>
      <p:sp>
        <p:nvSpPr>
          <p:cNvPr id="5" name="Text 3"/>
          <p:cNvSpPr/>
          <p:nvPr/>
        </p:nvSpPr>
        <p:spPr>
          <a:xfrm>
            <a:off x="878332" y="2456061"/>
            <a:ext cx="5080762" cy="1234281"/>
          </a:xfrm>
          <a:prstGeom prst="rect">
            <a:avLst/>
          </a:prstGeom>
          <a:noFill/>
          <a:ln/>
        </p:spPr>
        <p:txBody>
          <a:bodyPr wrap="square" lIns="0" tIns="0" rIns="0" bIns="0" rtlCol="0" anchor="t">
            <a:normAutofit/>
          </a:bodyPr>
          <a:lstStyle/>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메인 배너 영상이 끝나면 소개 문구 등장</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카테고리 필터 4개로 작업물 분류</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카드에 마우스를 올리면 작품 제목 표시</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작업 영상 16편 재생</a:t>
            </a:r>
            <a:endParaRPr lang="en-US" sz="1400" dirty="0"/>
          </a:p>
        </p:txBody>
      </p:sp>
      <p:sp>
        <p:nvSpPr>
          <p:cNvPr id="6" name="Shape 4"/>
          <p:cNvSpPr/>
          <p:nvPr/>
        </p:nvSpPr>
        <p:spPr>
          <a:xfrm>
            <a:off x="812800" y="3842742"/>
            <a:ext cx="5003800" cy="1201241"/>
          </a:xfrm>
          <a:prstGeom prst="roundRect">
            <a:avLst>
              <a:gd name="adj" fmla="val 8458"/>
            </a:avLst>
          </a:prstGeom>
          <a:solidFill>
            <a:srgbClr val="ECE9E1"/>
          </a:solidFill>
          <a:ln/>
        </p:spPr>
      </p:sp>
      <p:sp>
        <p:nvSpPr>
          <p:cNvPr id="7" name="Text 5"/>
          <p:cNvSpPr/>
          <p:nvPr/>
        </p:nvSpPr>
        <p:spPr>
          <a:xfrm>
            <a:off x="1016000" y="4020542"/>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사용한 </a:t>
            </a:r>
            <a:r>
              <a:rPr lang="en-US" sz="1300" b="1">
                <a:solidFill>
                  <a:srgbClr val="1B2433"/>
                </a:solidFill>
                <a:latin typeface="Noto Sans KR" pitchFamily="34" charset="0"/>
                <a:ea typeface="Noto Sans KR" pitchFamily="34" charset="-122"/>
                <a:cs typeface="Noto Sans KR" pitchFamily="34" charset="-120"/>
              </a:rPr>
              <a:t>AI</a:t>
            </a:r>
            <a:r>
              <a:rPr lang="en-US" sz="1300">
                <a:solidFill>
                  <a:srgbClr val="1B2433"/>
                </a:solidFill>
                <a:latin typeface="Noto Sans KR" pitchFamily="34" charset="0"/>
                <a:ea typeface="Noto Sans KR" pitchFamily="34" charset="-122"/>
                <a:cs typeface="Noto Sans KR" pitchFamily="34" charset="-120"/>
              </a:rPr>
              <a:t>　</a:t>
            </a:r>
            <a:r>
              <a:rPr lang="en-US" sz="1300">
                <a:solidFill>
                  <a:srgbClr val="B0441A"/>
                </a:solidFill>
                <a:latin typeface="Noto Sans KR" pitchFamily="34" charset="0"/>
                <a:ea typeface="Noto Sans KR" pitchFamily="34" charset="-122"/>
                <a:cs typeface="Noto Sans KR" pitchFamily="34" charset="-120"/>
              </a:rPr>
              <a:t>Codex</a:t>
            </a:r>
            <a:endParaRPr lang="en-US" sz="1300" dirty="0"/>
          </a:p>
        </p:txBody>
      </p:sp>
      <p:sp>
        <p:nvSpPr>
          <p:cNvPr id="8" name="Text 6"/>
          <p:cNvSpPr/>
          <p:nvPr/>
        </p:nvSpPr>
        <p:spPr>
          <a:xfrm>
            <a:off x="1016000" y="432782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대표 </a:t>
            </a:r>
            <a:r>
              <a:rPr lang="en-US" sz="1300" b="1">
                <a:solidFill>
                  <a:srgbClr val="1B2433"/>
                </a:solidFill>
                <a:latin typeface="Noto Sans KR" pitchFamily="34" charset="0"/>
                <a:ea typeface="Noto Sans KR" pitchFamily="34" charset="-122"/>
                <a:cs typeface="Noto Sans KR" pitchFamily="34" charset="-120"/>
              </a:rPr>
              <a:t>프롬프트</a:t>
            </a:r>
            <a:r>
              <a:rPr lang="en-US" sz="1300">
                <a:solidFill>
                  <a:srgbClr val="1B2433"/>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카드마다 영상 연결 </a:t>
            </a:r>
            <a:r>
              <a:rPr lang="en-US" altLang="ko-KR" sz="1300">
                <a:solidFill>
                  <a:srgbClr val="B0441A"/>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확인 스크립트</a:t>
            </a:r>
            <a:endParaRPr lang="en-US" sz="1300" dirty="0"/>
          </a:p>
        </p:txBody>
      </p:sp>
      <p:sp>
        <p:nvSpPr>
          <p:cNvPr id="9" name="Text 7"/>
          <p:cNvSpPr/>
          <p:nvPr/>
        </p:nvSpPr>
        <p:spPr>
          <a:xfrm>
            <a:off x="1016000" y="463510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어려웠던 </a:t>
            </a:r>
            <a:r>
              <a:rPr lang="en-US" sz="1300" b="1">
                <a:solidFill>
                  <a:srgbClr val="1B2433"/>
                </a:solidFill>
                <a:latin typeface="Noto Sans KR" pitchFamily="34" charset="0"/>
                <a:ea typeface="Noto Sans KR" pitchFamily="34" charset="-122"/>
                <a:cs typeface="Noto Sans KR" pitchFamily="34" charset="-120"/>
              </a:rPr>
              <a:t>점</a:t>
            </a:r>
            <a:r>
              <a:rPr lang="en-US" sz="1300">
                <a:solidFill>
                  <a:srgbClr val="1B2433"/>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영상 </a:t>
            </a:r>
            <a:r>
              <a:rPr lang="en-US" altLang="ko-KR" sz="1300">
                <a:solidFill>
                  <a:srgbClr val="B0441A"/>
                </a:solidFill>
                <a:latin typeface="Noto Sans KR" pitchFamily="34" charset="0"/>
                <a:ea typeface="Noto Sans KR" pitchFamily="34" charset="-122"/>
                <a:cs typeface="Noto Sans KR" pitchFamily="34" charset="-120"/>
              </a:rPr>
              <a:t>16</a:t>
            </a:r>
            <a:r>
              <a:rPr lang="ko-KR" altLang="en-US" sz="1300">
                <a:solidFill>
                  <a:srgbClr val="B0441A"/>
                </a:solidFill>
                <a:latin typeface="Noto Sans KR" pitchFamily="34" charset="0"/>
                <a:ea typeface="Noto Sans KR" pitchFamily="34" charset="-122"/>
                <a:cs typeface="Noto Sans KR" pitchFamily="34" charset="-120"/>
              </a:rPr>
              <a:t>편 용량과 로딩 속도</a:t>
            </a:r>
            <a:endParaRPr lang="en-US" sz="1300" dirty="0"/>
          </a:p>
        </p:txBody>
      </p:sp>
      <p:sp>
        <p:nvSpPr>
          <p:cNvPr id="10" name="Shape 8"/>
          <p:cNvSpPr/>
          <p:nvPr/>
        </p:nvSpPr>
        <p:spPr>
          <a:xfrm>
            <a:off x="6178550" y="1926530"/>
            <a:ext cx="5194300" cy="4112320"/>
          </a:xfrm>
          <a:prstGeom prst="roundRect">
            <a:avLst>
              <a:gd name="adj" fmla="val 2316"/>
            </a:avLst>
          </a:prstGeom>
          <a:solidFill>
            <a:srgbClr val="E4E0D6"/>
          </a:solidFill>
          <a:ln w="12700">
            <a:solidFill>
              <a:srgbClr val="A39C8C"/>
            </a:solidFill>
            <a:prstDash val="dash"/>
          </a:ln>
        </p:spPr>
      </p:sp>
      <p:pic>
        <p:nvPicPr>
          <p:cNvPr id="14" name="그림 13">
            <a:extLst>
              <a:ext uri="{FF2B5EF4-FFF2-40B4-BE49-F238E27FC236}">
                <a16:creationId xmlns:a16="http://schemas.microsoft.com/office/drawing/2014/main" id="{F10CE45C-DA0C-4FE4-8340-EB06624EE68E}"/>
              </a:ext>
            </a:extLst>
          </p:cNvPr>
          <p:cNvPicPr>
            <a:picLocks noChangeAspect="1"/>
          </p:cNvPicPr>
          <p:nvPr/>
        </p:nvPicPr>
        <p:blipFill>
          <a:blip r:embed="rId3"/>
          <a:stretch>
            <a:fillRect/>
          </a:stretch>
        </p:blipFill>
        <p:spPr>
          <a:xfrm>
            <a:off x="6305550" y="2438846"/>
            <a:ext cx="4940300" cy="3087688"/>
          </a:xfrm>
          <a:prstGeom prst="rect">
            <a:avLst/>
          </a:prstGeom>
          <a:ln w="9525">
            <a:solidFill>
              <a:srgbClr val="D9D4CA"/>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5">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14 · PAGE 03 · </a:t>
            </a:r>
            <a:r>
              <a:rPr lang="ko-KR" altLang="en-US" sz="1200" b="1" kern="0" spc="150">
                <a:solidFill>
                  <a:srgbClr val="B0441A"/>
                </a:solidFill>
                <a:latin typeface="JetBrains Mono" pitchFamily="49" charset="0"/>
                <a:ea typeface="JetBrains Mono" pitchFamily="49" charset="-122"/>
                <a:cs typeface="JetBrains Mono" pitchFamily="49" charset="-120"/>
              </a:rPr>
              <a:t>화면 동작</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PORTFOLIO — 버튼과 움직임</a:t>
            </a:r>
            <a:endParaRPr lang="en-US" sz="3200" dirty="0"/>
          </a:p>
        </p:txBody>
      </p:sp>
      <p:sp>
        <p:nvSpPr>
          <p:cNvPr id="4" name="Shape 2"/>
          <p:cNvSpPr/>
          <p:nvPr/>
        </p:nvSpPr>
        <p:spPr>
          <a:xfrm>
            <a:off x="815975" y="1847155"/>
            <a:ext cx="3414117" cy="2722166"/>
          </a:xfrm>
          <a:prstGeom prst="roundRect">
            <a:avLst>
              <a:gd name="adj" fmla="val 3616"/>
            </a:avLst>
          </a:prstGeom>
          <a:solidFill>
            <a:srgbClr val="FDFCF9"/>
          </a:solidFill>
          <a:ln w="6350">
            <a:solidFill>
              <a:srgbClr val="DCD6C8"/>
            </a:solidFill>
            <a:prstDash val="solid"/>
          </a:ln>
        </p:spPr>
      </p:sp>
      <p:sp>
        <p:nvSpPr>
          <p:cNvPr id="5" name="Text 3"/>
          <p:cNvSpPr/>
          <p:nvPr/>
        </p:nvSpPr>
        <p:spPr>
          <a:xfrm>
            <a:off x="1022350" y="2053530"/>
            <a:ext cx="509091" cy="289520"/>
          </a:xfrm>
          <a:custGeom>
            <a:avLst/>
            <a:gdLst/>
            <a:ahLst/>
            <a:cxnLst/>
            <a:rect l="l" t="t" r="r" b="b"/>
            <a:pathLst>
              <a:path w="509091" h="289520">
                <a:moveTo>
                  <a:pt x="144760" y="0"/>
                </a:moveTo>
                <a:lnTo>
                  <a:pt x="364331" y="0"/>
                </a:lnTo>
                <a:arcTo wR="144760" hR="144760" stAng="16200000" swAng="5400000"/>
                <a:lnTo>
                  <a:pt x="509091" y="144760"/>
                </a:lnTo>
                <a:arcTo wR="144760" hR="144760" stAng="0" swAng="5400000"/>
                <a:lnTo>
                  <a:pt x="144760" y="289520"/>
                </a:lnTo>
                <a:arcTo wR="144760" hR="144760" stAng="5400000" swAng="5400000"/>
                <a:lnTo>
                  <a:pt x="0" y="144760"/>
                </a:lnTo>
                <a:arcTo wR="144760" hR="144760" stAng="10800000" swAng="5400000"/>
                <a:close/>
              </a:path>
            </a:pathLst>
          </a:custGeom>
          <a:solidFill>
            <a:srgbClr val="DCD6C8"/>
          </a:solidFill>
          <a:ln/>
        </p:spPr>
        <p:txBody>
          <a:bodyPr wrap="none" lIns="0" tIns="0" rIns="0" bIns="0" rtlCol="0" anchor="ctr">
            <a:normAutofit/>
          </a:bodyPr>
          <a:lstStyle/>
          <a:p>
            <a:pPr marL="0" indent="0" algn="ctr">
              <a:lnSpc>
                <a:spcPts val="1680"/>
              </a:lnSpc>
              <a:buNone/>
            </a:pPr>
            <a:r>
              <a:rPr lang="en-US" sz="1200" b="1" dirty="0">
                <a:solidFill>
                  <a:srgbClr val="1B2433"/>
                </a:solidFill>
                <a:latin typeface="Noto Sans KR" pitchFamily="34" charset="0"/>
                <a:ea typeface="Noto Sans KR" pitchFamily="34" charset="-122"/>
                <a:cs typeface="Noto Sans KR" pitchFamily="34" charset="-120"/>
              </a:rPr>
              <a:t>버튼</a:t>
            </a:r>
            <a:endParaRPr lang="en-US" sz="1200" dirty="0"/>
          </a:p>
        </p:txBody>
      </p:sp>
      <p:sp>
        <p:nvSpPr>
          <p:cNvPr id="6" name="Text 4"/>
          <p:cNvSpPr/>
          <p:nvPr/>
        </p:nvSpPr>
        <p:spPr>
          <a:xfrm>
            <a:off x="1022350" y="2431951"/>
            <a:ext cx="3091408"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분류 필터</a:t>
            </a:r>
            <a:endParaRPr lang="en-US" sz="1700" dirty="0"/>
          </a:p>
        </p:txBody>
      </p:sp>
      <p:sp>
        <p:nvSpPr>
          <p:cNvPr id="7" name="Text 5"/>
          <p:cNvSpPr/>
          <p:nvPr/>
        </p:nvSpPr>
        <p:spPr>
          <a:xfrm>
            <a:off x="1022350" y="2790726"/>
            <a:ext cx="3091408"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전체 · 개인 · 기업 · 지역 버튼을 누르면</a:t>
            </a:r>
            <a:endParaRPr lang="en-US" sz="1300" dirty="0"/>
          </a:p>
        </p:txBody>
      </p:sp>
      <p:sp>
        <p:nvSpPr>
          <p:cNvPr id="8" name="Text 6"/>
          <p:cNvSpPr/>
          <p:nvPr/>
        </p:nvSpPr>
        <p:spPr>
          <a:xfrm>
            <a:off x="1022350" y="3374926"/>
            <a:ext cx="3091408"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고른 분류의 카드만 남고, 선택한 버튼 아래에 강조 막대 표시</a:t>
            </a:r>
            <a:endParaRPr lang="en-US" sz="1300" dirty="0"/>
          </a:p>
        </p:txBody>
      </p:sp>
      <p:sp>
        <p:nvSpPr>
          <p:cNvPr id="9" name="Text 7"/>
          <p:cNvSpPr/>
          <p:nvPr/>
        </p:nvSpPr>
        <p:spPr>
          <a:xfrm>
            <a:off x="1022350" y="4048026"/>
            <a:ext cx="3001367" cy="314920"/>
          </a:xfrm>
          <a:prstGeom prst="roundRect">
            <a:avLst>
              <a:gd name="adj" fmla="val 16131"/>
            </a:avLst>
          </a:prstGeom>
          <a:solidFill>
            <a:srgbClr val="ECE9E1"/>
          </a:solidFill>
          <a:ln/>
        </p:spPr>
        <p:txBody>
          <a:bodyPr wrap="square" lIns="86721" tIns="35921" rIns="2776"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data-filter · classList</a:t>
            </a:r>
            <a:endParaRPr lang="en-US" sz="1200" dirty="0"/>
          </a:p>
        </p:txBody>
      </p:sp>
      <p:sp>
        <p:nvSpPr>
          <p:cNvPr id="10" name="Shape 8"/>
          <p:cNvSpPr/>
          <p:nvPr/>
        </p:nvSpPr>
        <p:spPr>
          <a:xfrm>
            <a:off x="4388842" y="1847155"/>
            <a:ext cx="3414216" cy="2722166"/>
          </a:xfrm>
          <a:prstGeom prst="roundRect">
            <a:avLst>
              <a:gd name="adj" fmla="val 3616"/>
            </a:avLst>
          </a:prstGeom>
          <a:solidFill>
            <a:srgbClr val="FDFCF9"/>
          </a:solidFill>
          <a:ln w="6350">
            <a:solidFill>
              <a:srgbClr val="DCD6C8"/>
            </a:solidFill>
            <a:prstDash val="solid"/>
          </a:ln>
        </p:spPr>
      </p:sp>
      <p:sp>
        <p:nvSpPr>
          <p:cNvPr id="11" name="Text 9"/>
          <p:cNvSpPr/>
          <p:nvPr/>
        </p:nvSpPr>
        <p:spPr>
          <a:xfrm>
            <a:off x="4595217"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16202E"/>
          </a:solidFill>
          <a:ln/>
        </p:spPr>
        <p:txBody>
          <a:bodyPr wrap="none" lIns="0" tIns="0" rIns="0" bIns="0" rtlCol="0" anchor="ctr">
            <a:normAutofit/>
          </a:bodyPr>
          <a:lstStyle/>
          <a:p>
            <a:pPr marL="0" indent="0" algn="ctr">
              <a:lnSpc>
                <a:spcPts val="1680"/>
              </a:lnSpc>
              <a:buNone/>
            </a:pPr>
            <a:r>
              <a:rPr lang="en-US" sz="1200" b="1" dirty="0">
                <a:solidFill>
                  <a:srgbClr val="F3F1EC"/>
                </a:solidFill>
                <a:latin typeface="Noto Sans KR" pitchFamily="34" charset="0"/>
                <a:ea typeface="Noto Sans KR" pitchFamily="34" charset="-122"/>
                <a:cs typeface="Noto Sans KR" pitchFamily="34" charset="-120"/>
              </a:rPr>
              <a:t>알림창</a:t>
            </a:r>
            <a:endParaRPr lang="en-US" sz="1200" dirty="0"/>
          </a:p>
        </p:txBody>
      </p:sp>
      <p:sp>
        <p:nvSpPr>
          <p:cNvPr id="12" name="Text 10"/>
          <p:cNvSpPr/>
          <p:nvPr/>
        </p:nvSpPr>
        <p:spPr>
          <a:xfrm>
            <a:off x="4595217"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프로젝트 상세창</a:t>
            </a:r>
            <a:endParaRPr lang="en-US" sz="1700" dirty="0"/>
          </a:p>
        </p:txBody>
      </p:sp>
      <p:sp>
        <p:nvSpPr>
          <p:cNvPr id="13" name="Text 11"/>
          <p:cNvSpPr/>
          <p:nvPr/>
        </p:nvSpPr>
        <p:spPr>
          <a:xfrm>
            <a:off x="4595217"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작업물 카드를 누르면</a:t>
            </a:r>
            <a:endParaRPr lang="en-US" sz="1300" dirty="0"/>
          </a:p>
        </p:txBody>
      </p:sp>
      <p:sp>
        <p:nvSpPr>
          <p:cNvPr id="14" name="Text 12"/>
          <p:cNvSpPr/>
          <p:nvPr/>
        </p:nvSpPr>
        <p:spPr>
          <a:xfrm>
            <a:off x="4595217" y="3127276"/>
            <a:ext cx="3091510" cy="7683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큰 이미지와 재생 버튼이 있는 창이 열림. 마우스를 올리면 카드가 어두워지며 제목 등장</a:t>
            </a:r>
            <a:endParaRPr lang="en-US" sz="1300" dirty="0"/>
          </a:p>
        </p:txBody>
      </p:sp>
      <p:sp>
        <p:nvSpPr>
          <p:cNvPr id="15" name="Text 13"/>
          <p:cNvSpPr/>
          <p:nvPr/>
        </p:nvSpPr>
        <p:spPr>
          <a:xfrm>
            <a:off x="4595217" y="4048026"/>
            <a:ext cx="3001466" cy="314920"/>
          </a:xfrm>
          <a:prstGeom prst="roundRect">
            <a:avLst>
              <a:gd name="adj" fmla="val 16131"/>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&lt;dialog&gt; · :hover</a:t>
            </a:r>
            <a:endParaRPr lang="en-US" sz="1200" dirty="0"/>
          </a:p>
        </p:txBody>
      </p:sp>
      <p:sp>
        <p:nvSpPr>
          <p:cNvPr id="16" name="Shape 14"/>
          <p:cNvSpPr/>
          <p:nvPr/>
        </p:nvSpPr>
        <p:spPr>
          <a:xfrm>
            <a:off x="7961809" y="1847155"/>
            <a:ext cx="3414216" cy="2722166"/>
          </a:xfrm>
          <a:prstGeom prst="roundRect">
            <a:avLst>
              <a:gd name="adj" fmla="val 3616"/>
            </a:avLst>
          </a:prstGeom>
          <a:solidFill>
            <a:srgbClr val="FDFCF9"/>
          </a:solidFill>
          <a:ln w="6350">
            <a:solidFill>
              <a:srgbClr val="DCD6C8"/>
            </a:solidFill>
            <a:prstDash val="solid"/>
          </a:ln>
        </p:spPr>
      </p:sp>
      <p:sp>
        <p:nvSpPr>
          <p:cNvPr id="17" name="Text 15"/>
          <p:cNvSpPr/>
          <p:nvPr/>
        </p:nvSpPr>
        <p:spPr>
          <a:xfrm>
            <a:off x="8168184"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16202E"/>
          </a:solidFill>
          <a:ln/>
        </p:spPr>
        <p:txBody>
          <a:bodyPr wrap="none" lIns="0" tIns="0" rIns="0" bIns="0" rtlCol="0" anchor="ctr">
            <a:normAutofit/>
          </a:bodyPr>
          <a:lstStyle/>
          <a:p>
            <a:pPr marL="0" indent="0" algn="ctr">
              <a:lnSpc>
                <a:spcPts val="1680"/>
              </a:lnSpc>
              <a:buNone/>
            </a:pPr>
            <a:r>
              <a:rPr lang="en-US" sz="1200" b="1" dirty="0">
                <a:solidFill>
                  <a:srgbClr val="F3F1EC"/>
                </a:solidFill>
                <a:latin typeface="Noto Sans KR" pitchFamily="34" charset="0"/>
                <a:ea typeface="Noto Sans KR" pitchFamily="34" charset="-122"/>
                <a:cs typeface="Noto Sans KR" pitchFamily="34" charset="-120"/>
              </a:rPr>
              <a:t>알림창</a:t>
            </a:r>
            <a:endParaRPr lang="en-US" sz="1200" dirty="0"/>
          </a:p>
        </p:txBody>
      </p:sp>
      <p:sp>
        <p:nvSpPr>
          <p:cNvPr id="18" name="Text 16"/>
          <p:cNvSpPr/>
          <p:nvPr/>
        </p:nvSpPr>
        <p:spPr>
          <a:xfrm>
            <a:off x="8168184"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영상 재생창</a:t>
            </a:r>
            <a:endParaRPr lang="en-US" sz="1700" dirty="0"/>
          </a:p>
        </p:txBody>
      </p:sp>
      <p:sp>
        <p:nvSpPr>
          <p:cNvPr id="19" name="Text 17"/>
          <p:cNvSpPr/>
          <p:nvPr/>
        </p:nvSpPr>
        <p:spPr>
          <a:xfrm>
            <a:off x="8168184"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상세창의 재생 버튼을 누르면</a:t>
            </a:r>
            <a:endParaRPr lang="en-US" sz="1300" dirty="0"/>
          </a:p>
        </p:txBody>
      </p:sp>
      <p:sp>
        <p:nvSpPr>
          <p:cNvPr id="20" name="Text 18"/>
          <p:cNvSpPr/>
          <p:nvPr/>
        </p:nvSpPr>
        <p:spPr>
          <a:xfrm>
            <a:off x="8168184" y="312727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작업 영상이 재생되고, 닫으면 영상이 멈추고 원래 자리로 돌아옴</a:t>
            </a:r>
            <a:endParaRPr lang="en-US" sz="1300" dirty="0"/>
          </a:p>
        </p:txBody>
      </p:sp>
      <p:sp>
        <p:nvSpPr>
          <p:cNvPr id="21" name="Text 19"/>
          <p:cNvSpPr/>
          <p:nvPr/>
        </p:nvSpPr>
        <p:spPr>
          <a:xfrm>
            <a:off x="8168184" y="4048026"/>
            <a:ext cx="3001466" cy="314920"/>
          </a:xfrm>
          <a:prstGeom prst="roundRect">
            <a:avLst>
              <a:gd name="adj" fmla="val 16131"/>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&lt;video&gt; · play() · pause()</a:t>
            </a:r>
            <a:endParaRPr lang="en-US" sz="1200" dirty="0"/>
          </a:p>
        </p:txBody>
      </p:sp>
      <p:sp>
        <p:nvSpPr>
          <p:cNvPr id="22" name="Shape 20"/>
          <p:cNvSpPr/>
          <p:nvPr/>
        </p:nvSpPr>
        <p:spPr>
          <a:xfrm>
            <a:off x="812800" y="4801096"/>
            <a:ext cx="10566400" cy="535880"/>
          </a:xfrm>
          <a:prstGeom prst="roundRect">
            <a:avLst>
              <a:gd name="adj" fmla="val 18959"/>
            </a:avLst>
          </a:prstGeom>
          <a:solidFill>
            <a:srgbClr val="16202E"/>
          </a:solidFill>
          <a:ln/>
        </p:spPr>
      </p:sp>
      <p:sp>
        <p:nvSpPr>
          <p:cNvPr id="23" name="Text 21"/>
          <p:cNvSpPr/>
          <p:nvPr/>
        </p:nvSpPr>
        <p:spPr>
          <a:xfrm>
            <a:off x="1041399" y="4953496"/>
            <a:ext cx="7112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9CED8"/>
                </a:solidFill>
                <a:latin typeface="Noto Sans KR" pitchFamily="34" charset="0"/>
                <a:ea typeface="Noto Sans KR" pitchFamily="34" charset="-122"/>
                <a:cs typeface="Noto Sans KR" pitchFamily="34" charset="-120"/>
              </a:rPr>
              <a:t>AI에게 한 </a:t>
            </a:r>
            <a:r>
              <a:rPr lang="en-US" sz="1300" b="1">
                <a:solidFill>
                  <a:srgbClr val="C9CED8"/>
                </a:solidFill>
                <a:latin typeface="Noto Sans KR" pitchFamily="34" charset="0"/>
                <a:ea typeface="Noto Sans KR" pitchFamily="34" charset="-122"/>
                <a:cs typeface="Noto Sans KR" pitchFamily="34" charset="-120"/>
              </a:rPr>
              <a:t>요청</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분류 필터 </a:t>
            </a:r>
            <a:r>
              <a:rPr lang="en-US" altLang="ko-KR" sz="1300">
                <a:solidFill>
                  <a:srgbClr val="E8692C"/>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상세창 </a:t>
            </a:r>
            <a:r>
              <a:rPr lang="en-US" altLang="ko-KR" sz="1300">
                <a:solidFill>
                  <a:srgbClr val="E8692C"/>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영상 재생창을 카드마다 연결해줘</a:t>
            </a:r>
            <a:endParaRPr lang="en-US" sz="1300" dirty="0"/>
          </a:p>
        </p:txBody>
      </p:sp>
      <p:sp>
        <p:nvSpPr>
          <p:cNvPr id="24" name="Text 22"/>
          <p:cNvSpPr/>
          <p:nvPr/>
        </p:nvSpPr>
        <p:spPr>
          <a:xfrm>
            <a:off x="8381999" y="4953496"/>
            <a:ext cx="2921000" cy="25648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C9CED8"/>
                </a:solidFill>
                <a:latin typeface="Noto Sans KR" pitchFamily="34" charset="0"/>
                <a:ea typeface="Noto Sans KR" pitchFamily="34" charset="-122"/>
                <a:cs typeface="Noto Sans KR" pitchFamily="34" charset="-120"/>
              </a:rPr>
              <a:t>시연</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발표 때 사이트 직접 시연</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PAGE 04 · contact/</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CONTACT — 견적을 내고 상담을 신청하는 화면</a:t>
            </a:r>
            <a:endParaRPr lang="en-US" sz="3200" dirty="0"/>
          </a:p>
        </p:txBody>
      </p:sp>
      <p:sp>
        <p:nvSpPr>
          <p:cNvPr id="4" name="Text 2"/>
          <p:cNvSpPr/>
          <p:nvPr/>
        </p:nvSpPr>
        <p:spPr>
          <a:xfrm>
            <a:off x="812800" y="1920180"/>
            <a:ext cx="1202333" cy="358080"/>
          </a:xfrm>
          <a:prstGeom prst="roundRect">
            <a:avLst>
              <a:gd name="adj" fmla="val 50000"/>
            </a:avLst>
          </a:prstGeom>
          <a:solidFill>
            <a:srgbClr val="16202E"/>
          </a:solidFill>
          <a:ln/>
        </p:spPr>
        <p:txBody>
          <a:bodyPr wrap="none" lIns="0" tIns="0" rIns="0" bIns="0" rtlCol="0" anchor="ctr">
            <a:normAutofit/>
          </a:bodyPr>
          <a:lstStyle/>
          <a:p>
            <a:pPr marL="0" indent="0" algn="ctr">
              <a:lnSpc>
                <a:spcPts val="1820"/>
              </a:lnSpc>
              <a:buNone/>
            </a:pPr>
            <a:r>
              <a:rPr lang="en-US" sz="1300" b="1">
                <a:solidFill>
                  <a:srgbClr val="F3F1EC"/>
                </a:solidFill>
                <a:latin typeface="Noto Sans KR" pitchFamily="34" charset="0"/>
                <a:ea typeface="Noto Sans KR" pitchFamily="34" charset="-122"/>
                <a:cs typeface="Noto Sans KR" pitchFamily="34" charset="-120"/>
              </a:rPr>
              <a:t>담당　</a:t>
            </a:r>
            <a:r>
              <a:rPr lang="ko-KR" altLang="en-US" sz="1300" b="1">
                <a:solidFill>
                  <a:srgbClr val="E8692C"/>
                </a:solidFill>
                <a:latin typeface="Noto Sans KR" pitchFamily="34" charset="0"/>
                <a:ea typeface="Noto Sans KR" pitchFamily="34" charset="-122"/>
                <a:cs typeface="Noto Sans KR" pitchFamily="34" charset="-120"/>
              </a:rPr>
              <a:t>김소연</a:t>
            </a:r>
            <a:endParaRPr lang="en-US" sz="1300" dirty="0"/>
          </a:p>
        </p:txBody>
      </p:sp>
      <p:sp>
        <p:nvSpPr>
          <p:cNvPr id="5" name="Text 3"/>
          <p:cNvSpPr/>
          <p:nvPr/>
        </p:nvSpPr>
        <p:spPr>
          <a:xfrm>
            <a:off x="878332" y="2456061"/>
            <a:ext cx="5080762" cy="1234281"/>
          </a:xfrm>
          <a:prstGeom prst="rect">
            <a:avLst/>
          </a:prstGeom>
          <a:noFill/>
          <a:ln/>
        </p:spPr>
        <p:txBody>
          <a:bodyPr wrap="square" lIns="0" tIns="0" rIns="0" bIns="0" rtlCol="0" anchor="t">
            <a:normAutofit/>
          </a:bodyPr>
          <a:lstStyle/>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개인 / 기업 문의를 버튼 하나로 전환</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화질 · 길이를 골라 담고 수량 1~999개 조절</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선택에 따라 예상 견적 자동 계산</a:t>
            </a:r>
            <a:endParaRPr lang="en-US" sz="1400" dirty="0"/>
          </a:p>
          <a:p>
            <a:pPr marL="188468" indent="-188468" algn="l">
              <a:lnSpc>
                <a:spcPts val="2380"/>
              </a:lnSpc>
              <a:buSzPct val="100000"/>
              <a:buChar char="•"/>
            </a:pPr>
            <a:r>
              <a:rPr lang="en-US" sz="1400" dirty="0">
                <a:solidFill>
                  <a:srgbClr val="1B2433"/>
                </a:solidFill>
                <a:latin typeface="Noto Sans KR" pitchFamily="34" charset="0"/>
                <a:ea typeface="Noto Sans KR" pitchFamily="34" charset="-122"/>
                <a:cs typeface="Noto Sans KR" pitchFamily="34" charset="-120"/>
              </a:rPr>
              <a:t>입력 확인 · 개인정보 동의 · FAQ</a:t>
            </a:r>
            <a:endParaRPr lang="en-US" sz="1400" dirty="0"/>
          </a:p>
        </p:txBody>
      </p:sp>
      <p:sp>
        <p:nvSpPr>
          <p:cNvPr id="6" name="Shape 4"/>
          <p:cNvSpPr/>
          <p:nvPr/>
        </p:nvSpPr>
        <p:spPr>
          <a:xfrm>
            <a:off x="812800" y="3842742"/>
            <a:ext cx="5003800" cy="1201241"/>
          </a:xfrm>
          <a:prstGeom prst="roundRect">
            <a:avLst>
              <a:gd name="adj" fmla="val 8458"/>
            </a:avLst>
          </a:prstGeom>
          <a:solidFill>
            <a:srgbClr val="ECE9E1"/>
          </a:solidFill>
          <a:ln/>
        </p:spPr>
      </p:sp>
      <p:sp>
        <p:nvSpPr>
          <p:cNvPr id="7" name="Text 5"/>
          <p:cNvSpPr/>
          <p:nvPr/>
        </p:nvSpPr>
        <p:spPr>
          <a:xfrm>
            <a:off x="1016000" y="4020542"/>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사용한 AI</a:t>
            </a:r>
            <a:r>
              <a:rPr lang="en-US" sz="1300" dirty="0">
                <a:solidFill>
                  <a:srgbClr val="1B2433"/>
                </a:solidFill>
                <a:latin typeface="Noto Sans KR" pitchFamily="34" charset="0"/>
                <a:ea typeface="Noto Sans KR" pitchFamily="34" charset="-122"/>
                <a:cs typeface="Noto Sans KR" pitchFamily="34" charset="-120"/>
              </a:rPr>
              <a:t>　</a:t>
            </a:r>
            <a:r>
              <a:rPr lang="en-US" sz="1300">
                <a:solidFill>
                  <a:srgbClr val="1B2433"/>
                </a:solidFill>
                <a:latin typeface="Noto Sans KR" pitchFamily="34" charset="0"/>
                <a:ea typeface="Noto Sans KR" pitchFamily="34" charset="-122"/>
                <a:cs typeface="Noto Sans KR" pitchFamily="34" charset="-120"/>
              </a:rPr>
              <a:t>Codex </a:t>
            </a:r>
            <a:r>
              <a:rPr lang="en-US" sz="1300">
                <a:solidFill>
                  <a:srgbClr val="B0441A"/>
                </a:solidFill>
                <a:latin typeface="Noto Sans KR" pitchFamily="34" charset="0"/>
                <a:ea typeface="Noto Sans KR" pitchFamily="34" charset="-122"/>
                <a:cs typeface="Noto Sans KR" pitchFamily="34" charset="-120"/>
              </a:rPr>
              <a:t>+ Claude Code</a:t>
            </a:r>
            <a:endParaRPr lang="en-US" sz="1300" dirty="0"/>
          </a:p>
        </p:txBody>
      </p:sp>
      <p:sp>
        <p:nvSpPr>
          <p:cNvPr id="8" name="Text 6"/>
          <p:cNvSpPr/>
          <p:nvPr/>
        </p:nvSpPr>
        <p:spPr>
          <a:xfrm>
            <a:off x="1016000" y="432782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대표 프롬프트</a:t>
            </a:r>
            <a:r>
              <a:rPr lang="en-US" sz="1300" dirty="0">
                <a:solidFill>
                  <a:srgbClr val="1B2433"/>
                </a:solidFill>
                <a:latin typeface="Noto Sans KR" pitchFamily="34" charset="0"/>
                <a:ea typeface="Noto Sans KR" pitchFamily="34" charset="-122"/>
                <a:cs typeface="Noto Sans KR" pitchFamily="34" charset="-120"/>
              </a:rPr>
              <a:t>　작업 메모 파일 읽고 이어서 작업 (06번)</a:t>
            </a:r>
            <a:endParaRPr lang="en-US" sz="1300" dirty="0"/>
          </a:p>
        </p:txBody>
      </p:sp>
      <p:sp>
        <p:nvSpPr>
          <p:cNvPr id="9" name="Text 7"/>
          <p:cNvSpPr/>
          <p:nvPr/>
        </p:nvSpPr>
        <p:spPr>
          <a:xfrm>
            <a:off x="1016000" y="4635103"/>
            <a:ext cx="473532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Noto Sans KR" pitchFamily="34" charset="0"/>
                <a:ea typeface="Noto Sans KR" pitchFamily="34" charset="-122"/>
                <a:cs typeface="Noto Sans KR" pitchFamily="34" charset="-120"/>
              </a:rPr>
              <a:t>어려웠던 </a:t>
            </a:r>
            <a:r>
              <a:rPr lang="en-US" sz="1300" b="1">
                <a:solidFill>
                  <a:srgbClr val="1B2433"/>
                </a:solidFill>
                <a:latin typeface="Noto Sans KR" pitchFamily="34" charset="0"/>
                <a:ea typeface="Noto Sans KR" pitchFamily="34" charset="-122"/>
                <a:cs typeface="Noto Sans KR" pitchFamily="34" charset="-120"/>
              </a:rPr>
              <a:t>점</a:t>
            </a:r>
            <a:r>
              <a:rPr lang="en-US" sz="1300">
                <a:solidFill>
                  <a:srgbClr val="1B2433"/>
                </a:solidFill>
                <a:latin typeface="Noto Sans KR" pitchFamily="34" charset="0"/>
                <a:ea typeface="Noto Sans KR" pitchFamily="34" charset="-122"/>
                <a:cs typeface="Noto Sans KR" pitchFamily="34" charset="-120"/>
              </a:rPr>
              <a:t>　</a:t>
            </a:r>
            <a:r>
              <a:rPr lang="ko-KR" altLang="en-US" sz="1300">
                <a:solidFill>
                  <a:srgbClr val="B0441A"/>
                </a:solidFill>
                <a:latin typeface="Noto Sans KR" pitchFamily="34" charset="0"/>
                <a:ea typeface="Noto Sans KR" pitchFamily="34" charset="-122"/>
                <a:cs typeface="Noto Sans KR" pitchFamily="34" charset="-120"/>
              </a:rPr>
              <a:t>선택을 바꿀 때 등장 효과 반복</a:t>
            </a:r>
            <a:endParaRPr lang="en-US" sz="1300" dirty="0"/>
          </a:p>
        </p:txBody>
      </p:sp>
      <p:sp>
        <p:nvSpPr>
          <p:cNvPr id="10" name="Shape 8"/>
          <p:cNvSpPr/>
          <p:nvPr/>
        </p:nvSpPr>
        <p:spPr>
          <a:xfrm>
            <a:off x="6178550" y="1926530"/>
            <a:ext cx="5194300" cy="4112320"/>
          </a:xfrm>
          <a:prstGeom prst="roundRect">
            <a:avLst>
              <a:gd name="adj" fmla="val 2316"/>
            </a:avLst>
          </a:prstGeom>
          <a:solidFill>
            <a:srgbClr val="E4E0D6"/>
          </a:solidFill>
          <a:ln w="12700">
            <a:solidFill>
              <a:srgbClr val="A39C8C"/>
            </a:solidFill>
            <a:prstDash val="dash"/>
          </a:ln>
        </p:spPr>
      </p:sp>
      <p:pic>
        <p:nvPicPr>
          <p:cNvPr id="14" name="그림 13">
            <a:extLst>
              <a:ext uri="{FF2B5EF4-FFF2-40B4-BE49-F238E27FC236}">
                <a16:creationId xmlns:a16="http://schemas.microsoft.com/office/drawing/2014/main" id="{3CB2D3FB-BBAF-4671-B0A0-DCFC5640E7F9}"/>
              </a:ext>
            </a:extLst>
          </p:cNvPr>
          <p:cNvPicPr>
            <a:picLocks noChangeAspect="1"/>
          </p:cNvPicPr>
          <p:nvPr/>
        </p:nvPicPr>
        <p:blipFill>
          <a:blip r:embed="rId3"/>
          <a:stretch>
            <a:fillRect/>
          </a:stretch>
        </p:blipFill>
        <p:spPr>
          <a:xfrm>
            <a:off x="6305550" y="2438846"/>
            <a:ext cx="4940300" cy="3087688"/>
          </a:xfrm>
          <a:prstGeom prst="rect">
            <a:avLst/>
          </a:prstGeom>
          <a:ln w="9525">
            <a:solidFill>
              <a:srgbClr val="D9D4CA"/>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7">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altLang="ko-KR" sz="1200" b="1" kern="0" spc="150">
                <a:solidFill>
                  <a:srgbClr val="B0441A"/>
                </a:solidFill>
                <a:latin typeface="JetBrains Mono" pitchFamily="49" charset="0"/>
                <a:ea typeface="JetBrains Mono" pitchFamily="49" charset="-122"/>
                <a:cs typeface="JetBrains Mono" pitchFamily="49" charset="-120"/>
              </a:rPr>
              <a:t>15 · PAGE 04 · </a:t>
            </a:r>
            <a:r>
              <a:rPr lang="ko-KR" altLang="en-US" sz="1200" b="1" kern="0" spc="150">
                <a:solidFill>
                  <a:srgbClr val="B0441A"/>
                </a:solidFill>
                <a:latin typeface="JetBrains Mono" pitchFamily="49" charset="0"/>
                <a:ea typeface="JetBrains Mono" pitchFamily="49" charset="-122"/>
                <a:cs typeface="JetBrains Mono" pitchFamily="49" charset="-120"/>
              </a:rPr>
              <a:t>화면 동작</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CONTACT — 버튼과 움직임</a:t>
            </a:r>
            <a:endParaRPr lang="en-US" sz="3200" dirty="0"/>
          </a:p>
        </p:txBody>
      </p:sp>
      <p:sp>
        <p:nvSpPr>
          <p:cNvPr id="4" name="Shape 2"/>
          <p:cNvSpPr/>
          <p:nvPr/>
        </p:nvSpPr>
        <p:spPr>
          <a:xfrm>
            <a:off x="815975" y="1847155"/>
            <a:ext cx="3414117" cy="2935486"/>
          </a:xfrm>
          <a:prstGeom prst="roundRect">
            <a:avLst>
              <a:gd name="adj" fmla="val 3353"/>
            </a:avLst>
          </a:prstGeom>
          <a:solidFill>
            <a:srgbClr val="FDFCF9"/>
          </a:solidFill>
          <a:ln w="6350">
            <a:solidFill>
              <a:srgbClr val="DCD6C8"/>
            </a:solidFill>
            <a:prstDash val="solid"/>
          </a:ln>
        </p:spPr>
      </p:sp>
      <p:sp>
        <p:nvSpPr>
          <p:cNvPr id="5" name="Text 3"/>
          <p:cNvSpPr/>
          <p:nvPr/>
        </p:nvSpPr>
        <p:spPr>
          <a:xfrm>
            <a:off x="1022350"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16202E"/>
          </a:solidFill>
          <a:ln/>
        </p:spPr>
        <p:txBody>
          <a:bodyPr wrap="none" lIns="0" tIns="0" rIns="0" bIns="0" rtlCol="0" anchor="ctr">
            <a:normAutofit/>
          </a:bodyPr>
          <a:lstStyle/>
          <a:p>
            <a:pPr marL="0" indent="0" algn="ctr">
              <a:lnSpc>
                <a:spcPts val="1680"/>
              </a:lnSpc>
              <a:buNone/>
            </a:pPr>
            <a:r>
              <a:rPr lang="en-US" sz="1200" b="1" dirty="0">
                <a:solidFill>
                  <a:srgbClr val="F3F1EC"/>
                </a:solidFill>
                <a:latin typeface="Noto Sans KR" pitchFamily="34" charset="0"/>
                <a:ea typeface="Noto Sans KR" pitchFamily="34" charset="-122"/>
                <a:cs typeface="Noto Sans KR" pitchFamily="34" charset="-120"/>
              </a:rPr>
              <a:t>알림창</a:t>
            </a:r>
            <a:endParaRPr lang="en-US" sz="1200" dirty="0"/>
          </a:p>
        </p:txBody>
      </p:sp>
      <p:sp>
        <p:nvSpPr>
          <p:cNvPr id="6" name="Text 4"/>
          <p:cNvSpPr/>
          <p:nvPr/>
        </p:nvSpPr>
        <p:spPr>
          <a:xfrm>
            <a:off x="1022350" y="2431951"/>
            <a:ext cx="3091408"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상황별 안내창</a:t>
            </a:r>
            <a:endParaRPr lang="en-US" sz="1700" dirty="0"/>
          </a:p>
        </p:txBody>
      </p:sp>
      <p:sp>
        <p:nvSpPr>
          <p:cNvPr id="7" name="Text 5"/>
          <p:cNvSpPr/>
          <p:nvPr/>
        </p:nvSpPr>
        <p:spPr>
          <a:xfrm>
            <a:off x="1022350" y="2790726"/>
            <a:ext cx="3091408"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상담 · 결제 · 개인정보 버튼을 누르면</a:t>
            </a:r>
            <a:endParaRPr lang="en-US" sz="1300" dirty="0"/>
          </a:p>
        </p:txBody>
      </p:sp>
      <p:sp>
        <p:nvSpPr>
          <p:cNvPr id="8" name="Text 6"/>
          <p:cNvSpPr/>
          <p:nvPr/>
        </p:nvSpPr>
        <p:spPr>
          <a:xfrm>
            <a:off x="1022350" y="3374926"/>
            <a:ext cx="3091408"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빈 견적이면 ‘먼저 선택’ 안내, 개인정보 내용, 결제 금액 확인, 신청 완료 안내</a:t>
            </a:r>
            <a:endParaRPr lang="en-US" sz="1300" dirty="0"/>
          </a:p>
        </p:txBody>
      </p:sp>
      <p:sp>
        <p:nvSpPr>
          <p:cNvPr id="9" name="Text 7"/>
          <p:cNvSpPr/>
          <p:nvPr/>
        </p:nvSpPr>
        <p:spPr>
          <a:xfrm>
            <a:off x="1022350" y="4261346"/>
            <a:ext cx="3001367" cy="314920"/>
          </a:xfrm>
          <a:prstGeom prst="roundRect">
            <a:avLst>
              <a:gd name="adj" fmla="val 16131"/>
            </a:avLst>
          </a:prstGeom>
          <a:solidFill>
            <a:srgbClr val="ECE9E1"/>
          </a:solidFill>
          <a:ln/>
        </p:spPr>
        <p:txBody>
          <a:bodyPr wrap="square" lIns="86721" tIns="35921" rIns="2776"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직접 만든 modal() 함수</a:t>
            </a:r>
            <a:endParaRPr lang="en-US" sz="1200" dirty="0"/>
          </a:p>
        </p:txBody>
      </p:sp>
      <p:sp>
        <p:nvSpPr>
          <p:cNvPr id="10" name="Shape 8"/>
          <p:cNvSpPr/>
          <p:nvPr/>
        </p:nvSpPr>
        <p:spPr>
          <a:xfrm>
            <a:off x="4388842" y="1847155"/>
            <a:ext cx="3414216" cy="2935486"/>
          </a:xfrm>
          <a:prstGeom prst="roundRect">
            <a:avLst>
              <a:gd name="adj" fmla="val 3353"/>
            </a:avLst>
          </a:prstGeom>
          <a:solidFill>
            <a:srgbClr val="FDFCF9"/>
          </a:solidFill>
          <a:ln w="6350">
            <a:solidFill>
              <a:srgbClr val="DCD6C8"/>
            </a:solidFill>
            <a:prstDash val="solid"/>
          </a:ln>
        </p:spPr>
      </p:sp>
      <p:sp>
        <p:nvSpPr>
          <p:cNvPr id="11" name="Text 9"/>
          <p:cNvSpPr/>
          <p:nvPr/>
        </p:nvSpPr>
        <p:spPr>
          <a:xfrm>
            <a:off x="4595217" y="2053530"/>
            <a:ext cx="824111" cy="289520"/>
          </a:xfrm>
          <a:custGeom>
            <a:avLst/>
            <a:gdLst/>
            <a:ahLst/>
            <a:cxnLst/>
            <a:rect l="l" t="t" r="r" b="b"/>
            <a:pathLst>
              <a:path w="824111" h="289520">
                <a:moveTo>
                  <a:pt x="144760" y="0"/>
                </a:moveTo>
                <a:lnTo>
                  <a:pt x="679351" y="0"/>
                </a:lnTo>
                <a:arcTo wR="144760" hR="144760" stAng="16200000" swAng="5400000"/>
                <a:lnTo>
                  <a:pt x="824111" y="144760"/>
                </a:lnTo>
                <a:arcTo wR="144760" hR="144760" stAng="0" swAng="5400000"/>
                <a:lnTo>
                  <a:pt x="144760" y="289520"/>
                </a:lnTo>
                <a:arcTo wR="144760" hR="144760" stAng="5400000" swAng="5400000"/>
                <a:lnTo>
                  <a:pt x="0" y="144760"/>
                </a:lnTo>
                <a:arcTo wR="144760" hR="144760" stAng="10800000" swAng="5400000"/>
                <a:close/>
              </a:path>
            </a:pathLst>
          </a:custGeom>
          <a:solidFill>
            <a:srgbClr val="E8692C"/>
          </a:solidFill>
          <a:ln/>
        </p:spPr>
        <p:txBody>
          <a:bodyPr wrap="none" lIns="0" tIns="0" rIns="0" bIns="0" rtlCol="0" anchor="ctr">
            <a:normAutofit/>
          </a:bodyPr>
          <a:lstStyle/>
          <a:p>
            <a:pPr marL="0" indent="0" algn="ctr">
              <a:lnSpc>
                <a:spcPts val="1680"/>
              </a:lnSpc>
              <a:buNone/>
            </a:pPr>
            <a:r>
              <a:rPr lang="en-US" sz="1200" b="1" dirty="0">
                <a:solidFill>
                  <a:srgbClr val="16202E"/>
                </a:solidFill>
                <a:latin typeface="Noto Sans KR" pitchFamily="34" charset="0"/>
                <a:ea typeface="Noto Sans KR" pitchFamily="34" charset="-122"/>
                <a:cs typeface="Noto Sans KR" pitchFamily="34" charset="-120"/>
              </a:rPr>
              <a:t>글자 효과</a:t>
            </a:r>
            <a:endParaRPr lang="en-US" sz="1200" dirty="0"/>
          </a:p>
        </p:txBody>
      </p:sp>
      <p:sp>
        <p:nvSpPr>
          <p:cNvPr id="12" name="Text 10"/>
          <p:cNvSpPr/>
          <p:nvPr/>
        </p:nvSpPr>
        <p:spPr>
          <a:xfrm>
            <a:off x="4595217"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아래에서 올라오는 등장</a:t>
            </a:r>
            <a:endParaRPr lang="en-US" sz="1700" dirty="0"/>
          </a:p>
        </p:txBody>
      </p:sp>
      <p:sp>
        <p:nvSpPr>
          <p:cNvPr id="13" name="Text 11"/>
          <p:cNvSpPr/>
          <p:nvPr/>
        </p:nvSpPr>
        <p:spPr>
          <a:xfrm>
            <a:off x="4595217" y="2790726"/>
            <a:ext cx="3091510" cy="27305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첫 화면, 스크롤로 내용이 보일 때</a:t>
            </a:r>
            <a:endParaRPr lang="en-US" sz="1300" dirty="0"/>
          </a:p>
        </p:txBody>
      </p:sp>
      <p:sp>
        <p:nvSpPr>
          <p:cNvPr id="14" name="Text 12"/>
          <p:cNvSpPr/>
          <p:nvPr/>
        </p:nvSpPr>
        <p:spPr>
          <a:xfrm>
            <a:off x="4595217" y="312727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배너 제목과 부제가 차례로 올라오고, 본문 · 상담 버튼 · FAQ도 부드럽게 등장</a:t>
            </a:r>
            <a:endParaRPr lang="en-US" sz="1300" dirty="0"/>
          </a:p>
        </p:txBody>
      </p:sp>
      <p:sp>
        <p:nvSpPr>
          <p:cNvPr id="15" name="Text 13"/>
          <p:cNvSpPr/>
          <p:nvPr/>
        </p:nvSpPr>
        <p:spPr>
          <a:xfrm>
            <a:off x="4595217" y="4261346"/>
            <a:ext cx="3001466" cy="314920"/>
          </a:xfrm>
          <a:prstGeom prst="roundRect">
            <a:avLst>
              <a:gd name="adj" fmla="val 16131"/>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IntersectionObserver</a:t>
            </a:r>
            <a:endParaRPr lang="en-US" sz="1200" dirty="0"/>
          </a:p>
        </p:txBody>
      </p:sp>
      <p:sp>
        <p:nvSpPr>
          <p:cNvPr id="16" name="Shape 14"/>
          <p:cNvSpPr/>
          <p:nvPr/>
        </p:nvSpPr>
        <p:spPr>
          <a:xfrm>
            <a:off x="7961809" y="1847155"/>
            <a:ext cx="3414216" cy="2935486"/>
          </a:xfrm>
          <a:prstGeom prst="roundRect">
            <a:avLst>
              <a:gd name="adj" fmla="val 3353"/>
            </a:avLst>
          </a:prstGeom>
          <a:solidFill>
            <a:srgbClr val="FDFCF9"/>
          </a:solidFill>
          <a:ln w="6350">
            <a:solidFill>
              <a:srgbClr val="DCD6C8"/>
            </a:solidFill>
            <a:prstDash val="solid"/>
          </a:ln>
        </p:spPr>
      </p:sp>
      <p:sp>
        <p:nvSpPr>
          <p:cNvPr id="17" name="Text 15"/>
          <p:cNvSpPr/>
          <p:nvPr/>
        </p:nvSpPr>
        <p:spPr>
          <a:xfrm>
            <a:off x="8168184" y="2053530"/>
            <a:ext cx="649288" cy="289520"/>
          </a:xfrm>
          <a:custGeom>
            <a:avLst/>
            <a:gdLst/>
            <a:ahLst/>
            <a:cxnLst/>
            <a:rect l="l" t="t" r="r" b="b"/>
            <a:pathLst>
              <a:path w="649288" h="289520">
                <a:moveTo>
                  <a:pt x="144760" y="0"/>
                </a:moveTo>
                <a:lnTo>
                  <a:pt x="504527" y="0"/>
                </a:lnTo>
                <a:arcTo wR="144760" hR="144760" stAng="16200000" swAng="5400000"/>
                <a:lnTo>
                  <a:pt x="649288" y="144760"/>
                </a:lnTo>
                <a:arcTo wR="144760" hR="144760" stAng="0" swAng="5400000"/>
                <a:lnTo>
                  <a:pt x="144760" y="289520"/>
                </a:lnTo>
                <a:arcTo wR="144760" hR="144760" stAng="5400000" swAng="5400000"/>
                <a:lnTo>
                  <a:pt x="0" y="144760"/>
                </a:lnTo>
                <a:arcTo wR="144760" hR="144760" stAng="10800000" swAng="5400000"/>
                <a:close/>
              </a:path>
            </a:pathLst>
          </a:custGeom>
          <a:solidFill>
            <a:srgbClr val="DCD6C8"/>
          </a:solidFill>
          <a:ln/>
        </p:spPr>
        <p:txBody>
          <a:bodyPr wrap="none" lIns="0" tIns="0" rIns="0" bIns="0" rtlCol="0" anchor="ctr">
            <a:normAutofit/>
          </a:bodyPr>
          <a:lstStyle/>
          <a:p>
            <a:pPr marL="0" indent="0" algn="ctr">
              <a:lnSpc>
                <a:spcPts val="1680"/>
              </a:lnSpc>
              <a:buNone/>
            </a:pPr>
            <a:r>
              <a:rPr lang="en-US" sz="1200" b="1" dirty="0">
                <a:solidFill>
                  <a:srgbClr val="1B2433"/>
                </a:solidFill>
                <a:latin typeface="Noto Sans KR" pitchFamily="34" charset="0"/>
                <a:ea typeface="Noto Sans KR" pitchFamily="34" charset="-122"/>
                <a:cs typeface="Noto Sans KR" pitchFamily="34" charset="-120"/>
              </a:rPr>
              <a:t>움직임</a:t>
            </a:r>
            <a:endParaRPr lang="en-US" sz="1200" dirty="0"/>
          </a:p>
        </p:txBody>
      </p:sp>
      <p:sp>
        <p:nvSpPr>
          <p:cNvPr id="18" name="Text 16"/>
          <p:cNvSpPr/>
          <p:nvPr/>
        </p:nvSpPr>
        <p:spPr>
          <a:xfrm>
            <a:off x="8168184" y="2431951"/>
            <a:ext cx="3091510" cy="295275"/>
          </a:xfrm>
          <a:prstGeom prst="rect">
            <a:avLst/>
          </a:prstGeom>
          <a:noFill/>
          <a:ln/>
        </p:spPr>
        <p:txBody>
          <a:bodyPr wrap="square" lIns="0" tIns="0" rIns="0" bIns="0" rtlCol="0" anchor="t">
            <a:normAutofit/>
          </a:bodyPr>
          <a:lstStyle/>
          <a:p>
            <a:pPr marL="0" indent="0" algn="l">
              <a:lnSpc>
                <a:spcPts val="2125"/>
              </a:lnSpc>
              <a:buNone/>
            </a:pPr>
            <a:r>
              <a:rPr lang="en-US" sz="1700" b="1" dirty="0">
                <a:solidFill>
                  <a:srgbClr val="1B2433"/>
                </a:solidFill>
                <a:latin typeface="Noto Sans KR" pitchFamily="34" charset="0"/>
                <a:ea typeface="Noto Sans KR" pitchFamily="34" charset="-122"/>
                <a:cs typeface="Noto Sans KR" pitchFamily="34" charset="-120"/>
              </a:rPr>
              <a:t>영상 미리보기 · 견적서</a:t>
            </a:r>
            <a:endParaRPr lang="en-US" sz="1700" dirty="0"/>
          </a:p>
        </p:txBody>
      </p:sp>
      <p:sp>
        <p:nvSpPr>
          <p:cNvPr id="19" name="Text 17"/>
          <p:cNvSpPr/>
          <p:nvPr/>
        </p:nvSpPr>
        <p:spPr>
          <a:xfrm>
            <a:off x="8168184" y="279072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언제</a:t>
            </a:r>
            <a:r>
              <a:rPr lang="en-US" sz="1300" dirty="0">
                <a:solidFill>
                  <a:srgbClr val="4A5263"/>
                </a:solidFill>
                <a:latin typeface="Noto Sans KR" pitchFamily="34" charset="0"/>
                <a:ea typeface="Noto Sans KR" pitchFamily="34" charset="-122"/>
                <a:cs typeface="Noto Sans KR" pitchFamily="34" charset="-120"/>
              </a:rPr>
              <a:t>　‘클릭해서 재생’을 누를 때, 스크롤할 때</a:t>
            </a:r>
            <a:endParaRPr lang="en-US" sz="1300" dirty="0"/>
          </a:p>
        </p:txBody>
      </p:sp>
      <p:sp>
        <p:nvSpPr>
          <p:cNvPr id="20" name="Text 18"/>
          <p:cNvSpPr/>
          <p:nvPr/>
        </p:nvSpPr>
        <p:spPr>
          <a:xfrm>
            <a:off x="8168184" y="3374926"/>
            <a:ext cx="3091510" cy="520700"/>
          </a:xfrm>
          <a:prstGeom prst="rect">
            <a:avLst/>
          </a:prstGeom>
          <a:noFill/>
          <a:ln/>
        </p:spPr>
        <p:txBody>
          <a:bodyPr wrap="square" lIns="0" tIns="0" rIns="0" bIns="0" rtlCol="0" anchor="t">
            <a:normAutofit/>
          </a:bodyPr>
          <a:lstStyle/>
          <a:p>
            <a:pPr marL="0" indent="0" algn="l">
              <a:lnSpc>
                <a:spcPts val="1950"/>
              </a:lnSpc>
              <a:buNone/>
            </a:pPr>
            <a:r>
              <a:rPr lang="en-US" sz="1300" b="1" dirty="0">
                <a:solidFill>
                  <a:srgbClr val="4A5263"/>
                </a:solidFill>
                <a:latin typeface="Noto Sans KR" pitchFamily="34" charset="0"/>
                <a:ea typeface="Noto Sans KR" pitchFamily="34" charset="-122"/>
                <a:cs typeface="Noto Sans KR" pitchFamily="34" charset="-120"/>
              </a:rPr>
              <a:t>결과</a:t>
            </a:r>
            <a:r>
              <a:rPr lang="en-US" sz="1300" dirty="0">
                <a:solidFill>
                  <a:srgbClr val="4A5263"/>
                </a:solidFill>
                <a:latin typeface="Noto Sans KR" pitchFamily="34" charset="0"/>
                <a:ea typeface="Noto Sans KR" pitchFamily="34" charset="-122"/>
                <a:cs typeface="Noto Sans KR" pitchFamily="34" charset="-120"/>
              </a:rPr>
              <a:t>　사진 자리에서 영상이 한 번 재생 / 견적서가 살짝 탄성 있게 따라옴</a:t>
            </a:r>
            <a:endParaRPr lang="en-US" sz="1300" dirty="0"/>
          </a:p>
        </p:txBody>
      </p:sp>
      <p:sp>
        <p:nvSpPr>
          <p:cNvPr id="21" name="Text 19"/>
          <p:cNvSpPr/>
          <p:nvPr/>
        </p:nvSpPr>
        <p:spPr>
          <a:xfrm>
            <a:off x="8168184" y="4048026"/>
            <a:ext cx="3001466" cy="528241"/>
          </a:xfrm>
          <a:prstGeom prst="roundRect">
            <a:avLst>
              <a:gd name="adj" fmla="val 9617"/>
            </a:avLst>
          </a:prstGeom>
          <a:solidFill>
            <a:srgbClr val="ECE9E1"/>
          </a:solidFill>
          <a:ln/>
        </p:spPr>
        <p:txBody>
          <a:bodyPr wrap="square" lIns="86721" tIns="35921" rIns="2773" bIns="10521" rtlCol="0" anchor="t">
            <a:normAutofit/>
          </a:bodyPr>
          <a:lstStyle/>
          <a:p>
            <a:pPr marL="0" indent="0" algn="l">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&lt;video&gt; · requestAnimationFrame</a:t>
            </a:r>
            <a:endParaRPr lang="en-US" sz="1200" dirty="0"/>
          </a:p>
        </p:txBody>
      </p:sp>
      <p:sp>
        <p:nvSpPr>
          <p:cNvPr id="22" name="Shape 20"/>
          <p:cNvSpPr/>
          <p:nvPr/>
        </p:nvSpPr>
        <p:spPr>
          <a:xfrm>
            <a:off x="812800" y="5014416"/>
            <a:ext cx="10566400" cy="535880"/>
          </a:xfrm>
          <a:prstGeom prst="roundRect">
            <a:avLst>
              <a:gd name="adj" fmla="val 18959"/>
            </a:avLst>
          </a:prstGeom>
          <a:solidFill>
            <a:srgbClr val="16202E"/>
          </a:solidFill>
          <a:ln/>
        </p:spPr>
      </p:sp>
      <p:sp>
        <p:nvSpPr>
          <p:cNvPr id="23" name="Text 21"/>
          <p:cNvSpPr/>
          <p:nvPr/>
        </p:nvSpPr>
        <p:spPr>
          <a:xfrm>
            <a:off x="1041399" y="5166816"/>
            <a:ext cx="711200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9CED8"/>
                </a:solidFill>
                <a:latin typeface="Noto Sans KR" pitchFamily="34" charset="0"/>
                <a:ea typeface="Noto Sans KR" pitchFamily="34" charset="-122"/>
                <a:cs typeface="Noto Sans KR" pitchFamily="34" charset="-120"/>
              </a:rPr>
              <a:t>AI에게 한 </a:t>
            </a:r>
            <a:r>
              <a:rPr lang="en-US" sz="1300" b="1">
                <a:solidFill>
                  <a:srgbClr val="C9CED8"/>
                </a:solidFill>
                <a:latin typeface="Noto Sans KR" pitchFamily="34" charset="0"/>
                <a:ea typeface="Noto Sans KR" pitchFamily="34" charset="-122"/>
                <a:cs typeface="Noto Sans KR" pitchFamily="34" charset="-120"/>
              </a:rPr>
              <a:t>요청</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선택이 바뀌면 견적 부분만 다시 그려 효과 반복을 막아줘</a:t>
            </a:r>
            <a:endParaRPr lang="en-US" sz="1300" dirty="0"/>
          </a:p>
        </p:txBody>
      </p:sp>
      <p:sp>
        <p:nvSpPr>
          <p:cNvPr id="24" name="Text 22"/>
          <p:cNvSpPr/>
          <p:nvPr/>
        </p:nvSpPr>
        <p:spPr>
          <a:xfrm>
            <a:off x="8381999" y="5166816"/>
            <a:ext cx="2921000" cy="256480"/>
          </a:xfrm>
          <a:prstGeom prst="rect">
            <a:avLst/>
          </a:prstGeom>
          <a:noFill/>
          <a:ln/>
        </p:spPr>
        <p:txBody>
          <a:bodyPr wrap="square" lIns="0" tIns="0" rIns="0" bIns="0" rtlCol="0" anchor="t">
            <a:normAutofit/>
          </a:bodyPr>
          <a:lstStyle/>
          <a:p>
            <a:pPr marL="0" indent="0" algn="l">
              <a:lnSpc>
                <a:spcPts val="1820"/>
              </a:lnSpc>
              <a:buNone/>
            </a:pPr>
            <a:r>
              <a:rPr lang="en-US" sz="1300" b="1">
                <a:solidFill>
                  <a:srgbClr val="C9CED8"/>
                </a:solidFill>
                <a:latin typeface="Noto Sans KR" pitchFamily="34" charset="0"/>
                <a:ea typeface="Noto Sans KR" pitchFamily="34" charset="-122"/>
                <a:cs typeface="Noto Sans KR" pitchFamily="34" charset="-120"/>
              </a:rPr>
              <a:t>시연</a:t>
            </a:r>
            <a:r>
              <a:rPr lang="en-US" sz="1300">
                <a:solidFill>
                  <a:srgbClr val="C9CED8"/>
                </a:solidFill>
                <a:latin typeface="Noto Sans KR" pitchFamily="34" charset="0"/>
                <a:ea typeface="Noto Sans KR" pitchFamily="34" charset="-122"/>
                <a:cs typeface="Noto Sans KR" pitchFamily="34" charset="-120"/>
              </a:rPr>
              <a:t>　</a:t>
            </a:r>
            <a:r>
              <a:rPr lang="ko-KR" altLang="en-US" sz="1300">
                <a:solidFill>
                  <a:srgbClr val="E8692C"/>
                </a:solidFill>
                <a:latin typeface="Noto Sans KR" pitchFamily="34" charset="0"/>
                <a:ea typeface="Noto Sans KR" pitchFamily="34" charset="-122"/>
                <a:cs typeface="Noto Sans KR" pitchFamily="34" charset="-120"/>
              </a:rPr>
              <a:t>발표 때 사이트 직접 시연</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RESPONSIVE · PC vs MOBILE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반응형 웹 </a:t>
            </a:r>
            <a:r>
              <a:rPr lang="en-US" altLang="ko-KR" sz="3200" b="1" i="0">
                <a:solidFill>
                  <a:srgbClr val="1B2433"/>
                </a:solidFill>
                <a:latin typeface="Noto Sans KR" pitchFamily="34" charset="0"/>
                <a:ea typeface="Noto Sans KR" pitchFamily="34" charset="-122"/>
                <a:cs typeface="Noto Sans KR" pitchFamily="34" charset="-120"/>
              </a:rPr>
              <a:t>— </a:t>
            </a:r>
            <a:r>
              <a:rPr lang="ko-KR" altLang="en-US" sz="3200" b="1" i="0">
                <a:solidFill>
                  <a:srgbClr val="1B2433"/>
                </a:solidFill>
                <a:latin typeface="Noto Sans KR" pitchFamily="34" charset="0"/>
                <a:ea typeface="Noto Sans KR" pitchFamily="34" charset="-122"/>
                <a:cs typeface="Noto Sans KR" pitchFamily="34" charset="-120"/>
              </a:rPr>
              <a:t>화면 크기에 따라 바뀌는 구성</a:t>
            </a:r>
            <a:endParaRPr lang="en-US" sz="3200" dirty="0"/>
          </a:p>
        </p:txBody>
      </p:sp>
      <p:sp>
        <p:nvSpPr>
          <p:cNvPr id="26" name="사각형: 둥근 모서리 25">
            <a:extLst>
              <a:ext uri="{FF2B5EF4-FFF2-40B4-BE49-F238E27FC236}">
                <a16:creationId xmlns:a16="http://schemas.microsoft.com/office/drawing/2014/main" id="{0FD1F8E6-BDC9-4511-95E4-FE76D94520CB}"/>
              </a:ext>
            </a:extLst>
          </p:cNvPr>
          <p:cNvSpPr/>
          <p:nvPr/>
        </p:nvSpPr>
        <p:spPr>
          <a:xfrm>
            <a:off x="812800" y="1905000"/>
            <a:ext cx="3416300" cy="2667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사각형: 둥근 모서리 26">
            <a:extLst>
              <a:ext uri="{FF2B5EF4-FFF2-40B4-BE49-F238E27FC236}">
                <a16:creationId xmlns:a16="http://schemas.microsoft.com/office/drawing/2014/main" id="{64C97285-BA64-4045-A6C0-00418E58B61A}"/>
              </a:ext>
            </a:extLst>
          </p:cNvPr>
          <p:cNvSpPr/>
          <p:nvPr/>
        </p:nvSpPr>
        <p:spPr>
          <a:xfrm>
            <a:off x="1028700" y="2120900"/>
            <a:ext cx="5080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1100" b="1">
                <a:solidFill>
                  <a:srgbClr val="FFFFFF"/>
                </a:solidFill>
                <a:latin typeface="Noto Sans KR" panose="020B0200000000000000" pitchFamily="50" charset="-127"/>
                <a:ea typeface="Noto Sans KR" panose="020B0200000000000000" pitchFamily="50" charset="-127"/>
              </a:rPr>
              <a:t>PC</a:t>
            </a:r>
            <a:endParaRPr lang="ko-KR" altLang="en-US" sz="1100" b="1">
              <a:solidFill>
                <a:srgbClr val="FFFFFF"/>
              </a:solidFill>
              <a:latin typeface="Noto Sans KR" panose="020B0200000000000000" pitchFamily="50" charset="-127"/>
              <a:ea typeface="Noto Sans KR" panose="020B0200000000000000" pitchFamily="50" charset="-127"/>
            </a:endParaRPr>
          </a:p>
        </p:txBody>
      </p:sp>
      <p:sp>
        <p:nvSpPr>
          <p:cNvPr id="28" name="TextBox 27">
            <a:extLst>
              <a:ext uri="{FF2B5EF4-FFF2-40B4-BE49-F238E27FC236}">
                <a16:creationId xmlns:a16="http://schemas.microsoft.com/office/drawing/2014/main" id="{6457180B-6E96-430B-B9D9-DF9D827E478A}"/>
              </a:ext>
            </a:extLst>
          </p:cNvPr>
          <p:cNvSpPr txBox="1"/>
          <p:nvPr/>
        </p:nvSpPr>
        <p:spPr>
          <a:xfrm>
            <a:off x="1028700" y="2514600"/>
            <a:ext cx="2984500" cy="369332"/>
          </a:xfrm>
          <a:prstGeom prst="rect">
            <a:avLst/>
          </a:prstGeom>
          <a:noFill/>
        </p:spPr>
        <p:txBody>
          <a:bodyPr vert="horz" wrap="square" lIns="0" tIns="0" rIns="0" bIns="0" rtlCol="0">
            <a:noAutofit/>
          </a:bodyPr>
          <a:lstStyle/>
          <a:p>
            <a:r>
              <a:rPr lang="en-US" altLang="ko-KR" sz="2000" b="1">
                <a:solidFill>
                  <a:srgbClr val="1B2433"/>
                </a:solidFill>
                <a:latin typeface="Noto Sans KR" panose="020B0200000000000000" pitchFamily="50" charset="-127"/>
                <a:ea typeface="Noto Sans KR" panose="020B0200000000000000" pitchFamily="50" charset="-127"/>
              </a:rPr>
              <a:t>1440px </a:t>
            </a:r>
            <a:r>
              <a:rPr lang="ko-KR" altLang="en-US" sz="2000" b="1">
                <a:solidFill>
                  <a:srgbClr val="1B2433"/>
                </a:solidFill>
                <a:latin typeface="Noto Sans KR" panose="020B0200000000000000" pitchFamily="50" charset="-127"/>
                <a:ea typeface="Noto Sans KR" panose="020B0200000000000000" pitchFamily="50" charset="-127"/>
              </a:rPr>
              <a:t>이상</a:t>
            </a:r>
          </a:p>
        </p:txBody>
      </p:sp>
      <p:sp>
        <p:nvSpPr>
          <p:cNvPr id="29" name="TextBox 28">
            <a:extLst>
              <a:ext uri="{FF2B5EF4-FFF2-40B4-BE49-F238E27FC236}">
                <a16:creationId xmlns:a16="http://schemas.microsoft.com/office/drawing/2014/main" id="{F7BD5F03-FFD7-4998-88B3-79EE35455E8C}"/>
              </a:ext>
            </a:extLst>
          </p:cNvPr>
          <p:cNvSpPr txBox="1"/>
          <p:nvPr/>
        </p:nvSpPr>
        <p:spPr>
          <a:xfrm>
            <a:off x="1028700" y="2946400"/>
            <a:ext cx="29845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메뉴를 가로로 펼치고 카드를 여러 열로 배치</a:t>
            </a:r>
          </a:p>
        </p:txBody>
      </p:sp>
      <p:sp>
        <p:nvSpPr>
          <p:cNvPr id="30" name="TextBox 29">
            <a:extLst>
              <a:ext uri="{FF2B5EF4-FFF2-40B4-BE49-F238E27FC236}">
                <a16:creationId xmlns:a16="http://schemas.microsoft.com/office/drawing/2014/main" id="{1091D87F-0BFA-4723-97F3-F9A38024ED1C}"/>
              </a:ext>
            </a:extLst>
          </p:cNvPr>
          <p:cNvSpPr txBox="1"/>
          <p:nvPr/>
        </p:nvSpPr>
        <p:spPr>
          <a:xfrm>
            <a:off x="1028700" y="3683000"/>
            <a:ext cx="2984500" cy="369332"/>
          </a:xfrm>
          <a:prstGeom prst="rect">
            <a:avLst/>
          </a:prstGeom>
          <a:noFill/>
        </p:spPr>
        <p:txBody>
          <a:bodyPr vert="horz" wrap="square" lIns="0" tIns="0" rIns="0" bIns="0" rtlCol="0">
            <a:noAutofit/>
          </a:bodyPr>
          <a:lstStyle/>
          <a:p>
            <a:r>
              <a:rPr lang="ko-KR" altLang="en-US" sz="1300" b="1">
                <a:solidFill>
                  <a:srgbClr val="1B2433"/>
                </a:solidFill>
                <a:latin typeface="Noto Sans KR" panose="020B0200000000000000" pitchFamily="50" charset="-127"/>
                <a:ea typeface="Noto Sans KR" panose="020B0200000000000000" pitchFamily="50" charset="-127"/>
              </a:rPr>
              <a:t>우리 사이트</a:t>
            </a:r>
            <a:r>
              <a:rPr lang="ko-KR" altLang="en-US" sz="1300">
                <a:solidFill>
                  <a:srgbClr val="4A505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a:t>
            </a:r>
            <a:r>
              <a:rPr lang="ko-KR" altLang="en-US" sz="1300">
                <a:solidFill>
                  <a:srgbClr val="E8692C"/>
                </a:solidFill>
                <a:latin typeface="Noto Sans KR" panose="020B0200000000000000" pitchFamily="50" charset="-127"/>
                <a:ea typeface="Noto Sans KR" panose="020B0200000000000000" pitchFamily="50" charset="-127"/>
              </a:rPr>
              <a:t>가로 메뉴 </a:t>
            </a:r>
            <a:r>
              <a:rPr lang="en-US" altLang="ko-KR" sz="1300">
                <a:solidFill>
                  <a:srgbClr val="E8692C"/>
                </a:solidFill>
                <a:latin typeface="Noto Sans KR" panose="020B0200000000000000" pitchFamily="50" charset="-127"/>
                <a:ea typeface="Noto Sans KR" panose="020B0200000000000000" pitchFamily="50" charset="-127"/>
              </a:rPr>
              <a:t>· 4</a:t>
            </a:r>
            <a:r>
              <a:rPr lang="ko-KR" altLang="en-US" sz="1300">
                <a:solidFill>
                  <a:srgbClr val="E8692C"/>
                </a:solidFill>
                <a:latin typeface="Noto Sans KR" panose="020B0200000000000000" pitchFamily="50" charset="-127"/>
                <a:ea typeface="Noto Sans KR" panose="020B0200000000000000" pitchFamily="50" charset="-127"/>
              </a:rPr>
              <a:t>열 카드</a:t>
            </a:r>
            <a:r>
              <a:rPr lang="en-US" altLang="ko-KR" sz="1300">
                <a:solidFill>
                  <a:srgbClr val="E8692C"/>
                </a:solidFill>
                <a:latin typeface="Noto Sans KR" panose="020B0200000000000000" pitchFamily="50" charset="-127"/>
                <a:ea typeface="Noto Sans KR" panose="020B0200000000000000" pitchFamily="50" charset="-127"/>
              </a:rPr>
              <a:t>]</a:t>
            </a:r>
            <a:endParaRPr lang="ko-KR" altLang="en-US" sz="1300">
              <a:solidFill>
                <a:srgbClr val="E8692C"/>
              </a:solidFill>
              <a:latin typeface="Noto Sans KR" panose="020B0200000000000000" pitchFamily="50" charset="-127"/>
              <a:ea typeface="Noto Sans KR" panose="020B0200000000000000" pitchFamily="50" charset="-127"/>
            </a:endParaRPr>
          </a:p>
        </p:txBody>
      </p:sp>
      <p:sp>
        <p:nvSpPr>
          <p:cNvPr id="31" name="사각형: 둥근 모서리 30">
            <a:extLst>
              <a:ext uri="{FF2B5EF4-FFF2-40B4-BE49-F238E27FC236}">
                <a16:creationId xmlns:a16="http://schemas.microsoft.com/office/drawing/2014/main" id="{691C8B2B-60B2-4983-A146-5CBB1FDAE3A5}"/>
              </a:ext>
            </a:extLst>
          </p:cNvPr>
          <p:cNvSpPr/>
          <p:nvPr/>
        </p:nvSpPr>
        <p:spPr>
          <a:xfrm>
            <a:off x="4381500" y="1905000"/>
            <a:ext cx="3416300" cy="2667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사각형: 둥근 모서리 31">
            <a:extLst>
              <a:ext uri="{FF2B5EF4-FFF2-40B4-BE49-F238E27FC236}">
                <a16:creationId xmlns:a16="http://schemas.microsoft.com/office/drawing/2014/main" id="{056DC4D5-6B91-4DF2-9893-127238423014}"/>
              </a:ext>
            </a:extLst>
          </p:cNvPr>
          <p:cNvSpPr/>
          <p:nvPr/>
        </p:nvSpPr>
        <p:spPr>
          <a:xfrm>
            <a:off x="4597400" y="2120900"/>
            <a:ext cx="647700" cy="279400"/>
          </a:xfrm>
          <a:prstGeom prst="roundRect">
            <a:avLst>
              <a:gd name="adj" fmla="val 50000"/>
            </a:avLst>
          </a:prstGeom>
          <a:solidFill>
            <a:srgbClr val="E869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태블릿</a:t>
            </a:r>
          </a:p>
        </p:txBody>
      </p:sp>
      <p:sp>
        <p:nvSpPr>
          <p:cNvPr id="33" name="TextBox 32">
            <a:extLst>
              <a:ext uri="{FF2B5EF4-FFF2-40B4-BE49-F238E27FC236}">
                <a16:creationId xmlns:a16="http://schemas.microsoft.com/office/drawing/2014/main" id="{F1E2645C-C52B-4265-A4EB-008D43359CA6}"/>
              </a:ext>
            </a:extLst>
          </p:cNvPr>
          <p:cNvSpPr txBox="1"/>
          <p:nvPr/>
        </p:nvSpPr>
        <p:spPr>
          <a:xfrm>
            <a:off x="4597400" y="2514600"/>
            <a:ext cx="2984500" cy="369332"/>
          </a:xfrm>
          <a:prstGeom prst="rect">
            <a:avLst/>
          </a:prstGeom>
          <a:noFill/>
        </p:spPr>
        <p:txBody>
          <a:bodyPr vert="horz" wrap="square" lIns="0" tIns="0" rIns="0" bIns="0" rtlCol="0">
            <a:noAutofit/>
          </a:bodyPr>
          <a:lstStyle/>
          <a:p>
            <a:r>
              <a:rPr lang="en-US" altLang="ko-KR" sz="2000" b="1">
                <a:solidFill>
                  <a:srgbClr val="1B2433"/>
                </a:solidFill>
                <a:latin typeface="Noto Sans KR" panose="020B0200000000000000" pitchFamily="50" charset="-127"/>
                <a:ea typeface="Noto Sans KR" panose="020B0200000000000000" pitchFamily="50" charset="-127"/>
              </a:rPr>
              <a:t>768 ~ 1439px</a:t>
            </a:r>
            <a:endParaRPr lang="ko-KR" altLang="en-US" sz="2000" b="1">
              <a:solidFill>
                <a:srgbClr val="1B2433"/>
              </a:solidFill>
              <a:latin typeface="Noto Sans KR" panose="020B0200000000000000" pitchFamily="50" charset="-127"/>
              <a:ea typeface="Noto Sans KR" panose="020B0200000000000000" pitchFamily="50" charset="-127"/>
            </a:endParaRPr>
          </a:p>
        </p:txBody>
      </p:sp>
      <p:sp>
        <p:nvSpPr>
          <p:cNvPr id="34" name="TextBox 33">
            <a:extLst>
              <a:ext uri="{FF2B5EF4-FFF2-40B4-BE49-F238E27FC236}">
                <a16:creationId xmlns:a16="http://schemas.microsoft.com/office/drawing/2014/main" id="{6C1E64EF-5F52-45E2-B0CF-CC923ADE6D52}"/>
              </a:ext>
            </a:extLst>
          </p:cNvPr>
          <p:cNvSpPr txBox="1"/>
          <p:nvPr/>
        </p:nvSpPr>
        <p:spPr>
          <a:xfrm>
            <a:off x="4597400" y="2946400"/>
            <a:ext cx="29845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여백을 줄이고 카드를 </a:t>
            </a:r>
            <a:r>
              <a:rPr lang="en-US" altLang="ko-KR" sz="1300">
                <a:solidFill>
                  <a:srgbClr val="4A505C"/>
                </a:solidFill>
                <a:latin typeface="Noto Sans KR" panose="020B0200000000000000" pitchFamily="50" charset="-127"/>
                <a:ea typeface="Noto Sans KR" panose="020B0200000000000000" pitchFamily="50" charset="-127"/>
              </a:rPr>
              <a:t>2</a:t>
            </a:r>
            <a:r>
              <a:rPr lang="ko-KR" altLang="en-US" sz="1300">
                <a:solidFill>
                  <a:srgbClr val="4A505C"/>
                </a:solidFill>
                <a:latin typeface="Noto Sans KR" panose="020B0200000000000000" pitchFamily="50" charset="-127"/>
                <a:ea typeface="Noto Sans KR" panose="020B0200000000000000" pitchFamily="50" charset="-127"/>
              </a:rPr>
              <a:t>열로 정리</a:t>
            </a:r>
          </a:p>
        </p:txBody>
      </p:sp>
      <p:sp>
        <p:nvSpPr>
          <p:cNvPr id="35" name="TextBox 34">
            <a:extLst>
              <a:ext uri="{FF2B5EF4-FFF2-40B4-BE49-F238E27FC236}">
                <a16:creationId xmlns:a16="http://schemas.microsoft.com/office/drawing/2014/main" id="{2071E505-BD1D-4113-B724-E23538DE4FB2}"/>
              </a:ext>
            </a:extLst>
          </p:cNvPr>
          <p:cNvSpPr txBox="1"/>
          <p:nvPr/>
        </p:nvSpPr>
        <p:spPr>
          <a:xfrm>
            <a:off x="4597400" y="3683000"/>
            <a:ext cx="2984500" cy="369332"/>
          </a:xfrm>
          <a:prstGeom prst="rect">
            <a:avLst/>
          </a:prstGeom>
          <a:noFill/>
        </p:spPr>
        <p:txBody>
          <a:bodyPr vert="horz" wrap="square" lIns="0" tIns="0" rIns="0" bIns="0" rtlCol="0">
            <a:noAutofit/>
          </a:bodyPr>
          <a:lstStyle/>
          <a:p>
            <a:r>
              <a:rPr lang="ko-KR" altLang="en-US" sz="1300" b="1">
                <a:solidFill>
                  <a:srgbClr val="1B2433"/>
                </a:solidFill>
                <a:latin typeface="Noto Sans KR" panose="020B0200000000000000" pitchFamily="50" charset="-127"/>
                <a:ea typeface="Noto Sans KR" panose="020B0200000000000000" pitchFamily="50" charset="-127"/>
              </a:rPr>
              <a:t>우리 사이트</a:t>
            </a:r>
            <a:r>
              <a:rPr lang="ko-KR" altLang="en-US" sz="1300">
                <a:solidFill>
                  <a:srgbClr val="4A505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[2</a:t>
            </a:r>
            <a:r>
              <a:rPr lang="ko-KR" altLang="en-US" sz="1300">
                <a:solidFill>
                  <a:srgbClr val="E8692C"/>
                </a:solidFill>
                <a:latin typeface="Noto Sans KR" panose="020B0200000000000000" pitchFamily="50" charset="-127"/>
                <a:ea typeface="Noto Sans KR" panose="020B0200000000000000" pitchFamily="50" charset="-127"/>
              </a:rPr>
              <a:t>열 카드 </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여백 축소</a:t>
            </a:r>
            <a:r>
              <a:rPr lang="en-US" altLang="ko-KR" sz="1300">
                <a:solidFill>
                  <a:srgbClr val="E8692C"/>
                </a:solidFill>
                <a:latin typeface="Noto Sans KR" panose="020B0200000000000000" pitchFamily="50" charset="-127"/>
                <a:ea typeface="Noto Sans KR" panose="020B0200000000000000" pitchFamily="50" charset="-127"/>
              </a:rPr>
              <a:t>]</a:t>
            </a:r>
            <a:endParaRPr lang="ko-KR" altLang="en-US" sz="1300">
              <a:solidFill>
                <a:srgbClr val="E8692C"/>
              </a:solidFill>
              <a:latin typeface="Noto Sans KR" panose="020B0200000000000000" pitchFamily="50" charset="-127"/>
              <a:ea typeface="Noto Sans KR" panose="020B0200000000000000" pitchFamily="50" charset="-127"/>
            </a:endParaRPr>
          </a:p>
        </p:txBody>
      </p:sp>
      <p:sp>
        <p:nvSpPr>
          <p:cNvPr id="36" name="사각형: 둥근 모서리 35">
            <a:extLst>
              <a:ext uri="{FF2B5EF4-FFF2-40B4-BE49-F238E27FC236}">
                <a16:creationId xmlns:a16="http://schemas.microsoft.com/office/drawing/2014/main" id="{E4EA22B0-D63D-4E7F-A192-7BF8845B195D}"/>
              </a:ext>
            </a:extLst>
          </p:cNvPr>
          <p:cNvSpPr/>
          <p:nvPr/>
        </p:nvSpPr>
        <p:spPr>
          <a:xfrm>
            <a:off x="7950200" y="1905000"/>
            <a:ext cx="3416300" cy="26670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사각형: 둥근 모서리 36">
            <a:extLst>
              <a:ext uri="{FF2B5EF4-FFF2-40B4-BE49-F238E27FC236}">
                <a16:creationId xmlns:a16="http://schemas.microsoft.com/office/drawing/2014/main" id="{CE2DBC5D-5AE0-44D9-9AB4-7A29EEF509A5}"/>
              </a:ext>
            </a:extLst>
          </p:cNvPr>
          <p:cNvSpPr/>
          <p:nvPr/>
        </p:nvSpPr>
        <p:spPr>
          <a:xfrm>
            <a:off x="8166100" y="2120900"/>
            <a:ext cx="647700" cy="279400"/>
          </a:xfrm>
          <a:prstGeom prst="roundRect">
            <a:avLst>
              <a:gd name="adj" fmla="val 50000"/>
            </a:avLst>
          </a:prstGeom>
          <a:solidFill>
            <a:srgbClr val="DCD6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100" b="1">
                <a:solidFill>
                  <a:srgbClr val="1B2433"/>
                </a:solidFill>
                <a:latin typeface="Noto Sans KR" panose="020B0200000000000000" pitchFamily="50" charset="-127"/>
                <a:ea typeface="Noto Sans KR" panose="020B0200000000000000" pitchFamily="50" charset="-127"/>
              </a:rPr>
              <a:t>모바일</a:t>
            </a:r>
          </a:p>
        </p:txBody>
      </p:sp>
      <p:sp>
        <p:nvSpPr>
          <p:cNvPr id="38" name="TextBox 37">
            <a:extLst>
              <a:ext uri="{FF2B5EF4-FFF2-40B4-BE49-F238E27FC236}">
                <a16:creationId xmlns:a16="http://schemas.microsoft.com/office/drawing/2014/main" id="{16E23FAB-204A-40A8-9D49-100F61C8827D}"/>
              </a:ext>
            </a:extLst>
          </p:cNvPr>
          <p:cNvSpPr txBox="1"/>
          <p:nvPr/>
        </p:nvSpPr>
        <p:spPr>
          <a:xfrm>
            <a:off x="8166100" y="2514600"/>
            <a:ext cx="2984500" cy="369332"/>
          </a:xfrm>
          <a:prstGeom prst="rect">
            <a:avLst/>
          </a:prstGeom>
          <a:noFill/>
        </p:spPr>
        <p:txBody>
          <a:bodyPr vert="horz" wrap="square" lIns="0" tIns="0" rIns="0" bIns="0" rtlCol="0">
            <a:noAutofit/>
          </a:bodyPr>
          <a:lstStyle/>
          <a:p>
            <a:r>
              <a:rPr lang="en-US" altLang="ko-KR" sz="2000" b="1">
                <a:solidFill>
                  <a:srgbClr val="1B2433"/>
                </a:solidFill>
                <a:latin typeface="Noto Sans KR" panose="020B0200000000000000" pitchFamily="50" charset="-127"/>
                <a:ea typeface="Noto Sans KR" panose="020B0200000000000000" pitchFamily="50" charset="-127"/>
              </a:rPr>
              <a:t>390 ~ 767px</a:t>
            </a:r>
            <a:endParaRPr lang="ko-KR" altLang="en-US" sz="2000" b="1">
              <a:solidFill>
                <a:srgbClr val="1B2433"/>
              </a:solidFill>
              <a:latin typeface="Noto Sans KR" panose="020B0200000000000000" pitchFamily="50" charset="-127"/>
              <a:ea typeface="Noto Sans KR" panose="020B0200000000000000" pitchFamily="50" charset="-127"/>
            </a:endParaRPr>
          </a:p>
        </p:txBody>
      </p:sp>
      <p:sp>
        <p:nvSpPr>
          <p:cNvPr id="39" name="TextBox 38">
            <a:extLst>
              <a:ext uri="{FF2B5EF4-FFF2-40B4-BE49-F238E27FC236}">
                <a16:creationId xmlns:a16="http://schemas.microsoft.com/office/drawing/2014/main" id="{1BFA5975-2AA9-4F10-9E86-29226C248474}"/>
              </a:ext>
            </a:extLst>
          </p:cNvPr>
          <p:cNvSpPr txBox="1"/>
          <p:nvPr/>
        </p:nvSpPr>
        <p:spPr>
          <a:xfrm>
            <a:off x="8166100" y="2946400"/>
            <a:ext cx="2984500" cy="369332"/>
          </a:xfrm>
          <a:prstGeom prst="rect">
            <a:avLst/>
          </a:prstGeom>
          <a:noFill/>
        </p:spPr>
        <p:txBody>
          <a:bodyPr vert="horz" wrap="square" lIns="0" tIns="0" rIns="0" bIns="0" rtlCol="0">
            <a:noAutofit/>
          </a:bodyPr>
          <a:lstStyle/>
          <a:p>
            <a:r>
              <a:rPr lang="ko-KR" altLang="en-US" sz="1300">
                <a:solidFill>
                  <a:srgbClr val="4A505C"/>
                </a:solidFill>
                <a:latin typeface="Noto Sans KR" panose="020B0200000000000000" pitchFamily="50" charset="-127"/>
                <a:ea typeface="Noto Sans KR" panose="020B0200000000000000" pitchFamily="50" charset="-127"/>
              </a:rPr>
              <a:t>메뉴를 접고 내용을 한 줄로 세로 배치</a:t>
            </a:r>
          </a:p>
        </p:txBody>
      </p:sp>
      <p:sp>
        <p:nvSpPr>
          <p:cNvPr id="40" name="TextBox 39">
            <a:extLst>
              <a:ext uri="{FF2B5EF4-FFF2-40B4-BE49-F238E27FC236}">
                <a16:creationId xmlns:a16="http://schemas.microsoft.com/office/drawing/2014/main" id="{90430445-0330-40A1-846B-69C4FD2C5B4D}"/>
              </a:ext>
            </a:extLst>
          </p:cNvPr>
          <p:cNvSpPr txBox="1"/>
          <p:nvPr/>
        </p:nvSpPr>
        <p:spPr>
          <a:xfrm>
            <a:off x="8166100" y="3683000"/>
            <a:ext cx="2984500" cy="369332"/>
          </a:xfrm>
          <a:prstGeom prst="rect">
            <a:avLst/>
          </a:prstGeom>
          <a:noFill/>
        </p:spPr>
        <p:txBody>
          <a:bodyPr vert="horz" wrap="square" lIns="0" tIns="0" rIns="0" bIns="0" rtlCol="0">
            <a:noAutofit/>
          </a:bodyPr>
          <a:lstStyle/>
          <a:p>
            <a:r>
              <a:rPr lang="ko-KR" altLang="en-US" sz="1300" b="1">
                <a:solidFill>
                  <a:srgbClr val="1B2433"/>
                </a:solidFill>
                <a:latin typeface="Noto Sans KR" panose="020B0200000000000000" pitchFamily="50" charset="-127"/>
                <a:ea typeface="Noto Sans KR" panose="020B0200000000000000" pitchFamily="50" charset="-127"/>
              </a:rPr>
              <a:t>우리 사이트</a:t>
            </a:r>
            <a:r>
              <a:rPr lang="ko-KR" altLang="en-US" sz="1300">
                <a:solidFill>
                  <a:srgbClr val="4A505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a:t>
            </a:r>
            <a:r>
              <a:rPr lang="ko-KR" altLang="en-US" sz="1300">
                <a:solidFill>
                  <a:srgbClr val="E8692C"/>
                </a:solidFill>
                <a:latin typeface="Noto Sans KR" panose="020B0200000000000000" pitchFamily="50" charset="-127"/>
                <a:ea typeface="Noto Sans KR" panose="020B0200000000000000" pitchFamily="50" charset="-127"/>
              </a:rPr>
              <a:t>햄버거 메뉴 </a:t>
            </a:r>
            <a:r>
              <a:rPr lang="en-US" altLang="ko-KR" sz="1300">
                <a:solidFill>
                  <a:srgbClr val="E8692C"/>
                </a:solidFill>
                <a:latin typeface="Noto Sans KR" panose="020B0200000000000000" pitchFamily="50" charset="-127"/>
                <a:ea typeface="Noto Sans KR" panose="020B0200000000000000" pitchFamily="50" charset="-127"/>
              </a:rPr>
              <a:t>· 1</a:t>
            </a:r>
            <a:r>
              <a:rPr lang="ko-KR" altLang="en-US" sz="1300">
                <a:solidFill>
                  <a:srgbClr val="E8692C"/>
                </a:solidFill>
                <a:latin typeface="Noto Sans KR" panose="020B0200000000000000" pitchFamily="50" charset="-127"/>
                <a:ea typeface="Noto Sans KR" panose="020B0200000000000000" pitchFamily="50" charset="-127"/>
              </a:rPr>
              <a:t>열</a:t>
            </a:r>
            <a:r>
              <a:rPr lang="en-US" altLang="ko-KR" sz="1300">
                <a:solidFill>
                  <a:srgbClr val="E8692C"/>
                </a:solidFill>
                <a:latin typeface="Noto Sans KR" panose="020B0200000000000000" pitchFamily="50" charset="-127"/>
                <a:ea typeface="Noto Sans KR" panose="020B0200000000000000" pitchFamily="50" charset="-127"/>
              </a:rPr>
              <a:t>]</a:t>
            </a:r>
            <a:endParaRPr lang="ko-KR" altLang="en-US" sz="1300">
              <a:solidFill>
                <a:srgbClr val="E8692C"/>
              </a:solidFill>
              <a:latin typeface="Noto Sans KR" panose="020B0200000000000000" pitchFamily="50" charset="-127"/>
              <a:ea typeface="Noto Sans KR" panose="020B0200000000000000" pitchFamily="50" charset="-127"/>
            </a:endParaRPr>
          </a:p>
        </p:txBody>
      </p:sp>
      <p:sp>
        <p:nvSpPr>
          <p:cNvPr id="41" name="사각형: 둥근 모서리 40">
            <a:extLst>
              <a:ext uri="{FF2B5EF4-FFF2-40B4-BE49-F238E27FC236}">
                <a16:creationId xmlns:a16="http://schemas.microsoft.com/office/drawing/2014/main" id="{E3176F14-1B8E-4A90-83BE-DC2AF02D11BE}"/>
              </a:ext>
            </a:extLst>
          </p:cNvPr>
          <p:cNvSpPr/>
          <p:nvPr/>
        </p:nvSpPr>
        <p:spPr>
          <a:xfrm>
            <a:off x="812800" y="4826000"/>
            <a:ext cx="10566400" cy="584200"/>
          </a:xfrm>
          <a:prstGeom prst="roundRect">
            <a:avLst>
              <a:gd name="adj" fmla="val 6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5445BB8B-606C-4C83-BB37-BD1C613F97C9}"/>
              </a:ext>
            </a:extLst>
          </p:cNvPr>
          <p:cNvSpPr txBox="1"/>
          <p:nvPr/>
        </p:nvSpPr>
        <p:spPr>
          <a:xfrm>
            <a:off x="1066800" y="5003800"/>
            <a:ext cx="5080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적용 방법</a:t>
            </a:r>
            <a:r>
              <a:rPr lang="ko-KR" altLang="en-US" sz="1300">
                <a:solidFill>
                  <a:srgbClr val="4A505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[CSS @media (max-width: 768px)]</a:t>
            </a:r>
            <a:endParaRPr lang="ko-KR" altLang="en-US" sz="1300">
              <a:solidFill>
                <a:srgbClr val="E8692C"/>
              </a:solidFill>
              <a:latin typeface="Noto Sans KR" panose="020B0200000000000000" pitchFamily="50" charset="-127"/>
              <a:ea typeface="Noto Sans KR" panose="020B0200000000000000" pitchFamily="50" charset="-127"/>
            </a:endParaRPr>
          </a:p>
        </p:txBody>
      </p:sp>
      <p:sp>
        <p:nvSpPr>
          <p:cNvPr id="43" name="TextBox 42">
            <a:extLst>
              <a:ext uri="{FF2B5EF4-FFF2-40B4-BE49-F238E27FC236}">
                <a16:creationId xmlns:a16="http://schemas.microsoft.com/office/drawing/2014/main" id="{D88AB7BC-21FF-4398-BCC1-2E243168F282}"/>
              </a:ext>
            </a:extLst>
          </p:cNvPr>
          <p:cNvSpPr txBox="1"/>
          <p:nvPr/>
        </p:nvSpPr>
        <p:spPr>
          <a:xfrm>
            <a:off x="6350000" y="5003800"/>
            <a:ext cx="4826000" cy="369332"/>
          </a:xfrm>
          <a:prstGeom prst="rect">
            <a:avLst/>
          </a:prstGeom>
          <a:noFill/>
        </p:spPr>
        <p:txBody>
          <a:bodyPr vert="horz" wrap="square" lIns="0" tIns="0" rIns="0" bIns="0" rtlCol="0">
            <a:noAutofit/>
          </a:bodyPr>
          <a:lstStyle/>
          <a:p>
            <a:r>
              <a:rPr lang="ko-KR" altLang="en-US" sz="1300" b="1">
                <a:solidFill>
                  <a:srgbClr val="FFFFFF"/>
                </a:solidFill>
                <a:latin typeface="Noto Sans KR" panose="020B0200000000000000" pitchFamily="50" charset="-127"/>
                <a:ea typeface="Noto Sans KR" panose="020B0200000000000000" pitchFamily="50" charset="-127"/>
              </a:rPr>
              <a:t>확인 도구</a:t>
            </a:r>
            <a:r>
              <a:rPr lang="ko-KR" altLang="en-US" sz="1300">
                <a:solidFill>
                  <a:srgbClr val="4A505C"/>
                </a:solidFill>
                <a:latin typeface="Noto Sans KR" panose="020B0200000000000000" pitchFamily="50" charset="-127"/>
                <a:ea typeface="Noto Sans KR" panose="020B0200000000000000" pitchFamily="50" charset="-127"/>
              </a:rPr>
              <a:t>　</a:t>
            </a:r>
            <a:r>
              <a:rPr lang="en-US" altLang="ko-KR" sz="1300">
                <a:solidFill>
                  <a:srgbClr val="E8692C"/>
                </a:solidFill>
                <a:latin typeface="Noto Sans KR" panose="020B0200000000000000" pitchFamily="50" charset="-127"/>
                <a:ea typeface="Noto Sans KR" panose="020B0200000000000000" pitchFamily="50" charset="-127"/>
              </a:rPr>
              <a:t>[</a:t>
            </a:r>
            <a:r>
              <a:rPr lang="ko-KR" altLang="en-US" sz="1300">
                <a:solidFill>
                  <a:srgbClr val="E8692C"/>
                </a:solidFill>
                <a:latin typeface="Noto Sans KR" panose="020B0200000000000000" pitchFamily="50" charset="-127"/>
                <a:ea typeface="Noto Sans KR" panose="020B0200000000000000" pitchFamily="50" charset="-127"/>
              </a:rPr>
              <a:t>크롬 개발자 도구 </a:t>
            </a:r>
            <a:r>
              <a:rPr lang="en-US" altLang="ko-KR" sz="1300">
                <a:solidFill>
                  <a:srgbClr val="E8692C"/>
                </a:solidFill>
                <a:latin typeface="Noto Sans KR" panose="020B0200000000000000" pitchFamily="50" charset="-127"/>
                <a:ea typeface="Noto Sans KR" panose="020B0200000000000000" pitchFamily="50" charset="-127"/>
              </a:rPr>
              <a:t>· </a:t>
            </a:r>
            <a:r>
              <a:rPr lang="ko-KR" altLang="en-US" sz="1300">
                <a:solidFill>
                  <a:srgbClr val="E8692C"/>
                </a:solidFill>
                <a:latin typeface="Noto Sans KR" panose="020B0200000000000000" pitchFamily="50" charset="-127"/>
                <a:ea typeface="Noto Sans KR" panose="020B0200000000000000" pitchFamily="50" charset="-127"/>
              </a:rPr>
              <a:t>실제 휴대폰</a:t>
            </a:r>
            <a:r>
              <a:rPr lang="en-US" altLang="ko-KR" sz="1300">
                <a:solidFill>
                  <a:srgbClr val="E8692C"/>
                </a:solidFill>
                <a:latin typeface="Noto Sans KR" panose="020B0200000000000000" pitchFamily="50" charset="-127"/>
                <a:ea typeface="Noto Sans KR" panose="020B0200000000000000" pitchFamily="50" charset="-127"/>
              </a:rPr>
              <a:t>]</a:t>
            </a:r>
            <a:endParaRPr lang="ko-KR" altLang="en-US" sz="1300">
              <a:solidFill>
                <a:srgbClr val="E8692C"/>
              </a:solidFill>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1230413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RESPONSIVE · PC vs MOBILE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a:solidFill>
                  <a:srgbClr val="1B2433"/>
                </a:solidFill>
                <a:latin typeface="Noto Sans KR" pitchFamily="34" charset="0"/>
                <a:ea typeface="Noto Sans KR" pitchFamily="34" charset="-122"/>
                <a:cs typeface="Noto Sans KR" pitchFamily="34" charset="-120"/>
              </a:rPr>
              <a:t>ABOUT US — PC</a:t>
            </a:r>
            <a:r>
              <a:rPr lang="ko-KR" altLang="en-US" sz="3200" b="1" i="0">
                <a:solidFill>
                  <a:srgbClr val="1B2433"/>
                </a:solidFill>
                <a:latin typeface="Noto Sans KR" pitchFamily="34" charset="0"/>
                <a:ea typeface="Noto Sans KR" pitchFamily="34" charset="-122"/>
                <a:cs typeface="Noto Sans KR" pitchFamily="34" charset="-120"/>
              </a:rPr>
              <a:t>와 모바일 비교</a:t>
            </a:r>
            <a:endParaRPr lang="en-US" sz="3200" dirty="0"/>
          </a:p>
        </p:txBody>
      </p:sp>
      <p:sp>
        <p:nvSpPr>
          <p:cNvPr id="26" name="사각형: 둥근 모서리 25">
            <a:extLst>
              <a:ext uri="{FF2B5EF4-FFF2-40B4-BE49-F238E27FC236}">
                <a16:creationId xmlns:a16="http://schemas.microsoft.com/office/drawing/2014/main" id="{0247B672-3854-4EC4-A477-FAD68AB2FEB6}"/>
              </a:ext>
            </a:extLst>
          </p:cNvPr>
          <p:cNvSpPr/>
          <p:nvPr/>
        </p:nvSpPr>
        <p:spPr>
          <a:xfrm>
            <a:off x="812800" y="1905000"/>
            <a:ext cx="5969000" cy="40386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0AE274E0-1AA9-4F8D-8128-867532CDD543}"/>
              </a:ext>
            </a:extLst>
          </p:cNvPr>
          <p:cNvSpPr/>
          <p:nvPr/>
        </p:nvSpPr>
        <p:spPr>
          <a:xfrm>
            <a:off x="965200" y="2006600"/>
            <a:ext cx="88900" cy="88900"/>
          </a:xfrm>
          <a:prstGeom prst="ellipse">
            <a:avLst/>
          </a:prstGeom>
          <a:solidFill>
            <a:srgbClr val="F26D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a:extLst>
              <a:ext uri="{FF2B5EF4-FFF2-40B4-BE49-F238E27FC236}">
                <a16:creationId xmlns:a16="http://schemas.microsoft.com/office/drawing/2014/main" id="{07FCC9E2-A269-48EA-8459-3250B76D41BB}"/>
              </a:ext>
            </a:extLst>
          </p:cNvPr>
          <p:cNvSpPr/>
          <p:nvPr/>
        </p:nvSpPr>
        <p:spPr>
          <a:xfrm>
            <a:off x="1117600" y="2006600"/>
            <a:ext cx="88900" cy="88900"/>
          </a:xfrm>
          <a:prstGeom prst="ellipse">
            <a:avLst/>
          </a:prstGeom>
          <a:solidFill>
            <a:srgbClr val="F5BE4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a:extLst>
              <a:ext uri="{FF2B5EF4-FFF2-40B4-BE49-F238E27FC236}">
                <a16:creationId xmlns:a16="http://schemas.microsoft.com/office/drawing/2014/main" id="{0E0D0D1D-5266-49BA-B75E-1CC244719F6C}"/>
              </a:ext>
            </a:extLst>
          </p:cNvPr>
          <p:cNvSpPr/>
          <p:nvPr/>
        </p:nvSpPr>
        <p:spPr>
          <a:xfrm>
            <a:off x="1270000" y="2006600"/>
            <a:ext cx="88900" cy="88900"/>
          </a:xfrm>
          <a:prstGeom prst="ellipse">
            <a:avLst/>
          </a:prstGeom>
          <a:solidFill>
            <a:srgbClr val="5CC2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BD5D267E-D0E1-4652-92EE-35B807724A49}"/>
              </a:ext>
            </a:extLst>
          </p:cNvPr>
          <p:cNvSpPr/>
          <p:nvPr/>
        </p:nvSpPr>
        <p:spPr>
          <a:xfrm>
            <a:off x="1524000" y="1981200"/>
            <a:ext cx="3810000" cy="1397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2" name="그림 31">
            <a:extLst>
              <a:ext uri="{FF2B5EF4-FFF2-40B4-BE49-F238E27FC236}">
                <a16:creationId xmlns:a16="http://schemas.microsoft.com/office/drawing/2014/main" id="{1010FC4A-2644-4F29-AA54-8B4C3615E4CA}"/>
              </a:ext>
            </a:extLst>
          </p:cNvPr>
          <p:cNvPicPr>
            <a:picLocks/>
          </p:cNvPicPr>
          <p:nvPr/>
        </p:nvPicPr>
        <p:blipFill>
          <a:blip r:embed="rId3"/>
          <a:stretch>
            <a:fillRect/>
          </a:stretch>
        </p:blipFill>
        <p:spPr>
          <a:xfrm>
            <a:off x="889000" y="2209800"/>
            <a:ext cx="5816600" cy="3632200"/>
          </a:xfrm>
          <a:prstGeom prst="rect">
            <a:avLst/>
          </a:prstGeom>
        </p:spPr>
      </p:pic>
      <p:sp>
        <p:nvSpPr>
          <p:cNvPr id="33" name="TextBox 32">
            <a:extLst>
              <a:ext uri="{FF2B5EF4-FFF2-40B4-BE49-F238E27FC236}">
                <a16:creationId xmlns:a16="http://schemas.microsoft.com/office/drawing/2014/main" id="{0702CAE8-C671-4AF0-89DD-B7C5D9DF2D3C}"/>
              </a:ext>
            </a:extLst>
          </p:cNvPr>
          <p:cNvSpPr txBox="1"/>
          <p:nvPr/>
        </p:nvSpPr>
        <p:spPr>
          <a:xfrm>
            <a:off x="812800" y="6045200"/>
            <a:ext cx="5969000" cy="369332"/>
          </a:xfrm>
          <a:prstGeom prst="rect">
            <a:avLst/>
          </a:prstGeom>
          <a:noFill/>
        </p:spPr>
        <p:txBody>
          <a:bodyPr vert="horz" wrap="square" lIns="0" tIns="0" rIns="0" bIns="0" rtlCol="0">
            <a:noAutofit/>
          </a:bodyPr>
          <a:lstStyle/>
          <a:p>
            <a:r>
              <a:rPr lang="en-US" altLang="ko-KR" sz="1000" b="1">
                <a:solidFill>
                  <a:srgbClr val="8A8F98"/>
                </a:solidFill>
                <a:ea typeface="JetBrains Mono"/>
              </a:rPr>
              <a:t>PC · 1440px</a:t>
            </a:r>
            <a:endParaRPr lang="ko-KR" altLang="en-US" sz="1000" b="1">
              <a:solidFill>
                <a:srgbClr val="8A8F98"/>
              </a:solidFill>
            </a:endParaRPr>
          </a:p>
        </p:txBody>
      </p:sp>
      <p:sp>
        <p:nvSpPr>
          <p:cNvPr id="34" name="사각형: 둥근 모서리 33">
            <a:extLst>
              <a:ext uri="{FF2B5EF4-FFF2-40B4-BE49-F238E27FC236}">
                <a16:creationId xmlns:a16="http://schemas.microsoft.com/office/drawing/2014/main" id="{0DD12C65-2A43-4A09-951C-4F21FF036168}"/>
              </a:ext>
            </a:extLst>
          </p:cNvPr>
          <p:cNvSpPr/>
          <p:nvPr/>
        </p:nvSpPr>
        <p:spPr>
          <a:xfrm>
            <a:off x="7061200" y="1854200"/>
            <a:ext cx="2006600" cy="4089400"/>
          </a:xfrm>
          <a:prstGeom prst="roundRect">
            <a:avLst>
              <a:gd name="adj" fmla="val 12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사각형: 둥근 모서리 34">
            <a:extLst>
              <a:ext uri="{FF2B5EF4-FFF2-40B4-BE49-F238E27FC236}">
                <a16:creationId xmlns:a16="http://schemas.microsoft.com/office/drawing/2014/main" id="{1D0EDC53-5D1F-4A04-AF31-2D9FF0F411B4}"/>
              </a:ext>
            </a:extLst>
          </p:cNvPr>
          <p:cNvSpPr/>
          <p:nvPr/>
        </p:nvSpPr>
        <p:spPr>
          <a:xfrm>
            <a:off x="7162800" y="2159000"/>
            <a:ext cx="1803400" cy="3657600"/>
          </a:xfrm>
          <a:prstGeom prst="roundRect">
            <a:avLst>
              <a:gd name="adj" fmla="val 8000"/>
            </a:avLst>
          </a:prstGeom>
          <a:solidFill>
            <a:srgbClr val="ECE9E1"/>
          </a:solidFill>
          <a:ln w="9525">
            <a:solidFill>
              <a:srgbClr val="DCD6C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사각형: 둥근 모서리 35">
            <a:extLst>
              <a:ext uri="{FF2B5EF4-FFF2-40B4-BE49-F238E27FC236}">
                <a16:creationId xmlns:a16="http://schemas.microsoft.com/office/drawing/2014/main" id="{A5E668BC-2AD5-4664-A40F-75A8001A3492}"/>
              </a:ext>
            </a:extLst>
          </p:cNvPr>
          <p:cNvSpPr/>
          <p:nvPr/>
        </p:nvSpPr>
        <p:spPr>
          <a:xfrm>
            <a:off x="7785100" y="1968500"/>
            <a:ext cx="558800" cy="88900"/>
          </a:xfrm>
          <a:prstGeom prst="roundRect">
            <a:avLst>
              <a:gd name="adj" fmla="val 50000"/>
            </a:avLst>
          </a:prstGeom>
          <a:solidFill>
            <a:srgbClr val="0B10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1FC3B18E-4F54-4ACA-88B1-3D8FE5510EB1}"/>
              </a:ext>
            </a:extLst>
          </p:cNvPr>
          <p:cNvSpPr txBox="1"/>
          <p:nvPr/>
        </p:nvSpPr>
        <p:spPr>
          <a:xfrm>
            <a:off x="7213600" y="3632200"/>
            <a:ext cx="1701800" cy="369332"/>
          </a:xfrm>
          <a:prstGeom prst="rect">
            <a:avLst/>
          </a:prstGeom>
          <a:noFill/>
        </p:spPr>
        <p:txBody>
          <a:bodyPr vert="horz" wrap="square" lIns="0" tIns="0" rIns="0" bIns="0" rtlCol="0">
            <a:noAutofit/>
          </a:bodyPr>
          <a:lstStyle/>
          <a:p>
            <a:pPr algn="ctr"/>
            <a:r>
              <a:rPr lang="en-US" altLang="ko-KR" sz="1100">
                <a:solidFill>
                  <a:srgbClr val="8A8F98"/>
                </a:solidFill>
                <a:latin typeface="Noto Sans KR" panose="020B0200000000000000" pitchFamily="50" charset="-127"/>
                <a:ea typeface="Noto Sans KR" panose="020B0200000000000000" pitchFamily="50" charset="-127"/>
              </a:rPr>
              <a:t>[</a:t>
            </a:r>
            <a:r>
              <a:rPr lang="ko-KR" altLang="en-US" sz="1100">
                <a:solidFill>
                  <a:srgbClr val="8A8F98"/>
                </a:solidFill>
                <a:latin typeface="Noto Sans KR" panose="020B0200000000000000" pitchFamily="50" charset="-127"/>
                <a:ea typeface="Noto Sans KR" panose="020B0200000000000000" pitchFamily="50" charset="-127"/>
              </a:rPr>
              <a:t>모바일 화면 캡처</a:t>
            </a:r>
            <a:r>
              <a:rPr lang="en-US" altLang="ko-KR" sz="1100">
                <a:solidFill>
                  <a:srgbClr val="8A8F98"/>
                </a:solidFill>
                <a:latin typeface="Noto Sans KR" panose="020B0200000000000000" pitchFamily="50" charset="-127"/>
                <a:ea typeface="Noto Sans KR" panose="020B0200000000000000" pitchFamily="50" charset="-127"/>
              </a:rPr>
              <a:t>]</a:t>
            </a:r>
          </a:p>
          <a:p>
            <a:pPr algn="ctr"/>
            <a:r>
              <a:rPr lang="ko-KR" altLang="en-US" sz="1100">
                <a:solidFill>
                  <a:srgbClr val="8A8F98"/>
                </a:solidFill>
                <a:latin typeface="Noto Sans KR" panose="020B0200000000000000" pitchFamily="50" charset="-127"/>
                <a:ea typeface="Noto Sans KR" panose="020B0200000000000000" pitchFamily="50" charset="-127"/>
              </a:rPr>
              <a:t>수정 중</a:t>
            </a:r>
          </a:p>
        </p:txBody>
      </p:sp>
      <p:sp>
        <p:nvSpPr>
          <p:cNvPr id="38" name="TextBox 37">
            <a:extLst>
              <a:ext uri="{FF2B5EF4-FFF2-40B4-BE49-F238E27FC236}">
                <a16:creationId xmlns:a16="http://schemas.microsoft.com/office/drawing/2014/main" id="{E9021C51-1CCA-48AA-9B70-36E608BB4FAF}"/>
              </a:ext>
            </a:extLst>
          </p:cNvPr>
          <p:cNvSpPr txBox="1"/>
          <p:nvPr/>
        </p:nvSpPr>
        <p:spPr>
          <a:xfrm>
            <a:off x="7061200" y="6045200"/>
            <a:ext cx="2006600" cy="369332"/>
          </a:xfrm>
          <a:prstGeom prst="rect">
            <a:avLst/>
          </a:prstGeom>
          <a:noFill/>
        </p:spPr>
        <p:txBody>
          <a:bodyPr vert="horz" wrap="square" lIns="0" tIns="0" rIns="0" bIns="0" rtlCol="0">
            <a:noAutofit/>
          </a:bodyPr>
          <a:lstStyle/>
          <a:p>
            <a:r>
              <a:rPr lang="en-US" altLang="ko-KR" sz="1000" b="1">
                <a:solidFill>
                  <a:srgbClr val="8A8F98"/>
                </a:solidFill>
                <a:ea typeface="JetBrains Mono"/>
              </a:rPr>
              <a:t>MOBILE · 390px</a:t>
            </a:r>
            <a:endParaRPr lang="ko-KR" altLang="en-US" sz="1000" b="1">
              <a:solidFill>
                <a:srgbClr val="8A8F98"/>
              </a:solidFill>
            </a:endParaRPr>
          </a:p>
        </p:txBody>
      </p:sp>
      <p:sp>
        <p:nvSpPr>
          <p:cNvPr id="39" name="사각형: 둥근 모서리 38">
            <a:extLst>
              <a:ext uri="{FF2B5EF4-FFF2-40B4-BE49-F238E27FC236}">
                <a16:creationId xmlns:a16="http://schemas.microsoft.com/office/drawing/2014/main" id="{AF7A523B-0AD3-4E08-BAAE-ECF50C852AC1}"/>
              </a:ext>
            </a:extLst>
          </p:cNvPr>
          <p:cNvSpPr/>
          <p:nvPr/>
        </p:nvSpPr>
        <p:spPr>
          <a:xfrm>
            <a:off x="9347200" y="1905000"/>
            <a:ext cx="2032000" cy="40386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사각형: 둥근 모서리 39">
            <a:extLst>
              <a:ext uri="{FF2B5EF4-FFF2-40B4-BE49-F238E27FC236}">
                <a16:creationId xmlns:a16="http://schemas.microsoft.com/office/drawing/2014/main" id="{0F672629-42BB-4347-8030-35AE2D472523}"/>
              </a:ext>
            </a:extLst>
          </p:cNvPr>
          <p:cNvSpPr/>
          <p:nvPr/>
        </p:nvSpPr>
        <p:spPr>
          <a:xfrm>
            <a:off x="9525000" y="2082800"/>
            <a:ext cx="10668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달라지는 점</a:t>
            </a:r>
          </a:p>
        </p:txBody>
      </p:sp>
      <p:sp>
        <p:nvSpPr>
          <p:cNvPr id="41" name="TextBox 40">
            <a:extLst>
              <a:ext uri="{FF2B5EF4-FFF2-40B4-BE49-F238E27FC236}">
                <a16:creationId xmlns:a16="http://schemas.microsoft.com/office/drawing/2014/main" id="{1A5E0D25-22B8-4A7D-84DD-2391BD14BCEF}"/>
              </a:ext>
            </a:extLst>
          </p:cNvPr>
          <p:cNvSpPr txBox="1"/>
          <p:nvPr/>
        </p:nvSpPr>
        <p:spPr>
          <a:xfrm>
            <a:off x="9525000" y="25400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메뉴</a:t>
            </a:r>
          </a:p>
        </p:txBody>
      </p:sp>
      <p:sp>
        <p:nvSpPr>
          <p:cNvPr id="42" name="TextBox 41">
            <a:extLst>
              <a:ext uri="{FF2B5EF4-FFF2-40B4-BE49-F238E27FC236}">
                <a16:creationId xmlns:a16="http://schemas.microsoft.com/office/drawing/2014/main" id="{1EEACA4D-D0BC-43C8-A289-E4ACC468097B}"/>
              </a:ext>
            </a:extLst>
          </p:cNvPr>
          <p:cNvSpPr txBox="1"/>
          <p:nvPr/>
        </p:nvSpPr>
        <p:spPr>
          <a:xfrm>
            <a:off x="9525000" y="27813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햄버거 메뉴로 접기</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3" name="TextBox 42">
            <a:extLst>
              <a:ext uri="{FF2B5EF4-FFF2-40B4-BE49-F238E27FC236}">
                <a16:creationId xmlns:a16="http://schemas.microsoft.com/office/drawing/2014/main" id="{729FDD02-040A-4AAD-8F11-D130E4E9C0AB}"/>
              </a:ext>
            </a:extLst>
          </p:cNvPr>
          <p:cNvSpPr txBox="1"/>
          <p:nvPr/>
        </p:nvSpPr>
        <p:spPr>
          <a:xfrm>
            <a:off x="9525000" y="33274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메인 문구</a:t>
            </a:r>
          </a:p>
        </p:txBody>
      </p:sp>
      <p:sp>
        <p:nvSpPr>
          <p:cNvPr id="44" name="TextBox 43">
            <a:extLst>
              <a:ext uri="{FF2B5EF4-FFF2-40B4-BE49-F238E27FC236}">
                <a16:creationId xmlns:a16="http://schemas.microsoft.com/office/drawing/2014/main" id="{41AC4D53-811E-4C79-BBA8-FBB9432DAA28}"/>
              </a:ext>
            </a:extLst>
          </p:cNvPr>
          <p:cNvSpPr txBox="1"/>
          <p:nvPr/>
        </p:nvSpPr>
        <p:spPr>
          <a:xfrm>
            <a:off x="9525000" y="35687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[2</a:t>
            </a:r>
            <a:r>
              <a:rPr lang="ko-KR" altLang="en-US" sz="1200">
                <a:solidFill>
                  <a:srgbClr val="E8692C"/>
                </a:solidFill>
                <a:latin typeface="Noto Sans KR" panose="020B0200000000000000" pitchFamily="50" charset="-127"/>
                <a:ea typeface="Noto Sans KR" panose="020B0200000000000000" pitchFamily="50" charset="-127"/>
              </a:rPr>
              <a:t>줄로 줄바꿈</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5" name="TextBox 44">
            <a:extLst>
              <a:ext uri="{FF2B5EF4-FFF2-40B4-BE49-F238E27FC236}">
                <a16:creationId xmlns:a16="http://schemas.microsoft.com/office/drawing/2014/main" id="{37672272-A31C-482D-996B-D39BDF8FE424}"/>
              </a:ext>
            </a:extLst>
          </p:cNvPr>
          <p:cNvSpPr txBox="1"/>
          <p:nvPr/>
        </p:nvSpPr>
        <p:spPr>
          <a:xfrm>
            <a:off x="9525000" y="41148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서비스 </a:t>
            </a:r>
            <a:r>
              <a:rPr lang="en-US" altLang="ko-KR" sz="1200" b="1">
                <a:solidFill>
                  <a:srgbClr val="1B2433"/>
                </a:solidFill>
                <a:latin typeface="Noto Sans KR" panose="020B0200000000000000" pitchFamily="50" charset="-127"/>
                <a:ea typeface="Noto Sans KR" panose="020B0200000000000000" pitchFamily="50" charset="-127"/>
              </a:rPr>
              <a:t>4</a:t>
            </a:r>
            <a:r>
              <a:rPr lang="ko-KR" altLang="en-US" sz="1200" b="1">
                <a:solidFill>
                  <a:srgbClr val="1B2433"/>
                </a:solidFill>
                <a:latin typeface="Noto Sans KR" panose="020B0200000000000000" pitchFamily="50" charset="-127"/>
                <a:ea typeface="Noto Sans KR" panose="020B0200000000000000" pitchFamily="50" charset="-127"/>
              </a:rPr>
              <a:t>종</a:t>
            </a:r>
          </a:p>
        </p:txBody>
      </p:sp>
      <p:sp>
        <p:nvSpPr>
          <p:cNvPr id="46" name="TextBox 45">
            <a:extLst>
              <a:ext uri="{FF2B5EF4-FFF2-40B4-BE49-F238E27FC236}">
                <a16:creationId xmlns:a16="http://schemas.microsoft.com/office/drawing/2014/main" id="{A07F1859-1D3B-4871-95ED-F6D19E0E2F3B}"/>
              </a:ext>
            </a:extLst>
          </p:cNvPr>
          <p:cNvSpPr txBox="1"/>
          <p:nvPr/>
        </p:nvSpPr>
        <p:spPr>
          <a:xfrm>
            <a:off x="9525000" y="43561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세로 </a:t>
            </a:r>
            <a:r>
              <a:rPr lang="en-US" altLang="ko-KR" sz="1200">
                <a:solidFill>
                  <a:srgbClr val="E8692C"/>
                </a:solidFill>
                <a:latin typeface="Noto Sans KR" panose="020B0200000000000000" pitchFamily="50" charset="-127"/>
                <a:ea typeface="Noto Sans KR" panose="020B0200000000000000" pitchFamily="50" charset="-127"/>
              </a:rPr>
              <a:t>1</a:t>
            </a:r>
            <a:r>
              <a:rPr lang="ko-KR" altLang="en-US" sz="1200">
                <a:solidFill>
                  <a:srgbClr val="E8692C"/>
                </a:solidFill>
                <a:latin typeface="Noto Sans KR" panose="020B0200000000000000" pitchFamily="50" charset="-127"/>
                <a:ea typeface="Noto Sans KR" panose="020B0200000000000000" pitchFamily="50" charset="-127"/>
              </a:rPr>
              <a:t>열로 쌓기</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7" name="TextBox 46">
            <a:extLst>
              <a:ext uri="{FF2B5EF4-FFF2-40B4-BE49-F238E27FC236}">
                <a16:creationId xmlns:a16="http://schemas.microsoft.com/office/drawing/2014/main" id="{731653ED-0FD6-4675-84BC-3A7815737D91}"/>
              </a:ext>
            </a:extLst>
          </p:cNvPr>
          <p:cNvSpPr txBox="1"/>
          <p:nvPr/>
        </p:nvSpPr>
        <p:spPr>
          <a:xfrm>
            <a:off x="9525000" y="49022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지도</a:t>
            </a:r>
          </a:p>
        </p:txBody>
      </p:sp>
      <p:sp>
        <p:nvSpPr>
          <p:cNvPr id="48" name="TextBox 47">
            <a:extLst>
              <a:ext uri="{FF2B5EF4-FFF2-40B4-BE49-F238E27FC236}">
                <a16:creationId xmlns:a16="http://schemas.microsoft.com/office/drawing/2014/main" id="{F471A81E-5BB2-452E-AE6D-9918BEDA32AC}"/>
              </a:ext>
            </a:extLst>
          </p:cNvPr>
          <p:cNvSpPr txBox="1"/>
          <p:nvPr/>
        </p:nvSpPr>
        <p:spPr>
          <a:xfrm>
            <a:off x="9525000" y="51435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화면 너비에 맞춤</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9" name="TextBox 48">
            <a:extLst>
              <a:ext uri="{FF2B5EF4-FFF2-40B4-BE49-F238E27FC236}">
                <a16:creationId xmlns:a16="http://schemas.microsoft.com/office/drawing/2014/main" id="{3AB56283-6A40-4F93-9646-B61BE3818CE3}"/>
              </a:ext>
            </a:extLst>
          </p:cNvPr>
          <p:cNvSpPr txBox="1"/>
          <p:nvPr/>
        </p:nvSpPr>
        <p:spPr>
          <a:xfrm>
            <a:off x="9347200" y="6045200"/>
            <a:ext cx="2032000" cy="369332"/>
          </a:xfrm>
          <a:prstGeom prst="rect">
            <a:avLst/>
          </a:prstGeom>
          <a:noFill/>
        </p:spPr>
        <p:txBody>
          <a:bodyPr vert="horz" wrap="square" lIns="0" tIns="0" rIns="0" bIns="0" rtlCol="0">
            <a:noAutofit/>
          </a:bodyPr>
          <a:lstStyle/>
          <a:p>
            <a:r>
              <a:rPr lang="ko-KR" altLang="en-US" sz="1000" b="1">
                <a:solidFill>
                  <a:srgbClr val="1B2433"/>
                </a:solidFill>
                <a:latin typeface="Noto Sans KR" panose="020B0200000000000000" pitchFamily="50" charset="-127"/>
                <a:ea typeface="Noto Sans KR" panose="020B0200000000000000" pitchFamily="50" charset="-127"/>
              </a:rPr>
              <a:t>담당</a:t>
            </a:r>
            <a:r>
              <a:rPr lang="ko-KR" altLang="en-US" sz="1000">
                <a:solidFill>
                  <a:srgbClr val="4A505C"/>
                </a:solidFill>
                <a:latin typeface="Noto Sans KR" panose="020B0200000000000000" pitchFamily="50" charset="-127"/>
                <a:ea typeface="Noto Sans KR" panose="020B0200000000000000" pitchFamily="50" charset="-127"/>
              </a:rPr>
              <a:t>　</a:t>
            </a:r>
            <a:r>
              <a:rPr lang="ko-KR" altLang="en-US" sz="1000">
                <a:solidFill>
                  <a:srgbClr val="E8692C"/>
                </a:solidFill>
                <a:latin typeface="Noto Sans KR" panose="020B0200000000000000" pitchFamily="50" charset="-127"/>
                <a:ea typeface="Noto Sans KR" panose="020B0200000000000000" pitchFamily="50" charset="-127"/>
              </a:rPr>
              <a:t>염혜리</a:t>
            </a:r>
          </a:p>
        </p:txBody>
      </p:sp>
    </p:spTree>
    <p:extLst>
      <p:ext uri="{BB962C8B-B14F-4D97-AF65-F5344CB8AC3E}">
        <p14:creationId xmlns:p14="http://schemas.microsoft.com/office/powerpoint/2010/main" val="1033470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RESPONSIVE · PC vs MOBILE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a:solidFill>
                  <a:srgbClr val="1B2433"/>
                </a:solidFill>
                <a:latin typeface="Noto Sans KR" pitchFamily="34" charset="0"/>
                <a:ea typeface="Noto Sans KR" pitchFamily="34" charset="-122"/>
                <a:cs typeface="Noto Sans KR" pitchFamily="34" charset="-120"/>
              </a:rPr>
              <a:t>AI VIDEO — PC</a:t>
            </a:r>
            <a:r>
              <a:rPr lang="ko-KR" altLang="en-US" sz="3200" b="1" i="0">
                <a:solidFill>
                  <a:srgbClr val="1B2433"/>
                </a:solidFill>
                <a:latin typeface="Noto Sans KR" pitchFamily="34" charset="0"/>
                <a:ea typeface="Noto Sans KR" pitchFamily="34" charset="-122"/>
                <a:cs typeface="Noto Sans KR" pitchFamily="34" charset="-120"/>
              </a:rPr>
              <a:t>와 모바일 비교</a:t>
            </a:r>
            <a:endParaRPr lang="en-US" sz="3200" dirty="0"/>
          </a:p>
        </p:txBody>
      </p:sp>
      <p:sp>
        <p:nvSpPr>
          <p:cNvPr id="26" name="사각형: 둥근 모서리 25">
            <a:extLst>
              <a:ext uri="{FF2B5EF4-FFF2-40B4-BE49-F238E27FC236}">
                <a16:creationId xmlns:a16="http://schemas.microsoft.com/office/drawing/2014/main" id="{F15516D3-AB3E-43C8-AA81-37AF99406D42}"/>
              </a:ext>
            </a:extLst>
          </p:cNvPr>
          <p:cNvSpPr/>
          <p:nvPr/>
        </p:nvSpPr>
        <p:spPr>
          <a:xfrm>
            <a:off x="812800" y="1905000"/>
            <a:ext cx="5969000" cy="40386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48474FBC-1E73-43CD-8499-2EC23F719423}"/>
              </a:ext>
            </a:extLst>
          </p:cNvPr>
          <p:cNvSpPr/>
          <p:nvPr/>
        </p:nvSpPr>
        <p:spPr>
          <a:xfrm>
            <a:off x="965200" y="2006600"/>
            <a:ext cx="88900" cy="88900"/>
          </a:xfrm>
          <a:prstGeom prst="ellipse">
            <a:avLst/>
          </a:prstGeom>
          <a:solidFill>
            <a:srgbClr val="F26D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a:extLst>
              <a:ext uri="{FF2B5EF4-FFF2-40B4-BE49-F238E27FC236}">
                <a16:creationId xmlns:a16="http://schemas.microsoft.com/office/drawing/2014/main" id="{2227BF91-1DFB-421A-8F19-C938133910C4}"/>
              </a:ext>
            </a:extLst>
          </p:cNvPr>
          <p:cNvSpPr/>
          <p:nvPr/>
        </p:nvSpPr>
        <p:spPr>
          <a:xfrm>
            <a:off x="1117600" y="2006600"/>
            <a:ext cx="88900" cy="88900"/>
          </a:xfrm>
          <a:prstGeom prst="ellipse">
            <a:avLst/>
          </a:prstGeom>
          <a:solidFill>
            <a:srgbClr val="F5BE4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a:extLst>
              <a:ext uri="{FF2B5EF4-FFF2-40B4-BE49-F238E27FC236}">
                <a16:creationId xmlns:a16="http://schemas.microsoft.com/office/drawing/2014/main" id="{4C7D1E17-7E5B-4946-922B-F5848EF20E64}"/>
              </a:ext>
            </a:extLst>
          </p:cNvPr>
          <p:cNvSpPr/>
          <p:nvPr/>
        </p:nvSpPr>
        <p:spPr>
          <a:xfrm>
            <a:off x="1270000" y="2006600"/>
            <a:ext cx="88900" cy="88900"/>
          </a:xfrm>
          <a:prstGeom prst="ellipse">
            <a:avLst/>
          </a:prstGeom>
          <a:solidFill>
            <a:srgbClr val="5CC2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45D1C81D-4BE3-4C68-8D8D-F0B97039712F}"/>
              </a:ext>
            </a:extLst>
          </p:cNvPr>
          <p:cNvSpPr/>
          <p:nvPr/>
        </p:nvSpPr>
        <p:spPr>
          <a:xfrm>
            <a:off x="1524000" y="1981200"/>
            <a:ext cx="3810000" cy="1397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2" name="그림 31">
            <a:extLst>
              <a:ext uri="{FF2B5EF4-FFF2-40B4-BE49-F238E27FC236}">
                <a16:creationId xmlns:a16="http://schemas.microsoft.com/office/drawing/2014/main" id="{7BAA2376-256A-4D7B-8736-DE51BB6E4A1B}"/>
              </a:ext>
            </a:extLst>
          </p:cNvPr>
          <p:cNvPicPr>
            <a:picLocks/>
          </p:cNvPicPr>
          <p:nvPr/>
        </p:nvPicPr>
        <p:blipFill>
          <a:blip r:embed="rId3"/>
          <a:stretch>
            <a:fillRect/>
          </a:stretch>
        </p:blipFill>
        <p:spPr>
          <a:xfrm>
            <a:off x="889000" y="2209800"/>
            <a:ext cx="5816600" cy="3632200"/>
          </a:xfrm>
          <a:prstGeom prst="rect">
            <a:avLst/>
          </a:prstGeom>
        </p:spPr>
      </p:pic>
      <p:sp>
        <p:nvSpPr>
          <p:cNvPr id="33" name="TextBox 32">
            <a:extLst>
              <a:ext uri="{FF2B5EF4-FFF2-40B4-BE49-F238E27FC236}">
                <a16:creationId xmlns:a16="http://schemas.microsoft.com/office/drawing/2014/main" id="{ECC46C91-9E8F-41E8-B213-C6E67262C37E}"/>
              </a:ext>
            </a:extLst>
          </p:cNvPr>
          <p:cNvSpPr txBox="1"/>
          <p:nvPr/>
        </p:nvSpPr>
        <p:spPr>
          <a:xfrm>
            <a:off x="812800" y="6045200"/>
            <a:ext cx="5969000" cy="369332"/>
          </a:xfrm>
          <a:prstGeom prst="rect">
            <a:avLst/>
          </a:prstGeom>
          <a:noFill/>
        </p:spPr>
        <p:txBody>
          <a:bodyPr vert="horz" wrap="square" lIns="0" tIns="0" rIns="0" bIns="0" rtlCol="0">
            <a:noAutofit/>
          </a:bodyPr>
          <a:lstStyle/>
          <a:p>
            <a:r>
              <a:rPr lang="en-US" altLang="ko-KR" sz="1000" b="1">
                <a:solidFill>
                  <a:srgbClr val="8A8F98"/>
                </a:solidFill>
                <a:latin typeface="JetBrains Mono"/>
                <a:ea typeface="JetBrains Mono"/>
              </a:rPr>
              <a:t>PC · 1440px</a:t>
            </a:r>
            <a:endParaRPr lang="ko-KR" altLang="en-US" sz="1000" b="1">
              <a:solidFill>
                <a:srgbClr val="8A8F98"/>
              </a:solidFill>
              <a:latin typeface="JetBrains Mono"/>
            </a:endParaRPr>
          </a:p>
        </p:txBody>
      </p:sp>
      <p:sp>
        <p:nvSpPr>
          <p:cNvPr id="34" name="사각형: 둥근 모서리 33">
            <a:extLst>
              <a:ext uri="{FF2B5EF4-FFF2-40B4-BE49-F238E27FC236}">
                <a16:creationId xmlns:a16="http://schemas.microsoft.com/office/drawing/2014/main" id="{3717B8C1-AEB0-45D9-8D56-42C69824ECA1}"/>
              </a:ext>
            </a:extLst>
          </p:cNvPr>
          <p:cNvSpPr/>
          <p:nvPr/>
        </p:nvSpPr>
        <p:spPr>
          <a:xfrm>
            <a:off x="7061200" y="1854200"/>
            <a:ext cx="2006600" cy="4089400"/>
          </a:xfrm>
          <a:prstGeom prst="roundRect">
            <a:avLst>
              <a:gd name="adj" fmla="val 12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사각형: 둥근 모서리 34">
            <a:extLst>
              <a:ext uri="{FF2B5EF4-FFF2-40B4-BE49-F238E27FC236}">
                <a16:creationId xmlns:a16="http://schemas.microsoft.com/office/drawing/2014/main" id="{0514D56D-3D51-4245-9CBF-280B2402102C}"/>
              </a:ext>
            </a:extLst>
          </p:cNvPr>
          <p:cNvSpPr/>
          <p:nvPr/>
        </p:nvSpPr>
        <p:spPr>
          <a:xfrm>
            <a:off x="7162800" y="2159000"/>
            <a:ext cx="1803400" cy="3657600"/>
          </a:xfrm>
          <a:prstGeom prst="roundRect">
            <a:avLst>
              <a:gd name="adj" fmla="val 8000"/>
            </a:avLst>
          </a:prstGeom>
          <a:solidFill>
            <a:srgbClr val="ECE9E1"/>
          </a:solidFill>
          <a:ln w="9525">
            <a:solidFill>
              <a:srgbClr val="DCD6C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사각형: 둥근 모서리 35">
            <a:extLst>
              <a:ext uri="{FF2B5EF4-FFF2-40B4-BE49-F238E27FC236}">
                <a16:creationId xmlns:a16="http://schemas.microsoft.com/office/drawing/2014/main" id="{9E8EDD67-30DF-4040-BB54-463254B3D4AD}"/>
              </a:ext>
            </a:extLst>
          </p:cNvPr>
          <p:cNvSpPr/>
          <p:nvPr/>
        </p:nvSpPr>
        <p:spPr>
          <a:xfrm>
            <a:off x="7785100" y="1968500"/>
            <a:ext cx="558800" cy="88900"/>
          </a:xfrm>
          <a:prstGeom prst="roundRect">
            <a:avLst>
              <a:gd name="adj" fmla="val 50000"/>
            </a:avLst>
          </a:prstGeom>
          <a:solidFill>
            <a:srgbClr val="0B10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968A8E3F-E901-40AE-9D4C-045FBE510694}"/>
              </a:ext>
            </a:extLst>
          </p:cNvPr>
          <p:cNvSpPr txBox="1"/>
          <p:nvPr/>
        </p:nvSpPr>
        <p:spPr>
          <a:xfrm>
            <a:off x="7213600" y="3632200"/>
            <a:ext cx="1701800" cy="369332"/>
          </a:xfrm>
          <a:prstGeom prst="rect">
            <a:avLst/>
          </a:prstGeom>
          <a:noFill/>
        </p:spPr>
        <p:txBody>
          <a:bodyPr vert="horz" wrap="square" lIns="0" tIns="0" rIns="0" bIns="0" rtlCol="0">
            <a:noAutofit/>
          </a:bodyPr>
          <a:lstStyle/>
          <a:p>
            <a:pPr algn="ctr"/>
            <a:r>
              <a:rPr lang="en-US" altLang="ko-KR" sz="1100">
                <a:solidFill>
                  <a:srgbClr val="8A8F98"/>
                </a:solidFill>
                <a:latin typeface="Noto Sans KR" panose="020B0200000000000000" pitchFamily="50" charset="-127"/>
                <a:ea typeface="Noto Sans KR" panose="020B0200000000000000" pitchFamily="50" charset="-127"/>
              </a:rPr>
              <a:t>[</a:t>
            </a:r>
            <a:r>
              <a:rPr lang="ko-KR" altLang="en-US" sz="1100">
                <a:solidFill>
                  <a:srgbClr val="8A8F98"/>
                </a:solidFill>
                <a:latin typeface="Noto Sans KR" panose="020B0200000000000000" pitchFamily="50" charset="-127"/>
                <a:ea typeface="Noto Sans KR" panose="020B0200000000000000" pitchFamily="50" charset="-127"/>
              </a:rPr>
              <a:t>모바일 화면 캡처</a:t>
            </a:r>
            <a:r>
              <a:rPr lang="en-US" altLang="ko-KR" sz="1100">
                <a:solidFill>
                  <a:srgbClr val="8A8F98"/>
                </a:solidFill>
                <a:latin typeface="Noto Sans KR" panose="020B0200000000000000" pitchFamily="50" charset="-127"/>
                <a:ea typeface="Noto Sans KR" panose="020B0200000000000000" pitchFamily="50" charset="-127"/>
              </a:rPr>
              <a:t>]</a:t>
            </a:r>
          </a:p>
          <a:p>
            <a:pPr algn="ctr"/>
            <a:r>
              <a:rPr lang="ko-KR" altLang="en-US" sz="1100">
                <a:solidFill>
                  <a:srgbClr val="8A8F98"/>
                </a:solidFill>
                <a:latin typeface="Noto Sans KR" panose="020B0200000000000000" pitchFamily="50" charset="-127"/>
                <a:ea typeface="Noto Sans KR" panose="020B0200000000000000" pitchFamily="50" charset="-127"/>
              </a:rPr>
              <a:t>수정 중</a:t>
            </a:r>
          </a:p>
        </p:txBody>
      </p:sp>
      <p:sp>
        <p:nvSpPr>
          <p:cNvPr id="38" name="TextBox 37">
            <a:extLst>
              <a:ext uri="{FF2B5EF4-FFF2-40B4-BE49-F238E27FC236}">
                <a16:creationId xmlns:a16="http://schemas.microsoft.com/office/drawing/2014/main" id="{B023A784-8870-4FFD-AA45-4CEE91E85653}"/>
              </a:ext>
            </a:extLst>
          </p:cNvPr>
          <p:cNvSpPr txBox="1"/>
          <p:nvPr/>
        </p:nvSpPr>
        <p:spPr>
          <a:xfrm>
            <a:off x="7061200" y="6045200"/>
            <a:ext cx="2006600" cy="369332"/>
          </a:xfrm>
          <a:prstGeom prst="rect">
            <a:avLst/>
          </a:prstGeom>
          <a:noFill/>
        </p:spPr>
        <p:txBody>
          <a:bodyPr vert="horz" wrap="square" lIns="0" tIns="0" rIns="0" bIns="0" rtlCol="0">
            <a:noAutofit/>
          </a:bodyPr>
          <a:lstStyle/>
          <a:p>
            <a:r>
              <a:rPr lang="en-US" altLang="ko-KR" sz="1000" b="1">
                <a:solidFill>
                  <a:srgbClr val="8A8F98"/>
                </a:solidFill>
                <a:latin typeface="JetBrains Mono"/>
                <a:ea typeface="JetBrains Mono"/>
              </a:rPr>
              <a:t>MOBILE · 390px</a:t>
            </a:r>
            <a:endParaRPr lang="ko-KR" altLang="en-US" sz="1000" b="1">
              <a:solidFill>
                <a:srgbClr val="8A8F98"/>
              </a:solidFill>
              <a:latin typeface="JetBrains Mono"/>
            </a:endParaRPr>
          </a:p>
        </p:txBody>
      </p:sp>
      <p:sp>
        <p:nvSpPr>
          <p:cNvPr id="39" name="사각형: 둥근 모서리 38">
            <a:extLst>
              <a:ext uri="{FF2B5EF4-FFF2-40B4-BE49-F238E27FC236}">
                <a16:creationId xmlns:a16="http://schemas.microsoft.com/office/drawing/2014/main" id="{FB764B6E-B980-4455-B28C-010B957C25B4}"/>
              </a:ext>
            </a:extLst>
          </p:cNvPr>
          <p:cNvSpPr/>
          <p:nvPr/>
        </p:nvSpPr>
        <p:spPr>
          <a:xfrm>
            <a:off x="9347200" y="1905000"/>
            <a:ext cx="2032000" cy="40386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사각형: 둥근 모서리 39">
            <a:extLst>
              <a:ext uri="{FF2B5EF4-FFF2-40B4-BE49-F238E27FC236}">
                <a16:creationId xmlns:a16="http://schemas.microsoft.com/office/drawing/2014/main" id="{72DC806A-64A3-4F6B-8639-F73C08E79FA1}"/>
              </a:ext>
            </a:extLst>
          </p:cNvPr>
          <p:cNvSpPr/>
          <p:nvPr/>
        </p:nvSpPr>
        <p:spPr>
          <a:xfrm>
            <a:off x="9525000" y="2082800"/>
            <a:ext cx="10668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달라지는 점</a:t>
            </a:r>
          </a:p>
        </p:txBody>
      </p:sp>
      <p:sp>
        <p:nvSpPr>
          <p:cNvPr id="41" name="TextBox 40">
            <a:extLst>
              <a:ext uri="{FF2B5EF4-FFF2-40B4-BE49-F238E27FC236}">
                <a16:creationId xmlns:a16="http://schemas.microsoft.com/office/drawing/2014/main" id="{62A697AD-B495-4B2E-9761-DCF7E7E79F88}"/>
              </a:ext>
            </a:extLst>
          </p:cNvPr>
          <p:cNvSpPr txBox="1"/>
          <p:nvPr/>
        </p:nvSpPr>
        <p:spPr>
          <a:xfrm>
            <a:off x="9525000" y="25400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배경 영상</a:t>
            </a:r>
          </a:p>
        </p:txBody>
      </p:sp>
      <p:sp>
        <p:nvSpPr>
          <p:cNvPr id="42" name="TextBox 41">
            <a:extLst>
              <a:ext uri="{FF2B5EF4-FFF2-40B4-BE49-F238E27FC236}">
                <a16:creationId xmlns:a16="http://schemas.microsoft.com/office/drawing/2014/main" id="{B968A0DB-266F-4CCB-B271-2AB4C0AE4E77}"/>
              </a:ext>
            </a:extLst>
          </p:cNvPr>
          <p:cNvSpPr txBox="1"/>
          <p:nvPr/>
        </p:nvSpPr>
        <p:spPr>
          <a:xfrm>
            <a:off x="9525000" y="27813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세로 화면에 맞춰 자르기</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3" name="TextBox 42">
            <a:extLst>
              <a:ext uri="{FF2B5EF4-FFF2-40B4-BE49-F238E27FC236}">
                <a16:creationId xmlns:a16="http://schemas.microsoft.com/office/drawing/2014/main" id="{7768BC3C-9294-492C-BB30-BEDD41D99065}"/>
              </a:ext>
            </a:extLst>
          </p:cNvPr>
          <p:cNvSpPr txBox="1"/>
          <p:nvPr/>
        </p:nvSpPr>
        <p:spPr>
          <a:xfrm>
            <a:off x="9525000" y="3327400"/>
            <a:ext cx="1701800" cy="369332"/>
          </a:xfrm>
          <a:prstGeom prst="rect">
            <a:avLst/>
          </a:prstGeom>
          <a:noFill/>
        </p:spPr>
        <p:txBody>
          <a:bodyPr vert="horz" wrap="square" lIns="0" tIns="0" rIns="0" bIns="0" rtlCol="0">
            <a:noAutofit/>
          </a:bodyPr>
          <a:lstStyle/>
          <a:p>
            <a:r>
              <a:rPr lang="en-US" altLang="ko-KR" sz="1200" b="1">
                <a:solidFill>
                  <a:srgbClr val="1B2433"/>
                </a:solidFill>
                <a:latin typeface="Noto Sans KR" panose="020B0200000000000000" pitchFamily="50" charset="-127"/>
                <a:ea typeface="Noto Sans KR" panose="020B0200000000000000" pitchFamily="50" charset="-127"/>
              </a:rPr>
              <a:t>3</a:t>
            </a:r>
            <a:r>
              <a:rPr lang="ko-KR" altLang="en-US" sz="1200" b="1">
                <a:solidFill>
                  <a:srgbClr val="1B2433"/>
                </a:solidFill>
                <a:latin typeface="Noto Sans KR" panose="020B0200000000000000" pitchFamily="50" charset="-127"/>
                <a:ea typeface="Noto Sans KR" panose="020B0200000000000000" pitchFamily="50" charset="-127"/>
              </a:rPr>
              <a:t>단계 카드</a:t>
            </a:r>
          </a:p>
        </p:txBody>
      </p:sp>
      <p:sp>
        <p:nvSpPr>
          <p:cNvPr id="44" name="TextBox 43">
            <a:extLst>
              <a:ext uri="{FF2B5EF4-FFF2-40B4-BE49-F238E27FC236}">
                <a16:creationId xmlns:a16="http://schemas.microsoft.com/office/drawing/2014/main" id="{0D8442EC-ED54-4779-BE95-477DA8BC6103}"/>
              </a:ext>
            </a:extLst>
          </p:cNvPr>
          <p:cNvSpPr txBox="1"/>
          <p:nvPr/>
        </p:nvSpPr>
        <p:spPr>
          <a:xfrm>
            <a:off x="9525000" y="35687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세로로 쌓기</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5" name="TextBox 44">
            <a:extLst>
              <a:ext uri="{FF2B5EF4-FFF2-40B4-BE49-F238E27FC236}">
                <a16:creationId xmlns:a16="http://schemas.microsoft.com/office/drawing/2014/main" id="{67124AB6-C44A-4056-B7F7-9DD523B89209}"/>
              </a:ext>
            </a:extLst>
          </p:cNvPr>
          <p:cNvSpPr txBox="1"/>
          <p:nvPr/>
        </p:nvSpPr>
        <p:spPr>
          <a:xfrm>
            <a:off x="9525000" y="41148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제작 과정</a:t>
            </a:r>
          </a:p>
        </p:txBody>
      </p:sp>
      <p:sp>
        <p:nvSpPr>
          <p:cNvPr id="46" name="TextBox 45">
            <a:extLst>
              <a:ext uri="{FF2B5EF4-FFF2-40B4-BE49-F238E27FC236}">
                <a16:creationId xmlns:a16="http://schemas.microsoft.com/office/drawing/2014/main" id="{B4B7C897-17C7-4CD8-B091-3661DC5565FC}"/>
              </a:ext>
            </a:extLst>
          </p:cNvPr>
          <p:cNvSpPr txBox="1"/>
          <p:nvPr/>
        </p:nvSpPr>
        <p:spPr>
          <a:xfrm>
            <a:off x="9525000" y="43561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옆으로 넘기기</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7" name="TextBox 46">
            <a:extLst>
              <a:ext uri="{FF2B5EF4-FFF2-40B4-BE49-F238E27FC236}">
                <a16:creationId xmlns:a16="http://schemas.microsoft.com/office/drawing/2014/main" id="{8BEDDBB6-49C6-4DA6-A292-42F712D902A4}"/>
              </a:ext>
            </a:extLst>
          </p:cNvPr>
          <p:cNvSpPr txBox="1"/>
          <p:nvPr/>
        </p:nvSpPr>
        <p:spPr>
          <a:xfrm>
            <a:off x="9525000" y="49022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안내 팝업</a:t>
            </a:r>
          </a:p>
        </p:txBody>
      </p:sp>
      <p:sp>
        <p:nvSpPr>
          <p:cNvPr id="48" name="TextBox 47">
            <a:extLst>
              <a:ext uri="{FF2B5EF4-FFF2-40B4-BE49-F238E27FC236}">
                <a16:creationId xmlns:a16="http://schemas.microsoft.com/office/drawing/2014/main" id="{D5912F1E-777C-4FE2-A3E7-92AF77DC5684}"/>
              </a:ext>
            </a:extLst>
          </p:cNvPr>
          <p:cNvSpPr txBox="1"/>
          <p:nvPr/>
        </p:nvSpPr>
        <p:spPr>
          <a:xfrm>
            <a:off x="9525000" y="51435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전체 화면으로</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9" name="TextBox 48">
            <a:extLst>
              <a:ext uri="{FF2B5EF4-FFF2-40B4-BE49-F238E27FC236}">
                <a16:creationId xmlns:a16="http://schemas.microsoft.com/office/drawing/2014/main" id="{14B8B320-F81A-4A8A-B63A-9195894C5317}"/>
              </a:ext>
            </a:extLst>
          </p:cNvPr>
          <p:cNvSpPr txBox="1"/>
          <p:nvPr/>
        </p:nvSpPr>
        <p:spPr>
          <a:xfrm>
            <a:off x="9347200" y="6045200"/>
            <a:ext cx="2032000" cy="369332"/>
          </a:xfrm>
          <a:prstGeom prst="rect">
            <a:avLst/>
          </a:prstGeom>
          <a:noFill/>
        </p:spPr>
        <p:txBody>
          <a:bodyPr vert="horz" wrap="square" lIns="0" tIns="0" rIns="0" bIns="0" rtlCol="0">
            <a:noAutofit/>
          </a:bodyPr>
          <a:lstStyle/>
          <a:p>
            <a:r>
              <a:rPr lang="ko-KR" altLang="en-US" sz="1000" b="1">
                <a:solidFill>
                  <a:srgbClr val="1B2433"/>
                </a:solidFill>
                <a:latin typeface="Noto Sans KR" panose="020B0200000000000000" pitchFamily="50" charset="-127"/>
                <a:ea typeface="Noto Sans KR" panose="020B0200000000000000" pitchFamily="50" charset="-127"/>
              </a:rPr>
              <a:t>담당</a:t>
            </a:r>
            <a:r>
              <a:rPr lang="ko-KR" altLang="en-US" sz="1000">
                <a:solidFill>
                  <a:srgbClr val="4A505C"/>
                </a:solidFill>
                <a:latin typeface="Noto Sans KR" panose="020B0200000000000000" pitchFamily="50" charset="-127"/>
                <a:ea typeface="Noto Sans KR" panose="020B0200000000000000" pitchFamily="50" charset="-127"/>
              </a:rPr>
              <a:t>　</a:t>
            </a:r>
            <a:r>
              <a:rPr lang="ko-KR" altLang="en-US" sz="1000">
                <a:solidFill>
                  <a:srgbClr val="E8692C"/>
                </a:solidFill>
                <a:latin typeface="Noto Sans KR" panose="020B0200000000000000" pitchFamily="50" charset="-127"/>
                <a:ea typeface="Noto Sans KR" panose="020B0200000000000000" pitchFamily="50" charset="-127"/>
              </a:rPr>
              <a:t>이애리</a:t>
            </a:r>
          </a:p>
        </p:txBody>
      </p:sp>
    </p:spTree>
    <p:extLst>
      <p:ext uri="{BB962C8B-B14F-4D97-AF65-F5344CB8AC3E}">
        <p14:creationId xmlns:p14="http://schemas.microsoft.com/office/powerpoint/2010/main" val="1219863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RESPONSIVE · PC vs MOBILE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altLang="ko-KR" sz="3200" b="1" i="0">
                <a:solidFill>
                  <a:srgbClr val="1B2433"/>
                </a:solidFill>
                <a:latin typeface="Noto Sans KR" pitchFamily="34" charset="0"/>
                <a:ea typeface="Noto Sans KR" pitchFamily="34" charset="-122"/>
                <a:cs typeface="Noto Sans KR" pitchFamily="34" charset="-120"/>
              </a:rPr>
              <a:t>PORTFOLIO — PC</a:t>
            </a:r>
            <a:r>
              <a:rPr lang="ko-KR" altLang="en-US" sz="3200" b="1" i="0">
                <a:solidFill>
                  <a:srgbClr val="1B2433"/>
                </a:solidFill>
                <a:latin typeface="Noto Sans KR" pitchFamily="34" charset="0"/>
                <a:ea typeface="Noto Sans KR" pitchFamily="34" charset="-122"/>
                <a:cs typeface="Noto Sans KR" pitchFamily="34" charset="-120"/>
              </a:rPr>
              <a:t>와 모바일 비교</a:t>
            </a:r>
            <a:endParaRPr lang="en-US" sz="3200" dirty="0"/>
          </a:p>
        </p:txBody>
      </p:sp>
      <p:sp>
        <p:nvSpPr>
          <p:cNvPr id="26" name="사각형: 둥근 모서리 25">
            <a:extLst>
              <a:ext uri="{FF2B5EF4-FFF2-40B4-BE49-F238E27FC236}">
                <a16:creationId xmlns:a16="http://schemas.microsoft.com/office/drawing/2014/main" id="{3468CEFA-A793-486F-BFCB-D6EC55DD9B35}"/>
              </a:ext>
            </a:extLst>
          </p:cNvPr>
          <p:cNvSpPr/>
          <p:nvPr/>
        </p:nvSpPr>
        <p:spPr>
          <a:xfrm>
            <a:off x="812800" y="1905000"/>
            <a:ext cx="5969000" cy="40386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BFE00788-0EE0-4E52-9D77-32632789BFD7}"/>
              </a:ext>
            </a:extLst>
          </p:cNvPr>
          <p:cNvSpPr/>
          <p:nvPr/>
        </p:nvSpPr>
        <p:spPr>
          <a:xfrm>
            <a:off x="965200" y="2006600"/>
            <a:ext cx="88900" cy="88900"/>
          </a:xfrm>
          <a:prstGeom prst="ellipse">
            <a:avLst/>
          </a:prstGeom>
          <a:solidFill>
            <a:srgbClr val="F26D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a:extLst>
              <a:ext uri="{FF2B5EF4-FFF2-40B4-BE49-F238E27FC236}">
                <a16:creationId xmlns:a16="http://schemas.microsoft.com/office/drawing/2014/main" id="{F1771812-6466-4B8B-B162-3683BB0799A3}"/>
              </a:ext>
            </a:extLst>
          </p:cNvPr>
          <p:cNvSpPr/>
          <p:nvPr/>
        </p:nvSpPr>
        <p:spPr>
          <a:xfrm>
            <a:off x="1117600" y="2006600"/>
            <a:ext cx="88900" cy="88900"/>
          </a:xfrm>
          <a:prstGeom prst="ellipse">
            <a:avLst/>
          </a:prstGeom>
          <a:solidFill>
            <a:srgbClr val="F5BE4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a:extLst>
              <a:ext uri="{FF2B5EF4-FFF2-40B4-BE49-F238E27FC236}">
                <a16:creationId xmlns:a16="http://schemas.microsoft.com/office/drawing/2014/main" id="{8749A162-C2EB-41D1-AC57-323693BB0BA2}"/>
              </a:ext>
            </a:extLst>
          </p:cNvPr>
          <p:cNvSpPr/>
          <p:nvPr/>
        </p:nvSpPr>
        <p:spPr>
          <a:xfrm>
            <a:off x="1270000" y="2006600"/>
            <a:ext cx="88900" cy="88900"/>
          </a:xfrm>
          <a:prstGeom prst="ellipse">
            <a:avLst/>
          </a:prstGeom>
          <a:solidFill>
            <a:srgbClr val="5CC2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30785191-FCAB-4FEC-82D2-893F834FC175}"/>
              </a:ext>
            </a:extLst>
          </p:cNvPr>
          <p:cNvSpPr/>
          <p:nvPr/>
        </p:nvSpPr>
        <p:spPr>
          <a:xfrm>
            <a:off x="1524000" y="1981200"/>
            <a:ext cx="3810000" cy="1397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2" name="그림 31">
            <a:extLst>
              <a:ext uri="{FF2B5EF4-FFF2-40B4-BE49-F238E27FC236}">
                <a16:creationId xmlns:a16="http://schemas.microsoft.com/office/drawing/2014/main" id="{F151CB6F-DBD1-4877-8B27-7C0FEFE3DA12}"/>
              </a:ext>
            </a:extLst>
          </p:cNvPr>
          <p:cNvPicPr>
            <a:picLocks/>
          </p:cNvPicPr>
          <p:nvPr/>
        </p:nvPicPr>
        <p:blipFill>
          <a:blip r:embed="rId3"/>
          <a:stretch>
            <a:fillRect/>
          </a:stretch>
        </p:blipFill>
        <p:spPr>
          <a:xfrm>
            <a:off x="889000" y="2209800"/>
            <a:ext cx="5816600" cy="3632200"/>
          </a:xfrm>
          <a:prstGeom prst="rect">
            <a:avLst/>
          </a:prstGeom>
        </p:spPr>
      </p:pic>
      <p:sp>
        <p:nvSpPr>
          <p:cNvPr id="33" name="TextBox 32">
            <a:extLst>
              <a:ext uri="{FF2B5EF4-FFF2-40B4-BE49-F238E27FC236}">
                <a16:creationId xmlns:a16="http://schemas.microsoft.com/office/drawing/2014/main" id="{981BABE4-CE5F-4317-B6ED-A084F164ED7B}"/>
              </a:ext>
            </a:extLst>
          </p:cNvPr>
          <p:cNvSpPr txBox="1"/>
          <p:nvPr/>
        </p:nvSpPr>
        <p:spPr>
          <a:xfrm>
            <a:off x="812800" y="6045200"/>
            <a:ext cx="5969000" cy="369332"/>
          </a:xfrm>
          <a:prstGeom prst="rect">
            <a:avLst/>
          </a:prstGeom>
          <a:noFill/>
        </p:spPr>
        <p:txBody>
          <a:bodyPr vert="horz" wrap="square" lIns="0" tIns="0" rIns="0" bIns="0" rtlCol="0">
            <a:noAutofit/>
          </a:bodyPr>
          <a:lstStyle/>
          <a:p>
            <a:r>
              <a:rPr lang="en-US" altLang="ko-KR" sz="1000" b="1">
                <a:solidFill>
                  <a:srgbClr val="8A8F98"/>
                </a:solidFill>
                <a:ea typeface="JetBrains Mono"/>
              </a:rPr>
              <a:t>PC · 1440px</a:t>
            </a:r>
            <a:endParaRPr lang="ko-KR" altLang="en-US" sz="1000" b="1">
              <a:solidFill>
                <a:srgbClr val="8A8F98"/>
              </a:solidFill>
            </a:endParaRPr>
          </a:p>
        </p:txBody>
      </p:sp>
      <p:sp>
        <p:nvSpPr>
          <p:cNvPr id="34" name="사각형: 둥근 모서리 33">
            <a:extLst>
              <a:ext uri="{FF2B5EF4-FFF2-40B4-BE49-F238E27FC236}">
                <a16:creationId xmlns:a16="http://schemas.microsoft.com/office/drawing/2014/main" id="{6ED58AFA-E09E-4B9C-AACA-FF809CA0B5A8}"/>
              </a:ext>
            </a:extLst>
          </p:cNvPr>
          <p:cNvSpPr/>
          <p:nvPr/>
        </p:nvSpPr>
        <p:spPr>
          <a:xfrm>
            <a:off x="7061200" y="1854200"/>
            <a:ext cx="2006600" cy="4089400"/>
          </a:xfrm>
          <a:prstGeom prst="roundRect">
            <a:avLst>
              <a:gd name="adj" fmla="val 12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사각형: 둥근 모서리 34">
            <a:extLst>
              <a:ext uri="{FF2B5EF4-FFF2-40B4-BE49-F238E27FC236}">
                <a16:creationId xmlns:a16="http://schemas.microsoft.com/office/drawing/2014/main" id="{61368395-EB0F-481A-8398-9744509AA9F9}"/>
              </a:ext>
            </a:extLst>
          </p:cNvPr>
          <p:cNvSpPr/>
          <p:nvPr/>
        </p:nvSpPr>
        <p:spPr>
          <a:xfrm>
            <a:off x="7162800" y="2159000"/>
            <a:ext cx="1803400" cy="3657600"/>
          </a:xfrm>
          <a:prstGeom prst="roundRect">
            <a:avLst>
              <a:gd name="adj" fmla="val 8000"/>
            </a:avLst>
          </a:prstGeom>
          <a:solidFill>
            <a:srgbClr val="ECE9E1"/>
          </a:solidFill>
          <a:ln w="9525">
            <a:solidFill>
              <a:srgbClr val="DCD6C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사각형: 둥근 모서리 35">
            <a:extLst>
              <a:ext uri="{FF2B5EF4-FFF2-40B4-BE49-F238E27FC236}">
                <a16:creationId xmlns:a16="http://schemas.microsoft.com/office/drawing/2014/main" id="{FA1A6636-AE5F-4E3B-90CB-F21531C5F41F}"/>
              </a:ext>
            </a:extLst>
          </p:cNvPr>
          <p:cNvSpPr/>
          <p:nvPr/>
        </p:nvSpPr>
        <p:spPr>
          <a:xfrm>
            <a:off x="7785100" y="1968500"/>
            <a:ext cx="558800" cy="88900"/>
          </a:xfrm>
          <a:prstGeom prst="roundRect">
            <a:avLst>
              <a:gd name="adj" fmla="val 50000"/>
            </a:avLst>
          </a:prstGeom>
          <a:solidFill>
            <a:srgbClr val="0B10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B3834E94-3799-4502-93B6-068DF1850797}"/>
              </a:ext>
            </a:extLst>
          </p:cNvPr>
          <p:cNvSpPr txBox="1"/>
          <p:nvPr/>
        </p:nvSpPr>
        <p:spPr>
          <a:xfrm>
            <a:off x="7213600" y="3632200"/>
            <a:ext cx="1701800" cy="369332"/>
          </a:xfrm>
          <a:prstGeom prst="rect">
            <a:avLst/>
          </a:prstGeom>
          <a:noFill/>
        </p:spPr>
        <p:txBody>
          <a:bodyPr vert="horz" wrap="square" lIns="0" tIns="0" rIns="0" bIns="0" rtlCol="0">
            <a:noAutofit/>
          </a:bodyPr>
          <a:lstStyle/>
          <a:p>
            <a:pPr algn="ctr"/>
            <a:r>
              <a:rPr lang="en-US" altLang="ko-KR" sz="1100">
                <a:solidFill>
                  <a:srgbClr val="8A8F98"/>
                </a:solidFill>
                <a:latin typeface="Noto Sans KR" panose="020B0200000000000000" pitchFamily="50" charset="-127"/>
                <a:ea typeface="Noto Sans KR" panose="020B0200000000000000" pitchFamily="50" charset="-127"/>
              </a:rPr>
              <a:t>[</a:t>
            </a:r>
            <a:r>
              <a:rPr lang="ko-KR" altLang="en-US" sz="1100">
                <a:solidFill>
                  <a:srgbClr val="8A8F98"/>
                </a:solidFill>
                <a:latin typeface="Noto Sans KR" panose="020B0200000000000000" pitchFamily="50" charset="-127"/>
                <a:ea typeface="Noto Sans KR" panose="020B0200000000000000" pitchFamily="50" charset="-127"/>
              </a:rPr>
              <a:t>모바일 화면 캡처</a:t>
            </a:r>
            <a:r>
              <a:rPr lang="en-US" altLang="ko-KR" sz="1100">
                <a:solidFill>
                  <a:srgbClr val="8A8F98"/>
                </a:solidFill>
                <a:latin typeface="Noto Sans KR" panose="020B0200000000000000" pitchFamily="50" charset="-127"/>
                <a:ea typeface="Noto Sans KR" panose="020B0200000000000000" pitchFamily="50" charset="-127"/>
              </a:rPr>
              <a:t>]</a:t>
            </a:r>
          </a:p>
          <a:p>
            <a:pPr algn="ctr"/>
            <a:r>
              <a:rPr lang="ko-KR" altLang="en-US" sz="1100">
                <a:solidFill>
                  <a:srgbClr val="8A8F98"/>
                </a:solidFill>
                <a:latin typeface="Noto Sans KR" panose="020B0200000000000000" pitchFamily="50" charset="-127"/>
                <a:ea typeface="Noto Sans KR" panose="020B0200000000000000" pitchFamily="50" charset="-127"/>
              </a:rPr>
              <a:t>수정 중</a:t>
            </a:r>
          </a:p>
        </p:txBody>
      </p:sp>
      <p:sp>
        <p:nvSpPr>
          <p:cNvPr id="38" name="TextBox 37">
            <a:extLst>
              <a:ext uri="{FF2B5EF4-FFF2-40B4-BE49-F238E27FC236}">
                <a16:creationId xmlns:a16="http://schemas.microsoft.com/office/drawing/2014/main" id="{5C555D37-F76B-4234-A978-4AAD7F372D67}"/>
              </a:ext>
            </a:extLst>
          </p:cNvPr>
          <p:cNvSpPr txBox="1"/>
          <p:nvPr/>
        </p:nvSpPr>
        <p:spPr>
          <a:xfrm>
            <a:off x="7061200" y="6045200"/>
            <a:ext cx="2006600" cy="369332"/>
          </a:xfrm>
          <a:prstGeom prst="rect">
            <a:avLst/>
          </a:prstGeom>
          <a:noFill/>
        </p:spPr>
        <p:txBody>
          <a:bodyPr vert="horz" wrap="square" lIns="0" tIns="0" rIns="0" bIns="0" rtlCol="0">
            <a:noAutofit/>
          </a:bodyPr>
          <a:lstStyle/>
          <a:p>
            <a:r>
              <a:rPr lang="en-US" altLang="ko-KR" sz="1000" b="1">
                <a:solidFill>
                  <a:srgbClr val="8A8F98"/>
                </a:solidFill>
                <a:ea typeface="JetBrains Mono"/>
              </a:rPr>
              <a:t>MOBILE · 390px</a:t>
            </a:r>
            <a:endParaRPr lang="ko-KR" altLang="en-US" sz="1000" b="1">
              <a:solidFill>
                <a:srgbClr val="8A8F98"/>
              </a:solidFill>
            </a:endParaRPr>
          </a:p>
        </p:txBody>
      </p:sp>
      <p:sp>
        <p:nvSpPr>
          <p:cNvPr id="39" name="사각형: 둥근 모서리 38">
            <a:extLst>
              <a:ext uri="{FF2B5EF4-FFF2-40B4-BE49-F238E27FC236}">
                <a16:creationId xmlns:a16="http://schemas.microsoft.com/office/drawing/2014/main" id="{74791A67-5E23-4025-939F-47D01AA6235E}"/>
              </a:ext>
            </a:extLst>
          </p:cNvPr>
          <p:cNvSpPr/>
          <p:nvPr/>
        </p:nvSpPr>
        <p:spPr>
          <a:xfrm>
            <a:off x="9347200" y="1905000"/>
            <a:ext cx="2032000" cy="40386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사각형: 둥근 모서리 39">
            <a:extLst>
              <a:ext uri="{FF2B5EF4-FFF2-40B4-BE49-F238E27FC236}">
                <a16:creationId xmlns:a16="http://schemas.microsoft.com/office/drawing/2014/main" id="{BCF00413-B067-49EB-B8D6-1521AC935851}"/>
              </a:ext>
            </a:extLst>
          </p:cNvPr>
          <p:cNvSpPr/>
          <p:nvPr/>
        </p:nvSpPr>
        <p:spPr>
          <a:xfrm>
            <a:off x="9525000" y="2082800"/>
            <a:ext cx="10668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달라지는 점</a:t>
            </a:r>
          </a:p>
        </p:txBody>
      </p:sp>
      <p:sp>
        <p:nvSpPr>
          <p:cNvPr id="41" name="TextBox 40">
            <a:extLst>
              <a:ext uri="{FF2B5EF4-FFF2-40B4-BE49-F238E27FC236}">
                <a16:creationId xmlns:a16="http://schemas.microsoft.com/office/drawing/2014/main" id="{708FE045-5D25-4873-A535-74C9EF9CC172}"/>
              </a:ext>
            </a:extLst>
          </p:cNvPr>
          <p:cNvSpPr txBox="1"/>
          <p:nvPr/>
        </p:nvSpPr>
        <p:spPr>
          <a:xfrm>
            <a:off x="9525000" y="25400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필터 버튼</a:t>
            </a:r>
          </a:p>
        </p:txBody>
      </p:sp>
      <p:sp>
        <p:nvSpPr>
          <p:cNvPr id="42" name="TextBox 41">
            <a:extLst>
              <a:ext uri="{FF2B5EF4-FFF2-40B4-BE49-F238E27FC236}">
                <a16:creationId xmlns:a16="http://schemas.microsoft.com/office/drawing/2014/main" id="{C5498CA5-C0AF-427E-B121-84D0EF39365A}"/>
              </a:ext>
            </a:extLst>
          </p:cNvPr>
          <p:cNvSpPr txBox="1"/>
          <p:nvPr/>
        </p:nvSpPr>
        <p:spPr>
          <a:xfrm>
            <a:off x="9525000" y="27813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가로 스크롤</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3" name="TextBox 42">
            <a:extLst>
              <a:ext uri="{FF2B5EF4-FFF2-40B4-BE49-F238E27FC236}">
                <a16:creationId xmlns:a16="http://schemas.microsoft.com/office/drawing/2014/main" id="{98C8ED73-2B97-48ED-A25D-B0828114A2F6}"/>
              </a:ext>
            </a:extLst>
          </p:cNvPr>
          <p:cNvSpPr txBox="1"/>
          <p:nvPr/>
        </p:nvSpPr>
        <p:spPr>
          <a:xfrm>
            <a:off x="9525000" y="33274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카드</a:t>
            </a:r>
          </a:p>
        </p:txBody>
      </p:sp>
      <p:sp>
        <p:nvSpPr>
          <p:cNvPr id="44" name="TextBox 43">
            <a:extLst>
              <a:ext uri="{FF2B5EF4-FFF2-40B4-BE49-F238E27FC236}">
                <a16:creationId xmlns:a16="http://schemas.microsoft.com/office/drawing/2014/main" id="{BFE2D6AB-7A55-4C91-8068-6899568E0F5B}"/>
              </a:ext>
            </a:extLst>
          </p:cNvPr>
          <p:cNvSpPr txBox="1"/>
          <p:nvPr/>
        </p:nvSpPr>
        <p:spPr>
          <a:xfrm>
            <a:off x="9525000" y="35687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[2</a:t>
            </a:r>
            <a:r>
              <a:rPr lang="ko-KR" altLang="en-US" sz="1200">
                <a:solidFill>
                  <a:srgbClr val="E8692C"/>
                </a:solidFill>
                <a:latin typeface="Noto Sans KR" panose="020B0200000000000000" pitchFamily="50" charset="-127"/>
                <a:ea typeface="Noto Sans KR" panose="020B0200000000000000" pitchFamily="50" charset="-127"/>
              </a:rPr>
              <a:t>열 → </a:t>
            </a:r>
            <a:r>
              <a:rPr lang="en-US" altLang="ko-KR" sz="1200">
                <a:solidFill>
                  <a:srgbClr val="E8692C"/>
                </a:solidFill>
                <a:latin typeface="Noto Sans KR" panose="020B0200000000000000" pitchFamily="50" charset="-127"/>
                <a:ea typeface="Noto Sans KR" panose="020B0200000000000000" pitchFamily="50" charset="-127"/>
              </a:rPr>
              <a:t>1</a:t>
            </a:r>
            <a:r>
              <a:rPr lang="ko-KR" altLang="en-US" sz="1200">
                <a:solidFill>
                  <a:srgbClr val="E8692C"/>
                </a:solidFill>
                <a:latin typeface="Noto Sans KR" panose="020B0200000000000000" pitchFamily="50" charset="-127"/>
                <a:ea typeface="Noto Sans KR" panose="020B0200000000000000" pitchFamily="50" charset="-127"/>
              </a:rPr>
              <a:t>열</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5" name="TextBox 44">
            <a:extLst>
              <a:ext uri="{FF2B5EF4-FFF2-40B4-BE49-F238E27FC236}">
                <a16:creationId xmlns:a16="http://schemas.microsoft.com/office/drawing/2014/main" id="{A821CA89-BEDD-489F-A649-B28A68D9AAC9}"/>
              </a:ext>
            </a:extLst>
          </p:cNvPr>
          <p:cNvSpPr txBox="1"/>
          <p:nvPr/>
        </p:nvSpPr>
        <p:spPr>
          <a:xfrm>
            <a:off x="9525000" y="41148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영상</a:t>
            </a:r>
          </a:p>
        </p:txBody>
      </p:sp>
      <p:sp>
        <p:nvSpPr>
          <p:cNvPr id="46" name="TextBox 45">
            <a:extLst>
              <a:ext uri="{FF2B5EF4-FFF2-40B4-BE49-F238E27FC236}">
                <a16:creationId xmlns:a16="http://schemas.microsoft.com/office/drawing/2014/main" id="{8B4057D2-4179-48F6-9CDB-CBB791F97790}"/>
              </a:ext>
            </a:extLst>
          </p:cNvPr>
          <p:cNvSpPr txBox="1"/>
          <p:nvPr/>
        </p:nvSpPr>
        <p:spPr>
          <a:xfrm>
            <a:off x="9525000" y="43561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탭하면 재생</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7" name="TextBox 46">
            <a:extLst>
              <a:ext uri="{FF2B5EF4-FFF2-40B4-BE49-F238E27FC236}">
                <a16:creationId xmlns:a16="http://schemas.microsoft.com/office/drawing/2014/main" id="{2B685355-C701-4D75-959F-52EA7ECFA5B1}"/>
              </a:ext>
            </a:extLst>
          </p:cNvPr>
          <p:cNvSpPr txBox="1"/>
          <p:nvPr/>
        </p:nvSpPr>
        <p:spPr>
          <a:xfrm>
            <a:off x="9525000" y="49022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작품 제목</a:t>
            </a:r>
          </a:p>
        </p:txBody>
      </p:sp>
      <p:sp>
        <p:nvSpPr>
          <p:cNvPr id="48" name="TextBox 47">
            <a:extLst>
              <a:ext uri="{FF2B5EF4-FFF2-40B4-BE49-F238E27FC236}">
                <a16:creationId xmlns:a16="http://schemas.microsoft.com/office/drawing/2014/main" id="{5D3ADE03-1787-41BF-BF3C-B9806699B469}"/>
              </a:ext>
            </a:extLst>
          </p:cNvPr>
          <p:cNvSpPr txBox="1"/>
          <p:nvPr/>
        </p:nvSpPr>
        <p:spPr>
          <a:xfrm>
            <a:off x="9525000" y="51435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항상 보이게</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9" name="TextBox 48">
            <a:extLst>
              <a:ext uri="{FF2B5EF4-FFF2-40B4-BE49-F238E27FC236}">
                <a16:creationId xmlns:a16="http://schemas.microsoft.com/office/drawing/2014/main" id="{8863A6DB-E0DD-4F2D-80B5-A6BEC38D1C0A}"/>
              </a:ext>
            </a:extLst>
          </p:cNvPr>
          <p:cNvSpPr txBox="1"/>
          <p:nvPr/>
        </p:nvSpPr>
        <p:spPr>
          <a:xfrm>
            <a:off x="9347200" y="6045200"/>
            <a:ext cx="2032000" cy="369332"/>
          </a:xfrm>
          <a:prstGeom prst="rect">
            <a:avLst/>
          </a:prstGeom>
          <a:noFill/>
        </p:spPr>
        <p:txBody>
          <a:bodyPr vert="horz" wrap="square" lIns="0" tIns="0" rIns="0" bIns="0" rtlCol="0">
            <a:noAutofit/>
          </a:bodyPr>
          <a:lstStyle/>
          <a:p>
            <a:r>
              <a:rPr lang="ko-KR" altLang="en-US" sz="1000" b="1">
                <a:solidFill>
                  <a:srgbClr val="1B2433"/>
                </a:solidFill>
                <a:latin typeface="Noto Sans KR" panose="020B0200000000000000" pitchFamily="50" charset="-127"/>
                <a:ea typeface="Noto Sans KR" panose="020B0200000000000000" pitchFamily="50" charset="-127"/>
              </a:rPr>
              <a:t>담당</a:t>
            </a:r>
            <a:r>
              <a:rPr lang="ko-KR" altLang="en-US" sz="1000">
                <a:solidFill>
                  <a:srgbClr val="4A505C"/>
                </a:solidFill>
                <a:latin typeface="Noto Sans KR" panose="020B0200000000000000" pitchFamily="50" charset="-127"/>
                <a:ea typeface="Noto Sans KR" panose="020B0200000000000000" pitchFamily="50" charset="-127"/>
              </a:rPr>
              <a:t>　</a:t>
            </a:r>
            <a:r>
              <a:rPr lang="ko-KR" altLang="en-US" sz="1000">
                <a:solidFill>
                  <a:srgbClr val="E8692C"/>
                </a:solidFill>
                <a:latin typeface="Noto Sans KR" panose="020B0200000000000000" pitchFamily="50" charset="-127"/>
                <a:ea typeface="Noto Sans KR" panose="020B0200000000000000" pitchFamily="50" charset="-127"/>
              </a:rPr>
              <a:t>유호원</a:t>
            </a:r>
          </a:p>
        </p:txBody>
      </p:sp>
    </p:spTree>
    <p:extLst>
      <p:ext uri="{BB962C8B-B14F-4D97-AF65-F5344CB8AC3E}">
        <p14:creationId xmlns:p14="http://schemas.microsoft.com/office/powerpoint/2010/main" val="26421078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RESPONSIVE · PC vs MOBILE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altLang="ko-KR" sz="3200" b="1" i="0">
                <a:solidFill>
                  <a:srgbClr val="1B2433"/>
                </a:solidFill>
                <a:latin typeface="Noto Sans KR" pitchFamily="34" charset="0"/>
                <a:ea typeface="Noto Sans KR" pitchFamily="34" charset="-122"/>
                <a:cs typeface="Noto Sans KR" pitchFamily="34" charset="-120"/>
              </a:rPr>
              <a:t>CONTACT — PC</a:t>
            </a:r>
            <a:r>
              <a:rPr lang="ko-KR" altLang="en-US" sz="3200" b="1" i="0">
                <a:solidFill>
                  <a:srgbClr val="1B2433"/>
                </a:solidFill>
                <a:latin typeface="Noto Sans KR" pitchFamily="34" charset="0"/>
                <a:ea typeface="Noto Sans KR" pitchFamily="34" charset="-122"/>
                <a:cs typeface="Noto Sans KR" pitchFamily="34" charset="-120"/>
              </a:rPr>
              <a:t>와 모바일 비교</a:t>
            </a:r>
            <a:endParaRPr lang="en-US" sz="3200" dirty="0"/>
          </a:p>
        </p:txBody>
      </p:sp>
      <p:sp>
        <p:nvSpPr>
          <p:cNvPr id="26" name="사각형: 둥근 모서리 25">
            <a:extLst>
              <a:ext uri="{FF2B5EF4-FFF2-40B4-BE49-F238E27FC236}">
                <a16:creationId xmlns:a16="http://schemas.microsoft.com/office/drawing/2014/main" id="{FDF4CABF-625C-4158-81CD-BF8C9968CBCB}"/>
              </a:ext>
            </a:extLst>
          </p:cNvPr>
          <p:cNvSpPr/>
          <p:nvPr/>
        </p:nvSpPr>
        <p:spPr>
          <a:xfrm>
            <a:off x="812800" y="1905000"/>
            <a:ext cx="5969000" cy="4038600"/>
          </a:xfrm>
          <a:prstGeom prst="roundRect">
            <a:avLst>
              <a:gd name="adj" fmla="val 6000"/>
            </a:avLst>
          </a:prstGeom>
          <a:solidFill>
            <a:srgbClr val="FFFFFF"/>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타원 26">
            <a:extLst>
              <a:ext uri="{FF2B5EF4-FFF2-40B4-BE49-F238E27FC236}">
                <a16:creationId xmlns:a16="http://schemas.microsoft.com/office/drawing/2014/main" id="{B59C5DC4-D34B-454C-8EDB-A8092354F680}"/>
              </a:ext>
            </a:extLst>
          </p:cNvPr>
          <p:cNvSpPr/>
          <p:nvPr/>
        </p:nvSpPr>
        <p:spPr>
          <a:xfrm>
            <a:off x="965200" y="2006600"/>
            <a:ext cx="88900" cy="88900"/>
          </a:xfrm>
          <a:prstGeom prst="ellipse">
            <a:avLst/>
          </a:prstGeom>
          <a:solidFill>
            <a:srgbClr val="F26D5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타원 27">
            <a:extLst>
              <a:ext uri="{FF2B5EF4-FFF2-40B4-BE49-F238E27FC236}">
                <a16:creationId xmlns:a16="http://schemas.microsoft.com/office/drawing/2014/main" id="{5139BA2D-640D-47D8-B806-73CF5D995B55}"/>
              </a:ext>
            </a:extLst>
          </p:cNvPr>
          <p:cNvSpPr/>
          <p:nvPr/>
        </p:nvSpPr>
        <p:spPr>
          <a:xfrm>
            <a:off x="1117600" y="2006600"/>
            <a:ext cx="88900" cy="88900"/>
          </a:xfrm>
          <a:prstGeom prst="ellipse">
            <a:avLst/>
          </a:prstGeom>
          <a:solidFill>
            <a:srgbClr val="F5BE4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타원 28">
            <a:extLst>
              <a:ext uri="{FF2B5EF4-FFF2-40B4-BE49-F238E27FC236}">
                <a16:creationId xmlns:a16="http://schemas.microsoft.com/office/drawing/2014/main" id="{87B12E06-C6AC-4D43-AE00-805CB7CE7FF7}"/>
              </a:ext>
            </a:extLst>
          </p:cNvPr>
          <p:cNvSpPr/>
          <p:nvPr/>
        </p:nvSpPr>
        <p:spPr>
          <a:xfrm>
            <a:off x="1270000" y="2006600"/>
            <a:ext cx="88900" cy="88900"/>
          </a:xfrm>
          <a:prstGeom prst="ellipse">
            <a:avLst/>
          </a:prstGeom>
          <a:solidFill>
            <a:srgbClr val="5CC2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사각형: 둥근 모서리 29">
            <a:extLst>
              <a:ext uri="{FF2B5EF4-FFF2-40B4-BE49-F238E27FC236}">
                <a16:creationId xmlns:a16="http://schemas.microsoft.com/office/drawing/2014/main" id="{6A7AEBA0-D860-4E6F-9ECD-043C02EDA16F}"/>
              </a:ext>
            </a:extLst>
          </p:cNvPr>
          <p:cNvSpPr/>
          <p:nvPr/>
        </p:nvSpPr>
        <p:spPr>
          <a:xfrm>
            <a:off x="1524000" y="1981200"/>
            <a:ext cx="3810000" cy="139700"/>
          </a:xfrm>
          <a:prstGeom prst="roundRect">
            <a:avLst>
              <a:gd name="adj" fmla="val 6000"/>
            </a:avLst>
          </a:prstGeom>
          <a:solidFill>
            <a:srgbClr val="ECE9E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32" name="그림 31">
            <a:extLst>
              <a:ext uri="{FF2B5EF4-FFF2-40B4-BE49-F238E27FC236}">
                <a16:creationId xmlns:a16="http://schemas.microsoft.com/office/drawing/2014/main" id="{20D22949-1403-4255-BB50-0264AF178F1D}"/>
              </a:ext>
            </a:extLst>
          </p:cNvPr>
          <p:cNvPicPr>
            <a:picLocks/>
          </p:cNvPicPr>
          <p:nvPr/>
        </p:nvPicPr>
        <p:blipFill>
          <a:blip r:embed="rId3"/>
          <a:stretch>
            <a:fillRect/>
          </a:stretch>
        </p:blipFill>
        <p:spPr>
          <a:xfrm>
            <a:off x="889000" y="2209800"/>
            <a:ext cx="5816600" cy="3632200"/>
          </a:xfrm>
          <a:prstGeom prst="rect">
            <a:avLst/>
          </a:prstGeom>
        </p:spPr>
      </p:pic>
      <p:sp>
        <p:nvSpPr>
          <p:cNvPr id="33" name="TextBox 32">
            <a:extLst>
              <a:ext uri="{FF2B5EF4-FFF2-40B4-BE49-F238E27FC236}">
                <a16:creationId xmlns:a16="http://schemas.microsoft.com/office/drawing/2014/main" id="{62307669-5CB2-4C4E-AE75-5850F6284105}"/>
              </a:ext>
            </a:extLst>
          </p:cNvPr>
          <p:cNvSpPr txBox="1"/>
          <p:nvPr/>
        </p:nvSpPr>
        <p:spPr>
          <a:xfrm>
            <a:off x="812800" y="6045200"/>
            <a:ext cx="5969000" cy="369332"/>
          </a:xfrm>
          <a:prstGeom prst="rect">
            <a:avLst/>
          </a:prstGeom>
          <a:noFill/>
        </p:spPr>
        <p:txBody>
          <a:bodyPr vert="horz" wrap="square" lIns="0" tIns="0" rIns="0" bIns="0" rtlCol="0">
            <a:noAutofit/>
          </a:bodyPr>
          <a:lstStyle/>
          <a:p>
            <a:r>
              <a:rPr lang="en-US" altLang="ko-KR" sz="1000" b="1">
                <a:solidFill>
                  <a:srgbClr val="8A8F98"/>
                </a:solidFill>
                <a:latin typeface="JetBrains Mono"/>
                <a:ea typeface="JetBrains Mono"/>
              </a:rPr>
              <a:t>PC · 1440px</a:t>
            </a:r>
            <a:endParaRPr lang="ko-KR" altLang="en-US" sz="1000" b="1">
              <a:solidFill>
                <a:srgbClr val="8A8F98"/>
              </a:solidFill>
              <a:latin typeface="JetBrains Mono"/>
            </a:endParaRPr>
          </a:p>
        </p:txBody>
      </p:sp>
      <p:sp>
        <p:nvSpPr>
          <p:cNvPr id="34" name="사각형: 둥근 모서리 33">
            <a:extLst>
              <a:ext uri="{FF2B5EF4-FFF2-40B4-BE49-F238E27FC236}">
                <a16:creationId xmlns:a16="http://schemas.microsoft.com/office/drawing/2014/main" id="{00C5D4D5-B0E6-4CC0-8B3E-77CD78D8ACA6}"/>
              </a:ext>
            </a:extLst>
          </p:cNvPr>
          <p:cNvSpPr/>
          <p:nvPr/>
        </p:nvSpPr>
        <p:spPr>
          <a:xfrm>
            <a:off x="7061200" y="1854200"/>
            <a:ext cx="2006600" cy="4089400"/>
          </a:xfrm>
          <a:prstGeom prst="roundRect">
            <a:avLst>
              <a:gd name="adj" fmla="val 12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사각형: 둥근 모서리 34">
            <a:extLst>
              <a:ext uri="{FF2B5EF4-FFF2-40B4-BE49-F238E27FC236}">
                <a16:creationId xmlns:a16="http://schemas.microsoft.com/office/drawing/2014/main" id="{B26FAFF8-6313-4524-B862-B203750086F9}"/>
              </a:ext>
            </a:extLst>
          </p:cNvPr>
          <p:cNvSpPr/>
          <p:nvPr/>
        </p:nvSpPr>
        <p:spPr>
          <a:xfrm>
            <a:off x="7162800" y="2159000"/>
            <a:ext cx="1803400" cy="3657600"/>
          </a:xfrm>
          <a:prstGeom prst="roundRect">
            <a:avLst>
              <a:gd name="adj" fmla="val 8000"/>
            </a:avLst>
          </a:prstGeom>
          <a:solidFill>
            <a:srgbClr val="ECE9E1"/>
          </a:solidFill>
          <a:ln w="9525">
            <a:solidFill>
              <a:srgbClr val="DCD6C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사각형: 둥근 모서리 35">
            <a:extLst>
              <a:ext uri="{FF2B5EF4-FFF2-40B4-BE49-F238E27FC236}">
                <a16:creationId xmlns:a16="http://schemas.microsoft.com/office/drawing/2014/main" id="{DD631B00-F4F5-49EB-8045-337C58ACAE4F}"/>
              </a:ext>
            </a:extLst>
          </p:cNvPr>
          <p:cNvSpPr/>
          <p:nvPr/>
        </p:nvSpPr>
        <p:spPr>
          <a:xfrm>
            <a:off x="7785100" y="1968500"/>
            <a:ext cx="558800" cy="88900"/>
          </a:xfrm>
          <a:prstGeom prst="roundRect">
            <a:avLst>
              <a:gd name="adj" fmla="val 50000"/>
            </a:avLst>
          </a:prstGeom>
          <a:solidFill>
            <a:srgbClr val="0B101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TextBox 36">
            <a:extLst>
              <a:ext uri="{FF2B5EF4-FFF2-40B4-BE49-F238E27FC236}">
                <a16:creationId xmlns:a16="http://schemas.microsoft.com/office/drawing/2014/main" id="{91263595-F9C6-4BA0-8A88-3557EB46CAE9}"/>
              </a:ext>
            </a:extLst>
          </p:cNvPr>
          <p:cNvSpPr txBox="1"/>
          <p:nvPr/>
        </p:nvSpPr>
        <p:spPr>
          <a:xfrm>
            <a:off x="7213600" y="3632200"/>
            <a:ext cx="1701800" cy="369332"/>
          </a:xfrm>
          <a:prstGeom prst="rect">
            <a:avLst/>
          </a:prstGeom>
          <a:noFill/>
        </p:spPr>
        <p:txBody>
          <a:bodyPr vert="horz" wrap="square" lIns="0" tIns="0" rIns="0" bIns="0" rtlCol="0">
            <a:noAutofit/>
          </a:bodyPr>
          <a:lstStyle/>
          <a:p>
            <a:pPr algn="ctr"/>
            <a:r>
              <a:rPr lang="en-US" altLang="ko-KR" sz="1100">
                <a:solidFill>
                  <a:srgbClr val="8A8F98"/>
                </a:solidFill>
                <a:latin typeface="Noto Sans KR" panose="020B0200000000000000" pitchFamily="50" charset="-127"/>
                <a:ea typeface="Noto Sans KR" panose="020B0200000000000000" pitchFamily="50" charset="-127"/>
              </a:rPr>
              <a:t>[</a:t>
            </a:r>
            <a:r>
              <a:rPr lang="ko-KR" altLang="en-US" sz="1100">
                <a:solidFill>
                  <a:srgbClr val="8A8F98"/>
                </a:solidFill>
                <a:latin typeface="Noto Sans KR" panose="020B0200000000000000" pitchFamily="50" charset="-127"/>
                <a:ea typeface="Noto Sans KR" panose="020B0200000000000000" pitchFamily="50" charset="-127"/>
              </a:rPr>
              <a:t>모바일 화면 캡처</a:t>
            </a:r>
            <a:r>
              <a:rPr lang="en-US" altLang="ko-KR" sz="1100">
                <a:solidFill>
                  <a:srgbClr val="8A8F98"/>
                </a:solidFill>
                <a:latin typeface="Noto Sans KR" panose="020B0200000000000000" pitchFamily="50" charset="-127"/>
                <a:ea typeface="Noto Sans KR" panose="020B0200000000000000" pitchFamily="50" charset="-127"/>
              </a:rPr>
              <a:t>]</a:t>
            </a:r>
          </a:p>
          <a:p>
            <a:pPr algn="ctr"/>
            <a:r>
              <a:rPr lang="ko-KR" altLang="en-US" sz="1100">
                <a:solidFill>
                  <a:srgbClr val="8A8F98"/>
                </a:solidFill>
                <a:latin typeface="Noto Sans KR" panose="020B0200000000000000" pitchFamily="50" charset="-127"/>
                <a:ea typeface="Noto Sans KR" panose="020B0200000000000000" pitchFamily="50" charset="-127"/>
              </a:rPr>
              <a:t>수정 중</a:t>
            </a:r>
          </a:p>
        </p:txBody>
      </p:sp>
      <p:sp>
        <p:nvSpPr>
          <p:cNvPr id="38" name="TextBox 37">
            <a:extLst>
              <a:ext uri="{FF2B5EF4-FFF2-40B4-BE49-F238E27FC236}">
                <a16:creationId xmlns:a16="http://schemas.microsoft.com/office/drawing/2014/main" id="{77D3BC1E-E7A7-47C2-A12C-C4739D46046C}"/>
              </a:ext>
            </a:extLst>
          </p:cNvPr>
          <p:cNvSpPr txBox="1"/>
          <p:nvPr/>
        </p:nvSpPr>
        <p:spPr>
          <a:xfrm>
            <a:off x="7061200" y="6045200"/>
            <a:ext cx="2006600" cy="369332"/>
          </a:xfrm>
          <a:prstGeom prst="rect">
            <a:avLst/>
          </a:prstGeom>
          <a:noFill/>
        </p:spPr>
        <p:txBody>
          <a:bodyPr vert="horz" wrap="square" lIns="0" tIns="0" rIns="0" bIns="0" rtlCol="0">
            <a:noAutofit/>
          </a:bodyPr>
          <a:lstStyle/>
          <a:p>
            <a:r>
              <a:rPr lang="en-US" altLang="ko-KR" sz="1000" b="1">
                <a:solidFill>
                  <a:srgbClr val="8A8F98"/>
                </a:solidFill>
                <a:latin typeface="JetBrains Mono"/>
                <a:ea typeface="JetBrains Mono"/>
              </a:rPr>
              <a:t>MOBILE · 390px</a:t>
            </a:r>
            <a:endParaRPr lang="ko-KR" altLang="en-US" sz="1000" b="1">
              <a:solidFill>
                <a:srgbClr val="8A8F98"/>
              </a:solidFill>
              <a:latin typeface="JetBrains Mono"/>
            </a:endParaRPr>
          </a:p>
        </p:txBody>
      </p:sp>
      <p:sp>
        <p:nvSpPr>
          <p:cNvPr id="39" name="사각형: 둥근 모서리 38">
            <a:extLst>
              <a:ext uri="{FF2B5EF4-FFF2-40B4-BE49-F238E27FC236}">
                <a16:creationId xmlns:a16="http://schemas.microsoft.com/office/drawing/2014/main" id="{B528F998-C3B5-434C-AC03-D4A69900B55F}"/>
              </a:ext>
            </a:extLst>
          </p:cNvPr>
          <p:cNvSpPr/>
          <p:nvPr/>
        </p:nvSpPr>
        <p:spPr>
          <a:xfrm>
            <a:off x="9347200" y="1905000"/>
            <a:ext cx="2032000" cy="4038600"/>
          </a:xfrm>
          <a:prstGeom prst="roundRect">
            <a:avLst>
              <a:gd name="adj" fmla="val 6000"/>
            </a:avLst>
          </a:prstGeom>
          <a:solidFill>
            <a:srgbClr val="FDFCF9"/>
          </a:solidFill>
          <a:ln w="9525">
            <a:solidFill>
              <a:srgbClr val="DCD6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사각형: 둥근 모서리 39">
            <a:extLst>
              <a:ext uri="{FF2B5EF4-FFF2-40B4-BE49-F238E27FC236}">
                <a16:creationId xmlns:a16="http://schemas.microsoft.com/office/drawing/2014/main" id="{52FD79C2-A859-42F6-BF57-0D0F94F2D4D4}"/>
              </a:ext>
            </a:extLst>
          </p:cNvPr>
          <p:cNvSpPr/>
          <p:nvPr/>
        </p:nvSpPr>
        <p:spPr>
          <a:xfrm>
            <a:off x="9525000" y="2082800"/>
            <a:ext cx="1066800" cy="279400"/>
          </a:xfrm>
          <a:prstGeom prst="roundRect">
            <a:avLst>
              <a:gd name="adj" fmla="val 50000"/>
            </a:avLst>
          </a:prstGeom>
          <a:solidFill>
            <a:srgbClr val="1620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ko-KR" altLang="en-US" sz="1100" b="1">
                <a:solidFill>
                  <a:srgbClr val="FFFFFF"/>
                </a:solidFill>
                <a:latin typeface="Noto Sans KR" panose="020B0200000000000000" pitchFamily="50" charset="-127"/>
                <a:ea typeface="Noto Sans KR" panose="020B0200000000000000" pitchFamily="50" charset="-127"/>
              </a:rPr>
              <a:t>달라지는 점</a:t>
            </a:r>
          </a:p>
        </p:txBody>
      </p:sp>
      <p:sp>
        <p:nvSpPr>
          <p:cNvPr id="41" name="TextBox 40">
            <a:extLst>
              <a:ext uri="{FF2B5EF4-FFF2-40B4-BE49-F238E27FC236}">
                <a16:creationId xmlns:a16="http://schemas.microsoft.com/office/drawing/2014/main" id="{6287BA64-641E-465C-8D90-FC8C323102E6}"/>
              </a:ext>
            </a:extLst>
          </p:cNvPr>
          <p:cNvSpPr txBox="1"/>
          <p:nvPr/>
        </p:nvSpPr>
        <p:spPr>
          <a:xfrm>
            <a:off x="9525000" y="25400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개인</a:t>
            </a:r>
            <a:r>
              <a:rPr lang="en-US" altLang="ko-KR" sz="1200" b="1">
                <a:solidFill>
                  <a:srgbClr val="1B2433"/>
                </a:solidFill>
                <a:latin typeface="Noto Sans KR" panose="020B0200000000000000" pitchFamily="50" charset="-127"/>
                <a:ea typeface="Noto Sans KR" panose="020B0200000000000000" pitchFamily="50" charset="-127"/>
              </a:rPr>
              <a:t>/</a:t>
            </a:r>
            <a:r>
              <a:rPr lang="ko-KR" altLang="en-US" sz="1200" b="1">
                <a:solidFill>
                  <a:srgbClr val="1B2433"/>
                </a:solidFill>
                <a:latin typeface="Noto Sans KR" panose="020B0200000000000000" pitchFamily="50" charset="-127"/>
                <a:ea typeface="Noto Sans KR" panose="020B0200000000000000" pitchFamily="50" charset="-127"/>
              </a:rPr>
              <a:t>기업</a:t>
            </a:r>
          </a:p>
        </p:txBody>
      </p:sp>
      <p:sp>
        <p:nvSpPr>
          <p:cNvPr id="42" name="TextBox 41">
            <a:extLst>
              <a:ext uri="{FF2B5EF4-FFF2-40B4-BE49-F238E27FC236}">
                <a16:creationId xmlns:a16="http://schemas.microsoft.com/office/drawing/2014/main" id="{022BA818-EE58-4AAF-AAB9-6C4BAF42C39B}"/>
              </a:ext>
            </a:extLst>
          </p:cNvPr>
          <p:cNvSpPr txBox="1"/>
          <p:nvPr/>
        </p:nvSpPr>
        <p:spPr>
          <a:xfrm>
            <a:off x="9525000" y="27813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위쪽 탭으로</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3" name="TextBox 42">
            <a:extLst>
              <a:ext uri="{FF2B5EF4-FFF2-40B4-BE49-F238E27FC236}">
                <a16:creationId xmlns:a16="http://schemas.microsoft.com/office/drawing/2014/main" id="{BB822E18-6605-473A-B275-B27DE29DE2D5}"/>
              </a:ext>
            </a:extLst>
          </p:cNvPr>
          <p:cNvSpPr txBox="1"/>
          <p:nvPr/>
        </p:nvSpPr>
        <p:spPr>
          <a:xfrm>
            <a:off x="9525000" y="33274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옵션 선택</a:t>
            </a:r>
          </a:p>
        </p:txBody>
      </p:sp>
      <p:sp>
        <p:nvSpPr>
          <p:cNvPr id="44" name="TextBox 43">
            <a:extLst>
              <a:ext uri="{FF2B5EF4-FFF2-40B4-BE49-F238E27FC236}">
                <a16:creationId xmlns:a16="http://schemas.microsoft.com/office/drawing/2014/main" id="{268B1C72-3F8C-49CD-B49B-7CAF32E7CEF4}"/>
              </a:ext>
            </a:extLst>
          </p:cNvPr>
          <p:cNvSpPr txBox="1"/>
          <p:nvPr/>
        </p:nvSpPr>
        <p:spPr>
          <a:xfrm>
            <a:off x="9525000" y="35687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세로 목록</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5" name="TextBox 44">
            <a:extLst>
              <a:ext uri="{FF2B5EF4-FFF2-40B4-BE49-F238E27FC236}">
                <a16:creationId xmlns:a16="http://schemas.microsoft.com/office/drawing/2014/main" id="{49E64151-AB48-4319-BB59-FC3892683B5F}"/>
              </a:ext>
            </a:extLst>
          </p:cNvPr>
          <p:cNvSpPr txBox="1"/>
          <p:nvPr/>
        </p:nvSpPr>
        <p:spPr>
          <a:xfrm>
            <a:off x="9525000" y="41148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예상 견적</a:t>
            </a:r>
          </a:p>
        </p:txBody>
      </p:sp>
      <p:sp>
        <p:nvSpPr>
          <p:cNvPr id="46" name="TextBox 45">
            <a:extLst>
              <a:ext uri="{FF2B5EF4-FFF2-40B4-BE49-F238E27FC236}">
                <a16:creationId xmlns:a16="http://schemas.microsoft.com/office/drawing/2014/main" id="{B34C2A66-FA81-4E3B-B1A7-36DBE9FAEE41}"/>
              </a:ext>
            </a:extLst>
          </p:cNvPr>
          <p:cNvSpPr txBox="1"/>
          <p:nvPr/>
        </p:nvSpPr>
        <p:spPr>
          <a:xfrm>
            <a:off x="9525000" y="43561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아래 고정 바</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7" name="TextBox 46">
            <a:extLst>
              <a:ext uri="{FF2B5EF4-FFF2-40B4-BE49-F238E27FC236}">
                <a16:creationId xmlns:a16="http://schemas.microsoft.com/office/drawing/2014/main" id="{F1B40D27-421D-44C1-8974-12C08BAF7225}"/>
              </a:ext>
            </a:extLst>
          </p:cNvPr>
          <p:cNvSpPr txBox="1"/>
          <p:nvPr/>
        </p:nvSpPr>
        <p:spPr>
          <a:xfrm>
            <a:off x="9525000" y="4902200"/>
            <a:ext cx="1701800" cy="369332"/>
          </a:xfrm>
          <a:prstGeom prst="rect">
            <a:avLst/>
          </a:prstGeom>
          <a:noFill/>
        </p:spPr>
        <p:txBody>
          <a:bodyPr vert="horz" wrap="square" lIns="0" tIns="0" rIns="0" bIns="0" rtlCol="0">
            <a:noAutofit/>
          </a:bodyPr>
          <a:lstStyle/>
          <a:p>
            <a:r>
              <a:rPr lang="ko-KR" altLang="en-US" sz="1200" b="1">
                <a:solidFill>
                  <a:srgbClr val="1B2433"/>
                </a:solidFill>
                <a:latin typeface="Noto Sans KR" panose="020B0200000000000000" pitchFamily="50" charset="-127"/>
                <a:ea typeface="Noto Sans KR" panose="020B0200000000000000" pitchFamily="50" charset="-127"/>
              </a:rPr>
              <a:t>입력칸</a:t>
            </a:r>
          </a:p>
        </p:txBody>
      </p:sp>
      <p:sp>
        <p:nvSpPr>
          <p:cNvPr id="48" name="TextBox 47">
            <a:extLst>
              <a:ext uri="{FF2B5EF4-FFF2-40B4-BE49-F238E27FC236}">
                <a16:creationId xmlns:a16="http://schemas.microsoft.com/office/drawing/2014/main" id="{95448085-755B-45E1-A03B-6842717FA529}"/>
              </a:ext>
            </a:extLst>
          </p:cNvPr>
          <p:cNvSpPr txBox="1"/>
          <p:nvPr/>
        </p:nvSpPr>
        <p:spPr>
          <a:xfrm>
            <a:off x="9525000" y="5143500"/>
            <a:ext cx="1701800" cy="369332"/>
          </a:xfrm>
          <a:prstGeom prst="rect">
            <a:avLst/>
          </a:prstGeom>
          <a:noFill/>
        </p:spPr>
        <p:txBody>
          <a:bodyPr vert="horz" wrap="square" lIns="0" tIns="0" rIns="0" bIns="0" rtlCol="0">
            <a:noAutofit/>
          </a:bodyPr>
          <a:lstStyle/>
          <a:p>
            <a:r>
              <a:rPr lang="en-US" altLang="ko-KR" sz="1200">
                <a:solidFill>
                  <a:srgbClr val="E8692C"/>
                </a:solidFill>
                <a:latin typeface="Noto Sans KR" panose="020B0200000000000000" pitchFamily="50" charset="-127"/>
                <a:ea typeface="Noto Sans KR" panose="020B0200000000000000" pitchFamily="50" charset="-127"/>
              </a:rPr>
              <a:t>[</a:t>
            </a:r>
            <a:r>
              <a:rPr lang="ko-KR" altLang="en-US" sz="1200">
                <a:solidFill>
                  <a:srgbClr val="E8692C"/>
                </a:solidFill>
                <a:latin typeface="Noto Sans KR" panose="020B0200000000000000" pitchFamily="50" charset="-127"/>
                <a:ea typeface="Noto Sans KR" panose="020B0200000000000000" pitchFamily="50" charset="-127"/>
              </a:rPr>
              <a:t>크게 </a:t>
            </a:r>
            <a:r>
              <a:rPr lang="en-US" altLang="ko-KR" sz="1200">
                <a:solidFill>
                  <a:srgbClr val="E8692C"/>
                </a:solidFill>
                <a:latin typeface="Noto Sans KR" panose="020B0200000000000000" pitchFamily="50" charset="-127"/>
                <a:ea typeface="Noto Sans KR" panose="020B0200000000000000" pitchFamily="50" charset="-127"/>
              </a:rPr>
              <a:t>· </a:t>
            </a:r>
            <a:r>
              <a:rPr lang="ko-KR" altLang="en-US" sz="1200">
                <a:solidFill>
                  <a:srgbClr val="E8692C"/>
                </a:solidFill>
                <a:latin typeface="Noto Sans KR" panose="020B0200000000000000" pitchFamily="50" charset="-127"/>
                <a:ea typeface="Noto Sans KR" panose="020B0200000000000000" pitchFamily="50" charset="-127"/>
              </a:rPr>
              <a:t>숫자 키패드</a:t>
            </a:r>
            <a:r>
              <a:rPr lang="en-US" altLang="ko-KR" sz="1200">
                <a:solidFill>
                  <a:srgbClr val="E8692C"/>
                </a:solidFill>
                <a:latin typeface="Noto Sans KR" panose="020B0200000000000000" pitchFamily="50" charset="-127"/>
                <a:ea typeface="Noto Sans KR" panose="020B0200000000000000" pitchFamily="50" charset="-127"/>
              </a:rPr>
              <a:t>]</a:t>
            </a:r>
            <a:endParaRPr lang="ko-KR" altLang="en-US" sz="1200">
              <a:solidFill>
                <a:srgbClr val="E8692C"/>
              </a:solidFill>
              <a:latin typeface="Noto Sans KR" panose="020B0200000000000000" pitchFamily="50" charset="-127"/>
              <a:ea typeface="Noto Sans KR" panose="020B0200000000000000" pitchFamily="50" charset="-127"/>
            </a:endParaRPr>
          </a:p>
        </p:txBody>
      </p:sp>
      <p:sp>
        <p:nvSpPr>
          <p:cNvPr id="49" name="TextBox 48">
            <a:extLst>
              <a:ext uri="{FF2B5EF4-FFF2-40B4-BE49-F238E27FC236}">
                <a16:creationId xmlns:a16="http://schemas.microsoft.com/office/drawing/2014/main" id="{7206AF7D-7480-45F1-AA24-56084B8692B2}"/>
              </a:ext>
            </a:extLst>
          </p:cNvPr>
          <p:cNvSpPr txBox="1"/>
          <p:nvPr/>
        </p:nvSpPr>
        <p:spPr>
          <a:xfrm>
            <a:off x="9347200" y="6045200"/>
            <a:ext cx="2032000" cy="369332"/>
          </a:xfrm>
          <a:prstGeom prst="rect">
            <a:avLst/>
          </a:prstGeom>
          <a:noFill/>
        </p:spPr>
        <p:txBody>
          <a:bodyPr vert="horz" wrap="square" lIns="0" tIns="0" rIns="0" bIns="0" rtlCol="0">
            <a:noAutofit/>
          </a:bodyPr>
          <a:lstStyle/>
          <a:p>
            <a:r>
              <a:rPr lang="ko-KR" altLang="en-US" sz="1000" b="1">
                <a:solidFill>
                  <a:srgbClr val="1B2433"/>
                </a:solidFill>
                <a:latin typeface="Noto Sans KR" panose="020B0200000000000000" pitchFamily="50" charset="-127"/>
                <a:ea typeface="Noto Sans KR" panose="020B0200000000000000" pitchFamily="50" charset="-127"/>
              </a:rPr>
              <a:t>담당</a:t>
            </a:r>
            <a:r>
              <a:rPr lang="ko-KR" altLang="en-US" sz="1000">
                <a:solidFill>
                  <a:srgbClr val="4A505C"/>
                </a:solidFill>
                <a:latin typeface="Noto Sans KR" panose="020B0200000000000000" pitchFamily="50" charset="-127"/>
                <a:ea typeface="Noto Sans KR" panose="020B0200000000000000" pitchFamily="50" charset="-127"/>
              </a:rPr>
              <a:t>　</a:t>
            </a:r>
            <a:r>
              <a:rPr lang="ko-KR" altLang="en-US" sz="1000">
                <a:solidFill>
                  <a:srgbClr val="E8692C"/>
                </a:solidFill>
                <a:latin typeface="Noto Sans KR" panose="020B0200000000000000" pitchFamily="50" charset="-127"/>
                <a:ea typeface="Noto Sans KR" panose="020B0200000000000000" pitchFamily="50" charset="-127"/>
              </a:rPr>
              <a:t>김소연</a:t>
            </a:r>
          </a:p>
        </p:txBody>
      </p:sp>
    </p:spTree>
    <p:extLst>
      <p:ext uri="{BB962C8B-B14F-4D97-AF65-F5344CB8AC3E}">
        <p14:creationId xmlns:p14="http://schemas.microsoft.com/office/powerpoint/2010/main" val="3371323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1">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15 · RESPONSIVE · PC vs MOBILE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ko-KR" altLang="en-US" sz="3200" b="1" i="0">
                <a:solidFill>
                  <a:srgbClr val="1B2433"/>
                </a:solidFill>
                <a:latin typeface="Noto Sans KR" pitchFamily="34" charset="0"/>
                <a:ea typeface="Noto Sans KR" pitchFamily="34" charset="-122"/>
                <a:cs typeface="Noto Sans KR" pitchFamily="34" charset="-120"/>
              </a:rPr>
              <a:t>반응형 점검표</a:t>
            </a:r>
            <a:endParaRPr lang="en-US" sz="3200" dirty="0"/>
          </a:p>
        </p:txBody>
      </p:sp>
      <p:graphicFrame>
        <p:nvGraphicFramePr>
          <p:cNvPr id="26" name="표 25">
            <a:extLst>
              <a:ext uri="{FF2B5EF4-FFF2-40B4-BE49-F238E27FC236}">
                <a16:creationId xmlns:a16="http://schemas.microsoft.com/office/drawing/2014/main" id="{B6C30D2B-488D-4218-8BE9-3A8DAB9645DC}"/>
              </a:ext>
            </a:extLst>
          </p:cNvPr>
          <p:cNvGraphicFramePr>
            <a:graphicFrameLocks noGrp="1"/>
          </p:cNvGraphicFramePr>
          <p:nvPr>
            <p:extLst>
              <p:ext uri="{D42A27DB-BD31-4B8C-83A1-F6EECF244321}">
                <p14:modId xmlns:p14="http://schemas.microsoft.com/office/powerpoint/2010/main" val="89017280"/>
              </p:ext>
            </p:extLst>
          </p:nvPr>
        </p:nvGraphicFramePr>
        <p:xfrm>
          <a:off x="812800" y="1905000"/>
          <a:ext cx="10566400" cy="3428999"/>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410677177"/>
                    </a:ext>
                  </a:extLst>
                </a:gridCol>
                <a:gridCol w="1143000">
                  <a:extLst>
                    <a:ext uri="{9D8B030D-6E8A-4147-A177-3AD203B41FA5}">
                      <a16:colId xmlns:a16="http://schemas.microsoft.com/office/drawing/2014/main" val="3376501494"/>
                    </a:ext>
                  </a:extLst>
                </a:gridCol>
                <a:gridCol w="1143000">
                  <a:extLst>
                    <a:ext uri="{9D8B030D-6E8A-4147-A177-3AD203B41FA5}">
                      <a16:colId xmlns:a16="http://schemas.microsoft.com/office/drawing/2014/main" val="3901383871"/>
                    </a:ext>
                  </a:extLst>
                </a:gridCol>
                <a:gridCol w="1778000">
                  <a:extLst>
                    <a:ext uri="{9D8B030D-6E8A-4147-A177-3AD203B41FA5}">
                      <a16:colId xmlns:a16="http://schemas.microsoft.com/office/drawing/2014/main" val="1702974108"/>
                    </a:ext>
                  </a:extLst>
                </a:gridCol>
                <a:gridCol w="2692400">
                  <a:extLst>
                    <a:ext uri="{9D8B030D-6E8A-4147-A177-3AD203B41FA5}">
                      <a16:colId xmlns:a16="http://schemas.microsoft.com/office/drawing/2014/main" val="1543602192"/>
                    </a:ext>
                  </a:extLst>
                </a:gridCol>
              </a:tblGrid>
              <a:tr h="489857">
                <a:tc>
                  <a:txBody>
                    <a:bodyPr/>
                    <a:lstStyle/>
                    <a:p>
                      <a:pPr latinLnBrk="1"/>
                      <a:r>
                        <a:rPr lang="ko-KR" altLang="en-US" sz="1300" b="1">
                          <a:solidFill>
                            <a:srgbClr val="FFFFFF"/>
                          </a:solidFill>
                          <a:latin typeface="Noto Sans KR" panose="020B0200000000000000" pitchFamily="50" charset="-127"/>
                          <a:ea typeface="Noto Sans KR" panose="020B0200000000000000" pitchFamily="50" charset="-127"/>
                        </a:rPr>
                        <a:t>점검 항목</a:t>
                      </a:r>
                    </a:p>
                  </a:txBody>
                  <a:tcPr marL="152400" anchor="ctr">
                    <a:solidFill>
                      <a:srgbClr val="16202E"/>
                    </a:solidFill>
                  </a:tcPr>
                </a:tc>
                <a:tc>
                  <a:txBody>
                    <a:bodyPr/>
                    <a:lstStyle/>
                    <a:p>
                      <a:pPr algn="ctr" latinLnBrk="1"/>
                      <a:r>
                        <a:rPr lang="en-US" altLang="ko-KR" sz="1300" b="1">
                          <a:solidFill>
                            <a:srgbClr val="FFFFFF"/>
                          </a:solidFill>
                          <a:latin typeface="Noto Sans KR" panose="020B0200000000000000" pitchFamily="50" charset="-127"/>
                          <a:ea typeface="Noto Sans KR" panose="020B0200000000000000" pitchFamily="50" charset="-127"/>
                        </a:rPr>
                        <a:t>PC</a:t>
                      </a:r>
                      <a:endParaRPr lang="ko-KR" altLang="en-US" sz="1300" b="1">
                        <a:solidFill>
                          <a:srgbClr val="FFFFFF"/>
                        </a:solidFill>
                        <a:latin typeface="Noto Sans KR" panose="020B0200000000000000" pitchFamily="50" charset="-127"/>
                        <a:ea typeface="Noto Sans KR" panose="020B0200000000000000" pitchFamily="50" charset="-127"/>
                      </a:endParaRPr>
                    </a:p>
                  </a:txBody>
                  <a:tcPr marL="152400" anchor="ctr">
                    <a:solidFill>
                      <a:srgbClr val="16202E"/>
                    </a:solidFill>
                  </a:tcPr>
                </a:tc>
                <a:tc>
                  <a:txBody>
                    <a:bodyPr/>
                    <a:lstStyle/>
                    <a:p>
                      <a:pPr algn="ctr" latinLnBrk="1"/>
                      <a:r>
                        <a:rPr lang="ko-KR" altLang="en-US" sz="1300" b="1">
                          <a:solidFill>
                            <a:srgbClr val="FFFFFF"/>
                          </a:solidFill>
                          <a:latin typeface="Noto Sans KR" panose="020B0200000000000000" pitchFamily="50" charset="-127"/>
                          <a:ea typeface="Noto Sans KR" panose="020B0200000000000000" pitchFamily="50" charset="-127"/>
                        </a:rPr>
                        <a:t>모바일</a:t>
                      </a:r>
                    </a:p>
                  </a:txBody>
                  <a:tcPr marL="152400" anchor="ctr">
                    <a:solidFill>
                      <a:srgbClr val="16202E"/>
                    </a:solidFill>
                  </a:tcPr>
                </a:tc>
                <a:tc>
                  <a:txBody>
                    <a:bodyPr/>
                    <a:lstStyle/>
                    <a:p>
                      <a:pPr latinLnBrk="1"/>
                      <a:r>
                        <a:rPr lang="ko-KR" altLang="en-US" sz="1300" b="1">
                          <a:solidFill>
                            <a:srgbClr val="FFFFFF"/>
                          </a:solidFill>
                          <a:latin typeface="Noto Sans KR" panose="020B0200000000000000" pitchFamily="50" charset="-127"/>
                          <a:ea typeface="Noto Sans KR" panose="020B0200000000000000" pitchFamily="50" charset="-127"/>
                        </a:rPr>
                        <a:t>담당</a:t>
                      </a:r>
                    </a:p>
                  </a:txBody>
                  <a:tcPr marL="152400" anchor="ctr">
                    <a:solidFill>
                      <a:srgbClr val="16202E"/>
                    </a:solidFill>
                  </a:tcPr>
                </a:tc>
                <a:tc>
                  <a:txBody>
                    <a:bodyPr/>
                    <a:lstStyle/>
                    <a:p>
                      <a:pPr latinLnBrk="1"/>
                      <a:r>
                        <a:rPr lang="ko-KR" altLang="en-US" sz="1300" b="1">
                          <a:solidFill>
                            <a:srgbClr val="FFFFFF"/>
                          </a:solidFill>
                          <a:latin typeface="Noto Sans KR" panose="020B0200000000000000" pitchFamily="50" charset="-127"/>
                          <a:ea typeface="Noto Sans KR" panose="020B0200000000000000" pitchFamily="50" charset="-127"/>
                        </a:rPr>
                        <a:t>메모</a:t>
                      </a:r>
                    </a:p>
                  </a:txBody>
                  <a:tcPr marL="152400" anchor="ctr">
                    <a:solidFill>
                      <a:srgbClr val="16202E"/>
                    </a:solidFill>
                  </a:tcPr>
                </a:tc>
                <a:extLst>
                  <a:ext uri="{0D108BD9-81ED-4DB2-BD59-A6C34878D82A}">
                    <a16:rowId xmlns:a16="http://schemas.microsoft.com/office/drawing/2014/main" val="2095168378"/>
                  </a:ext>
                </a:extLst>
              </a:tr>
              <a:tr h="489857">
                <a:tc>
                  <a:txBody>
                    <a:bodyPr/>
                    <a:lstStyle/>
                    <a:p>
                      <a:pPr latinLnBrk="1"/>
                      <a:r>
                        <a:rPr lang="ko-KR" altLang="en-US" sz="1300" b="0">
                          <a:solidFill>
                            <a:srgbClr val="1B2433"/>
                          </a:solidFill>
                          <a:latin typeface="Noto Sans KR" panose="020B0200000000000000" pitchFamily="50" charset="-127"/>
                          <a:ea typeface="Noto Sans KR" panose="020B0200000000000000" pitchFamily="50" charset="-127"/>
                        </a:rPr>
                        <a:t>메뉴가 화면 안에 다 보인다</a:t>
                      </a:r>
                    </a:p>
                  </a:txBody>
                  <a:tcPr marL="152400" anchor="ctr">
                    <a:solidFill>
                      <a:srgbClr val="FDFCF9"/>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FDFCF9"/>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FDFCF9"/>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유호원</a:t>
                      </a:r>
                    </a:p>
                  </a:txBody>
                  <a:tcPr marL="152400" anchor="ctr">
                    <a:solidFill>
                      <a:srgbClr val="FDFCF9"/>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모바일 수정 후 확인</a:t>
                      </a:r>
                    </a:p>
                  </a:txBody>
                  <a:tcPr marL="152400" anchor="ctr">
                    <a:solidFill>
                      <a:srgbClr val="FDFCF9"/>
                    </a:solidFill>
                  </a:tcPr>
                </a:tc>
                <a:extLst>
                  <a:ext uri="{0D108BD9-81ED-4DB2-BD59-A6C34878D82A}">
                    <a16:rowId xmlns:a16="http://schemas.microsoft.com/office/drawing/2014/main" val="2822029310"/>
                  </a:ext>
                </a:extLst>
              </a:tr>
              <a:tr h="489857">
                <a:tc>
                  <a:txBody>
                    <a:bodyPr/>
                    <a:lstStyle/>
                    <a:p>
                      <a:pPr latinLnBrk="1"/>
                      <a:r>
                        <a:rPr lang="ko-KR" altLang="en-US" sz="1300" b="0">
                          <a:solidFill>
                            <a:srgbClr val="1B2433"/>
                          </a:solidFill>
                          <a:latin typeface="Noto Sans KR" panose="020B0200000000000000" pitchFamily="50" charset="-127"/>
                          <a:ea typeface="Noto Sans KR" panose="020B0200000000000000" pitchFamily="50" charset="-127"/>
                        </a:rPr>
                        <a:t>글자가 잘리지 않고 읽힌다</a:t>
                      </a:r>
                    </a:p>
                  </a:txBody>
                  <a:tcPr marL="152400" anchor="ctr">
                    <a:solidFill>
                      <a:srgbClr val="ECE9E1"/>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ECE9E1"/>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ECE9E1"/>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이애리</a:t>
                      </a:r>
                    </a:p>
                  </a:txBody>
                  <a:tcPr marL="152400" anchor="ctr">
                    <a:solidFill>
                      <a:srgbClr val="ECE9E1"/>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모바일 수정 후 확인</a:t>
                      </a:r>
                    </a:p>
                  </a:txBody>
                  <a:tcPr marL="152400" anchor="ctr">
                    <a:solidFill>
                      <a:srgbClr val="ECE9E1"/>
                    </a:solidFill>
                  </a:tcPr>
                </a:tc>
                <a:extLst>
                  <a:ext uri="{0D108BD9-81ED-4DB2-BD59-A6C34878D82A}">
                    <a16:rowId xmlns:a16="http://schemas.microsoft.com/office/drawing/2014/main" val="1221373856"/>
                  </a:ext>
                </a:extLst>
              </a:tr>
              <a:tr h="489857">
                <a:tc>
                  <a:txBody>
                    <a:bodyPr/>
                    <a:lstStyle/>
                    <a:p>
                      <a:pPr latinLnBrk="1"/>
                      <a:r>
                        <a:rPr lang="ko-KR" altLang="en-US" sz="1300" b="0">
                          <a:solidFill>
                            <a:srgbClr val="1B2433"/>
                          </a:solidFill>
                          <a:latin typeface="Noto Sans KR" panose="020B0200000000000000" pitchFamily="50" charset="-127"/>
                          <a:ea typeface="Noto Sans KR" panose="020B0200000000000000" pitchFamily="50" charset="-127"/>
                        </a:rPr>
                        <a:t>이미지 </a:t>
                      </a:r>
                      <a:r>
                        <a:rPr lang="en-US" altLang="ko-KR" sz="1300" b="0">
                          <a:solidFill>
                            <a:srgbClr val="1B2433"/>
                          </a:solidFill>
                          <a:latin typeface="Noto Sans KR" panose="020B0200000000000000" pitchFamily="50" charset="-127"/>
                          <a:ea typeface="Noto Sans KR" panose="020B0200000000000000" pitchFamily="50" charset="-127"/>
                        </a:rPr>
                        <a:t>· </a:t>
                      </a:r>
                      <a:r>
                        <a:rPr lang="ko-KR" altLang="en-US" sz="1300" b="0">
                          <a:solidFill>
                            <a:srgbClr val="1B2433"/>
                          </a:solidFill>
                          <a:latin typeface="Noto Sans KR" panose="020B0200000000000000" pitchFamily="50" charset="-127"/>
                          <a:ea typeface="Noto Sans KR" panose="020B0200000000000000" pitchFamily="50" charset="-127"/>
                        </a:rPr>
                        <a:t>영상이 화면에 맞는다</a:t>
                      </a:r>
                    </a:p>
                  </a:txBody>
                  <a:tcPr marL="152400" anchor="ctr">
                    <a:solidFill>
                      <a:srgbClr val="FDFCF9"/>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FDFCF9"/>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FDFCF9"/>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유호원</a:t>
                      </a:r>
                    </a:p>
                  </a:txBody>
                  <a:tcPr marL="152400" anchor="ctr">
                    <a:solidFill>
                      <a:srgbClr val="FDFCF9"/>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모바일 수정 후 확인</a:t>
                      </a:r>
                    </a:p>
                  </a:txBody>
                  <a:tcPr marL="152400" anchor="ctr">
                    <a:solidFill>
                      <a:srgbClr val="FDFCF9"/>
                    </a:solidFill>
                  </a:tcPr>
                </a:tc>
                <a:extLst>
                  <a:ext uri="{0D108BD9-81ED-4DB2-BD59-A6C34878D82A}">
                    <a16:rowId xmlns:a16="http://schemas.microsoft.com/office/drawing/2014/main" val="1771744733"/>
                  </a:ext>
                </a:extLst>
              </a:tr>
              <a:tr h="489857">
                <a:tc>
                  <a:txBody>
                    <a:bodyPr/>
                    <a:lstStyle/>
                    <a:p>
                      <a:pPr latinLnBrk="1"/>
                      <a:r>
                        <a:rPr lang="ko-KR" altLang="en-US" sz="1300" b="0">
                          <a:solidFill>
                            <a:srgbClr val="1B2433"/>
                          </a:solidFill>
                          <a:latin typeface="Noto Sans KR" panose="020B0200000000000000" pitchFamily="50" charset="-127"/>
                          <a:ea typeface="Noto Sans KR" panose="020B0200000000000000" pitchFamily="50" charset="-127"/>
                        </a:rPr>
                        <a:t>버튼을 손가락으로 누르기 쉽다</a:t>
                      </a:r>
                    </a:p>
                  </a:txBody>
                  <a:tcPr marL="152400" anchor="ctr">
                    <a:solidFill>
                      <a:srgbClr val="ECE9E1"/>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ECE9E1"/>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ECE9E1"/>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염혜리</a:t>
                      </a:r>
                    </a:p>
                  </a:txBody>
                  <a:tcPr marL="152400" anchor="ctr">
                    <a:solidFill>
                      <a:srgbClr val="ECE9E1"/>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모바일 수정 후 확인</a:t>
                      </a:r>
                    </a:p>
                  </a:txBody>
                  <a:tcPr marL="152400" anchor="ctr">
                    <a:solidFill>
                      <a:srgbClr val="ECE9E1"/>
                    </a:solidFill>
                  </a:tcPr>
                </a:tc>
                <a:extLst>
                  <a:ext uri="{0D108BD9-81ED-4DB2-BD59-A6C34878D82A}">
                    <a16:rowId xmlns:a16="http://schemas.microsoft.com/office/drawing/2014/main" val="3860747368"/>
                  </a:ext>
                </a:extLst>
              </a:tr>
              <a:tr h="489857">
                <a:tc>
                  <a:txBody>
                    <a:bodyPr/>
                    <a:lstStyle/>
                    <a:p>
                      <a:pPr latinLnBrk="1"/>
                      <a:r>
                        <a:rPr lang="ko-KR" altLang="en-US" sz="1300" b="0">
                          <a:solidFill>
                            <a:srgbClr val="1B2433"/>
                          </a:solidFill>
                          <a:latin typeface="Noto Sans KR" panose="020B0200000000000000" pitchFamily="50" charset="-127"/>
                          <a:ea typeface="Noto Sans KR" panose="020B0200000000000000" pitchFamily="50" charset="-127"/>
                        </a:rPr>
                        <a:t>가로 스크롤이 생기지 않는다</a:t>
                      </a:r>
                    </a:p>
                  </a:txBody>
                  <a:tcPr marL="152400" anchor="ctr">
                    <a:solidFill>
                      <a:srgbClr val="FDFCF9"/>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FDFCF9"/>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FDFCF9"/>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유호원</a:t>
                      </a:r>
                    </a:p>
                  </a:txBody>
                  <a:tcPr marL="152400" anchor="ctr">
                    <a:solidFill>
                      <a:srgbClr val="FDFCF9"/>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모바일 수정 후 확인</a:t>
                      </a:r>
                    </a:p>
                  </a:txBody>
                  <a:tcPr marL="152400" anchor="ctr">
                    <a:solidFill>
                      <a:srgbClr val="FDFCF9"/>
                    </a:solidFill>
                  </a:tcPr>
                </a:tc>
                <a:extLst>
                  <a:ext uri="{0D108BD9-81ED-4DB2-BD59-A6C34878D82A}">
                    <a16:rowId xmlns:a16="http://schemas.microsoft.com/office/drawing/2014/main" val="2766143332"/>
                  </a:ext>
                </a:extLst>
              </a:tr>
              <a:tr h="489857">
                <a:tc>
                  <a:txBody>
                    <a:bodyPr/>
                    <a:lstStyle/>
                    <a:p>
                      <a:pPr latinLnBrk="1"/>
                      <a:r>
                        <a:rPr lang="ko-KR" altLang="en-US" sz="1300" b="0">
                          <a:solidFill>
                            <a:srgbClr val="1B2433"/>
                          </a:solidFill>
                          <a:latin typeface="Noto Sans KR" panose="020B0200000000000000" pitchFamily="50" charset="-127"/>
                          <a:ea typeface="Noto Sans KR" panose="020B0200000000000000" pitchFamily="50" charset="-127"/>
                        </a:rPr>
                        <a:t>견적 계산 </a:t>
                      </a:r>
                      <a:r>
                        <a:rPr lang="en-US" altLang="ko-KR" sz="1300" b="0">
                          <a:solidFill>
                            <a:srgbClr val="1B2433"/>
                          </a:solidFill>
                          <a:latin typeface="Noto Sans KR" panose="020B0200000000000000" pitchFamily="50" charset="-127"/>
                          <a:ea typeface="Noto Sans KR" panose="020B0200000000000000" pitchFamily="50" charset="-127"/>
                        </a:rPr>
                        <a:t>· </a:t>
                      </a:r>
                      <a:r>
                        <a:rPr lang="ko-KR" altLang="en-US" sz="1300" b="0">
                          <a:solidFill>
                            <a:srgbClr val="1B2433"/>
                          </a:solidFill>
                          <a:latin typeface="Noto Sans KR" panose="020B0200000000000000" pitchFamily="50" charset="-127"/>
                          <a:ea typeface="Noto Sans KR" panose="020B0200000000000000" pitchFamily="50" charset="-127"/>
                        </a:rPr>
                        <a:t>상담 신청이 된다</a:t>
                      </a:r>
                    </a:p>
                  </a:txBody>
                  <a:tcPr marL="152400" anchor="ctr">
                    <a:solidFill>
                      <a:srgbClr val="ECE9E1"/>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ECE9E1"/>
                    </a:solidFill>
                  </a:tcPr>
                </a:tc>
                <a:tc>
                  <a:txBody>
                    <a:bodyPr/>
                    <a:lstStyle/>
                    <a:p>
                      <a:pPr algn="ctr" latinLnBrk="1"/>
                      <a:r>
                        <a:rPr lang="ko-KR" altLang="en-US" sz="1300" b="0">
                          <a:solidFill>
                            <a:srgbClr val="1B2433"/>
                          </a:solidFill>
                          <a:latin typeface="Noto Sans KR" panose="020B0200000000000000" pitchFamily="50" charset="-127"/>
                          <a:ea typeface="Noto Sans KR" panose="020B0200000000000000" pitchFamily="50" charset="-127"/>
                        </a:rPr>
                        <a:t>☐</a:t>
                      </a:r>
                    </a:p>
                  </a:txBody>
                  <a:tcPr marL="152400" anchor="ctr">
                    <a:solidFill>
                      <a:srgbClr val="ECE9E1"/>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김소연</a:t>
                      </a:r>
                    </a:p>
                  </a:txBody>
                  <a:tcPr marL="152400" anchor="ctr">
                    <a:solidFill>
                      <a:srgbClr val="ECE9E1"/>
                    </a:solidFill>
                  </a:tcPr>
                </a:tc>
                <a:tc>
                  <a:txBody>
                    <a:bodyPr/>
                    <a:lstStyle/>
                    <a:p>
                      <a:pPr latinLnBrk="1"/>
                      <a:r>
                        <a:rPr lang="ko-KR" altLang="en-US" sz="1300" b="0">
                          <a:solidFill>
                            <a:srgbClr val="E8692C"/>
                          </a:solidFill>
                          <a:latin typeface="Noto Sans KR" panose="020B0200000000000000" pitchFamily="50" charset="-127"/>
                          <a:ea typeface="Noto Sans KR" panose="020B0200000000000000" pitchFamily="50" charset="-127"/>
                        </a:rPr>
                        <a:t>모바일 수정 후 확인</a:t>
                      </a:r>
                    </a:p>
                  </a:txBody>
                  <a:tcPr marL="152400" anchor="ctr">
                    <a:solidFill>
                      <a:srgbClr val="ECE9E1"/>
                    </a:solidFill>
                  </a:tcPr>
                </a:tc>
                <a:extLst>
                  <a:ext uri="{0D108BD9-81ED-4DB2-BD59-A6C34878D82A}">
                    <a16:rowId xmlns:a16="http://schemas.microsoft.com/office/drawing/2014/main" val="2823445472"/>
                  </a:ext>
                </a:extLst>
              </a:tr>
            </a:tbl>
          </a:graphicData>
        </a:graphic>
      </p:graphicFrame>
      <p:sp>
        <p:nvSpPr>
          <p:cNvPr id="27" name="TextBox 26">
            <a:extLst>
              <a:ext uri="{FF2B5EF4-FFF2-40B4-BE49-F238E27FC236}">
                <a16:creationId xmlns:a16="http://schemas.microsoft.com/office/drawing/2014/main" id="{56D1BCE1-8145-4BB2-8550-A2AFAD5E4746}"/>
              </a:ext>
            </a:extLst>
          </p:cNvPr>
          <p:cNvSpPr txBox="1"/>
          <p:nvPr/>
        </p:nvSpPr>
        <p:spPr>
          <a:xfrm>
            <a:off x="812800" y="5537200"/>
            <a:ext cx="10566400" cy="369332"/>
          </a:xfrm>
          <a:prstGeom prst="rect">
            <a:avLst/>
          </a:prstGeom>
          <a:noFill/>
        </p:spPr>
        <p:txBody>
          <a:bodyPr vert="horz" wrap="square" lIns="0" tIns="0" rIns="0" bIns="0" rtlCol="0">
            <a:noAutofit/>
          </a:bodyPr>
          <a:lstStyle/>
          <a:p>
            <a:r>
              <a:rPr lang="ko-KR" altLang="en-US" sz="1200">
                <a:solidFill>
                  <a:srgbClr val="4A505C"/>
                </a:solidFill>
                <a:latin typeface="Noto Sans KR" panose="020B0200000000000000" pitchFamily="50" charset="-127"/>
                <a:ea typeface="Noto Sans KR" panose="020B0200000000000000" pitchFamily="50" charset="-127"/>
              </a:rPr>
              <a:t>모바일 수정이 끝나면 </a:t>
            </a:r>
            <a:r>
              <a:rPr lang="en-US" altLang="ko-KR" sz="1200">
                <a:solidFill>
                  <a:srgbClr val="4A505C"/>
                </a:solidFill>
                <a:latin typeface="Noto Sans KR" panose="020B0200000000000000" pitchFamily="50" charset="-127"/>
                <a:ea typeface="Noto Sans KR" panose="020B0200000000000000" pitchFamily="50" charset="-127"/>
              </a:rPr>
              <a:t>PC · </a:t>
            </a:r>
            <a:r>
              <a:rPr lang="ko-KR" altLang="en-US" sz="1200">
                <a:solidFill>
                  <a:srgbClr val="4A505C"/>
                </a:solidFill>
                <a:latin typeface="Noto Sans KR" panose="020B0200000000000000" pitchFamily="50" charset="-127"/>
                <a:ea typeface="Noto Sans KR" panose="020B0200000000000000" pitchFamily="50" charset="-127"/>
              </a:rPr>
              <a:t>모바일 칸에 체크하고</a:t>
            </a:r>
            <a:r>
              <a:rPr lang="en-US" altLang="ko-KR" sz="1200">
                <a:solidFill>
                  <a:srgbClr val="4A505C"/>
                </a:solidFill>
                <a:latin typeface="Noto Sans KR" panose="020B0200000000000000" pitchFamily="50" charset="-127"/>
                <a:ea typeface="Noto Sans KR" panose="020B0200000000000000" pitchFamily="50" charset="-127"/>
              </a:rPr>
              <a:t>, </a:t>
            </a:r>
            <a:r>
              <a:rPr lang="ko-KR" altLang="en-US" sz="1200">
                <a:solidFill>
                  <a:srgbClr val="4A505C"/>
                </a:solidFill>
                <a:latin typeface="Noto Sans KR" panose="020B0200000000000000" pitchFamily="50" charset="-127"/>
                <a:ea typeface="Noto Sans KR" panose="020B0200000000000000" pitchFamily="50" charset="-127"/>
              </a:rPr>
              <a:t>담당자 이름과 메모를 채워 주세요</a:t>
            </a:r>
            <a:r>
              <a:rPr lang="en-US" altLang="ko-KR" sz="1200">
                <a:solidFill>
                  <a:srgbClr val="4A505C"/>
                </a:solidFill>
                <a:latin typeface="Noto Sans KR" panose="020B0200000000000000" pitchFamily="50" charset="-127"/>
                <a:ea typeface="Noto Sans KR" panose="020B0200000000000000" pitchFamily="50" charset="-127"/>
              </a:rPr>
              <a:t>.</a:t>
            </a:r>
            <a:endParaRPr lang="ko-KR" altLang="en-US" sz="1200">
              <a:solidFill>
                <a:srgbClr val="4A505C"/>
              </a:solidFill>
              <a:latin typeface="Noto Sans KR" panose="020B0200000000000000" pitchFamily="50" charset="-127"/>
              <a:ea typeface="Noto Sans KR" panose="020B0200000000000000" pitchFamily="50" charset="-127"/>
            </a:endParaRPr>
          </a:p>
        </p:txBody>
      </p:sp>
    </p:spTree>
    <p:extLst>
      <p:ext uri="{BB962C8B-B14F-4D97-AF65-F5344CB8AC3E}">
        <p14:creationId xmlns:p14="http://schemas.microsoft.com/office/powerpoint/2010/main" val="3556157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8">
    <p:bg>
      <p:bgPr>
        <a:solidFill>
          <a:srgbClr val="ECE9E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16 · INTEGRATION</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합치면서 생긴 문제와 해결</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2004204010"/>
              </p:ext>
            </p:extLst>
          </p:nvPr>
        </p:nvGraphicFramePr>
        <p:xfrm>
          <a:off x="825500" y="1831280"/>
          <a:ext cx="10553700" cy="2592981"/>
        </p:xfrm>
        <a:graphic>
          <a:graphicData uri="http://schemas.openxmlformats.org/drawingml/2006/table">
            <a:tbl>
              <a:tblPr/>
              <a:tblGrid>
                <a:gridCol w="2321814">
                  <a:extLst>
                    <a:ext uri="{9D8B030D-6E8A-4147-A177-3AD203B41FA5}">
                      <a16:colId xmlns:a16="http://schemas.microsoft.com/office/drawing/2014/main" val="20000"/>
                    </a:ext>
                  </a:extLst>
                </a:gridCol>
                <a:gridCol w="4538091">
                  <a:extLst>
                    <a:ext uri="{9D8B030D-6E8A-4147-A177-3AD203B41FA5}">
                      <a16:colId xmlns:a16="http://schemas.microsoft.com/office/drawing/2014/main" val="20001"/>
                    </a:ext>
                  </a:extLst>
                </a:gridCol>
                <a:gridCol w="3693795">
                  <a:extLst>
                    <a:ext uri="{9D8B030D-6E8A-4147-A177-3AD203B41FA5}">
                      <a16:colId xmlns:a16="http://schemas.microsoft.com/office/drawing/2014/main" val="20002"/>
                    </a:ext>
                  </a:extLst>
                </a:gridCol>
              </a:tblGrid>
              <a:tr h="472380">
                <a:tc>
                  <a:txBody>
                    <a:bodyPr/>
                    <a:lstStyle/>
                    <a:p>
                      <a:pPr marL="0" indent="0">
                        <a:lnSpc>
                          <a:spcPts val="1820"/>
                        </a:lnSpc>
                        <a:buNone/>
                      </a:pPr>
                      <a:r>
                        <a:rPr lang="en-US" sz="1300" b="1" dirty="0">
                          <a:solidFill>
                            <a:srgbClr val="F3F1EC"/>
                          </a:solidFill>
                          <a:latin typeface="Noto Sans KR" pitchFamily="34" charset="0"/>
                          <a:ea typeface="Noto Sans KR" pitchFamily="34" charset="-122"/>
                          <a:cs typeface="Noto Sans KR" pitchFamily="34" charset="-120"/>
                        </a:rPr>
                        <a:t>문제</a:t>
                      </a:r>
                      <a:endParaRPr lang="en-US" sz="1300" dirty="0">
                        <a:latin typeface="Noto Sans KR" charset="0"/>
                        <a:ea typeface="Noto Sans KR" charset="0"/>
                        <a:cs typeface="Noto Sans KR" charset="0"/>
                      </a:endParaRPr>
                    </a:p>
                  </a:txBody>
                  <a:tcPr marL="152400" marR="152400" marT="114300" marB="114300">
                    <a:lnL w="12700" cap="flat" cmpd="sng" algn="ctr">
                      <a:solidFill>
                        <a:srgbClr val="BCBAB4"/>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820"/>
                        </a:lnSpc>
                        <a:buNone/>
                      </a:pPr>
                      <a:r>
                        <a:rPr lang="en-US" sz="1300" b="1" dirty="0">
                          <a:solidFill>
                            <a:srgbClr val="F3F1EC"/>
                          </a:solidFill>
                          <a:latin typeface="Noto Sans KR" pitchFamily="34" charset="0"/>
                          <a:ea typeface="Noto Sans KR" pitchFamily="34" charset="-122"/>
                          <a:cs typeface="Noto Sans KR" pitchFamily="34" charset="-120"/>
                        </a:rPr>
                        <a:t>원인</a:t>
                      </a:r>
                      <a:endParaRPr lang="en-US" sz="1300" dirty="0">
                        <a:latin typeface="Noto Sans KR" charset="0"/>
                        <a:ea typeface="Noto Sans KR" charset="0"/>
                        <a:cs typeface="Noto Sans KR" charset="0"/>
                      </a:endParaRPr>
                    </a:p>
                  </a:txBody>
                  <a:tcPr marL="152400" marR="152400" marT="114300" marB="11430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tc>
                  <a:txBody>
                    <a:bodyPr/>
                    <a:lstStyle/>
                    <a:p>
                      <a:pPr marL="0" indent="0">
                        <a:lnSpc>
                          <a:spcPts val="1820"/>
                        </a:lnSpc>
                        <a:buNone/>
                      </a:pPr>
                      <a:r>
                        <a:rPr lang="en-US" sz="1300" b="1" dirty="0">
                          <a:solidFill>
                            <a:srgbClr val="F3F1EC"/>
                          </a:solidFill>
                          <a:latin typeface="Noto Sans KR" pitchFamily="34" charset="0"/>
                          <a:ea typeface="Noto Sans KR" pitchFamily="34" charset="-122"/>
                          <a:cs typeface="Noto Sans KR" pitchFamily="34" charset="-120"/>
                        </a:rPr>
                        <a:t>해결 방법</a:t>
                      </a:r>
                      <a:endParaRPr lang="en-US" sz="1300" dirty="0">
                        <a:latin typeface="Noto Sans KR" charset="0"/>
                        <a:ea typeface="Noto Sans KR" charset="0"/>
                        <a:cs typeface="Noto Sans KR" charset="0"/>
                      </a:endParaRPr>
                    </a:p>
                  </a:txBody>
                  <a:tcPr marL="152400" marR="152400" marT="114300" marB="114300">
                    <a:lnL w="12700" cap="flat" cmpd="sng" algn="ctr">
                      <a:solidFill>
                        <a:srgbClr val="161D28"/>
                      </a:solidFill>
                      <a:prstDash val="solid"/>
                      <a:round/>
                      <a:headEnd type="none" w="med" len="med"/>
                      <a:tailEnd type="none" w="med" len="med"/>
                    </a:lnL>
                    <a:lnR w="12700" cap="flat" cmpd="sng" algn="ctr">
                      <a:solidFill>
                        <a:srgbClr val="161D28"/>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161D28"/>
                      </a:solidFill>
                      <a:prstDash val="solid"/>
                      <a:round/>
                      <a:headEnd type="none" w="med" len="med"/>
                      <a:tailEnd type="none" w="med" len="med"/>
                    </a:lnB>
                    <a:solidFill>
                      <a:srgbClr val="16202E"/>
                    </a:solidFill>
                  </a:tcPr>
                </a:tc>
                <a:extLst>
                  <a:ext uri="{0D108BD9-81ED-4DB2-BD59-A6C34878D82A}">
                    <a16:rowId xmlns:a16="http://schemas.microsoft.com/office/drawing/2014/main" val="10000"/>
                  </a:ext>
                </a:extLst>
              </a:tr>
              <a:tr h="472380">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메뉴 · 헤더 통일</a:t>
                      </a:r>
                      <a:endParaRPr lang="en-US" sz="1300" dirty="0">
                        <a:latin typeface="Noto Sans KR" charset="0"/>
                        <a:ea typeface="Noto Sans KR" charset="0"/>
                        <a:cs typeface="Noto Sans KR" charset="0"/>
                      </a:endParaRPr>
                    </a:p>
                  </a:txBody>
                  <a:tcPr marL="152400" marR="152400" marT="114300" marB="114300">
                    <a:lnL w="12700" cap="flat" cmpd="sng" algn="ctr">
                      <a:solidFill>
                        <a:srgbClr val="BCBAB4"/>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페이지마다 따로 만든 헤더 · 푸터</a:t>
                      </a:r>
                      <a:endParaRPr lang="en-US" sz="1300" dirty="0">
                        <a:latin typeface="Noto Sans KR" charset="0"/>
                        <a:ea typeface="Noto Sans KR" charset="0"/>
                        <a:cs typeface="Noto Sans KR" charset="0"/>
                      </a:endParaRPr>
                    </a:p>
                  </a:txBody>
                  <a:tcPr marL="152400" marR="152400" marT="114300" marB="1143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site-header.js 하나로 모든 페이지에 적용 (완료)</a:t>
                      </a:r>
                      <a:endParaRPr lang="en-US" sz="1300" dirty="0">
                        <a:latin typeface="Noto Sans KR" charset="0"/>
                        <a:ea typeface="Noto Sans KR" charset="0"/>
                        <a:cs typeface="Noto Sans KR" charset="0"/>
                      </a:endParaRPr>
                    </a:p>
                  </a:txBody>
                  <a:tcPr marL="152400" marR="152400" marT="114300" marB="1143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703461">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GitHub 업로드 거절</a:t>
                      </a:r>
                      <a:endParaRPr lang="en-US" sz="1300" dirty="0">
                        <a:latin typeface="Noto Sans KR" charset="0"/>
                        <a:ea typeface="Noto Sans KR" charset="0"/>
                        <a:cs typeface="Noto Sans KR" charset="0"/>
                      </a:endParaRPr>
                    </a:p>
                  </a:txBody>
                  <a:tcPr marL="152400" marR="152400" marT="114300" marB="114300">
                    <a:lnL w="12700" cap="flat" cmpd="sng" algn="ctr">
                      <a:solidFill>
                        <a:srgbClr val="BCBAB4"/>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포트폴리오 HTML이 113MB — 이미지 32장이 코드 안에 포함 (한 파일 100MB 제한)</a:t>
                      </a:r>
                      <a:endParaRPr lang="en-US" sz="1300" dirty="0">
                        <a:latin typeface="Noto Sans KR" charset="0"/>
                        <a:ea typeface="Noto Sans KR" charset="0"/>
                        <a:cs typeface="Noto Sans KR" charset="0"/>
                      </a:endParaRPr>
                    </a:p>
                  </a:txBody>
                  <a:tcPr marL="152400" marR="152400" marT="114300" marB="1143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en-US" altLang="ko-KR" sz="1300">
                          <a:solidFill>
                            <a:srgbClr val="1B2433"/>
                          </a:solidFill>
                          <a:latin typeface="Noto Sans KR" pitchFamily="34" charset="0"/>
                          <a:ea typeface="Noto Sans KR" pitchFamily="34" charset="-122"/>
                          <a:cs typeface="Noto Sans KR" pitchFamily="34" charset="-120"/>
                        </a:rPr>
                        <a:t>Git LFS</a:t>
                      </a:r>
                      <a:r>
                        <a:rPr lang="ko-KR" altLang="en-US" sz="1300">
                          <a:solidFill>
                            <a:srgbClr val="1B2433"/>
                          </a:solidFill>
                          <a:latin typeface="Noto Sans KR" pitchFamily="34" charset="0"/>
                          <a:ea typeface="Noto Sans KR" pitchFamily="34" charset="-122"/>
                          <a:cs typeface="Noto Sans KR" pitchFamily="34" charset="-120"/>
                        </a:rPr>
                        <a:t>로 큰 파일을 분리해 업로드 </a:t>
                      </a:r>
                      <a:r>
                        <a:rPr lang="en-US" altLang="ko-KR" sz="1300">
                          <a:solidFill>
                            <a:srgbClr val="1B2433"/>
                          </a:solidFill>
                          <a:latin typeface="Noto Sans KR" pitchFamily="34" charset="0"/>
                          <a:ea typeface="Noto Sans KR" pitchFamily="34" charset="-122"/>
                          <a:cs typeface="Noto Sans KR" pitchFamily="34" charset="-120"/>
                        </a:rPr>
                        <a:t>(</a:t>
                      </a:r>
                      <a:r>
                        <a:rPr lang="ko-KR" altLang="en-US" sz="1300">
                          <a:solidFill>
                            <a:srgbClr val="1B2433"/>
                          </a:solidFill>
                          <a:latin typeface="Noto Sans KR" pitchFamily="34" charset="0"/>
                          <a:ea typeface="Noto Sans KR" pitchFamily="34" charset="-122"/>
                          <a:cs typeface="Noto Sans KR" pitchFamily="34" charset="-120"/>
                        </a:rPr>
                        <a:t>완료</a:t>
                      </a:r>
                      <a:r>
                        <a:rPr lang="en-US" altLang="ko-KR" sz="1300">
                          <a:solidFill>
                            <a:srgbClr val="1B2433"/>
                          </a:solidFill>
                          <a:latin typeface="Noto Sans KR" pitchFamily="34" charset="0"/>
                          <a:ea typeface="Noto Sans KR" pitchFamily="34" charset="-122"/>
                          <a:cs typeface="Noto Sans KR" pitchFamily="34" charset="-120"/>
                        </a:rPr>
                        <a:t>)</a:t>
                      </a:r>
                      <a:endParaRPr lang="en-US" sz="1300" dirty="0">
                        <a:latin typeface="Noto Sans KR" charset="0"/>
                        <a:ea typeface="Noto Sans KR" charset="0"/>
                        <a:cs typeface="Noto Sans KR" charset="0"/>
                      </a:endParaRPr>
                    </a:p>
                  </a:txBody>
                  <a:tcPr marL="152400" marR="152400" marT="114300" marB="1143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2"/>
                  </a:ext>
                </a:extLst>
              </a:tr>
              <a:tr h="472380">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영상 용량 초과</a:t>
                      </a:r>
                      <a:endParaRPr lang="en-US" sz="1300" dirty="0">
                        <a:latin typeface="Noto Sans KR" charset="0"/>
                        <a:ea typeface="Noto Sans KR" charset="0"/>
                        <a:cs typeface="Noto Sans KR" charset="0"/>
                      </a:endParaRPr>
                    </a:p>
                  </a:txBody>
                  <a:tcPr marL="152400" marR="152400" marT="114300" marB="114300">
                    <a:lnL w="12700" cap="flat" cmpd="sng" algn="ctr">
                      <a:solidFill>
                        <a:srgbClr val="BCBAB4"/>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parents.mp4 한 개가 180MB, 포트폴리오 영상 전체 약 1GB</a:t>
                      </a:r>
                      <a:endParaRPr lang="en-US" sz="1300" dirty="0">
                        <a:latin typeface="Noto Sans KR" charset="0"/>
                        <a:ea typeface="Noto Sans KR" charset="0"/>
                        <a:cs typeface="Noto Sans KR" charset="0"/>
                      </a:endParaRPr>
                    </a:p>
                  </a:txBody>
                  <a:tcPr marL="152400" marR="152400" marT="114300" marB="1143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ko-KR" altLang="en-US" sz="1300">
                          <a:solidFill>
                            <a:srgbClr val="1B2433"/>
                          </a:solidFill>
                          <a:latin typeface="Noto Sans KR" pitchFamily="34" charset="0"/>
                          <a:ea typeface="Noto Sans KR" pitchFamily="34" charset="-122"/>
                          <a:cs typeface="Noto Sans KR" pitchFamily="34" charset="-120"/>
                        </a:rPr>
                        <a:t>영상은 </a:t>
                      </a:r>
                      <a:r>
                        <a:rPr lang="en-US" altLang="ko-KR" sz="1300">
                          <a:solidFill>
                            <a:srgbClr val="1B2433"/>
                          </a:solidFill>
                          <a:latin typeface="Noto Sans KR" pitchFamily="34" charset="0"/>
                          <a:ea typeface="Noto Sans KR" pitchFamily="34" charset="-122"/>
                          <a:cs typeface="Noto Sans KR" pitchFamily="34" charset="-120"/>
                        </a:rPr>
                        <a:t>Git LFS</a:t>
                      </a:r>
                      <a:r>
                        <a:rPr lang="ko-KR" altLang="en-US" sz="1300">
                          <a:solidFill>
                            <a:srgbClr val="1B2433"/>
                          </a:solidFill>
                          <a:latin typeface="Noto Sans KR" pitchFamily="34" charset="0"/>
                          <a:ea typeface="Noto Sans KR" pitchFamily="34" charset="-122"/>
                          <a:cs typeface="Noto Sans KR" pitchFamily="34" charset="-120"/>
                        </a:rPr>
                        <a:t>로 업로드 </a:t>
                      </a:r>
                      <a:r>
                        <a:rPr lang="en-US" altLang="ko-KR" sz="1300">
                          <a:solidFill>
                            <a:srgbClr val="1B2433"/>
                          </a:solidFill>
                          <a:latin typeface="Noto Sans KR" pitchFamily="34" charset="0"/>
                          <a:ea typeface="Noto Sans KR" pitchFamily="34" charset="-122"/>
                          <a:cs typeface="Noto Sans KR" pitchFamily="34" charset="-120"/>
                        </a:rPr>
                        <a:t>(</a:t>
                      </a:r>
                      <a:r>
                        <a:rPr lang="ko-KR" altLang="en-US" sz="1300">
                          <a:solidFill>
                            <a:srgbClr val="1B2433"/>
                          </a:solidFill>
                          <a:latin typeface="Noto Sans KR" pitchFamily="34" charset="0"/>
                          <a:ea typeface="Noto Sans KR" pitchFamily="34" charset="-122"/>
                          <a:cs typeface="Noto Sans KR" pitchFamily="34" charset="-120"/>
                        </a:rPr>
                        <a:t>완료</a:t>
                      </a:r>
                      <a:r>
                        <a:rPr lang="en-US" altLang="ko-KR" sz="1300">
                          <a:solidFill>
                            <a:srgbClr val="1B2433"/>
                          </a:solidFill>
                          <a:latin typeface="Noto Sans KR" pitchFamily="34" charset="0"/>
                          <a:ea typeface="Noto Sans KR" pitchFamily="34" charset="-122"/>
                          <a:cs typeface="Noto Sans KR" pitchFamily="34" charset="-120"/>
                        </a:rPr>
                        <a:t>) · </a:t>
                      </a:r>
                      <a:r>
                        <a:rPr lang="ko-KR" altLang="en-US" sz="1300">
                          <a:solidFill>
                            <a:srgbClr val="1B2433"/>
                          </a:solidFill>
                          <a:latin typeface="Noto Sans KR" pitchFamily="34" charset="0"/>
                          <a:ea typeface="Noto Sans KR" pitchFamily="34" charset="-122"/>
                          <a:cs typeface="Noto Sans KR" pitchFamily="34" charset="-120"/>
                        </a:rPr>
                        <a:t>압축 검토</a:t>
                      </a:r>
                      <a:endParaRPr lang="en-US" sz="1300" dirty="0">
                        <a:latin typeface="Noto Sans KR" charset="0"/>
                        <a:ea typeface="Noto Sans KR" charset="0"/>
                        <a:cs typeface="Noto Sans KR" charset="0"/>
                      </a:endParaRPr>
                    </a:p>
                  </a:txBody>
                  <a:tcPr marL="152400" marR="152400" marT="114300" marB="11430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72380">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글꼴 파일 중복</a:t>
                      </a:r>
                      <a:endParaRPr lang="en-US" sz="1300" dirty="0">
                        <a:latin typeface="Noto Sans KR" charset="0"/>
                        <a:ea typeface="Noto Sans KR" charset="0"/>
                        <a:cs typeface="Noto Sans KR" charset="0"/>
                      </a:endParaRPr>
                    </a:p>
                  </a:txBody>
                  <a:tcPr marL="152400" marR="152400" marT="114300" marB="114300">
                    <a:lnL w="12700" cap="flat" cmpd="sng" algn="ctr">
                      <a:solidFill>
                        <a:srgbClr val="BCBAB4"/>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en-US" sz="1300" dirty="0">
                          <a:solidFill>
                            <a:srgbClr val="1B2433"/>
                          </a:solidFill>
                          <a:latin typeface="Noto Sans KR" pitchFamily="34" charset="0"/>
                          <a:ea typeface="Noto Sans KR" pitchFamily="34" charset="-122"/>
                          <a:cs typeface="Noto Sans KR" pitchFamily="34" charset="-120"/>
                        </a:rPr>
                        <a:t>페이지마다 같은 서울 글꼴 파일을 따로 보관</a:t>
                      </a:r>
                      <a:endParaRPr lang="en-US" sz="1300" dirty="0">
                        <a:latin typeface="Noto Sans KR" charset="0"/>
                        <a:ea typeface="Noto Sans KR" charset="0"/>
                        <a:cs typeface="Noto Sans KR" charset="0"/>
                      </a:endParaRPr>
                    </a:p>
                  </a:txBody>
                  <a:tcPr marL="152400" marR="152400" marT="114300" marB="1143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ko-KR" altLang="en-US" sz="1300">
                          <a:solidFill>
                            <a:srgbClr val="1B2433"/>
                          </a:solidFill>
                          <a:latin typeface="Noto Sans KR" pitchFamily="34" charset="0"/>
                          <a:ea typeface="Noto Sans KR" pitchFamily="34" charset="-122"/>
                          <a:cs typeface="Noto Sans KR" pitchFamily="34" charset="-120"/>
                        </a:rPr>
                        <a:t>공통 폴더 하나로 정리 </a:t>
                      </a:r>
                      <a:r>
                        <a:rPr lang="en-US" altLang="ko-KR" sz="1300">
                          <a:solidFill>
                            <a:srgbClr val="1B2433"/>
                          </a:solidFill>
                          <a:latin typeface="Noto Sans KR" pitchFamily="34" charset="0"/>
                          <a:ea typeface="Noto Sans KR" pitchFamily="34" charset="-122"/>
                          <a:cs typeface="Noto Sans KR" pitchFamily="34" charset="-120"/>
                        </a:rPr>
                        <a:t>(</a:t>
                      </a:r>
                      <a:r>
                        <a:rPr lang="ko-KR" altLang="en-US" sz="1300">
                          <a:solidFill>
                            <a:srgbClr val="1B2433"/>
                          </a:solidFill>
                          <a:latin typeface="Noto Sans KR" pitchFamily="34" charset="0"/>
                          <a:ea typeface="Noto Sans KR" pitchFamily="34" charset="-122"/>
                          <a:cs typeface="Noto Sans KR" pitchFamily="34" charset="-120"/>
                        </a:rPr>
                        <a:t>예정</a:t>
                      </a:r>
                      <a:r>
                        <a:rPr lang="en-US" altLang="ko-KR" sz="1300">
                          <a:solidFill>
                            <a:srgbClr val="1B2433"/>
                          </a:solidFill>
                          <a:latin typeface="Noto Sans KR" pitchFamily="34" charset="0"/>
                          <a:ea typeface="Noto Sans KR" pitchFamily="34" charset="-122"/>
                          <a:cs typeface="Noto Sans KR" pitchFamily="34" charset="-120"/>
                        </a:rPr>
                        <a:t>)</a:t>
                      </a:r>
                      <a:endParaRPr lang="en-US" sz="1300" dirty="0">
                        <a:latin typeface="Noto Sans KR" charset="0"/>
                        <a:ea typeface="Noto Sans KR" charset="0"/>
                        <a:cs typeface="Noto Sans KR" charset="0"/>
                      </a:endParaRPr>
                    </a:p>
                  </a:txBody>
                  <a:tcPr marL="152400" marR="152400" marT="114300" marB="11430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627463"/>
            <a:ext cx="10566400" cy="553641"/>
          </a:xfrm>
          <a:prstGeom prst="roundRect">
            <a:avLst>
              <a:gd name="adj" fmla="val 18351"/>
            </a:avLst>
          </a:prstGeom>
          <a:solidFill>
            <a:srgbClr val="16202E"/>
          </a:solidFill>
          <a:ln/>
        </p:spPr>
      </p:sp>
      <p:sp>
        <p:nvSpPr>
          <p:cNvPr id="6" name="Text 3"/>
          <p:cNvSpPr/>
          <p:nvPr/>
        </p:nvSpPr>
        <p:spPr>
          <a:xfrm>
            <a:off x="1066800" y="4779863"/>
            <a:ext cx="83367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Noto Sans KR" pitchFamily="34" charset="0"/>
                <a:ea typeface="Noto Sans KR" pitchFamily="34" charset="-122"/>
                <a:cs typeface="Noto Sans KR" pitchFamily="34" charset="-120"/>
              </a:rPr>
              <a:t>배포 주소</a:t>
            </a:r>
            <a:endParaRPr lang="en-US" sz="1400" dirty="0"/>
          </a:p>
        </p:txBody>
      </p:sp>
      <p:sp>
        <p:nvSpPr>
          <p:cNvPr id="7" name="Text 4"/>
          <p:cNvSpPr/>
          <p:nvPr/>
        </p:nvSpPr>
        <p:spPr>
          <a:xfrm>
            <a:off x="1964730" y="4779863"/>
            <a:ext cx="7874000" cy="274241"/>
          </a:xfrm>
          <a:prstGeom prst="rect">
            <a:avLst/>
          </a:prstGeom>
          <a:noFill/>
          <a:ln/>
        </p:spPr>
        <p:txBody>
          <a:bodyPr wrap="square" lIns="0" tIns="0" rIns="0" bIns="0" rtlCol="0" anchor="t">
            <a:normAutofit/>
          </a:bodyPr>
          <a:lstStyle/>
          <a:p>
            <a:pPr marL="0" indent="0" algn="l">
              <a:lnSpc>
                <a:spcPts val="1960"/>
              </a:lnSpc>
              <a:buNone/>
            </a:pPr>
            <a:r>
              <a:rPr lang="en-US" sz="1400">
                <a:solidFill>
                  <a:srgbClr val="E8692C"/>
                </a:solidFill>
                <a:latin typeface="Noto Sans KR" panose="020B0200000000000000" pitchFamily="50" charset="-127"/>
                <a:ea typeface="Noto Sans KR" panose="020B0200000000000000" pitchFamily="50" charset="-127"/>
                <a:cs typeface="JetBrains Mono" pitchFamily="49" charset="-120"/>
              </a:rPr>
              <a:t>github.com/kimsoyeon-saovia/studio-sangsang (GitHub Pages </a:t>
            </a:r>
            <a:r>
              <a:rPr lang="ko-KR" altLang="en-US" sz="1400">
                <a:solidFill>
                  <a:srgbClr val="E8692C"/>
                </a:solidFill>
                <a:latin typeface="Noto Sans KR" panose="020B0200000000000000" pitchFamily="50" charset="-127"/>
                <a:ea typeface="Noto Sans KR" panose="020B0200000000000000" pitchFamily="50" charset="-127"/>
                <a:cs typeface="JetBrains Mono" pitchFamily="49" charset="-120"/>
              </a:rPr>
              <a:t>준비 중</a:t>
            </a:r>
            <a:r>
              <a:rPr lang="en-US" altLang="ko-KR" sz="1400">
                <a:solidFill>
                  <a:srgbClr val="E8692C"/>
                </a:solidFill>
                <a:latin typeface="Noto Sans KR" panose="020B0200000000000000" pitchFamily="50" charset="-127"/>
                <a:ea typeface="Noto Sans KR" panose="020B0200000000000000" pitchFamily="50" charset="-127"/>
                <a:cs typeface="JetBrains Mono" pitchFamily="49" charset="-120"/>
              </a:rPr>
              <a:t>)</a:t>
            </a:r>
            <a:endParaRPr lang="en-US" sz="1400" dirty="0">
              <a:latin typeface="Noto Sans KR" panose="020B0200000000000000" pitchFamily="50" charset="-127"/>
              <a:ea typeface="Noto Sans KR" panose="020B0200000000000000" pitchFamily="50" charset="-127"/>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17 · TROUBLESHOOTING</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AI와 함께 해결한 문제들</a:t>
            </a:r>
            <a:endParaRPr lang="en-US" sz="3200" dirty="0"/>
          </a:p>
        </p:txBody>
      </p:sp>
      <p:sp>
        <p:nvSpPr>
          <p:cNvPr id="4" name="Shape 2"/>
          <p:cNvSpPr/>
          <p:nvPr/>
        </p:nvSpPr>
        <p:spPr>
          <a:xfrm>
            <a:off x="815975" y="1923355"/>
            <a:ext cx="3414117" cy="2735461"/>
          </a:xfrm>
          <a:prstGeom prst="roundRect">
            <a:avLst>
              <a:gd name="adj" fmla="val 3598"/>
            </a:avLst>
          </a:prstGeom>
          <a:solidFill>
            <a:srgbClr val="FDFCF9"/>
          </a:solidFill>
          <a:ln w="6350">
            <a:solidFill>
              <a:srgbClr val="DCD6C8"/>
            </a:solidFill>
            <a:prstDash val="solid"/>
          </a:ln>
        </p:spPr>
      </p:sp>
      <p:sp>
        <p:nvSpPr>
          <p:cNvPr id="5" name="Text 3"/>
          <p:cNvSpPr/>
          <p:nvPr/>
        </p:nvSpPr>
        <p:spPr>
          <a:xfrm>
            <a:off x="1073150" y="2180530"/>
            <a:ext cx="29867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JetBrains Mono" pitchFamily="49" charset="0"/>
                <a:ea typeface="JetBrains Mono" pitchFamily="49" charset="-122"/>
                <a:cs typeface="JetBrains Mono" pitchFamily="49" charset="-120"/>
              </a:rPr>
              <a:t>CASE 01 · CONTACT</a:t>
            </a:r>
            <a:endParaRPr lang="en-US" sz="1200" dirty="0"/>
          </a:p>
        </p:txBody>
      </p:sp>
      <p:sp>
        <p:nvSpPr>
          <p:cNvPr id="6" name="Text 4"/>
          <p:cNvSpPr/>
          <p:nvPr/>
        </p:nvSpPr>
        <p:spPr>
          <a:xfrm>
            <a:off x="1073150" y="2495451"/>
            <a:ext cx="29867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Noto Sans KR" pitchFamily="34" charset="0"/>
                <a:ea typeface="Noto Sans KR" pitchFamily="34" charset="-122"/>
                <a:cs typeface="Noto Sans KR" pitchFamily="34" charset="-120"/>
              </a:rPr>
              <a:t>문제</a:t>
            </a:r>
            <a:endParaRPr lang="en-US" sz="1200" dirty="0"/>
          </a:p>
        </p:txBody>
      </p:sp>
      <p:sp>
        <p:nvSpPr>
          <p:cNvPr id="7" name="Text 5"/>
          <p:cNvSpPr/>
          <p:nvPr/>
        </p:nvSpPr>
        <p:spPr>
          <a:xfrm>
            <a:off x="1073150" y="2810371"/>
            <a:ext cx="298676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B2433"/>
                </a:solidFill>
                <a:latin typeface="Noto Sans KR" pitchFamily="34" charset="0"/>
                <a:ea typeface="Noto Sans KR" pitchFamily="34" charset="-122"/>
                <a:cs typeface="Noto Sans KR" pitchFamily="34" charset="-120"/>
              </a:rPr>
              <a:t>선택을 바꿀 때 화면 전체를 다시 그리면 등장 효과가 반복될 수 있음</a:t>
            </a:r>
            <a:endParaRPr lang="en-US" sz="1400" dirty="0"/>
          </a:p>
        </p:txBody>
      </p:sp>
      <p:pic>
        <p:nvPicPr>
          <p:cNvPr id="8" name="Image 0" descr="line"/>
          <p:cNvPicPr>
            <a:picLocks noChangeAspect="1"/>
          </p:cNvPicPr>
          <p:nvPr/>
        </p:nvPicPr>
        <p:blipFill>
          <a:blip r:embed="rId3"/>
          <a:srcRect t="-39" b="-39"/>
          <a:stretch/>
        </p:blipFill>
        <p:spPr>
          <a:xfrm>
            <a:off x="1073150" y="3445371"/>
            <a:ext cx="2899767" cy="6350"/>
          </a:xfrm>
          <a:prstGeom prst="rect">
            <a:avLst/>
          </a:prstGeom>
        </p:spPr>
      </p:pic>
      <p:sp>
        <p:nvSpPr>
          <p:cNvPr id="9" name="Text 6"/>
          <p:cNvSpPr/>
          <p:nvPr/>
        </p:nvSpPr>
        <p:spPr>
          <a:xfrm>
            <a:off x="1073150" y="3553321"/>
            <a:ext cx="29867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Noto Sans KR" pitchFamily="34" charset="0"/>
                <a:ea typeface="Noto Sans KR" pitchFamily="34" charset="-122"/>
                <a:cs typeface="Noto Sans KR" pitchFamily="34" charset="-120"/>
              </a:rPr>
              <a:t>해결</a:t>
            </a:r>
            <a:endParaRPr lang="en-US" sz="1200" dirty="0"/>
          </a:p>
        </p:txBody>
      </p:sp>
      <p:sp>
        <p:nvSpPr>
          <p:cNvPr id="10" name="Text 7"/>
          <p:cNvSpPr/>
          <p:nvPr/>
        </p:nvSpPr>
        <p:spPr>
          <a:xfrm>
            <a:off x="1073150" y="3868241"/>
            <a:ext cx="298676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B2433"/>
                </a:solidFill>
                <a:latin typeface="Noto Sans KR" pitchFamily="34" charset="0"/>
                <a:ea typeface="Noto Sans KR" pitchFamily="34" charset="-122"/>
                <a:cs typeface="Noto Sans KR" pitchFamily="34" charset="-120"/>
              </a:rPr>
              <a:t>바뀐 견적 부분만 다시 그리도록 고정하고, 작업 메모에 규칙으로 기록</a:t>
            </a:r>
            <a:endParaRPr lang="en-US" sz="1400" dirty="0"/>
          </a:p>
        </p:txBody>
      </p:sp>
      <p:sp>
        <p:nvSpPr>
          <p:cNvPr id="11" name="Shape 8"/>
          <p:cNvSpPr/>
          <p:nvPr/>
        </p:nvSpPr>
        <p:spPr>
          <a:xfrm>
            <a:off x="4388842" y="1923355"/>
            <a:ext cx="3414216" cy="2735461"/>
          </a:xfrm>
          <a:prstGeom prst="roundRect">
            <a:avLst>
              <a:gd name="adj" fmla="val 3598"/>
            </a:avLst>
          </a:prstGeom>
          <a:solidFill>
            <a:srgbClr val="FDFCF9"/>
          </a:solidFill>
          <a:ln w="6350">
            <a:solidFill>
              <a:srgbClr val="DCD6C8"/>
            </a:solidFill>
            <a:prstDash val="solid"/>
          </a:ln>
        </p:spPr>
      </p:sp>
      <p:sp>
        <p:nvSpPr>
          <p:cNvPr id="12" name="Text 9"/>
          <p:cNvSpPr/>
          <p:nvPr/>
        </p:nvSpPr>
        <p:spPr>
          <a:xfrm>
            <a:off x="4646017" y="2180530"/>
            <a:ext cx="2986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JetBrains Mono" pitchFamily="49" charset="0"/>
                <a:ea typeface="JetBrains Mono" pitchFamily="49" charset="-122"/>
                <a:cs typeface="JetBrains Mono" pitchFamily="49" charset="-120"/>
              </a:rPr>
              <a:t>CASE 02 </a:t>
            </a:r>
            <a:r>
              <a:rPr lang="en-US" sz="1200" b="1">
                <a:solidFill>
                  <a:srgbClr val="B0441A"/>
                </a:solidFill>
                <a:latin typeface="JetBrains Mono" pitchFamily="49" charset="0"/>
                <a:ea typeface="JetBrains Mono" pitchFamily="49" charset="-122"/>
                <a:cs typeface="JetBrains Mono" pitchFamily="49" charset="-120"/>
              </a:rPr>
              <a:t>· PORTFOLIO</a:t>
            </a:r>
            <a:endParaRPr lang="en-US" sz="1200" dirty="0"/>
          </a:p>
        </p:txBody>
      </p:sp>
      <p:sp>
        <p:nvSpPr>
          <p:cNvPr id="13" name="Text 10"/>
          <p:cNvSpPr/>
          <p:nvPr/>
        </p:nvSpPr>
        <p:spPr>
          <a:xfrm>
            <a:off x="4646017" y="2495451"/>
            <a:ext cx="2986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Noto Sans KR" pitchFamily="34" charset="0"/>
                <a:ea typeface="Noto Sans KR" pitchFamily="34" charset="-122"/>
                <a:cs typeface="Noto Sans KR" pitchFamily="34" charset="-120"/>
              </a:rPr>
              <a:t>문제</a:t>
            </a:r>
            <a:endParaRPr lang="en-US" sz="1200" dirty="0"/>
          </a:p>
        </p:txBody>
      </p:sp>
      <p:sp>
        <p:nvSpPr>
          <p:cNvPr id="14" name="Text 11"/>
          <p:cNvSpPr/>
          <p:nvPr/>
        </p:nvSpPr>
        <p:spPr>
          <a:xfrm>
            <a:off x="4646017" y="2810371"/>
            <a:ext cx="2986862"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영상 경로가 일부 잘못 연결됨</a:t>
            </a:r>
            <a:endParaRPr lang="en-US" sz="1400" dirty="0"/>
          </a:p>
        </p:txBody>
      </p:sp>
      <p:pic>
        <p:nvPicPr>
          <p:cNvPr id="15" name="Image 1" descr="line"/>
          <p:cNvPicPr>
            <a:picLocks noChangeAspect="1"/>
          </p:cNvPicPr>
          <p:nvPr/>
        </p:nvPicPr>
        <p:blipFill>
          <a:blip r:embed="rId3"/>
          <a:srcRect t="-39" b="-39"/>
          <a:stretch/>
        </p:blipFill>
        <p:spPr>
          <a:xfrm>
            <a:off x="4646017" y="3178671"/>
            <a:ext cx="2899866" cy="6350"/>
          </a:xfrm>
          <a:prstGeom prst="rect">
            <a:avLst/>
          </a:prstGeom>
        </p:spPr>
      </p:pic>
      <p:sp>
        <p:nvSpPr>
          <p:cNvPr id="16" name="Text 12"/>
          <p:cNvSpPr/>
          <p:nvPr/>
        </p:nvSpPr>
        <p:spPr>
          <a:xfrm>
            <a:off x="4646017" y="3286621"/>
            <a:ext cx="2986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Noto Sans KR" pitchFamily="34" charset="0"/>
                <a:ea typeface="Noto Sans KR" pitchFamily="34" charset="-122"/>
                <a:cs typeface="Noto Sans KR" pitchFamily="34" charset="-120"/>
              </a:rPr>
              <a:t>해결</a:t>
            </a:r>
            <a:endParaRPr lang="en-US" sz="1200" dirty="0"/>
          </a:p>
        </p:txBody>
      </p:sp>
      <p:sp>
        <p:nvSpPr>
          <p:cNvPr id="17" name="Text 13"/>
          <p:cNvSpPr/>
          <p:nvPr/>
        </p:nvSpPr>
        <p:spPr>
          <a:xfrm>
            <a:off x="4646017" y="3601541"/>
            <a:ext cx="2986862" cy="5588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확인 스크립트를 함께 요청해 </a:t>
            </a:r>
            <a:r>
              <a:rPr lang="en-US" altLang="ko-KR" sz="1400">
                <a:solidFill>
                  <a:srgbClr val="B0441A"/>
                </a:solidFill>
                <a:latin typeface="Noto Sans KR" pitchFamily="34" charset="0"/>
                <a:ea typeface="Noto Sans KR" pitchFamily="34" charset="-122"/>
                <a:cs typeface="Noto Sans KR" pitchFamily="34" charset="-120"/>
              </a:rPr>
              <a:t>16</a:t>
            </a:r>
            <a:r>
              <a:rPr lang="ko-KR" altLang="en-US" sz="1400">
                <a:solidFill>
                  <a:srgbClr val="B0441A"/>
                </a:solidFill>
                <a:latin typeface="Noto Sans KR" pitchFamily="34" charset="0"/>
                <a:ea typeface="Noto Sans KR" pitchFamily="34" charset="-122"/>
                <a:cs typeface="Noto Sans KR" pitchFamily="34" charset="-120"/>
              </a:rPr>
              <a:t>편을 하나씩 검증하고</a:t>
            </a:r>
            <a:r>
              <a:rPr lang="en-US" altLang="ko-KR" sz="1400">
                <a:solidFill>
                  <a:srgbClr val="B0441A"/>
                </a:solidFill>
                <a:latin typeface="Noto Sans KR" pitchFamily="34" charset="0"/>
                <a:ea typeface="Noto Sans KR" pitchFamily="34" charset="-122"/>
                <a:cs typeface="Noto Sans KR" pitchFamily="34" charset="-120"/>
              </a:rPr>
              <a:t>, </a:t>
            </a:r>
            <a:r>
              <a:rPr lang="ko-KR" altLang="en-US" sz="1400">
                <a:solidFill>
                  <a:srgbClr val="B0441A"/>
                </a:solidFill>
                <a:latin typeface="Noto Sans KR" pitchFamily="34" charset="0"/>
                <a:ea typeface="Noto Sans KR" pitchFamily="34" charset="-122"/>
                <a:cs typeface="Noto Sans KR" pitchFamily="34" charset="-120"/>
              </a:rPr>
              <a:t>틀린 경로는 직접 수정</a:t>
            </a:r>
            <a:endParaRPr lang="en-US" sz="1400" dirty="0"/>
          </a:p>
        </p:txBody>
      </p:sp>
      <p:sp>
        <p:nvSpPr>
          <p:cNvPr id="18" name="Shape 14"/>
          <p:cNvSpPr/>
          <p:nvPr/>
        </p:nvSpPr>
        <p:spPr>
          <a:xfrm>
            <a:off x="7961809" y="1923355"/>
            <a:ext cx="3414216" cy="2735461"/>
          </a:xfrm>
          <a:prstGeom prst="roundRect">
            <a:avLst>
              <a:gd name="adj" fmla="val 3598"/>
            </a:avLst>
          </a:prstGeom>
          <a:solidFill>
            <a:srgbClr val="FDFCF9"/>
          </a:solidFill>
          <a:ln w="6350">
            <a:solidFill>
              <a:srgbClr val="DCD6C8"/>
            </a:solidFill>
            <a:prstDash val="solid"/>
          </a:ln>
        </p:spPr>
      </p:sp>
      <p:sp>
        <p:nvSpPr>
          <p:cNvPr id="19" name="Text 15"/>
          <p:cNvSpPr/>
          <p:nvPr/>
        </p:nvSpPr>
        <p:spPr>
          <a:xfrm>
            <a:off x="8218984" y="2180530"/>
            <a:ext cx="2986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441A"/>
                </a:solidFill>
                <a:latin typeface="JetBrains Mono" pitchFamily="49" charset="0"/>
                <a:ea typeface="JetBrains Mono" pitchFamily="49" charset="-122"/>
                <a:cs typeface="JetBrains Mono" pitchFamily="49" charset="-120"/>
              </a:rPr>
              <a:t>CASE 03 </a:t>
            </a:r>
            <a:r>
              <a:rPr lang="en-US" sz="1200" b="1">
                <a:solidFill>
                  <a:srgbClr val="B0441A"/>
                </a:solidFill>
                <a:latin typeface="JetBrains Mono" pitchFamily="49" charset="0"/>
                <a:ea typeface="JetBrains Mono" pitchFamily="49" charset="-122"/>
                <a:cs typeface="JetBrains Mono" pitchFamily="49" charset="-120"/>
              </a:rPr>
              <a:t>· GitHub</a:t>
            </a:r>
            <a:endParaRPr lang="en-US" sz="1200" dirty="0"/>
          </a:p>
        </p:txBody>
      </p:sp>
      <p:sp>
        <p:nvSpPr>
          <p:cNvPr id="20" name="Text 16"/>
          <p:cNvSpPr/>
          <p:nvPr/>
        </p:nvSpPr>
        <p:spPr>
          <a:xfrm>
            <a:off x="8218984" y="2495451"/>
            <a:ext cx="2986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Noto Sans KR" pitchFamily="34" charset="0"/>
                <a:ea typeface="Noto Sans KR" pitchFamily="34" charset="-122"/>
                <a:cs typeface="Noto Sans KR" pitchFamily="34" charset="-120"/>
              </a:rPr>
              <a:t>문제</a:t>
            </a:r>
            <a:endParaRPr lang="en-US" sz="1200" dirty="0"/>
          </a:p>
        </p:txBody>
      </p:sp>
      <p:sp>
        <p:nvSpPr>
          <p:cNvPr id="21" name="Text 17"/>
          <p:cNvSpPr/>
          <p:nvPr/>
        </p:nvSpPr>
        <p:spPr>
          <a:xfrm>
            <a:off x="8218984" y="2810371"/>
            <a:ext cx="2986862" cy="292100"/>
          </a:xfrm>
          <a:prstGeom prst="rect">
            <a:avLst/>
          </a:prstGeom>
          <a:noFill/>
          <a:ln/>
        </p:spPr>
        <p:txBody>
          <a:bodyPr wrap="square" lIns="0" tIns="0" rIns="0" bIns="0" rtlCol="0" anchor="t">
            <a:normAutofit/>
          </a:bodyPr>
          <a:lstStyle/>
          <a:p>
            <a:pPr marL="0" indent="0" algn="l">
              <a:lnSpc>
                <a:spcPts val="2100"/>
              </a:lnSpc>
              <a:buNone/>
            </a:pPr>
            <a:r>
              <a:rPr lang="en-US" altLang="ko-KR" sz="1400">
                <a:solidFill>
                  <a:srgbClr val="B0441A"/>
                </a:solidFill>
                <a:latin typeface="Noto Sans KR" pitchFamily="34" charset="0"/>
                <a:ea typeface="Noto Sans KR" pitchFamily="34" charset="-122"/>
                <a:cs typeface="Noto Sans KR" pitchFamily="34" charset="-120"/>
              </a:rPr>
              <a:t>100MB </a:t>
            </a:r>
            <a:r>
              <a:rPr lang="ko-KR" altLang="en-US" sz="1400">
                <a:solidFill>
                  <a:srgbClr val="B0441A"/>
                </a:solidFill>
                <a:latin typeface="Noto Sans KR" pitchFamily="34" charset="0"/>
                <a:ea typeface="Noto Sans KR" pitchFamily="34" charset="-122"/>
                <a:cs typeface="Noto Sans KR" pitchFamily="34" charset="-120"/>
              </a:rPr>
              <a:t>넘는 파일 업로드 거절</a:t>
            </a:r>
            <a:endParaRPr lang="en-US" sz="1400" dirty="0"/>
          </a:p>
        </p:txBody>
      </p:sp>
      <p:pic>
        <p:nvPicPr>
          <p:cNvPr id="22" name="Image 2" descr="line"/>
          <p:cNvPicPr>
            <a:picLocks noChangeAspect="1"/>
          </p:cNvPicPr>
          <p:nvPr/>
        </p:nvPicPr>
        <p:blipFill>
          <a:blip r:embed="rId3"/>
          <a:srcRect t="-39" b="-39"/>
          <a:stretch/>
        </p:blipFill>
        <p:spPr>
          <a:xfrm>
            <a:off x="8218984" y="3178671"/>
            <a:ext cx="2899866" cy="6350"/>
          </a:xfrm>
          <a:prstGeom prst="rect">
            <a:avLst/>
          </a:prstGeom>
        </p:spPr>
      </p:pic>
      <p:sp>
        <p:nvSpPr>
          <p:cNvPr id="23" name="Text 18"/>
          <p:cNvSpPr/>
          <p:nvPr/>
        </p:nvSpPr>
        <p:spPr>
          <a:xfrm>
            <a:off x="8218984" y="3286621"/>
            <a:ext cx="2986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170"/>
                </a:solidFill>
                <a:latin typeface="Noto Sans KR" pitchFamily="34" charset="0"/>
                <a:ea typeface="Noto Sans KR" pitchFamily="34" charset="-122"/>
                <a:cs typeface="Noto Sans KR" pitchFamily="34" charset="-120"/>
              </a:rPr>
              <a:t>해결</a:t>
            </a:r>
            <a:endParaRPr lang="en-US" sz="1200" dirty="0"/>
          </a:p>
        </p:txBody>
      </p:sp>
      <p:sp>
        <p:nvSpPr>
          <p:cNvPr id="24" name="Text 19"/>
          <p:cNvSpPr/>
          <p:nvPr/>
        </p:nvSpPr>
        <p:spPr>
          <a:xfrm>
            <a:off x="8218984" y="3601541"/>
            <a:ext cx="2986862" cy="292100"/>
          </a:xfrm>
          <a:prstGeom prst="rect">
            <a:avLst/>
          </a:prstGeom>
          <a:noFill/>
          <a:ln/>
        </p:spPr>
        <p:txBody>
          <a:bodyPr wrap="square" lIns="0" tIns="0" rIns="0" bIns="0" rtlCol="0" anchor="t">
            <a:normAutofit/>
          </a:bodyPr>
          <a:lstStyle/>
          <a:p>
            <a:pPr marL="0" indent="0" algn="l">
              <a:lnSpc>
                <a:spcPts val="2100"/>
              </a:lnSpc>
              <a:buNone/>
            </a:pPr>
            <a:r>
              <a:rPr lang="en-US" altLang="ko-KR" sz="1400">
                <a:solidFill>
                  <a:srgbClr val="B0441A"/>
                </a:solidFill>
                <a:latin typeface="Noto Sans KR" pitchFamily="34" charset="0"/>
                <a:ea typeface="Noto Sans KR" pitchFamily="34" charset="-122"/>
                <a:cs typeface="Noto Sans KR" pitchFamily="34" charset="-120"/>
              </a:rPr>
              <a:t>Git LFS</a:t>
            </a:r>
            <a:r>
              <a:rPr lang="ko-KR" altLang="en-US" sz="1400">
                <a:solidFill>
                  <a:srgbClr val="B0441A"/>
                </a:solidFill>
                <a:latin typeface="Noto Sans KR" pitchFamily="34" charset="0"/>
                <a:ea typeface="Noto Sans KR" pitchFamily="34" charset="-122"/>
                <a:cs typeface="Noto Sans KR" pitchFamily="34" charset="-120"/>
              </a:rPr>
              <a:t>로 큰 파일을 분리해 다시 업로드</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a:solidFill>
                  <a:srgbClr val="B0441A"/>
                </a:solidFill>
                <a:latin typeface="JetBrains Mono" pitchFamily="49" charset="0"/>
                <a:ea typeface="JetBrains Mono" pitchFamily="49" charset="-122"/>
                <a:cs typeface="JetBrains Mono" pitchFamily="49" charset="-120"/>
              </a:rPr>
              <a:t>18 · RETROSPECTIVE</a:t>
            </a:r>
            <a:endParaRPr lang="en-US" sz="1200" dirty="0"/>
          </a:p>
        </p:txBody>
      </p:sp>
      <p:sp>
        <p:nvSpPr>
          <p:cNvPr id="3" name="Text 1"/>
          <p:cNvSpPr>
            <a:spLocks noGrp="1"/>
          </p:cNvSpPr>
          <p:nvPr>
            <p:ph type="title"/>
          </p:nvPr>
        </p:nvSpPr>
        <p:spPr>
          <a:xfrm>
            <a:off x="812800" y="1127720"/>
            <a:ext cx="10883392" cy="513060"/>
          </a:xfrm>
          <a:prstGeom prst="rect">
            <a:avLst/>
          </a:prstGeom>
          <a:noFill/>
          <a:ln/>
        </p:spPr>
        <p:txBody>
          <a:bodyPr wrap="square" lIns="0" tIns="0" rIns="0" bIns="0" rtlCol="0" anchor="t">
            <a:normAutofit/>
          </a:bodyPr>
          <a:lstStyle/>
          <a:p>
            <a:pPr marL="0" indent="0" algn="l">
              <a:lnSpc>
                <a:spcPts val="3840"/>
              </a:lnSpc>
              <a:buNone/>
            </a:pPr>
            <a:r>
              <a:rPr lang="en-US" sz="3200" b="1" i="0" dirty="0">
                <a:solidFill>
                  <a:srgbClr val="1B2433"/>
                </a:solidFill>
                <a:latin typeface="Noto Sans KR" pitchFamily="34" charset="0"/>
                <a:ea typeface="Noto Sans KR" pitchFamily="34" charset="-122"/>
                <a:cs typeface="Noto Sans KR" pitchFamily="34" charset="-120"/>
              </a:rPr>
              <a:t>프로젝트를 마치며</a:t>
            </a:r>
            <a:endParaRPr lang="en-US" sz="3200" dirty="0"/>
          </a:p>
        </p:txBody>
      </p:sp>
      <p:sp>
        <p:nvSpPr>
          <p:cNvPr id="4" name="Shape 2"/>
          <p:cNvSpPr/>
          <p:nvPr/>
        </p:nvSpPr>
        <p:spPr>
          <a:xfrm>
            <a:off x="815975" y="1923355"/>
            <a:ext cx="3414117" cy="1606550"/>
          </a:xfrm>
          <a:prstGeom prst="roundRect">
            <a:avLst>
              <a:gd name="adj" fmla="val 6126"/>
            </a:avLst>
          </a:prstGeom>
          <a:solidFill>
            <a:srgbClr val="FDFCF9"/>
          </a:solidFill>
          <a:ln w="6350">
            <a:solidFill>
              <a:srgbClr val="DCD6C8"/>
            </a:solidFill>
            <a:prstDash val="solid"/>
          </a:ln>
        </p:spPr>
      </p:sp>
      <p:sp>
        <p:nvSpPr>
          <p:cNvPr id="5" name="Text 3"/>
          <p:cNvSpPr/>
          <p:nvPr/>
        </p:nvSpPr>
        <p:spPr>
          <a:xfrm>
            <a:off x="1073150" y="2180530"/>
            <a:ext cx="29867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잘한 점</a:t>
            </a:r>
            <a:endParaRPr lang="en-US" sz="2000" dirty="0"/>
          </a:p>
        </p:txBody>
      </p:sp>
      <p:sp>
        <p:nvSpPr>
          <p:cNvPr id="6" name="Text 4"/>
          <p:cNvSpPr/>
          <p:nvPr/>
        </p:nvSpPr>
        <p:spPr>
          <a:xfrm>
            <a:off x="1073150" y="2612330"/>
            <a:ext cx="2986760" cy="292100"/>
          </a:xfrm>
          <a:prstGeom prst="rect">
            <a:avLst/>
          </a:prstGeom>
          <a:noFill/>
          <a:ln/>
        </p:spPr>
        <p:txBody>
          <a:bodyPr wrap="square" lIns="0" tIns="0" rIns="0" bIns="0" rtlCol="0" anchor="t">
            <a:normAutofit/>
          </a:bodyPr>
          <a:lstStyle/>
          <a:p>
            <a:pPr marL="0" indent="0" algn="l">
              <a:lnSpc>
                <a:spcPts val="2100"/>
              </a:lnSpc>
              <a:buNone/>
            </a:pPr>
            <a:r>
              <a:rPr lang="en-US" altLang="ko-KR" sz="1400">
                <a:solidFill>
                  <a:srgbClr val="B0441A"/>
                </a:solidFill>
                <a:latin typeface="Noto Sans KR" pitchFamily="34" charset="0"/>
                <a:ea typeface="Noto Sans KR" pitchFamily="34" charset="-122"/>
                <a:cs typeface="Noto Sans KR" pitchFamily="34" charset="-120"/>
              </a:rPr>
              <a:t>1</a:t>
            </a:r>
            <a:r>
              <a:rPr lang="ko-KR" altLang="en-US" sz="1400">
                <a:solidFill>
                  <a:srgbClr val="B0441A"/>
                </a:solidFill>
                <a:latin typeface="Noto Sans KR" pitchFamily="34" charset="0"/>
                <a:ea typeface="Noto Sans KR" pitchFamily="34" charset="-122"/>
                <a:cs typeface="Noto Sans KR" pitchFamily="34" charset="-120"/>
              </a:rPr>
              <a:t>인 </a:t>
            </a:r>
            <a:r>
              <a:rPr lang="en-US" altLang="ko-KR" sz="1400">
                <a:solidFill>
                  <a:srgbClr val="B0441A"/>
                </a:solidFill>
                <a:latin typeface="Noto Sans KR" pitchFamily="34" charset="0"/>
                <a:ea typeface="Noto Sans KR" pitchFamily="34" charset="-122"/>
                <a:cs typeface="Noto Sans KR" pitchFamily="34" charset="-120"/>
              </a:rPr>
              <a:t>1</a:t>
            </a:r>
            <a:r>
              <a:rPr lang="ko-KR" altLang="en-US" sz="1400">
                <a:solidFill>
                  <a:srgbClr val="B0441A"/>
                </a:solidFill>
                <a:latin typeface="Noto Sans KR" pitchFamily="34" charset="0"/>
                <a:ea typeface="Noto Sans KR" pitchFamily="34" charset="-122"/>
                <a:cs typeface="Noto Sans KR" pitchFamily="34" charset="-120"/>
              </a:rPr>
              <a:t>페이지로 빠르게 분업</a:t>
            </a:r>
            <a:endParaRPr lang="en-US" sz="1400" dirty="0"/>
          </a:p>
        </p:txBody>
      </p:sp>
      <p:sp>
        <p:nvSpPr>
          <p:cNvPr id="7" name="Text 5"/>
          <p:cNvSpPr/>
          <p:nvPr/>
        </p:nvSpPr>
        <p:spPr>
          <a:xfrm>
            <a:off x="1073150" y="3006030"/>
            <a:ext cx="2986760"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날짜</a:t>
            </a:r>
            <a:r>
              <a:rPr lang="en-US" altLang="ko-KR" sz="1400">
                <a:solidFill>
                  <a:srgbClr val="B0441A"/>
                </a:solidFill>
                <a:latin typeface="Noto Sans KR" pitchFamily="34" charset="0"/>
                <a:ea typeface="Noto Sans KR" pitchFamily="34" charset="-122"/>
                <a:cs typeface="Noto Sans KR" pitchFamily="34" charset="-120"/>
              </a:rPr>
              <a:t>·</a:t>
            </a:r>
            <a:r>
              <a:rPr lang="ko-KR" altLang="en-US" sz="1400">
                <a:solidFill>
                  <a:srgbClr val="B0441A"/>
                </a:solidFill>
                <a:latin typeface="Noto Sans KR" pitchFamily="34" charset="0"/>
                <a:ea typeface="Noto Sans KR" pitchFamily="34" charset="-122"/>
                <a:cs typeface="Noto Sans KR" pitchFamily="34" charset="-120"/>
              </a:rPr>
              <a:t>이름 폴더로 작업 기록</a:t>
            </a:r>
            <a:endParaRPr lang="en-US" sz="1400" dirty="0"/>
          </a:p>
        </p:txBody>
      </p:sp>
      <p:sp>
        <p:nvSpPr>
          <p:cNvPr id="8" name="Shape 6"/>
          <p:cNvSpPr/>
          <p:nvPr/>
        </p:nvSpPr>
        <p:spPr>
          <a:xfrm>
            <a:off x="4388842" y="1923355"/>
            <a:ext cx="3414216" cy="1606550"/>
          </a:xfrm>
          <a:prstGeom prst="roundRect">
            <a:avLst>
              <a:gd name="adj" fmla="val 6126"/>
            </a:avLst>
          </a:prstGeom>
          <a:solidFill>
            <a:srgbClr val="FDFCF9"/>
          </a:solidFill>
          <a:ln w="6350">
            <a:solidFill>
              <a:srgbClr val="DCD6C8"/>
            </a:solidFill>
            <a:prstDash val="solid"/>
          </a:ln>
        </p:spPr>
      </p:sp>
      <p:sp>
        <p:nvSpPr>
          <p:cNvPr id="9" name="Text 7"/>
          <p:cNvSpPr/>
          <p:nvPr/>
        </p:nvSpPr>
        <p:spPr>
          <a:xfrm>
            <a:off x="4646017" y="2180530"/>
            <a:ext cx="298686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아쉬운 점</a:t>
            </a:r>
            <a:endParaRPr lang="en-US" sz="2000" dirty="0"/>
          </a:p>
        </p:txBody>
      </p:sp>
      <p:sp>
        <p:nvSpPr>
          <p:cNvPr id="10" name="Text 8"/>
          <p:cNvSpPr/>
          <p:nvPr/>
        </p:nvSpPr>
        <p:spPr>
          <a:xfrm>
            <a:off x="4646017" y="2612330"/>
            <a:ext cx="2986862"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공통 규칙을 늦게 정함</a:t>
            </a:r>
            <a:endParaRPr lang="en-US" sz="1400" dirty="0"/>
          </a:p>
        </p:txBody>
      </p:sp>
      <p:sp>
        <p:nvSpPr>
          <p:cNvPr id="11" name="Text 9"/>
          <p:cNvSpPr/>
          <p:nvPr/>
        </p:nvSpPr>
        <p:spPr>
          <a:xfrm>
            <a:off x="4646017" y="3006030"/>
            <a:ext cx="2986862"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영상 용량으로 업로드 지연</a:t>
            </a:r>
            <a:endParaRPr lang="en-US" sz="1400" dirty="0"/>
          </a:p>
        </p:txBody>
      </p:sp>
      <p:sp>
        <p:nvSpPr>
          <p:cNvPr id="12" name="Shape 10"/>
          <p:cNvSpPr/>
          <p:nvPr/>
        </p:nvSpPr>
        <p:spPr>
          <a:xfrm>
            <a:off x="7961809" y="1923355"/>
            <a:ext cx="3414216" cy="1606550"/>
          </a:xfrm>
          <a:prstGeom prst="roundRect">
            <a:avLst>
              <a:gd name="adj" fmla="val 6126"/>
            </a:avLst>
          </a:prstGeom>
          <a:solidFill>
            <a:srgbClr val="FDFCF9"/>
          </a:solidFill>
          <a:ln w="6350">
            <a:solidFill>
              <a:srgbClr val="DCD6C8"/>
            </a:solidFill>
            <a:prstDash val="solid"/>
          </a:ln>
        </p:spPr>
      </p:sp>
      <p:sp>
        <p:nvSpPr>
          <p:cNvPr id="13" name="Text 11"/>
          <p:cNvSpPr/>
          <p:nvPr/>
        </p:nvSpPr>
        <p:spPr>
          <a:xfrm>
            <a:off x="8218984" y="2180530"/>
            <a:ext cx="298686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433"/>
                </a:solidFill>
                <a:latin typeface="Noto Sans KR" pitchFamily="34" charset="0"/>
                <a:ea typeface="Noto Sans KR" pitchFamily="34" charset="-122"/>
                <a:cs typeface="Noto Sans KR" pitchFamily="34" charset="-120"/>
              </a:rPr>
              <a:t>다음에는</a:t>
            </a:r>
            <a:endParaRPr lang="en-US" sz="2000" dirty="0"/>
          </a:p>
        </p:txBody>
      </p:sp>
      <p:sp>
        <p:nvSpPr>
          <p:cNvPr id="14" name="Text 12"/>
          <p:cNvSpPr/>
          <p:nvPr/>
        </p:nvSpPr>
        <p:spPr>
          <a:xfrm>
            <a:off x="8218984" y="2612330"/>
            <a:ext cx="2986862"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헤더</a:t>
            </a:r>
            <a:r>
              <a:rPr lang="en-US" altLang="ko-KR" sz="1400">
                <a:solidFill>
                  <a:srgbClr val="B0441A"/>
                </a:solidFill>
                <a:latin typeface="Noto Sans KR" pitchFamily="34" charset="0"/>
                <a:ea typeface="Noto Sans KR" pitchFamily="34" charset="-122"/>
                <a:cs typeface="Noto Sans KR" pitchFamily="34" charset="-120"/>
              </a:rPr>
              <a:t>·</a:t>
            </a:r>
            <a:r>
              <a:rPr lang="ko-KR" altLang="en-US" sz="1400">
                <a:solidFill>
                  <a:srgbClr val="B0441A"/>
                </a:solidFill>
                <a:latin typeface="Noto Sans KR" pitchFamily="34" charset="0"/>
                <a:ea typeface="Noto Sans KR" pitchFamily="34" charset="-122"/>
                <a:cs typeface="Noto Sans KR" pitchFamily="34" charset="-120"/>
              </a:rPr>
              <a:t>글꼴</a:t>
            </a:r>
            <a:r>
              <a:rPr lang="en-US" altLang="ko-KR" sz="1400">
                <a:solidFill>
                  <a:srgbClr val="B0441A"/>
                </a:solidFill>
                <a:latin typeface="Noto Sans KR" pitchFamily="34" charset="0"/>
                <a:ea typeface="Noto Sans KR" pitchFamily="34" charset="-122"/>
                <a:cs typeface="Noto Sans KR" pitchFamily="34" charset="-120"/>
              </a:rPr>
              <a:t>·</a:t>
            </a:r>
            <a:r>
              <a:rPr lang="ko-KR" altLang="en-US" sz="1400">
                <a:solidFill>
                  <a:srgbClr val="B0441A"/>
                </a:solidFill>
                <a:latin typeface="Noto Sans KR" pitchFamily="34" charset="0"/>
                <a:ea typeface="Noto Sans KR" pitchFamily="34" charset="-122"/>
                <a:cs typeface="Noto Sans KR" pitchFamily="34" charset="-120"/>
              </a:rPr>
              <a:t>폴더부터 통일</a:t>
            </a:r>
            <a:endParaRPr lang="en-US" sz="1400" dirty="0"/>
          </a:p>
        </p:txBody>
      </p:sp>
      <p:sp>
        <p:nvSpPr>
          <p:cNvPr id="15" name="Text 13"/>
          <p:cNvSpPr/>
          <p:nvPr/>
        </p:nvSpPr>
        <p:spPr>
          <a:xfrm>
            <a:off x="8218984" y="3006030"/>
            <a:ext cx="2986862" cy="292100"/>
          </a:xfrm>
          <a:prstGeom prst="rect">
            <a:avLst/>
          </a:prstGeom>
          <a:noFill/>
          <a:ln/>
        </p:spPr>
        <p:txBody>
          <a:bodyPr wrap="square" lIns="0" tIns="0" rIns="0" bIns="0" rtlCol="0" anchor="t">
            <a:normAutofit/>
          </a:bodyPr>
          <a:lstStyle/>
          <a:p>
            <a:pPr marL="0" indent="0" algn="l">
              <a:lnSpc>
                <a:spcPts val="2100"/>
              </a:lnSpc>
              <a:buNone/>
            </a:pPr>
            <a:r>
              <a:rPr lang="ko-KR" altLang="en-US" sz="1400">
                <a:solidFill>
                  <a:srgbClr val="B0441A"/>
                </a:solidFill>
                <a:latin typeface="Noto Sans KR" pitchFamily="34" charset="0"/>
                <a:ea typeface="Noto Sans KR" pitchFamily="34" charset="-122"/>
                <a:cs typeface="Noto Sans KR" pitchFamily="34" charset="-120"/>
              </a:rPr>
              <a:t>모바일까지 처음부터 함께 설계</a:t>
            </a:r>
            <a:endParaRPr lang="en-US" sz="1400" dirty="0"/>
          </a:p>
        </p:txBody>
      </p:sp>
      <p:sp>
        <p:nvSpPr>
          <p:cNvPr id="16" name="Shape 14"/>
          <p:cNvSpPr/>
          <p:nvPr/>
        </p:nvSpPr>
        <p:spPr>
          <a:xfrm>
            <a:off x="838200" y="3837880"/>
            <a:ext cx="0" cy="425450"/>
          </a:xfrm>
          <a:prstGeom prst="line">
            <a:avLst/>
          </a:prstGeom>
          <a:noFill/>
          <a:ln w="50800">
            <a:solidFill>
              <a:srgbClr val="D9531E"/>
            </a:solidFill>
            <a:prstDash val="solid"/>
          </a:ln>
        </p:spPr>
      </p:sp>
      <p:sp>
        <p:nvSpPr>
          <p:cNvPr id="17" name="Text 15"/>
          <p:cNvSpPr/>
          <p:nvPr/>
        </p:nvSpPr>
        <p:spPr>
          <a:xfrm>
            <a:off x="1066800" y="3888680"/>
            <a:ext cx="10621772" cy="349250"/>
          </a:xfrm>
          <a:prstGeom prst="rect">
            <a:avLst/>
          </a:prstGeom>
          <a:noFill/>
          <a:ln/>
        </p:spPr>
        <p:txBody>
          <a:bodyPr wrap="square" lIns="0" tIns="0" rIns="0" bIns="0" rtlCol="0" anchor="t">
            <a:normAutofit/>
          </a:bodyPr>
          <a:lstStyle/>
          <a:p>
            <a:pPr marL="0" indent="0" algn="l">
              <a:lnSpc>
                <a:spcPts val="2550"/>
              </a:lnSpc>
              <a:buNone/>
            </a:pPr>
            <a:r>
              <a:rPr lang="ko-KR" altLang="en-US" sz="1700" b="1">
                <a:solidFill>
                  <a:srgbClr val="B0441A"/>
                </a:solidFill>
                <a:latin typeface="Noto Sans KR" pitchFamily="34" charset="0"/>
                <a:ea typeface="Noto Sans KR" pitchFamily="34" charset="-122"/>
                <a:cs typeface="Noto Sans KR" pitchFamily="34" charset="-120"/>
              </a:rPr>
              <a:t>“각자 만든 네 페이지가 하나의 회사 홈페이지가 되는 경험이었습니다</a:t>
            </a:r>
            <a:r>
              <a:rPr lang="en-US" altLang="ko-KR" sz="1700" b="1">
                <a:solidFill>
                  <a:srgbClr val="B0441A"/>
                </a:solidFill>
                <a:latin typeface="Noto Sans KR" pitchFamily="34" charset="0"/>
                <a:ea typeface="Noto Sans KR" pitchFamily="34" charset="-122"/>
                <a:cs typeface="Noto Sans KR" pitchFamily="34" charset="-120"/>
              </a:rPr>
              <a:t>.”</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1">
    <p:bg>
      <p:bgPr>
        <a:solidFill>
          <a:srgbClr val="16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a:solidFill>
                  <a:srgbClr val="E8692C"/>
                </a:solidFill>
                <a:latin typeface="JetBrains Mono" pitchFamily="49" charset="0"/>
                <a:ea typeface="JetBrains Mono" pitchFamily="49" charset="-122"/>
                <a:cs typeface="JetBrains Mono" pitchFamily="49" charset="-120"/>
              </a:rPr>
              <a:t>19 · Q&amp;A</a:t>
            </a:r>
            <a:endParaRPr lang="en-US" sz="1200" dirty="0"/>
          </a:p>
        </p:txBody>
      </p:sp>
      <p:sp>
        <p:nvSpPr>
          <p:cNvPr id="3" name="Shape 1"/>
          <p:cNvSpPr/>
          <p:nvPr/>
        </p:nvSpPr>
        <p:spPr>
          <a:xfrm>
            <a:off x="812800" y="2345134"/>
            <a:ext cx="762000" cy="76200"/>
          </a:xfrm>
          <a:prstGeom prst="roundRect">
            <a:avLst>
              <a:gd name="adj" fmla="val 50000"/>
            </a:avLst>
          </a:prstGeom>
          <a:solidFill>
            <a:srgbClr val="E8692C"/>
          </a:solidFill>
          <a:ln/>
        </p:spPr>
      </p:sp>
      <p:sp>
        <p:nvSpPr>
          <p:cNvPr id="4" name="Text 2"/>
          <p:cNvSpPr>
            <a:spLocks noGrp="1"/>
          </p:cNvSpPr>
          <p:nvPr>
            <p:ph type="title"/>
          </p:nvPr>
        </p:nvSpPr>
        <p:spPr>
          <a:xfrm>
            <a:off x="812800" y="2624534"/>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3F1EC"/>
                </a:solidFill>
                <a:latin typeface="Noto Sans KR" pitchFamily="34" charset="0"/>
                <a:ea typeface="Noto Sans KR" pitchFamily="34" charset="-122"/>
                <a:cs typeface="Noto Sans KR" pitchFamily="34" charset="-120"/>
              </a:rPr>
              <a:t>감사합니다</a:t>
            </a:r>
            <a:endParaRPr lang="en-US" sz="6000" dirty="0"/>
          </a:p>
        </p:txBody>
      </p:sp>
      <p:sp>
        <p:nvSpPr>
          <p:cNvPr id="5" name="Text 3"/>
          <p:cNvSpPr/>
          <p:nvPr/>
        </p:nvSpPr>
        <p:spPr>
          <a:xfrm>
            <a:off x="812800" y="3665934"/>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CED8"/>
                </a:solidFill>
                <a:latin typeface="Noto Sans KR" pitchFamily="34" charset="0"/>
                <a:ea typeface="Noto Sans KR" pitchFamily="34" charset="-122"/>
                <a:cs typeface="Noto Sans KR" pitchFamily="34" charset="-120"/>
              </a:rPr>
              <a:t>궁금한 점을 질문해 주세요. 사이트를 직접 보여 드리겠습니다.</a:t>
            </a:r>
            <a:endParaRPr lang="en-US" sz="2000" dirty="0"/>
          </a:p>
        </p:txBody>
      </p:sp>
      <p:sp>
        <p:nvSpPr>
          <p:cNvPr id="6" name="Shape 4"/>
          <p:cNvSpPr/>
          <p:nvPr/>
        </p:nvSpPr>
        <p:spPr>
          <a:xfrm>
            <a:off x="812800" y="5343624"/>
            <a:ext cx="10566400" cy="0"/>
          </a:xfrm>
          <a:prstGeom prst="line">
            <a:avLst/>
          </a:prstGeom>
          <a:noFill/>
          <a:ln w="6350">
            <a:solidFill>
              <a:srgbClr val="3A4558"/>
            </a:solidFill>
            <a:prstDash val="solid"/>
          </a:ln>
        </p:spPr>
      </p:sp>
      <p:sp>
        <p:nvSpPr>
          <p:cNvPr id="7" name="Text 5"/>
          <p:cNvSpPr/>
          <p:nvPr/>
        </p:nvSpPr>
        <p:spPr>
          <a:xfrm>
            <a:off x="812800" y="5549999"/>
            <a:ext cx="35230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CED8"/>
                </a:solidFill>
                <a:latin typeface="Noto Sans KR" pitchFamily="34" charset="0"/>
                <a:ea typeface="Noto Sans KR" pitchFamily="34" charset="-122"/>
                <a:cs typeface="Noto Sans KR" pitchFamily="34" charset="-120"/>
              </a:rPr>
              <a:t>홈페이지</a:t>
            </a:r>
            <a:endParaRPr lang="en-US" sz="1200" dirty="0"/>
          </a:p>
        </p:txBody>
      </p:sp>
      <p:sp>
        <p:nvSpPr>
          <p:cNvPr id="8" name="Text 6"/>
          <p:cNvSpPr/>
          <p:nvPr/>
        </p:nvSpPr>
        <p:spPr>
          <a:xfrm>
            <a:off x="812800" y="5814120"/>
            <a:ext cx="3523081" cy="256480"/>
          </a:xfrm>
          <a:prstGeom prst="rect">
            <a:avLst/>
          </a:prstGeom>
          <a:noFill/>
          <a:ln/>
        </p:spPr>
        <p:txBody>
          <a:bodyPr wrap="square" lIns="0" tIns="0" rIns="0" bIns="0" rtlCol="0" anchor="t">
            <a:normAutofit/>
          </a:bodyPr>
          <a:lstStyle/>
          <a:p>
            <a:pPr marL="0" indent="0" algn="l">
              <a:lnSpc>
                <a:spcPts val="1820"/>
              </a:lnSpc>
              <a:buNone/>
            </a:pPr>
            <a:r>
              <a:rPr lang="en-US" sz="1300">
                <a:solidFill>
                  <a:srgbClr val="E8692C"/>
                </a:solidFill>
                <a:latin typeface="Noto Sans KR" panose="020B0200000000000000" pitchFamily="50" charset="-127"/>
                <a:ea typeface="Noto Sans KR" panose="020B0200000000000000" pitchFamily="50" charset="-127"/>
                <a:cs typeface="JetBrains Mono" pitchFamily="49" charset="-120"/>
              </a:rPr>
              <a:t>GitHub Pages (</a:t>
            </a:r>
            <a:r>
              <a:rPr lang="ko-KR" altLang="en-US" sz="1300">
                <a:solidFill>
                  <a:srgbClr val="E8692C"/>
                </a:solidFill>
                <a:latin typeface="Noto Sans KR" panose="020B0200000000000000" pitchFamily="50" charset="-127"/>
                <a:ea typeface="Noto Sans KR" panose="020B0200000000000000" pitchFamily="50" charset="-127"/>
                <a:cs typeface="JetBrains Mono" pitchFamily="49" charset="-120"/>
              </a:rPr>
              <a:t>준비 중</a:t>
            </a:r>
            <a:r>
              <a:rPr lang="en-US" altLang="ko-KR" sz="1300">
                <a:solidFill>
                  <a:srgbClr val="E8692C"/>
                </a:solidFill>
                <a:latin typeface="Noto Sans KR" panose="020B0200000000000000" pitchFamily="50" charset="-127"/>
                <a:ea typeface="Noto Sans KR" panose="020B0200000000000000" pitchFamily="50" charset="-127"/>
                <a:cs typeface="JetBrains Mono" pitchFamily="49" charset="-120"/>
              </a:rPr>
              <a:t>)</a:t>
            </a:r>
            <a:endParaRPr lang="en-US" sz="1300" dirty="0">
              <a:latin typeface="Noto Sans KR" panose="020B0200000000000000" pitchFamily="50" charset="-127"/>
              <a:ea typeface="Noto Sans KR" panose="020B0200000000000000" pitchFamily="50" charset="-127"/>
            </a:endParaRPr>
          </a:p>
        </p:txBody>
      </p:sp>
      <p:sp>
        <p:nvSpPr>
          <p:cNvPr id="9" name="Text 7"/>
          <p:cNvSpPr/>
          <p:nvPr/>
        </p:nvSpPr>
        <p:spPr>
          <a:xfrm>
            <a:off x="4385667" y="5549999"/>
            <a:ext cx="352318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CED8"/>
                </a:solidFill>
                <a:latin typeface="Noto Sans KR" pitchFamily="34" charset="0"/>
                <a:ea typeface="Noto Sans KR" pitchFamily="34" charset="-122"/>
                <a:cs typeface="Noto Sans KR" pitchFamily="34" charset="-120"/>
              </a:rPr>
              <a:t>GitHub</a:t>
            </a:r>
            <a:endParaRPr lang="en-US" sz="1200" dirty="0"/>
          </a:p>
        </p:txBody>
      </p:sp>
      <p:sp>
        <p:nvSpPr>
          <p:cNvPr id="10" name="Text 8"/>
          <p:cNvSpPr/>
          <p:nvPr/>
        </p:nvSpPr>
        <p:spPr>
          <a:xfrm>
            <a:off x="4385667" y="5814120"/>
            <a:ext cx="3523183" cy="256480"/>
          </a:xfrm>
          <a:prstGeom prst="rect">
            <a:avLst/>
          </a:prstGeom>
          <a:noFill/>
          <a:ln/>
        </p:spPr>
        <p:txBody>
          <a:bodyPr wrap="square" lIns="0" tIns="0" rIns="0" bIns="0" rtlCol="0" anchor="t">
            <a:normAutofit/>
          </a:bodyPr>
          <a:lstStyle/>
          <a:p>
            <a:pPr marL="0" indent="0" algn="l">
              <a:lnSpc>
                <a:spcPts val="1820"/>
              </a:lnSpc>
              <a:buNone/>
            </a:pPr>
            <a:r>
              <a:rPr lang="en-US" sz="1300">
                <a:solidFill>
                  <a:srgbClr val="E8692C"/>
                </a:solidFill>
                <a:latin typeface="Noto Sans KR" panose="020B0200000000000000" pitchFamily="50" charset="-127"/>
                <a:ea typeface="Noto Sans KR" panose="020B0200000000000000" pitchFamily="50" charset="-127"/>
                <a:cs typeface="JetBrains Mono" pitchFamily="49" charset="-120"/>
              </a:rPr>
              <a:t>kimsoyeon-saovia/studio-sangsang</a:t>
            </a:r>
            <a:endParaRPr lang="en-US" sz="1300" dirty="0">
              <a:latin typeface="Noto Sans KR" panose="020B0200000000000000" pitchFamily="50" charset="-127"/>
              <a:ea typeface="Noto Sans KR" panose="020B0200000000000000" pitchFamily="50" charset="-127"/>
            </a:endParaRPr>
          </a:p>
        </p:txBody>
      </p:sp>
      <p:sp>
        <p:nvSpPr>
          <p:cNvPr id="11" name="Text 9"/>
          <p:cNvSpPr/>
          <p:nvPr/>
        </p:nvSpPr>
        <p:spPr>
          <a:xfrm>
            <a:off x="7958634" y="5549999"/>
            <a:ext cx="352318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9CED8"/>
                </a:solidFill>
                <a:latin typeface="Noto Sans KR" pitchFamily="34" charset="0"/>
                <a:ea typeface="Noto Sans KR" pitchFamily="34" charset="-122"/>
                <a:cs typeface="Noto Sans KR" pitchFamily="34" charset="-120"/>
              </a:rPr>
              <a:t>Notion</a:t>
            </a:r>
            <a:endParaRPr lang="en-US" sz="1200" dirty="0"/>
          </a:p>
        </p:txBody>
      </p:sp>
      <p:sp>
        <p:nvSpPr>
          <p:cNvPr id="12" name="Text 10"/>
          <p:cNvSpPr/>
          <p:nvPr/>
        </p:nvSpPr>
        <p:spPr>
          <a:xfrm>
            <a:off x="7958634" y="5814120"/>
            <a:ext cx="3523183" cy="256480"/>
          </a:xfrm>
          <a:prstGeom prst="rect">
            <a:avLst/>
          </a:prstGeom>
          <a:noFill/>
          <a:ln/>
        </p:spPr>
        <p:txBody>
          <a:bodyPr wrap="square" lIns="0" tIns="0" rIns="0" bIns="0" rtlCol="0" anchor="t">
            <a:normAutofit/>
          </a:bodyPr>
          <a:lstStyle/>
          <a:p>
            <a:pPr marL="0" indent="0" algn="l">
              <a:lnSpc>
                <a:spcPts val="1820"/>
              </a:lnSpc>
              <a:buNone/>
            </a:pPr>
            <a:r>
              <a:rPr lang="en-US" altLang="ko-KR" sz="1300">
                <a:solidFill>
                  <a:srgbClr val="E8692C"/>
                </a:solidFill>
                <a:latin typeface="Noto Sans KR" panose="020B0200000000000000" pitchFamily="50" charset="-127"/>
                <a:ea typeface="Noto Sans KR" panose="020B0200000000000000" pitchFamily="50" charset="-127"/>
                <a:cs typeface="JetBrains Mono" pitchFamily="49" charset="-120"/>
              </a:rPr>
              <a:t>Notion · </a:t>
            </a:r>
            <a:r>
              <a:rPr lang="ko-KR" altLang="en-US" sz="1300">
                <a:solidFill>
                  <a:srgbClr val="E8692C"/>
                </a:solidFill>
                <a:latin typeface="Noto Sans KR" panose="020B0200000000000000" pitchFamily="50" charset="-127"/>
                <a:ea typeface="Noto Sans KR" panose="020B0200000000000000" pitchFamily="50" charset="-127"/>
                <a:cs typeface="JetBrains Mono" pitchFamily="49" charset="-120"/>
              </a:rPr>
              <a:t>상상스튜디오 홈페이지</a:t>
            </a:r>
            <a:endParaRPr lang="en-US" sz="1300" dirty="0">
              <a:latin typeface="Noto Sans KR" panose="020B0200000000000000" pitchFamily="50" charset="-127"/>
              <a:ea typeface="Noto Sans KR" panose="020B0200000000000000" pitchFamily="50" charset="-127"/>
            </a:endParaRPr>
          </a:p>
        </p:txBody>
      </p:sp>
    </p:spTree>
  </p:cSld>
  <p:clrMapOvr>
    <a:masterClrMapping/>
  </p:clrMapOvr>
</p:sld>
</file>

<file path=ppt/theme/theme1.xml><?xml version="1.0" encoding="utf-8"?>
<a:theme xmlns:a="http://schemas.openxmlformats.org/drawingml/2006/main" name="STUDIO 상상 팀 프로젝트 발표">
  <a:themeElements>
    <a:clrScheme name="STUDIO 상상 팀 프로젝트 발표">
      <a:dk1>
        <a:srgbClr val="1B2433"/>
      </a:dk1>
      <a:lt1>
        <a:srgbClr val="F6F5F1"/>
      </a:lt1>
      <a:dk2>
        <a:srgbClr val="525863"/>
      </a:dk2>
      <a:lt2>
        <a:srgbClr val="E0E0DE"/>
      </a:lt2>
      <a:accent1>
        <a:srgbClr val="B0441A"/>
      </a:accent1>
      <a:accent2>
        <a:srgbClr val="E8692C"/>
      </a:accent2>
      <a:accent3>
        <a:srgbClr val="D9531E"/>
      </a:accent3>
      <a:accent4>
        <a:srgbClr val="4A5263"/>
      </a:accent4>
      <a:accent5>
        <a:srgbClr val="5A6170"/>
      </a:accent5>
      <a:accent6>
        <a:srgbClr val="C9CED8"/>
      </a:accent6>
      <a:hlink>
        <a:srgbClr val="0563C1"/>
      </a:hlink>
      <a:folHlink>
        <a:srgbClr val="954F72"/>
      </a:folHlink>
    </a:clrScheme>
    <a:fontScheme name="STUDIO 상상 팀 프로젝트 발표">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7723</Words>
  <Application>Microsoft Office PowerPoint</Application>
  <PresentationFormat>와이드스크린</PresentationFormat>
  <Paragraphs>863</Paragraphs>
  <Slides>46</Slides>
  <Notes>46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46</vt:i4>
      </vt:variant>
    </vt:vector>
  </HeadingPairs>
  <TitlesOfParts>
    <vt:vector size="51" baseType="lpstr">
      <vt:lpstr>JetBrains Mono</vt:lpstr>
      <vt:lpstr>Noto Sans KR</vt:lpstr>
      <vt:lpstr>맑은 고딕</vt:lpstr>
      <vt:lpstr>Arial</vt:lpstr>
      <vt:lpstr>STUDIO 상상 팀 프로젝트 발표</vt:lpstr>
      <vt:lpstr>STUDIO 상상 통합 홈페이지 제작</vt:lpstr>
      <vt:lpstr>목차</vt:lpstr>
      <vt:lpstr>팀원과 역할</vt:lpstr>
      <vt:lpstr>가상의 AI 영상 제작사, STUDIO 상상의 홈페이지</vt:lpstr>
      <vt:lpstr>4개 페이지를 하나로 묶은 구조</vt:lpstr>
      <vt:lpstr>Codex와 Claude Code, 이렇게 나눠 썼습니다</vt:lpstr>
      <vt:lpstr>AI에게 작업 맥락을 넘겨주는 방법</vt:lpstr>
      <vt:lpstr>말로 안 될 땐, 그림으로 보여 줬습니다</vt:lpstr>
      <vt:lpstr>말로만 할 때 vs 그림 · 숫자로 보여 줄 때</vt:lpstr>
      <vt:lpstr>도구별로 이렇게 나눠 썼습니다</vt:lpstr>
      <vt:lpstr>일러스트 시안을 보여 주고, 이렇게 완성했습니다</vt:lpstr>
      <vt:lpstr>시안 하나로 배치 · 색 · 문구를 한 번에 전달</vt:lpstr>
      <vt:lpstr>알캡처로 재고, 숫자로 요청했습니다</vt:lpstr>
      <vt:lpstr>수정 요청은 이 공식으로 썼습니다</vt:lpstr>
      <vt:lpstr>고칠 곳은 그림판 · 펜 태블릿으로 표시했습니다</vt:lpstr>
      <vt:lpstr>AI가 자주 어긋난 곳과 해결 방법</vt:lpstr>
      <vt:lpstr>움직임은 참고 사이트를 보고, 대화로 다듬었습니다</vt:lpstr>
      <vt:lpstr>이렇게 다듬은 움직임이 실제 화면에 들어갔습니다</vt:lpstr>
      <vt:lpstr>벤치마킹은 이렇게 했습니다</vt:lpstr>
      <vt:lpstr>벤치마킹 — AI 영상 제작사 홈페이지를 조사했습니다</vt:lpstr>
      <vt:lpstr>벤치마킹한 내용이 이렇게 화면이 됐습니다</vt:lpstr>
      <vt:lpstr>조사해 보니 없던 것, 우리가 더했습니다</vt:lpstr>
      <vt:lpstr>AI와 함께 만들며 배운 것</vt:lpstr>
      <vt:lpstr>Notion에서 계획하고, GitHub에서 합쳤습니다</vt:lpstr>
      <vt:lpstr>GitHub 작업 규칙</vt:lpstr>
      <vt:lpstr>날짜 · 이름 폴더로 남긴 작업 기록</vt:lpstr>
      <vt:lpstr>Notion으로 정리한 것들</vt:lpstr>
      <vt:lpstr>수업 양식에 맞춘 프로젝트 기록</vt:lpstr>
      <vt:lpstr>ABOUT US — 회사를 소개하는 첫 화면</vt:lpstr>
      <vt:lpstr>ABOUT US — 버튼과 움직임</vt:lpstr>
      <vt:lpstr>AI VIDEO — 제작 방식을 보여 주는 화면</vt:lpstr>
      <vt:lpstr>AI VIDEO — 버튼과 움직임</vt:lpstr>
      <vt:lpstr>PORTFOLIO — 작업물을 모아 보여 주는 화면</vt:lpstr>
      <vt:lpstr>PORTFOLIO — 버튼과 움직임</vt:lpstr>
      <vt:lpstr>CONTACT — 견적을 내고 상담을 신청하는 화면</vt:lpstr>
      <vt:lpstr>CONTACT — 버튼과 움직임</vt:lpstr>
      <vt:lpstr>반응형 웹 — 화면 크기에 따라 바뀌는 구성</vt:lpstr>
      <vt:lpstr>ABOUT US — PC와 모바일 비교</vt:lpstr>
      <vt:lpstr>AI VIDEO — PC와 모바일 비교</vt:lpstr>
      <vt:lpstr>PORTFOLIO — PC와 모바일 비교</vt:lpstr>
      <vt:lpstr>CONTACT — PC와 모바일 비교</vt:lpstr>
      <vt:lpstr>반응형 점검표</vt:lpstr>
      <vt:lpstr>합치면서 생긴 문제와 해결</vt:lpstr>
      <vt:lpstr>AI와 함께 해결한 문제들</vt:lpstr>
      <vt:lpstr>프로젝트를 마치며</vt:lpstr>
      <vt:lpstr>감사합니다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STUDIO 상상 팀 프로젝트 발표</dc:title>
  <dc:subject/>
  <dc:creator>802-7</dc:creator>
  <cp:lastModifiedBy>소연 김</cp:lastModifiedBy>
  <cp:revision>16</cp:revision>
  <dcterms:created xsi:type="dcterms:W3CDTF">2026-10-20T02:25:43Z</dcterms:created>
  <dcterms:modified xsi:type="dcterms:W3CDTF">2026-10-20T08:10:02Z</dcterms:modified>
</cp:coreProperties>
</file>